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132847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91440"/>
            <a:ext cx="2011680" cy="2011680"/>
          </a:xfrm>
          <a:prstGeom prst="ellipse">
            <a:avLst/>
          </a:prstGeom>
          <a:solidFill>
            <a:srgbClr val="19376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891B2"/>
                </a:solidFill>
              </a:rPr>
              <a:t>CS / DATA STRUCTURES &amp; ALGORITHMS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Algorithms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Sorting, Searching, Merging &amp; More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32004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154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• Selection • Insertion • Merge • Quick • Binary Search • Two-Pointer Merge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</a:rPr>
              <a:t>University Lecture Series  •  Python 3.x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Lecture 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605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475488" cy="6583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07008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16128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Complexity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43560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Big-O, Time &amp; Space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874520"/>
            <a:ext cx="41605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874520"/>
            <a:ext cx="475488" cy="6583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984248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193852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Sort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221284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&amp; Swap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651760"/>
            <a:ext cx="41605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651760"/>
            <a:ext cx="475488" cy="6583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761488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271576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Sort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299008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Minimum Each Pass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429000"/>
            <a:ext cx="41605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429000"/>
            <a:ext cx="475488" cy="6583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538728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349300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Sort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376732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Sorted Subarray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206240"/>
            <a:ext cx="41605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4206240"/>
            <a:ext cx="475488" cy="6583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315968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4400" y="427024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4400" y="454456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&amp; Conquer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1097280"/>
            <a:ext cx="41605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1097280"/>
            <a:ext cx="475488" cy="6583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1207008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49240" y="116128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Sort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49240" y="143560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Pivot-Based Partitioning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0600" y="1874520"/>
            <a:ext cx="41605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0600" y="1874520"/>
            <a:ext cx="475488" cy="6583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1984248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49240" y="193852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49240" y="221284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 Search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00600" y="2651760"/>
            <a:ext cx="41605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00600" y="2651760"/>
            <a:ext cx="475488" cy="6583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1" name="Text 39"/>
          <p:cNvSpPr/>
          <p:nvPr/>
        </p:nvSpPr>
        <p:spPr>
          <a:xfrm>
            <a:off x="4800600" y="2761488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349240" y="271576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Two-Pointer Merge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349240" y="299008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Sorted Arrays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00600" y="3429000"/>
            <a:ext cx="41605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800600" y="3429000"/>
            <a:ext cx="475488" cy="6583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6" name="Text 44"/>
          <p:cNvSpPr/>
          <p:nvPr/>
        </p:nvSpPr>
        <p:spPr>
          <a:xfrm>
            <a:off x="4800600" y="3538728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09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349240" y="349300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Comparison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349240" y="376732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Analysis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Complexity — Big-O Notation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Complexity Matters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Big-O describes how runtime grows relative to input size n.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ignore constants and lower-order terms to focus on scalability.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377440"/>
          <a:ext cx="4206240" cy="2468880"/>
        </p:xfrm>
        <a:graphic>
          <a:graphicData uri="http://schemas.openxmlformats.org/drawingml/2006/table">
            <a:tbl>
              <a:tblPr/>
              <a:tblGrid>
                <a:gridCol w="1188720"/>
                <a:gridCol w="1371600"/>
                <a:gridCol w="164592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 index lookup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Logarithmic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search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search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Linearithmic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 / Quick Sort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Quadratic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Bubble / Insertion Sort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O(2ⁿ)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Exponential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Recursive Fibonacci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2377440"/>
            <a:ext cx="4206240" cy="347472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8" name="Text 5"/>
          <p:cNvSpPr/>
          <p:nvPr/>
        </p:nvSpPr>
        <p:spPr>
          <a:xfrm>
            <a:off x="402336" y="239572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Notation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591056" y="239572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Name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962656" y="2395728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Example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846320" y="1005840"/>
            <a:ext cx="4023360" cy="391363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138160" y="1005840"/>
            <a:ext cx="731520" cy="2560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0"/>
          <p:cNvSpPr/>
          <p:nvPr/>
        </p:nvSpPr>
        <p:spPr>
          <a:xfrm>
            <a:off x="8138160" y="10058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Python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956048" y="1115568"/>
            <a:ext cx="3703320" cy="218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constant_time(arr, i):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956048" y="1333948"/>
            <a:ext cx="3703320" cy="218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arr[i]  # O(1)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956048" y="1552328"/>
            <a:ext cx="3703320" cy="218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956048" y="1770709"/>
            <a:ext cx="3703320" cy="218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linear_search(arr, t):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956048" y="1989089"/>
            <a:ext cx="3703320" cy="218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x in arr:     # O(n)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956048" y="2207469"/>
            <a:ext cx="3703320" cy="218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x == t: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956048" y="2425849"/>
            <a:ext cx="3703320" cy="218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True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956048" y="2644230"/>
            <a:ext cx="3703320" cy="218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False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956048" y="2862610"/>
            <a:ext cx="3703320" cy="218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956048" y="3080990"/>
            <a:ext cx="3703320" cy="218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binary_search(arr, t): # O(log n)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956048" y="3299370"/>
            <a:ext cx="3703320" cy="218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lo, hi = 0, len(arr)-1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956048" y="3517751"/>
            <a:ext cx="3703320" cy="218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lo &lt;= hi: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956048" y="3736131"/>
            <a:ext cx="3703320" cy="218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mid = (lo + hi) // 2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4956048" y="3954511"/>
            <a:ext cx="3703320" cy="218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arr[mid] == t: return mid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4956048" y="4172891"/>
            <a:ext cx="3703320" cy="218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arr[mid] &lt; t: lo=mid+1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4956048" y="4391272"/>
            <a:ext cx="3703320" cy="218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 hi = mid-1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4956048" y="4609652"/>
            <a:ext cx="3703320" cy="218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-1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Bubble Sort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2120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Repeatedly swap adjacent elements if out of order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5486400" cy="391363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74920" y="1005840"/>
            <a:ext cx="731520" cy="2560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5074920" y="10058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Python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115568"/>
            <a:ext cx="521208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bubble_sort(arr):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347597"/>
            <a:ext cx="521208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len(arr)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579626"/>
            <a:ext cx="521208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range(n):          # n passes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811655"/>
            <a:ext cx="521208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swapped = False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043684"/>
            <a:ext cx="521208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j in range(0, n-i-1):  # shrink window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275713"/>
            <a:ext cx="521208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arr[j] &gt; arr[j+1]: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507742"/>
            <a:ext cx="521208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arr[j], arr[j+1] = arr[j+1], arr[j]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739771"/>
            <a:ext cx="521208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swapped = True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971800"/>
            <a:ext cx="521208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swapped:          # early exit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203829"/>
            <a:ext cx="521208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break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435858"/>
            <a:ext cx="521208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arr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667887"/>
            <a:ext cx="521208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899916"/>
            <a:ext cx="521208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Example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131945"/>
            <a:ext cx="521208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[64, 34, 25, 12, 22, 11, 90]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363974"/>
            <a:ext cx="521208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print(bubble_sort(data))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596003"/>
            <a:ext cx="521208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[11, 12, 22, 25, 34, 64, 90]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89320" y="1005840"/>
            <a:ext cx="29260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89320" y="1005840"/>
            <a:ext cx="2926080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6080760" y="1024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Key Points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80760" y="1453896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8" name="Text 26"/>
          <p:cNvSpPr/>
          <p:nvPr/>
        </p:nvSpPr>
        <p:spPr>
          <a:xfrm>
            <a:off x="6263640" y="1417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adjacent pairs each pass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80760" y="1819656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0" name="Text 28"/>
          <p:cNvSpPr/>
          <p:nvPr/>
        </p:nvSpPr>
        <p:spPr>
          <a:xfrm>
            <a:off x="6263640" y="1783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element 'bubbles' to end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080760" y="2185416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2" name="Text 30"/>
          <p:cNvSpPr/>
          <p:nvPr/>
        </p:nvSpPr>
        <p:spPr>
          <a:xfrm>
            <a:off x="6263640" y="2148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exit if no swaps (best O(n))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080760" y="2551176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4" name="Text 32"/>
          <p:cNvSpPr/>
          <p:nvPr/>
        </p:nvSpPr>
        <p:spPr>
          <a:xfrm>
            <a:off x="6263640" y="2514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In-place — no extra memory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989320" y="3017520"/>
            <a:ext cx="2926080" cy="1901952"/>
          </a:xfrm>
          <a:prstGeom prst="rect">
            <a:avLst/>
          </a:prstGeom>
          <a:solidFill>
            <a:srgbClr val="0F1F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080760" y="3081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Complexity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080760" y="343814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Best: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269480" y="343814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O(n) — sorted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080760" y="37673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Average: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269480" y="376732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O(n²)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080760" y="40965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Worst: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269480" y="409651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O(n²)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080760" y="442569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Space: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269480" y="442569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O(1)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Selection Sort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2120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minimum and place it at the front each pass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5486400" cy="391363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74920" y="1005840"/>
            <a:ext cx="731520" cy="2560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5074920" y="10058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Python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115568"/>
            <a:ext cx="5212080" cy="247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selection_sort(arr):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363066"/>
            <a:ext cx="5212080" cy="247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len(arr)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610563"/>
            <a:ext cx="5212080" cy="247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range(n):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858061"/>
            <a:ext cx="5212080" cy="247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min_idx = 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105558"/>
            <a:ext cx="5212080" cy="247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j in range(i+1, n):  # find minimum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353056"/>
            <a:ext cx="5212080" cy="247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arr[j] &lt; arr[min_idx]: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600554"/>
            <a:ext cx="5212080" cy="247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min_idx = j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848051"/>
            <a:ext cx="5212080" cy="247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Swap minimum to position 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095549"/>
            <a:ext cx="5212080" cy="247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arr[i], arr[min_idx] = arr[min_idx], arr[i]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343046"/>
            <a:ext cx="5212080" cy="247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arr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590544"/>
            <a:ext cx="5212080" cy="247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838042"/>
            <a:ext cx="5212080" cy="247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Example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085539"/>
            <a:ext cx="5212080" cy="247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[29, 10, 14, 37, 13]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333037"/>
            <a:ext cx="5212080" cy="247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print(selection_sort(data))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580534"/>
            <a:ext cx="5212080" cy="247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[10, 13, 14, 29, 37]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89320" y="1005840"/>
            <a:ext cx="29260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89320" y="1005840"/>
            <a:ext cx="2926080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6080760" y="1024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Key Points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080760" y="1453896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7" name="Text 25"/>
          <p:cNvSpPr/>
          <p:nvPr/>
        </p:nvSpPr>
        <p:spPr>
          <a:xfrm>
            <a:off x="6263640" y="1417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minimum on every iteration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80760" y="1819656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9" name="Text 27"/>
          <p:cNvSpPr/>
          <p:nvPr/>
        </p:nvSpPr>
        <p:spPr>
          <a:xfrm>
            <a:off x="6263640" y="1783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most n−1 swaps (efficient writes)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80760" y="2185416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1" name="Text 29"/>
          <p:cNvSpPr/>
          <p:nvPr/>
        </p:nvSpPr>
        <p:spPr>
          <a:xfrm>
            <a:off x="6263640" y="2148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stable — equal elements may reorder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080760" y="2551176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3" name="Text 31"/>
          <p:cNvSpPr/>
          <p:nvPr/>
        </p:nvSpPr>
        <p:spPr>
          <a:xfrm>
            <a:off x="6263640" y="2514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O(n²) — no early exit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989320" y="3017520"/>
            <a:ext cx="2926080" cy="1901952"/>
          </a:xfrm>
          <a:prstGeom prst="rect">
            <a:avLst/>
          </a:prstGeom>
          <a:solidFill>
            <a:srgbClr val="0F1F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080760" y="3081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Complexity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080760" y="343814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Best: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269480" y="343814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O(n²)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080760" y="37673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Average: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269480" y="376732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O(n²)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080760" y="40965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Worst: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269480" y="409651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O(n²)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080760" y="442569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Space: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269480" y="442569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O(1)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Insertion Sort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2120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sorted subarray by inserting each element in place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5486400" cy="391363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74920" y="1005840"/>
            <a:ext cx="731520" cy="2560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5074920" y="10058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Python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115568"/>
            <a:ext cx="5212080" cy="247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insertion_sort(arr):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363066"/>
            <a:ext cx="5212080" cy="247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len(arr)):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610563"/>
            <a:ext cx="5212080" cy="247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key = arr[i]        # element to insert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858061"/>
            <a:ext cx="5212080" cy="247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j = i - 1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105558"/>
            <a:ext cx="5212080" cy="247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Shift larger elements rightward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353056"/>
            <a:ext cx="5212080" cy="247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 j &gt;= 0 and arr[j] &gt; key: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600554"/>
            <a:ext cx="5212080" cy="247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arr[j + 1] = arr[j]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848051"/>
            <a:ext cx="5212080" cy="247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j -= 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095549"/>
            <a:ext cx="5212080" cy="247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arr[j + 1] = key    # insert key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343046"/>
            <a:ext cx="5212080" cy="247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arr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590544"/>
            <a:ext cx="5212080" cy="247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838042"/>
            <a:ext cx="5212080" cy="247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Example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085539"/>
            <a:ext cx="5212080" cy="247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[12, 11, 13, 5, 6]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333037"/>
            <a:ext cx="5212080" cy="247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print(insertion_sort(data))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580534"/>
            <a:ext cx="5212080" cy="247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[5, 6, 11, 12, 13]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89320" y="1005840"/>
            <a:ext cx="29260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89320" y="1005840"/>
            <a:ext cx="2926080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6080760" y="1024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Key Points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080760" y="1453896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7" name="Text 25"/>
          <p:cNvSpPr/>
          <p:nvPr/>
        </p:nvSpPr>
        <p:spPr>
          <a:xfrm>
            <a:off x="6263640" y="1417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— maintains relative order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80760" y="1819656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9" name="Text 27"/>
          <p:cNvSpPr/>
          <p:nvPr/>
        </p:nvSpPr>
        <p:spPr>
          <a:xfrm>
            <a:off x="6263640" y="1783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for small or nearly-sorted data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80760" y="2185416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1" name="Text 29"/>
          <p:cNvSpPr/>
          <p:nvPr/>
        </p:nvSpPr>
        <p:spPr>
          <a:xfrm>
            <a:off x="6263640" y="2148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— processes elements one at a time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080760" y="2551176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3" name="Text 31"/>
          <p:cNvSpPr/>
          <p:nvPr/>
        </p:nvSpPr>
        <p:spPr>
          <a:xfrm>
            <a:off x="6263640" y="2514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Adaptive: fewer swaps for sorted input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989320" y="3017520"/>
            <a:ext cx="2926080" cy="1901952"/>
          </a:xfrm>
          <a:prstGeom prst="rect">
            <a:avLst/>
          </a:prstGeom>
          <a:solidFill>
            <a:srgbClr val="0F1F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080760" y="3081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Complexity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080760" y="343814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Best: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269480" y="343814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O(n) — sorted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080760" y="37673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Average: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269480" y="376732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O(n²)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080760" y="40965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Worst: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269480" y="409651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O(n²) rev.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080760" y="442569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Space: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269480" y="442569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O(1)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Merge Sort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2120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and conquer — split, sort halves, then merge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5486400" cy="391363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74920" y="1005840"/>
            <a:ext cx="731520" cy="2560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5074920" y="10058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Python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115568"/>
            <a:ext cx="521208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merge_sort(arr):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347597"/>
            <a:ext cx="521208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len(arr) &lt;= 1: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579626"/>
            <a:ext cx="521208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arr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811655"/>
            <a:ext cx="521208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mid = len(arr) //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043684"/>
            <a:ext cx="521208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left  = merge_sort(arr[:mid])   # recurse left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275713"/>
            <a:ext cx="521208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right = merge_sort(arr[mid:])   # recurse right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507742"/>
            <a:ext cx="521208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merge(left, right)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739771"/>
            <a:ext cx="521208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971800"/>
            <a:ext cx="521208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merge(left, right):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203829"/>
            <a:ext cx="521208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result, i, j = [], 0, 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435858"/>
            <a:ext cx="521208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i &lt; len(left) and j &lt; len(right):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667887"/>
            <a:ext cx="521208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left[i] &lt;= right[j]: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899916"/>
            <a:ext cx="521208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result.append(left[i]); i += 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131945"/>
            <a:ext cx="521208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363974"/>
            <a:ext cx="521208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result.append(right[j]); j += 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596003"/>
            <a:ext cx="521208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result + left[i:] + right[j:]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89320" y="1005840"/>
            <a:ext cx="29260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89320" y="1005840"/>
            <a:ext cx="2926080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6080760" y="1024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Key Points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80760" y="1453896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8" name="Text 26"/>
          <p:cNvSpPr/>
          <p:nvPr/>
        </p:nvSpPr>
        <p:spPr>
          <a:xfrm>
            <a:off x="6263640" y="1417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O(n log n) always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80760" y="1819656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0" name="Text 28"/>
          <p:cNvSpPr/>
          <p:nvPr/>
        </p:nvSpPr>
        <p:spPr>
          <a:xfrm>
            <a:off x="6263640" y="1783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sort — safe for linked lists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080760" y="2185416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2" name="Text 30"/>
          <p:cNvSpPr/>
          <p:nvPr/>
        </p:nvSpPr>
        <p:spPr>
          <a:xfrm>
            <a:off x="6263640" y="2148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Parallelisable divide-and-conquer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080760" y="2551176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4" name="Text 32"/>
          <p:cNvSpPr/>
          <p:nvPr/>
        </p:nvSpPr>
        <p:spPr>
          <a:xfrm>
            <a:off x="6263640" y="2514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O(n) auxiliary space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989320" y="3017520"/>
            <a:ext cx="2926080" cy="1901952"/>
          </a:xfrm>
          <a:prstGeom prst="rect">
            <a:avLst/>
          </a:prstGeom>
          <a:solidFill>
            <a:srgbClr val="0F1F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080760" y="3081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Complexity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080760" y="343814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Best: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269480" y="343814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O(n log n)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080760" y="37673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Average: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269480" y="376732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O(n log n)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080760" y="40965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Worst: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269480" y="409651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O(n log n)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080760" y="442569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Space: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269480" y="442569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O(n)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 Sort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2120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Pivot-based partitioning — sort in place recursively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5486400" cy="391363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74920" y="1005840"/>
            <a:ext cx="731520" cy="2560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5074920" y="10058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Python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115568"/>
            <a:ext cx="5212080" cy="218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quick_sort(arr, low=0, high=None):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333948"/>
            <a:ext cx="5212080" cy="218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high is None: high = len(arr) - 1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552328"/>
            <a:ext cx="5212080" cy="218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low &lt; high: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770709"/>
            <a:ext cx="5212080" cy="218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pi = partition(arr, low, high)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1989089"/>
            <a:ext cx="5212080" cy="218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quick_sort(arr, low, pi - 1)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207469"/>
            <a:ext cx="5212080" cy="218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quick_sort(arr, pi + 1, high)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425849"/>
            <a:ext cx="5212080" cy="218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arr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644230"/>
            <a:ext cx="5212080" cy="218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862610"/>
            <a:ext cx="5212080" cy="218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partition(arr, low, high):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080990"/>
            <a:ext cx="5212080" cy="218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pivot = arr[high]     # choose last as pivot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299370"/>
            <a:ext cx="5212080" cy="218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 = low - 1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517751"/>
            <a:ext cx="5212080" cy="218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j in range(low, high):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736131"/>
            <a:ext cx="5212080" cy="218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arr[j] &lt;= pivot: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954511"/>
            <a:ext cx="5212080" cy="218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 += 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172891"/>
            <a:ext cx="5212080" cy="218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arr[i], arr[j] = arr[j], arr[i]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391272"/>
            <a:ext cx="5212080" cy="218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arr[i+1], arr[high] = arr[high], arr[i+1]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609652"/>
            <a:ext cx="5212080" cy="218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 + 1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89320" y="1005840"/>
            <a:ext cx="29260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89320" y="1005840"/>
            <a:ext cx="2926080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7" name="Text 25"/>
          <p:cNvSpPr/>
          <p:nvPr/>
        </p:nvSpPr>
        <p:spPr>
          <a:xfrm>
            <a:off x="6080760" y="1024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Key Points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080760" y="1453896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9" name="Text 27"/>
          <p:cNvSpPr/>
          <p:nvPr/>
        </p:nvSpPr>
        <p:spPr>
          <a:xfrm>
            <a:off x="6263640" y="1417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In-place — O(log n) stack space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80760" y="1819656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1" name="Text 29"/>
          <p:cNvSpPr/>
          <p:nvPr/>
        </p:nvSpPr>
        <p:spPr>
          <a:xfrm>
            <a:off x="6263640" y="1783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in practice for random data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080760" y="2185416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3" name="Text 31"/>
          <p:cNvSpPr/>
          <p:nvPr/>
        </p:nvSpPr>
        <p:spPr>
          <a:xfrm>
            <a:off x="6263640" y="2148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 O(n²) on sorted input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080760" y="2551176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5" name="Text 33"/>
          <p:cNvSpPr/>
          <p:nvPr/>
        </p:nvSpPr>
        <p:spPr>
          <a:xfrm>
            <a:off x="6263640" y="2514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Randomised pivot avoids worst case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989320" y="3017520"/>
            <a:ext cx="2926080" cy="1901952"/>
          </a:xfrm>
          <a:prstGeom prst="rect">
            <a:avLst/>
          </a:prstGeom>
          <a:solidFill>
            <a:srgbClr val="0F1F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080760" y="3081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Complexity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080760" y="343814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Best: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269480" y="343814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O(n log n)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080760" y="37673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Average: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269480" y="376732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O(n log n)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080760" y="40965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Worst: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269480" y="409651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O(n²) sorted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080760" y="442569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Space: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269480" y="442569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O(log n)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Binary Search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2120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O(log n) search on sorted arrays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5486400" cy="391363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74920" y="1005840"/>
            <a:ext cx="731520" cy="2560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5074920" y="10058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Python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115568"/>
            <a:ext cx="521208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Iterative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347597"/>
            <a:ext cx="521208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binary_search(arr, target):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579626"/>
            <a:ext cx="521208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lo, hi = 0, len(arr) - 1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811655"/>
            <a:ext cx="521208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lo &lt;= hi: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043684"/>
            <a:ext cx="521208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mid = (lo + hi) //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275713"/>
            <a:ext cx="521208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arr[mid] == target: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507742"/>
            <a:ext cx="521208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mid          # found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739771"/>
            <a:ext cx="521208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arr[mid] &lt; target: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971800"/>
            <a:ext cx="521208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lo = mid + 1        # search right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203829"/>
            <a:ext cx="521208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435858"/>
            <a:ext cx="521208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hi = mid - 1        # search left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667887"/>
            <a:ext cx="521208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-1                   # not found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899916"/>
            <a:ext cx="521208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131945"/>
            <a:ext cx="521208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= [2, 5, 8, 12, 16, 23, 38, 56, 72, 91]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363974"/>
            <a:ext cx="521208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print(binary_search(arr, 23))   # → 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596003"/>
            <a:ext cx="521208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print(binary_search(arr, 10))   # → -1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89320" y="1005840"/>
            <a:ext cx="29260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89320" y="1005840"/>
            <a:ext cx="2926080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6080760" y="1024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Key Points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80760" y="1453896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8" name="Text 26"/>
          <p:cNvSpPr/>
          <p:nvPr/>
        </p:nvSpPr>
        <p:spPr>
          <a:xfrm>
            <a:off x="6263640" y="1417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must be sorted beforehand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80760" y="1819656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0" name="Text 28"/>
          <p:cNvSpPr/>
          <p:nvPr/>
        </p:nvSpPr>
        <p:spPr>
          <a:xfrm>
            <a:off x="6263640" y="1783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Halves search space each iteration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080760" y="2185416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2" name="Text 30"/>
          <p:cNvSpPr/>
          <p:nvPr/>
        </p:nvSpPr>
        <p:spPr>
          <a:xfrm>
            <a:off x="6263640" y="2148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log₂(1,000,000) ≈ 20 iterations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080760" y="2551176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4" name="Text 32"/>
          <p:cNvSpPr/>
          <p:nvPr/>
        </p:nvSpPr>
        <p:spPr>
          <a:xfrm>
            <a:off x="6263640" y="2514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variant: elegant but uses O(log n) stack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989320" y="3017520"/>
            <a:ext cx="2926080" cy="1901952"/>
          </a:xfrm>
          <a:prstGeom prst="rect">
            <a:avLst/>
          </a:prstGeom>
          <a:solidFill>
            <a:srgbClr val="0F1F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080760" y="3081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Complexity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080760" y="343814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Best: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269480" y="343814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O(1) at midpoint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080760" y="37673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Average: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269480" y="376732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O(log n)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080760" y="40965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Worst: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269480" y="409651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O(log n)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080760" y="442569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Space: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269480" y="442569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O(1) iterative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Two-Pointer Merge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2120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two sorted arrays into one sorted array in O(n + m)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5486400" cy="391363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74920" y="1005840"/>
            <a:ext cx="731520" cy="2560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5074920" y="10058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Python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115568"/>
            <a:ext cx="521208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merge_sorted(A, B):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347597"/>
            <a:ext cx="521208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merged = []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579626"/>
            <a:ext cx="521208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i, j = 0, 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811655"/>
            <a:ext cx="521208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i &lt; len(A) and j &lt; len(B):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043684"/>
            <a:ext cx="521208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A[i] &lt;= B[j]:     # take from 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275713"/>
            <a:ext cx="521208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merged.append(A[i])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507742"/>
            <a:ext cx="521208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 += 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739771"/>
            <a:ext cx="521208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                # take from B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971800"/>
            <a:ext cx="521208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merged.append(B[j])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203829"/>
            <a:ext cx="521208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j += 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435858"/>
            <a:ext cx="521208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merged.extend(A[i:])     # leftover 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667887"/>
            <a:ext cx="521208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merged.extend(B[j:])     # leftover B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899916"/>
            <a:ext cx="521208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merged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131945"/>
            <a:ext cx="521208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363974"/>
            <a:ext cx="521208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[1, 3, 5, 7];  B = [2, 4, 6, 8]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596003"/>
            <a:ext cx="5212080" cy="23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print(merge_sorted(A, B))  # [1,2,3,4,5,6,7,8]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89320" y="1005840"/>
            <a:ext cx="29260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89320" y="1005840"/>
            <a:ext cx="2926080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6080760" y="1024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Key Points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80760" y="1453896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8" name="Text 26"/>
          <p:cNvSpPr/>
          <p:nvPr/>
        </p:nvSpPr>
        <p:spPr>
          <a:xfrm>
            <a:off x="6263640" y="1417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subroutine of Merge Sort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80760" y="1819656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0" name="Text 28"/>
          <p:cNvSpPr/>
          <p:nvPr/>
        </p:nvSpPr>
        <p:spPr>
          <a:xfrm>
            <a:off x="6263640" y="1783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pointers advance through A and B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080760" y="2185416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2" name="Text 30"/>
          <p:cNvSpPr/>
          <p:nvPr/>
        </p:nvSpPr>
        <p:spPr>
          <a:xfrm>
            <a:off x="6263640" y="2148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picks the smaller element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080760" y="2551176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4" name="Text 32"/>
          <p:cNvSpPr/>
          <p:nvPr/>
        </p:nvSpPr>
        <p:spPr>
          <a:xfrm>
            <a:off x="6263640" y="2514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K-way merge &amp; external sort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989320" y="3017520"/>
            <a:ext cx="2926080" cy="1901952"/>
          </a:xfrm>
          <a:prstGeom prst="rect">
            <a:avLst/>
          </a:prstGeom>
          <a:solidFill>
            <a:srgbClr val="0F1F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080760" y="3081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Complexity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080760" y="343814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Time: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269480" y="343814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O(n + m)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080760" y="37673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Space: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269480" y="376732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O(n + m)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080760" y="40965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Stable: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269480" y="409651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Yes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080760" y="442569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Prereq: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269480" y="442569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Both sorted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Complexity — Summary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8503920" cy="36576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33272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Algorithm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57400" y="1033272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Best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29000" y="1033272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Average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00600" y="1033272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Worst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72200" y="1033272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Space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06640" y="1033272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Stable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371600"/>
            <a:ext cx="850392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44475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Sort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57400" y="144475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144475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O(n²)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144475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O(n²)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72200" y="144475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06640" y="144475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1938528"/>
            <a:ext cx="8503920" cy="530352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0116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Sort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057400" y="20116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O(n²)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29000" y="20116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O(n²)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0600" y="20116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O(n²)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72200" y="20116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06640" y="20116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2505456"/>
            <a:ext cx="850392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257860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Sort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057400" y="257860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29000" y="257860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O(n²)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0600" y="257860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O(n²)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172200" y="25786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406640" y="257860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0040" y="3072384"/>
            <a:ext cx="8503920" cy="530352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314553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057400" y="314553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 log n)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429000" y="314553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 log n)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00600" y="314553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 log n)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172200" y="31455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406640" y="314553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20040" y="3639312"/>
            <a:ext cx="850392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371246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Sort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057400" y="371246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 log n)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429000" y="371246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 log n)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800600" y="371246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O(n²)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172200" y="371246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O(log n)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406640" y="371246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20040" y="4206240"/>
            <a:ext cx="8503920" cy="530352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47" name="Text 45"/>
          <p:cNvSpPr/>
          <p:nvPr/>
        </p:nvSpPr>
        <p:spPr>
          <a:xfrm>
            <a:off x="365760" y="427939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2057400" y="427939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429000" y="427939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O(log n)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800600" y="427939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O(log n)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172200" y="427939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406640" y="427939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O(1) / O(log n) = Excellent   O(n log n) = Good   O(n²) = Poor for large 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to Use Which Algorithm?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6576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51560"/>
            <a:ext cx="4160520" cy="1170432"/>
          </a:xfrm>
          <a:prstGeom prst="rect">
            <a:avLst/>
          </a:prstGeom>
          <a:solidFill>
            <a:srgbClr val="1323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502920" cy="117043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9903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11430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 (n &lt; 50)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490472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Sort — low overhead, adaptive, simple to implement.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051560"/>
            <a:ext cx="4160520" cy="1170432"/>
          </a:xfrm>
          <a:prstGeom prst="rect">
            <a:avLst/>
          </a:prstGeom>
          <a:solidFill>
            <a:srgbClr val="1323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051560"/>
            <a:ext cx="502920" cy="1170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39903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94960" y="11430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Purpose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94960" y="1490472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 — guaranteed O(n log n), stable, predictable.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377440"/>
            <a:ext cx="4160520" cy="1170432"/>
          </a:xfrm>
          <a:prstGeom prst="rect">
            <a:avLst/>
          </a:prstGeom>
          <a:solidFill>
            <a:srgbClr val="1323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377440"/>
            <a:ext cx="502920" cy="1170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7249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Q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60120" y="24688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In-Place Speed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816352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Sort — fastest average case; use random pivot.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377440"/>
            <a:ext cx="4160520" cy="1170432"/>
          </a:xfrm>
          <a:prstGeom prst="rect">
            <a:avLst/>
          </a:prstGeom>
          <a:solidFill>
            <a:srgbClr val="1323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377440"/>
            <a:ext cx="502920" cy="1170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27249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94960" y="24688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Sorted / Close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94960" y="2816352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Sort — O(n) best case on nearly-sorted arrays.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703320"/>
            <a:ext cx="4160520" cy="1170432"/>
          </a:xfrm>
          <a:prstGeom prst="rect">
            <a:avLst/>
          </a:prstGeom>
          <a:solidFill>
            <a:srgbClr val="1323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703320"/>
            <a:ext cx="502920" cy="1170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0507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60120" y="37947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in Sorted Array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4142232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— O(log n), must ensure array is sorted first.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3703320"/>
            <a:ext cx="4160520" cy="1170432"/>
          </a:xfrm>
          <a:prstGeom prst="rect">
            <a:avLst/>
          </a:prstGeom>
          <a:solidFill>
            <a:srgbClr val="1323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703320"/>
            <a:ext cx="502920" cy="1170432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40507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394960" y="37947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/ Linked List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94960" y="4142232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 — sequential access, no random indexing needed.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926080"/>
            <a:ext cx="3657600" cy="3657600"/>
          </a:xfrm>
          <a:prstGeom prst="ellipse">
            <a:avLst/>
          </a:prstGeom>
          <a:solidFill>
            <a:srgbClr val="13284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20040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17043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Big-O before choosing an algorithm — asymptotic complexity drives real-world performance.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810512"/>
            <a:ext cx="320040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105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792224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Bubble, Selection &amp; Insertion Sort are O(n²) but excel on small or nearly-sorted datasets.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432304"/>
            <a:ext cx="320040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4323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41401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 guarantees O(n log n) and stability — preferred for linked lists and external data.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054096"/>
            <a:ext cx="320040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0540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303580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Sort is fastest in practice (cache-friendly) but needs a good pivot strategy.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675888"/>
            <a:ext cx="320040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675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365760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requires a sorted array — always worth sorting once if you'll search many times.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297680"/>
            <a:ext cx="320040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297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427939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Two-Pointer Merge is the core building block of Merge Sort — master it first.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663440"/>
            <a:ext cx="8229600" cy="36576"/>
          </a:xfrm>
          <a:prstGeom prst="rect">
            <a:avLst/>
          </a:prstGeom>
          <a:solidFill>
            <a:srgbClr val="264060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6080"/>
                </a:solidFill>
              </a:rPr>
              <a:t>Practice: implement each algorithm from memory, then benchmark with Python's time module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 &amp; Algorithms in Python</dc:title>
  <dc:subject>PptxGenJS Presentation</dc:subject>
  <dc:creator>CS Department</dc:creator>
  <cp:lastModifiedBy>CS Department</cp:lastModifiedBy>
  <cp:revision>1</cp:revision>
  <dcterms:created xsi:type="dcterms:W3CDTF">2026-04-27T18:56:09Z</dcterms:created>
  <dcterms:modified xsi:type="dcterms:W3CDTF">2026-04-27T18:56:09Z</dcterms:modified>
</cp:coreProperties>
</file>