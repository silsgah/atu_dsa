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9" r:id="rId17"/>
    <p:sldId id="270" r:id="rId18"/>
    <p:sldId id="271" r:id="rId19"/>
    <p:sldId id="280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619B1-6E70-D88D-B817-81122CA9A605}" v="216" dt="2026-05-11T20:05:22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19456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WEEK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Trees &amp; Binary Search Trees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Hierarchies, Recursion, and Logarithmic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University-Grade Lecture in Data Structures &amp;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Course   ·   CSC: Data Structures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Module   ·   Week 06 of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Format   ·   Lecture · Demonstration · Practical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From flat lists to branching hierarchies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1. From linear to hierarchical.  </a:t>
            </a:r>
            <a:r>
              <a:rPr sz="1800">
                <a:solidFill>
                  <a:srgbClr val="333D4A"/>
                </a:solidFill>
                <a:latin typeface="Calibri"/>
              </a:rPr>
              <a:t>Why we need trees.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2. Tree terminology.  </a:t>
            </a:r>
            <a:r>
              <a:rPr sz="1800">
                <a:solidFill>
                  <a:srgbClr val="333D4A"/>
                </a:solidFill>
                <a:latin typeface="Calibri"/>
              </a:rPr>
              <a:t>Root, parent, child, leaf, depth, height.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3. Binary Trees.  </a:t>
            </a:r>
            <a:r>
              <a:rPr sz="1800">
                <a:solidFill>
                  <a:srgbClr val="333D4A"/>
                </a:solidFill>
                <a:latin typeface="Calibri"/>
              </a:rPr>
              <a:t>At most two children — and what that buys us.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4. Binary Search Trees.  </a:t>
            </a:r>
            <a:r>
              <a:rPr sz="1800">
                <a:solidFill>
                  <a:srgbClr val="333D4A"/>
                </a:solidFill>
                <a:latin typeface="Calibri"/>
              </a:rPr>
              <a:t>The ordering invariant that enables O(log N) lookup.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5. Insertion &amp; Search.  </a:t>
            </a:r>
            <a:r>
              <a:rPr sz="1800">
                <a:solidFill>
                  <a:srgbClr val="333D4A"/>
                </a:solidFill>
                <a:latin typeface="Calibri"/>
              </a:rPr>
              <a:t>Walking the tree under the BST property.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6. DFS Traversals.  </a:t>
            </a:r>
            <a:r>
              <a:rPr sz="1800">
                <a:solidFill>
                  <a:srgbClr val="333D4A"/>
                </a:solidFill>
                <a:latin typeface="Calibri"/>
              </a:rPr>
              <a:t>Pre-order, In-order, Post-order — and what each is for.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7. BFS / Level-order.  </a:t>
            </a:r>
            <a:r>
              <a:rPr sz="1800">
                <a:solidFill>
                  <a:srgbClr val="333D4A"/>
                </a:solidFill>
                <a:latin typeface="Calibri"/>
              </a:rPr>
              <a:t>Visiting tier by tier with a queue.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8. Lowest Common Ancestor.  </a:t>
            </a:r>
            <a:r>
              <a:rPr sz="1800">
                <a:solidFill>
                  <a:srgbClr val="333D4A"/>
                </a:solidFill>
                <a:latin typeface="Calibri"/>
              </a:rPr>
              <a:t>A canonical interview question.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9. Balanced vs Degenerate.  </a:t>
            </a:r>
            <a:r>
              <a:rPr sz="1800">
                <a:solidFill>
                  <a:srgbClr val="333D4A"/>
                </a:solidFill>
                <a:latin typeface="Calibri"/>
              </a:rPr>
              <a:t>Why a sorted insert ruins your tree.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10. Pitfalls, applications, and the 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By the end of this lecture you will be able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Define the canonical tree vocabulary and identify each component on a diagram.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Implement a TreeNode and a Binary Search Tree with iterative insertion.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State the BST invariant and explain why it implies O(log N) search on balanced inputs.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Implement Pre-, In-, and Post-order DFS traversals recursively and reason about which to use when.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Describe Level-order (BFS) traversal and implement it with a queue.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Use the BST property to compute the Lowest Common Ancestor of two nodes in O(h).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1">
                <a:solidFill>
                  <a:srgbClr val="127A8A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Recognise degenerate trees and describe the motivation for self-balancing variants (AVL, Red-Black).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1.  From Linear to Hierarchical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Where a single chain stops being enough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Linked lists are 1-D chains.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48640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333D4A"/>
                </a:solidFill>
                <a:latin typeface="Calibri"/>
              </a:rPr>
              <a:t>But the world is hierarchical: a filesystem is folders inside folders; an HTML page is elements inside elements; a chess engine reasons about moves that branch into more moves.
Whenever an item logically owns several other items, you have a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27A8A"/>
                </a:solidFill>
                <a:latin typeface="Calibri"/>
              </a:rPr>
              <a:t>Why the shape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A chain of N items is searched in O(N).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A balanced tree of N items is searched in O(log N).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log₂(1,000,000) ≈ 20 — twenty steps to find one in a million.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493776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====================================================================== OPENV-GFSS FINAL (strict GFSS, n_runs=5) ====================================================================== Average base mIoU : 77.39% Average novel mIoU : 80.34% Harmonic mean : 78.84% ======================================================================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A small tree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229600" y="2377440"/>
            <a:ext cx="1097280" cy="4114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377440"/>
            <a:ext cx="1097280" cy="4114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0" y="3337560"/>
            <a:ext cx="0" cy="4114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3337560"/>
            <a:ext cx="0" cy="411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0" y="3337560"/>
            <a:ext cx="0" cy="4114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24160" y="3337560"/>
            <a:ext cx="0" cy="4114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052560" y="18288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182880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0" y="27889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27889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27889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40" y="27889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7" name="Oval 26"/>
          <p:cNvSpPr/>
          <p:nvPr/>
        </p:nvSpPr>
        <p:spPr>
          <a:xfrm>
            <a:off x="7296912" y="3749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6912" y="3749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8613648" y="3749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13648" y="3749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0" y="3749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3749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33" name="Oval 32"/>
          <p:cNvSpPr/>
          <p:nvPr/>
        </p:nvSpPr>
        <p:spPr>
          <a:xfrm>
            <a:off x="10808208" y="3749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08208" y="3749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6692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333D4A"/>
                </a:solidFill>
                <a:latin typeface="Calibri"/>
              </a:rPr>
              <a:t>Same data — but ordered for O(log N) search.</a:t>
            </a:r>
          </a:p>
        </p:txBody>
      </p: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6DD4DE91-E75F-CFEA-AF0E-78544127E72A}"/>
              </a:ext>
            </a:extLst>
          </p:cNvPr>
          <p:cNvCxnSpPr>
            <a:cxnSpLocks/>
          </p:cNvCxnSpPr>
          <p:nvPr/>
        </p:nvCxnSpPr>
        <p:spPr>
          <a:xfrm flipH="1">
            <a:off x="7839600" y="3751560"/>
            <a:ext cx="360000" cy="225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 17">
            <a:extLst>
              <a:ext uri="{FF2B5EF4-FFF2-40B4-BE49-F238E27FC236}">
                <a16:creationId xmlns:a16="http://schemas.microsoft.com/office/drawing/2014/main" id="{22B7F15E-51E9-0B61-9242-0BFA6EE88845}"/>
              </a:ext>
            </a:extLst>
          </p:cNvPr>
          <p:cNvCxnSpPr>
            <a:cxnSpLocks/>
          </p:cNvCxnSpPr>
          <p:nvPr/>
        </p:nvCxnSpPr>
        <p:spPr>
          <a:xfrm>
            <a:off x="8265600" y="3739560"/>
            <a:ext cx="378000" cy="123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17">
            <a:extLst>
              <a:ext uri="{FF2B5EF4-FFF2-40B4-BE49-F238E27FC236}">
                <a16:creationId xmlns:a16="http://schemas.microsoft.com/office/drawing/2014/main" id="{53353A0A-5813-0400-AAC6-35FF24ED2F17}"/>
              </a:ext>
            </a:extLst>
          </p:cNvPr>
          <p:cNvCxnSpPr>
            <a:cxnSpLocks/>
          </p:cNvCxnSpPr>
          <p:nvPr/>
        </p:nvCxnSpPr>
        <p:spPr>
          <a:xfrm flipH="1">
            <a:off x="10103928" y="3737623"/>
            <a:ext cx="330000" cy="219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17">
            <a:extLst>
              <a:ext uri="{FF2B5EF4-FFF2-40B4-BE49-F238E27FC236}">
                <a16:creationId xmlns:a16="http://schemas.microsoft.com/office/drawing/2014/main" id="{E2B22821-BF38-31D1-ED86-70AC304E9874}"/>
              </a:ext>
            </a:extLst>
          </p:cNvPr>
          <p:cNvCxnSpPr>
            <a:cxnSpLocks/>
          </p:cNvCxnSpPr>
          <p:nvPr/>
        </p:nvCxnSpPr>
        <p:spPr>
          <a:xfrm>
            <a:off x="10467600" y="3745560"/>
            <a:ext cx="330000" cy="135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tree structure&#10;&#10;AI-generated content may be incorrect.">
            <a:extLst>
              <a:ext uri="{FF2B5EF4-FFF2-40B4-BE49-F238E27FC236}">
                <a16:creationId xmlns:a16="http://schemas.microsoft.com/office/drawing/2014/main" id="{E52BC72A-BC12-7A4B-13E1-9E0D5386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8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2.  Tree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vocabulary of every tree question you will ever 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943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Root.  </a:t>
            </a:r>
            <a:r>
              <a:rPr sz="1500">
                <a:solidFill>
                  <a:srgbClr val="333D4A"/>
                </a:solidFill>
                <a:latin typeface="Calibri"/>
              </a:rPr>
              <a:t>The single topmost node; the entry point.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Parent / Child.  </a:t>
            </a:r>
            <a:r>
              <a:rPr sz="1500">
                <a:solidFill>
                  <a:srgbClr val="333D4A"/>
                </a:solidFill>
                <a:latin typeface="Calibri"/>
              </a:rPr>
              <a:t>Direct hierarchical relationship along an edge.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Sibling.  </a:t>
            </a:r>
            <a:r>
              <a:rPr sz="1500">
                <a:solidFill>
                  <a:srgbClr val="333D4A"/>
                </a:solidFill>
                <a:latin typeface="Calibri"/>
              </a:rPr>
              <a:t>Two nodes that share a parent.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Leaf.  </a:t>
            </a:r>
            <a:r>
              <a:rPr sz="1500">
                <a:solidFill>
                  <a:srgbClr val="333D4A"/>
                </a:solidFill>
                <a:latin typeface="Calibri"/>
              </a:rPr>
              <a:t>A node with no children; the end of a branch.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Edge.  </a:t>
            </a:r>
            <a:r>
              <a:rPr sz="1500">
                <a:solidFill>
                  <a:srgbClr val="333D4A"/>
                </a:solidFill>
                <a:latin typeface="Calibri"/>
              </a:rPr>
              <a:t>The connection between a parent and a child.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Path.  </a:t>
            </a:r>
            <a:r>
              <a:rPr sz="1500">
                <a:solidFill>
                  <a:srgbClr val="333D4A"/>
                </a:solidFill>
                <a:latin typeface="Calibri"/>
              </a:rPr>
              <a:t>The sequence of edges from one node to another.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Depth of a node.  </a:t>
            </a:r>
            <a:r>
              <a:rPr sz="1500">
                <a:solidFill>
                  <a:srgbClr val="333D4A"/>
                </a:solidFill>
                <a:latin typeface="Calibri"/>
              </a:rPr>
              <a:t>Number of edges from the root to that node.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Height of a tree.  </a:t>
            </a:r>
            <a:r>
              <a:rPr sz="1500">
                <a:solidFill>
                  <a:srgbClr val="333D4A"/>
                </a:solidFill>
                <a:latin typeface="Calibri"/>
              </a:rPr>
              <a:t>Length of the longest root-to-leaf path.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Subtree.  </a:t>
            </a:r>
            <a:r>
              <a:rPr sz="1500">
                <a:solidFill>
                  <a:srgbClr val="333D4A"/>
                </a:solidFill>
                <a:latin typeface="Calibri"/>
              </a:rPr>
              <a:t>Any node together with all of its descendants.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371600"/>
            <a:ext cx="4754880" cy="4937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ROOT A / \ / \ edge / \ edge / \ B --------- C / \ \ / \ \ D E F / \ G H</a:t>
            </a:r>
            <a:r>
              <a:rPr lang="en-US">
                <a:ea typeface="+mn-lt"/>
                <a:cs typeface="+mn-lt"/>
              </a:rPr>
              <a:t>                           ROOT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   A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 /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edge /       \ edge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/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 B --------- C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 /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/  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 D       E          F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G     H                           ROOT</a:t>
            </a:r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   A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 /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edge /       \ edge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/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 B --------- C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 /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/  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 D       E          F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G     H                           ROOT</a:t>
            </a:r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   A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  /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edge /       \ edge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/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 B --------- C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 /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 /     \       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 D       E          F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  /   \</a:t>
            </a:r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                        G     H</a:t>
            </a:r>
            <a:endParaRPr/>
          </a:p>
        </p:txBody>
      </p:sp>
      <p:cxnSp>
        <p:nvCxnSpPr>
          <p:cNvPr id="11" name="Connector 10"/>
          <p:cNvCxnSpPr/>
          <p:nvPr/>
        </p:nvCxnSpPr>
        <p:spPr>
          <a:xfrm flipH="1">
            <a:off x="8549640" y="2103120"/>
            <a:ext cx="86868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0" y="2103120"/>
            <a:ext cx="86868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0" y="301752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49640" y="301752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87000" y="301752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93192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44000" y="15544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24688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10012680" y="24688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24688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7754112" y="33832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4112" y="33832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8796528" y="33832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96528" y="33832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E</a:t>
            </a:r>
          </a:p>
        </p:txBody>
      </p:sp>
      <p:sp>
        <p:nvSpPr>
          <p:cNvPr id="27" name="Oval 26"/>
          <p:cNvSpPr/>
          <p:nvPr/>
        </p:nvSpPr>
        <p:spPr>
          <a:xfrm>
            <a:off x="10012680" y="33832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33832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F</a:t>
            </a:r>
          </a:p>
        </p:txBody>
      </p:sp>
      <p:sp>
        <p:nvSpPr>
          <p:cNvPr id="29" name="Oval 28"/>
          <p:cNvSpPr/>
          <p:nvPr/>
        </p:nvSpPr>
        <p:spPr>
          <a:xfrm>
            <a:off x="8796528" y="42976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96528" y="42976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82880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← Root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7840" y="2745480"/>
            <a:ext cx="1035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Parent of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5720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Calibri"/>
              </a:rPr>
              <a:t>Leaf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8521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0B2A4A"/>
                </a:solidFill>
                <a:latin typeface="Calibri"/>
              </a:rPr>
              <a:t>Height of this tree = 3 (longest path A→B→E→G)</a:t>
            </a:r>
          </a:p>
        </p:txBody>
      </p:sp>
      <p:cxnSp>
        <p:nvCxnSpPr>
          <p:cNvPr id="35" name="Connector 13">
            <a:extLst>
              <a:ext uri="{FF2B5EF4-FFF2-40B4-BE49-F238E27FC236}">
                <a16:creationId xmlns:a16="http://schemas.microsoft.com/office/drawing/2014/main" id="{2781C48A-9D40-CC28-D5B2-E2CADC28E372}"/>
              </a:ext>
            </a:extLst>
          </p:cNvPr>
          <p:cNvCxnSpPr>
            <a:cxnSpLocks/>
          </p:cNvCxnSpPr>
          <p:nvPr/>
        </p:nvCxnSpPr>
        <p:spPr>
          <a:xfrm flipH="1">
            <a:off x="8261640" y="3377520"/>
            <a:ext cx="336000" cy="24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DEA2373D-2FF1-5D33-728A-DAB8C2AF4A87}"/>
              </a:ext>
            </a:extLst>
          </p:cNvPr>
          <p:cNvCxnSpPr>
            <a:cxnSpLocks/>
          </p:cNvCxnSpPr>
          <p:nvPr/>
        </p:nvCxnSpPr>
        <p:spPr>
          <a:xfrm>
            <a:off x="8567640" y="3395520"/>
            <a:ext cx="276000" cy="257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3">
            <a:extLst>
              <a:ext uri="{FF2B5EF4-FFF2-40B4-BE49-F238E27FC236}">
                <a16:creationId xmlns:a16="http://schemas.microsoft.com/office/drawing/2014/main" id="{83ECFD58-B51E-7832-B1EE-08B444A6038C}"/>
              </a:ext>
            </a:extLst>
          </p:cNvPr>
          <p:cNvCxnSpPr>
            <a:cxnSpLocks/>
          </p:cNvCxnSpPr>
          <p:nvPr/>
        </p:nvCxnSpPr>
        <p:spPr>
          <a:xfrm>
            <a:off x="9101640" y="392952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C299EF2-60BC-D140-F4A6-95DC79E657C5}"/>
              </a:ext>
            </a:extLst>
          </p:cNvPr>
          <p:cNvSpPr txBox="1"/>
          <p:nvPr/>
        </p:nvSpPr>
        <p:spPr>
          <a:xfrm>
            <a:off x="6746880" y="3078000"/>
            <a:ext cx="18288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100" b="1">
                <a:solidFill>
                  <a:srgbClr val="2E7D32"/>
                </a:solidFill>
                <a:latin typeface="Calibri"/>
              </a:rPr>
              <a:t>Edge</a:t>
            </a:r>
            <a:r>
              <a:rPr sz="11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3.  Binary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Each node has at most two children — left and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48640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A binary tree is a tree where every node has zero, one, or two children, distinguished as left and right.
Binary trees are the workhorse of CS: BSTs, heaps, expression trees, Huffman codes, and decision trees are all binary.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27A8A"/>
                </a:solidFill>
                <a:latin typeface="Calibri"/>
              </a:rPr>
              <a:t>Special shapes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Full.  </a:t>
            </a:r>
            <a:r>
              <a:rPr sz="1400">
                <a:solidFill>
                  <a:srgbClr val="333D4A"/>
                </a:solidFill>
                <a:latin typeface="Calibri"/>
              </a:rPr>
              <a:t>Every node has either 0 or 2 children.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Complete.  </a:t>
            </a:r>
            <a:r>
              <a:rPr sz="1400">
                <a:solidFill>
                  <a:srgbClr val="333D4A"/>
                </a:solidFill>
                <a:latin typeface="Calibri"/>
              </a:rPr>
              <a:t>Every level full except possibly the last, filled left-to-right.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Perfect.  </a:t>
            </a:r>
            <a:r>
              <a:rPr sz="1400">
                <a:solidFill>
                  <a:srgbClr val="333D4A"/>
                </a:solidFill>
                <a:latin typeface="Calibri"/>
              </a:rPr>
              <a:t>All internal nodes have 2 children, all leaves at the same depth.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Balanced.  </a:t>
            </a:r>
            <a:r>
              <a:rPr sz="1400">
                <a:solidFill>
                  <a:srgbClr val="333D4A"/>
                </a:solidFill>
                <a:latin typeface="Calibri"/>
              </a:rPr>
              <a:t>Heights of left and right subtrees differ by at most a constant.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37160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The atom — TreeNode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502920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1828800"/>
            <a:ext cx="73152" cy="310896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1920240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class TreeNode: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"""A single node of a binary tree."""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__slots__ = ("val", "left", "right")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def __init__(self, val=0):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self.val   = val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self.left  = None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self.right =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02920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Mini binary tree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595360" y="5715000"/>
            <a:ext cx="640080" cy="914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40" y="5715000"/>
            <a:ext cx="640080" cy="914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006840" y="5257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52578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R</a:t>
            </a:r>
          </a:p>
        </p:txBody>
      </p:sp>
      <p:sp>
        <p:nvSpPr>
          <p:cNvPr id="22" name="Oval 21"/>
          <p:cNvSpPr/>
          <p:nvPr/>
        </p:nvSpPr>
        <p:spPr>
          <a:xfrm>
            <a:off x="8366760" y="58064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580644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L</a:t>
            </a:r>
          </a:p>
        </p:txBody>
      </p:sp>
      <p:sp>
        <p:nvSpPr>
          <p:cNvPr id="24" name="Oval 23"/>
          <p:cNvSpPr/>
          <p:nvPr/>
        </p:nvSpPr>
        <p:spPr>
          <a:xfrm>
            <a:off x="9646920" y="58064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580644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4.  Binary Search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invariant that turns a tree into a sorted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The BST invariant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5486400" cy="1828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521208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0B2A4A"/>
                </a:solidFill>
                <a:latin typeface="Consolas"/>
              </a:rPr>
              <a:t>For every node N:
   • every value in the left subtree of N  &lt;  N.val
   • every value in the right subtree of N &gt;  N.val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27A8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Searching halves the candidate set at every step.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An in-order DFS yields the values in sorted order — for free.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Insertion preserves the invariant by always going one side.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When balanced, height = ⌈log₂ N⌉ + 1 — hence O(log N) operations.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371600"/>
            <a:ext cx="5029200" cy="4937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Example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366760" y="2395728"/>
            <a:ext cx="91440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81160" y="2395728"/>
            <a:ext cx="91440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3355848"/>
            <a:ext cx="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66760" y="3355848"/>
            <a:ext cx="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0" y="3355848"/>
            <a:ext cx="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95560" y="3355848"/>
            <a:ext cx="0" cy="374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988552" y="181051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8552" y="181051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24" name="Oval 23"/>
          <p:cNvSpPr/>
          <p:nvPr/>
        </p:nvSpPr>
        <p:spPr>
          <a:xfrm>
            <a:off x="8074152" y="277063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74152" y="277063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9902952" y="277063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2952" y="277063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8" name="Oval 27"/>
          <p:cNvSpPr/>
          <p:nvPr/>
        </p:nvSpPr>
        <p:spPr>
          <a:xfrm>
            <a:off x="7571232" y="3730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71232" y="373075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8577072" y="3730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373075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9400032" y="3730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00032" y="373075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34" name="Oval 33"/>
          <p:cNvSpPr/>
          <p:nvPr/>
        </p:nvSpPr>
        <p:spPr>
          <a:xfrm>
            <a:off x="10405872" y="3730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05872" y="373075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48640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333D4A"/>
                </a:solidFill>
                <a:latin typeface="Calibri"/>
              </a:rPr>
              <a:t>Each left subtree is &lt; parent.   Each right subtree is &gt; parent.</a:t>
            </a:r>
          </a:p>
        </p:txBody>
      </p:sp>
      <p:cxnSp>
        <p:nvCxnSpPr>
          <p:cNvPr id="37" name="Connector 18">
            <a:extLst>
              <a:ext uri="{FF2B5EF4-FFF2-40B4-BE49-F238E27FC236}">
                <a16:creationId xmlns:a16="http://schemas.microsoft.com/office/drawing/2014/main" id="{480A0B8A-E2D5-C43B-8115-E58B31717F7E}"/>
              </a:ext>
            </a:extLst>
          </p:cNvPr>
          <p:cNvCxnSpPr>
            <a:cxnSpLocks/>
          </p:cNvCxnSpPr>
          <p:nvPr/>
        </p:nvCxnSpPr>
        <p:spPr>
          <a:xfrm flipH="1">
            <a:off x="8048760" y="3673848"/>
            <a:ext cx="306000" cy="176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8">
            <a:extLst>
              <a:ext uri="{FF2B5EF4-FFF2-40B4-BE49-F238E27FC236}">
                <a16:creationId xmlns:a16="http://schemas.microsoft.com/office/drawing/2014/main" id="{5FF0634B-5CC9-48A9-F369-9AF5CC2AA5DC}"/>
              </a:ext>
            </a:extLst>
          </p:cNvPr>
          <p:cNvCxnSpPr>
            <a:cxnSpLocks/>
          </p:cNvCxnSpPr>
          <p:nvPr/>
        </p:nvCxnSpPr>
        <p:spPr>
          <a:xfrm>
            <a:off x="8390760" y="3667848"/>
            <a:ext cx="222000" cy="308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8">
            <a:extLst>
              <a:ext uri="{FF2B5EF4-FFF2-40B4-BE49-F238E27FC236}">
                <a16:creationId xmlns:a16="http://schemas.microsoft.com/office/drawing/2014/main" id="{C1FB2214-16CF-44B7-1EFB-F0F9D2F6B415}"/>
              </a:ext>
            </a:extLst>
          </p:cNvPr>
          <p:cNvCxnSpPr>
            <a:cxnSpLocks/>
          </p:cNvCxnSpPr>
          <p:nvPr/>
        </p:nvCxnSpPr>
        <p:spPr>
          <a:xfrm flipH="1">
            <a:off x="9872760" y="3733848"/>
            <a:ext cx="348000" cy="140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8">
            <a:extLst>
              <a:ext uri="{FF2B5EF4-FFF2-40B4-BE49-F238E27FC236}">
                <a16:creationId xmlns:a16="http://schemas.microsoft.com/office/drawing/2014/main" id="{F1FDCF76-4492-4526-B96D-0967B26C893D}"/>
              </a:ext>
            </a:extLst>
          </p:cNvPr>
          <p:cNvCxnSpPr>
            <a:cxnSpLocks/>
          </p:cNvCxnSpPr>
          <p:nvPr/>
        </p:nvCxnSpPr>
        <p:spPr>
          <a:xfrm>
            <a:off x="10238760" y="3763848"/>
            <a:ext cx="168000" cy="9290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5.  Why O(log N)?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Each comparison eliminates half the remaining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333D4A"/>
                </a:solidFill>
                <a:latin typeface="Calibri"/>
              </a:rPr>
              <a:t>Searching for 7 in the BST below — only 3 comparisons.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120640" y="2651760"/>
            <a:ext cx="1280160" cy="365760"/>
          </a:xfrm>
          <a:prstGeom prst="line">
            <a:avLst/>
          </a:prstGeom>
          <a:ln w="3175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2651760"/>
            <a:ext cx="128016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0" y="374904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3749040"/>
            <a:ext cx="0" cy="365760"/>
          </a:xfrm>
          <a:prstGeom prst="line">
            <a:avLst/>
          </a:prstGeom>
          <a:ln w="3175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0" y="374904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3749040"/>
            <a:ext cx="0" cy="36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35040" y="1920240"/>
            <a:ext cx="731520" cy="731520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192024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3017520"/>
            <a:ext cx="731520" cy="731520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0175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30175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2" name="Oval 21"/>
          <p:cNvSpPr/>
          <p:nvPr/>
        </p:nvSpPr>
        <p:spPr>
          <a:xfrm>
            <a:off x="3986784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86784" y="411480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522976" y="4114800"/>
            <a:ext cx="731520" cy="731520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22976" y="411480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7104" y="411480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8083296" y="411480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83296" y="411480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Step-by-step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69280"/>
            <a:ext cx="100584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1) 7 &lt; 10  →  go left.    2) 7 &gt; 5   →  go right.    3) Match: return node 7.   Three steps, not seven.</a:t>
            </a:r>
          </a:p>
        </p:txBody>
      </p:sp>
      <p:cxnSp>
        <p:nvCxnSpPr>
          <p:cNvPr id="33" name="Connector 12">
            <a:extLst>
              <a:ext uri="{FF2B5EF4-FFF2-40B4-BE49-F238E27FC236}">
                <a16:creationId xmlns:a16="http://schemas.microsoft.com/office/drawing/2014/main" id="{7EBD00D0-10F1-97D0-628D-956BEABD1533}"/>
              </a:ext>
            </a:extLst>
          </p:cNvPr>
          <p:cNvCxnSpPr>
            <a:cxnSpLocks/>
          </p:cNvCxnSpPr>
          <p:nvPr/>
        </p:nvCxnSpPr>
        <p:spPr>
          <a:xfrm>
            <a:off x="5132640" y="4121039"/>
            <a:ext cx="402000" cy="221760"/>
          </a:xfrm>
          <a:prstGeom prst="line">
            <a:avLst/>
          </a:prstGeom>
          <a:ln w="3175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4">
            <a:extLst>
              <a:ext uri="{FF2B5EF4-FFF2-40B4-BE49-F238E27FC236}">
                <a16:creationId xmlns:a16="http://schemas.microsoft.com/office/drawing/2014/main" id="{F5507F09-2796-137E-57EC-2DC9A4EC56C8}"/>
              </a:ext>
            </a:extLst>
          </p:cNvPr>
          <p:cNvCxnSpPr>
            <a:cxnSpLocks/>
          </p:cNvCxnSpPr>
          <p:nvPr/>
        </p:nvCxnSpPr>
        <p:spPr>
          <a:xfrm flipH="1">
            <a:off x="7272960" y="4091039"/>
            <a:ext cx="366000" cy="233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4">
            <a:extLst>
              <a:ext uri="{FF2B5EF4-FFF2-40B4-BE49-F238E27FC236}">
                <a16:creationId xmlns:a16="http://schemas.microsoft.com/office/drawing/2014/main" id="{6F957BC6-4489-9C9C-079C-2E868150BE9A}"/>
              </a:ext>
            </a:extLst>
          </p:cNvPr>
          <p:cNvCxnSpPr>
            <a:cxnSpLocks/>
          </p:cNvCxnSpPr>
          <p:nvPr/>
        </p:nvCxnSpPr>
        <p:spPr>
          <a:xfrm>
            <a:off x="7668960" y="4085039"/>
            <a:ext cx="420000" cy="275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4">
            <a:extLst>
              <a:ext uri="{FF2B5EF4-FFF2-40B4-BE49-F238E27FC236}">
                <a16:creationId xmlns:a16="http://schemas.microsoft.com/office/drawing/2014/main" id="{F22FE0D0-4060-869D-180F-F29C0605A3FF}"/>
              </a:ext>
            </a:extLst>
          </p:cNvPr>
          <p:cNvCxnSpPr>
            <a:cxnSpLocks/>
          </p:cNvCxnSpPr>
          <p:nvPr/>
        </p:nvCxnSpPr>
        <p:spPr>
          <a:xfrm flipH="1">
            <a:off x="4722960" y="4091039"/>
            <a:ext cx="378000" cy="29376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6.  BST Insertion —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Insert 8 into the tree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Step 1 — Start at root. 8 &lt; 10  →  go left.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2468880"/>
            <a:ext cx="91440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2468880"/>
            <a:ext cx="91440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26080" y="1920240"/>
            <a:ext cx="548640" cy="548640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2011680" y="26974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2697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3840480" y="26974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2697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2" name="Oval 21"/>
          <p:cNvSpPr/>
          <p:nvPr/>
        </p:nvSpPr>
        <p:spPr>
          <a:xfrm>
            <a:off x="150876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251460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1460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333756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434340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Step 2 — At 5: 8 &gt; 5  →  go right.   Step 3 — At 7: 8 &gt; 7 and 7.right is None → insert.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229600" y="2468880"/>
            <a:ext cx="91440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2468880"/>
            <a:ext cx="91440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2960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58400" y="3246120"/>
            <a:ext cx="0" cy="22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023360"/>
            <a:ext cx="0" cy="228600"/>
          </a:xfrm>
          <a:prstGeom prst="line">
            <a:avLst/>
          </a:prstGeom>
          <a:ln w="3175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869680" y="19202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19202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40" name="Oval 39"/>
          <p:cNvSpPr/>
          <p:nvPr/>
        </p:nvSpPr>
        <p:spPr>
          <a:xfrm>
            <a:off x="7955280" y="26974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80" y="2697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42" name="Oval 41"/>
          <p:cNvSpPr/>
          <p:nvPr/>
        </p:nvSpPr>
        <p:spPr>
          <a:xfrm>
            <a:off x="9784080" y="26974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0" y="2697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44" name="Oval 43"/>
          <p:cNvSpPr/>
          <p:nvPr/>
        </p:nvSpPr>
        <p:spPr>
          <a:xfrm>
            <a:off x="745236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5236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845820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48" name="Oval 47"/>
          <p:cNvSpPr/>
          <p:nvPr/>
        </p:nvSpPr>
        <p:spPr>
          <a:xfrm>
            <a:off x="928116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8116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50" name="Oval 49"/>
          <p:cNvSpPr/>
          <p:nvPr/>
        </p:nvSpPr>
        <p:spPr>
          <a:xfrm>
            <a:off x="10287000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87000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52" name="Oval 51"/>
          <p:cNvSpPr/>
          <p:nvPr/>
        </p:nvSpPr>
        <p:spPr>
          <a:xfrm>
            <a:off x="8869680" y="4251960"/>
            <a:ext cx="548640" cy="548640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0" y="42519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27A8A"/>
                </a:solidFill>
                <a:latin typeface="Calibri"/>
              </a:rPr>
              <a:t>Each comparison decides one direction. Insertion cost = path length = O(h).</a:t>
            </a:r>
          </a:p>
        </p:txBody>
      </p:sp>
      <p:cxnSp>
        <p:nvCxnSpPr>
          <p:cNvPr id="55" name="Connector 12">
            <a:extLst>
              <a:ext uri="{FF2B5EF4-FFF2-40B4-BE49-F238E27FC236}">
                <a16:creationId xmlns:a16="http://schemas.microsoft.com/office/drawing/2014/main" id="{1772DB47-4512-3B3B-C593-67424294A00A}"/>
              </a:ext>
            </a:extLst>
          </p:cNvPr>
          <p:cNvCxnSpPr>
            <a:cxnSpLocks/>
          </p:cNvCxnSpPr>
          <p:nvPr/>
        </p:nvCxnSpPr>
        <p:spPr>
          <a:xfrm flipH="1">
            <a:off x="1956000" y="3402120"/>
            <a:ext cx="336000" cy="282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2">
            <a:extLst>
              <a:ext uri="{FF2B5EF4-FFF2-40B4-BE49-F238E27FC236}">
                <a16:creationId xmlns:a16="http://schemas.microsoft.com/office/drawing/2014/main" id="{C4D8AF3A-CEE7-BF58-618A-AF1E4FCA2C76}"/>
              </a:ext>
            </a:extLst>
          </p:cNvPr>
          <p:cNvCxnSpPr>
            <a:cxnSpLocks/>
          </p:cNvCxnSpPr>
          <p:nvPr/>
        </p:nvCxnSpPr>
        <p:spPr>
          <a:xfrm>
            <a:off x="2262000" y="3402120"/>
            <a:ext cx="312000" cy="19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2">
            <a:extLst>
              <a:ext uri="{FF2B5EF4-FFF2-40B4-BE49-F238E27FC236}">
                <a16:creationId xmlns:a16="http://schemas.microsoft.com/office/drawing/2014/main" id="{A7E507FD-E0A2-485D-C88C-F246AC142F0E}"/>
              </a:ext>
            </a:extLst>
          </p:cNvPr>
          <p:cNvCxnSpPr>
            <a:cxnSpLocks/>
          </p:cNvCxnSpPr>
          <p:nvPr/>
        </p:nvCxnSpPr>
        <p:spPr>
          <a:xfrm flipH="1">
            <a:off x="3858000" y="3450120"/>
            <a:ext cx="240000" cy="144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2">
            <a:extLst>
              <a:ext uri="{FF2B5EF4-FFF2-40B4-BE49-F238E27FC236}">
                <a16:creationId xmlns:a16="http://schemas.microsoft.com/office/drawing/2014/main" id="{08796A96-A1A7-89F0-36E6-E3D4D61E9532}"/>
              </a:ext>
            </a:extLst>
          </p:cNvPr>
          <p:cNvCxnSpPr>
            <a:cxnSpLocks/>
          </p:cNvCxnSpPr>
          <p:nvPr/>
        </p:nvCxnSpPr>
        <p:spPr>
          <a:xfrm>
            <a:off x="4146000" y="3438120"/>
            <a:ext cx="228000" cy="168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2">
            <a:extLst>
              <a:ext uri="{FF2B5EF4-FFF2-40B4-BE49-F238E27FC236}">
                <a16:creationId xmlns:a16="http://schemas.microsoft.com/office/drawing/2014/main" id="{18A316AA-8C5F-6CDB-AF17-66DF97E611FD}"/>
              </a:ext>
            </a:extLst>
          </p:cNvPr>
          <p:cNvCxnSpPr>
            <a:cxnSpLocks/>
          </p:cNvCxnSpPr>
          <p:nvPr/>
        </p:nvCxnSpPr>
        <p:spPr>
          <a:xfrm flipH="1">
            <a:off x="7920000" y="3426120"/>
            <a:ext cx="324000" cy="234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2">
            <a:extLst>
              <a:ext uri="{FF2B5EF4-FFF2-40B4-BE49-F238E27FC236}">
                <a16:creationId xmlns:a16="http://schemas.microsoft.com/office/drawing/2014/main" id="{78702240-24BD-1DB9-76A9-300AD8DAD482}"/>
              </a:ext>
            </a:extLst>
          </p:cNvPr>
          <p:cNvCxnSpPr>
            <a:cxnSpLocks/>
          </p:cNvCxnSpPr>
          <p:nvPr/>
        </p:nvCxnSpPr>
        <p:spPr>
          <a:xfrm>
            <a:off x="8214000" y="3450120"/>
            <a:ext cx="252000" cy="210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2">
            <a:extLst>
              <a:ext uri="{FF2B5EF4-FFF2-40B4-BE49-F238E27FC236}">
                <a16:creationId xmlns:a16="http://schemas.microsoft.com/office/drawing/2014/main" id="{FCD12BF9-1C54-1FFA-F8F9-0ED8E1EDA059}"/>
              </a:ext>
            </a:extLst>
          </p:cNvPr>
          <p:cNvCxnSpPr>
            <a:cxnSpLocks/>
          </p:cNvCxnSpPr>
          <p:nvPr/>
        </p:nvCxnSpPr>
        <p:spPr>
          <a:xfrm>
            <a:off x="10050000" y="3498119"/>
            <a:ext cx="252000" cy="210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12">
            <a:extLst>
              <a:ext uri="{FF2B5EF4-FFF2-40B4-BE49-F238E27FC236}">
                <a16:creationId xmlns:a16="http://schemas.microsoft.com/office/drawing/2014/main" id="{4ED89E1E-4BE9-9419-B5DD-D1508F9798C9}"/>
              </a:ext>
            </a:extLst>
          </p:cNvPr>
          <p:cNvCxnSpPr>
            <a:cxnSpLocks/>
          </p:cNvCxnSpPr>
          <p:nvPr/>
        </p:nvCxnSpPr>
        <p:spPr>
          <a:xfrm flipV="1">
            <a:off x="9822000" y="3480719"/>
            <a:ext cx="246000" cy="1374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12">
            <a:extLst>
              <a:ext uri="{FF2B5EF4-FFF2-40B4-BE49-F238E27FC236}">
                <a16:creationId xmlns:a16="http://schemas.microsoft.com/office/drawing/2014/main" id="{4BC19071-9377-BCAE-5FF1-802D28EEB77A}"/>
              </a:ext>
            </a:extLst>
          </p:cNvPr>
          <p:cNvCxnSpPr>
            <a:cxnSpLocks/>
          </p:cNvCxnSpPr>
          <p:nvPr/>
        </p:nvCxnSpPr>
        <p:spPr>
          <a:xfrm>
            <a:off x="8724000" y="4026119"/>
            <a:ext cx="366000" cy="24060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7.  BST Insertion —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Iterative insertion is robust and stack-safe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10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7040880" cy="51206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73152" cy="5120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6812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class BST: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__init__(self):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self.root = None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insert(self, val):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if self.root is None: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self.root = TreeNode(val)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return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current = self.root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while True: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if val &lt; current.val: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if current.left is None: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    current.left = TreeNode(val)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    return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current = current.left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else: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if current.right is None: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    current.right = TreeNode(val)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    return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current = current.right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749039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Iterative form avoids recursion depth limits on large trees.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Empty-tree branch creates the root and returns immediately.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Equal values go right by convention — choose and document.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Time O(h);  for balanced trees O(log N);  worst-case O(N).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8.  Tree Traversals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Two strategies, four orders, one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11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40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Pre-Order (DFS)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20"/>
            <a:ext cx="5440680" cy="1874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4983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Visit Node → Left → Right.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Use: deep-copy a tree; serialise structure.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Implemented with recursion or an explicit stack.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40680" cy="5029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440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In-Order (DFS)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74520"/>
            <a:ext cx="5440680" cy="1874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4983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Visit Left → Node → Right.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On a BST: produces values in sorted ascending order.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Use: validate a BST; output sorted 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440680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5440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Post-Order (DFS)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5440680" cy="1874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4983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Visit Left → Right → Node.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Use: free / delete a tree; evaluate expression trees.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Children are processed before their parent.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44068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5440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Level-Order (BFS)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434840"/>
            <a:ext cx="5440680" cy="1874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4983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6A1B9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Visit tier by tier from the root downward.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6A1B9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Implemented with a FIFO queue, not recursion.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6A1B9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Use: shortest path in unweighted trees, level summaries.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9.  Same Tree, Four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What each traversal actually produces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12 / 22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94560" y="2121408"/>
            <a:ext cx="91440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2121408"/>
            <a:ext cx="91440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816352" y="15361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16352" y="15361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7" name="Oval 16"/>
          <p:cNvSpPr/>
          <p:nvPr/>
        </p:nvSpPr>
        <p:spPr>
          <a:xfrm>
            <a:off x="1901952" y="2450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01952" y="24505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450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24505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139903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903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240487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0487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322783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423367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3367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55448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Pre-Order  (Node, Left, Right)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2024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onsolas"/>
              </a:rPr>
              <a:t>10 · 5 · 2 · 7 · 15 · 12 ·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27A8A"/>
                </a:solidFill>
                <a:latin typeface="Calibri"/>
              </a:rPr>
              <a:t>In-Order  (Left, Node, Right)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2608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  <a:latin typeface="Consolas"/>
              </a:rPr>
              <a:t>2 · 5 · 7 · 10 · 12 · 15 · 20    ← sorted!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6616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E0A81F"/>
                </a:solidFill>
                <a:latin typeface="Calibri"/>
              </a:rPr>
              <a:t>Post-Order  (Left, Right, Node)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3192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onsolas"/>
              </a:rPr>
              <a:t>2 · 7 · 5 · 12 · 20 · 15 ·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7200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  <a:latin typeface="Calibri"/>
              </a:rPr>
              <a:t>Level-Order  (BFS)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onsolas"/>
              </a:rPr>
              <a:t>10 · 5 · 15 · 2 · 7 · 12 · 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1">
                <a:solidFill>
                  <a:srgbClr val="0B2A4A"/>
                </a:solidFill>
                <a:latin typeface="Calibri"/>
              </a:rPr>
              <a:t>In-order on a BST is the cheapest sort you'll ever write.</a:t>
            </a:r>
          </a:p>
        </p:txBody>
      </p:sp>
      <p:cxnSp>
        <p:nvCxnSpPr>
          <p:cNvPr id="39" name="Connector 11">
            <a:extLst>
              <a:ext uri="{FF2B5EF4-FFF2-40B4-BE49-F238E27FC236}">
                <a16:creationId xmlns:a16="http://schemas.microsoft.com/office/drawing/2014/main" id="{823FF22C-4472-AD8C-A2A3-46136A1D4D0C}"/>
              </a:ext>
            </a:extLst>
          </p:cNvPr>
          <p:cNvCxnSpPr>
            <a:cxnSpLocks/>
          </p:cNvCxnSpPr>
          <p:nvPr/>
        </p:nvCxnSpPr>
        <p:spPr>
          <a:xfrm flipH="1">
            <a:off x="1942560" y="3335808"/>
            <a:ext cx="276000" cy="20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2FE29EDE-32BE-DD88-049B-E2BC835227DB}"/>
              </a:ext>
            </a:extLst>
          </p:cNvPr>
          <p:cNvCxnSpPr>
            <a:cxnSpLocks/>
          </p:cNvCxnSpPr>
          <p:nvPr/>
        </p:nvCxnSpPr>
        <p:spPr>
          <a:xfrm>
            <a:off x="2188560" y="3335808"/>
            <a:ext cx="234000" cy="227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1">
            <a:extLst>
              <a:ext uri="{FF2B5EF4-FFF2-40B4-BE49-F238E27FC236}">
                <a16:creationId xmlns:a16="http://schemas.microsoft.com/office/drawing/2014/main" id="{AD684214-259D-713E-4D30-69A43630EB9B}"/>
              </a:ext>
            </a:extLst>
          </p:cNvPr>
          <p:cNvCxnSpPr>
            <a:cxnSpLocks/>
          </p:cNvCxnSpPr>
          <p:nvPr/>
        </p:nvCxnSpPr>
        <p:spPr>
          <a:xfrm flipH="1">
            <a:off x="3724560" y="3335808"/>
            <a:ext cx="306000" cy="11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1">
            <a:extLst>
              <a:ext uri="{FF2B5EF4-FFF2-40B4-BE49-F238E27FC236}">
                <a16:creationId xmlns:a16="http://schemas.microsoft.com/office/drawing/2014/main" id="{1F2DCD14-E23A-F409-C653-75316E1D6087}"/>
              </a:ext>
            </a:extLst>
          </p:cNvPr>
          <p:cNvCxnSpPr>
            <a:cxnSpLocks/>
          </p:cNvCxnSpPr>
          <p:nvPr/>
        </p:nvCxnSpPr>
        <p:spPr>
          <a:xfrm>
            <a:off x="4036560" y="3335808"/>
            <a:ext cx="246000" cy="95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10.  Traversal Implementations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Three lines change between Pre-, In-, and Post-order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13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7040880" cy="51206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73152" cy="5120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6812280" cy="44489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inorder_traversal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(root):</a:t>
            </a: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E6E6E6"/>
                </a:solidFill>
                <a:latin typeface="Consolas"/>
              </a:rPr>
              <a:t>   </a:t>
            </a:r>
            <a:r>
              <a:rPr sz="1300">
                <a:solidFill>
                  <a:srgbClr val="E6E6E6"/>
                </a:solidFill>
                <a:latin typeface="Consolas"/>
              </a:rPr>
              <a:t>res = []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def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(node):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if node is None: return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node.left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res.append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node.val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     # ← position decides the order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node.right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(root)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return res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preorder_traversal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(root):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res = []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def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(node):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if node is None: return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res.append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node.val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     # node first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node.left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node.right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dirty="0">
                <a:solidFill>
                  <a:srgbClr val="E6E6E6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6E6E6"/>
                </a:solidFill>
                <a:latin typeface="Consolas"/>
              </a:rPr>
              <a:t>dfs</a:t>
            </a:r>
            <a:r>
              <a:rPr sz="1300" dirty="0">
                <a:solidFill>
                  <a:srgbClr val="E6E6E6"/>
                </a:solidFill>
                <a:latin typeface="Consolas"/>
              </a:rPr>
              <a:t>(root)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return 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Level-order (BFS)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749039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73152" cy="41148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5204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from collections import deque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def level_order(root):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if root is None: return []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res, q = [], deque([root])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while q: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n = q.popleft()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res.append(n.val)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if n.left:  q.append(n.left)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if n.right: q.append(n.right)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return 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11.  Lowest Common Ancestor (BST)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first node where the paths to p and q diverge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14 / 22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94560" y="2121408"/>
            <a:ext cx="914400" cy="329184"/>
          </a:xfrm>
          <a:prstGeom prst="line">
            <a:avLst/>
          </a:prstGeom>
          <a:ln w="31750">
            <a:solidFill>
              <a:srgbClr val="E0A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2121408"/>
            <a:ext cx="91440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3035808"/>
            <a:ext cx="0" cy="329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816352" y="15361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16352" y="15361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7" name="Oval 16"/>
          <p:cNvSpPr/>
          <p:nvPr/>
        </p:nvSpPr>
        <p:spPr>
          <a:xfrm>
            <a:off x="1901952" y="2450592"/>
            <a:ext cx="585216" cy="585216"/>
          </a:xfrm>
          <a:prstGeom prst="ellipse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01952" y="24505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450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24505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139903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903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240487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0487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322783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27" name="Oval 26"/>
          <p:cNvSpPr/>
          <p:nvPr/>
        </p:nvSpPr>
        <p:spPr>
          <a:xfrm>
            <a:off x="4233672" y="3364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33672" y="3364992"/>
            <a:ext cx="585216" cy="5852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LCA(2, 7) =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54864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Both 2 and 7 are smaller than 10 → go left.
Now at 5: 2 &lt; 5 and 7 &gt; 5 → split point. Stop.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37160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Iterative LCA (uses BST property)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1874519"/>
            <a:ext cx="5212080" cy="3017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1874519"/>
            <a:ext cx="73152" cy="30175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1965959"/>
            <a:ext cx="4983480" cy="21882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dirty="0">
                <a:solidFill>
                  <a:srgbClr val="E6E6E6"/>
                </a:solidFill>
                <a:latin typeface="Consolas"/>
              </a:rPr>
              <a:t>def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lowest_common_ancestor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(root, p, q):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current = root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while current:</a:t>
            </a:r>
          </a:p>
          <a:p>
            <a:pPr algn="l">
              <a:lnSpc>
                <a:spcPct val="115000"/>
              </a:lnSpc>
            </a:pPr>
            <a:r>
              <a:rPr sz="1200" dirty="0">
                <a:solidFill>
                  <a:srgbClr val="E6E6E6"/>
                </a:solidFill>
                <a:latin typeface="Consolas"/>
              </a:rPr>
              <a:t>        if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p.val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&lt;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and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q.val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&lt;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200" dirty="0">
                <a:solidFill>
                  <a:srgbClr val="E6E6E6"/>
                </a:solidFill>
                <a:latin typeface="Consolas"/>
              </a:rPr>
              <a:t>            current =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current.left</a:t>
            </a:r>
          </a:p>
          <a:p>
            <a:pPr algn="l">
              <a:lnSpc>
                <a:spcPct val="115000"/>
              </a:lnSpc>
            </a:pPr>
            <a:r>
              <a:rPr sz="1200" dirty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elif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p.val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&gt;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and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q.val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 &gt;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current.val</a:t>
            </a:r>
            <a:r>
              <a:rPr sz="12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200" dirty="0">
                <a:solidFill>
                  <a:srgbClr val="E6E6E6"/>
                </a:solidFill>
                <a:latin typeface="Consolas"/>
              </a:rPr>
              <a:t>            current = </a:t>
            </a:r>
            <a:r>
              <a:rPr sz="1200" dirty="0" err="1">
                <a:solidFill>
                  <a:srgbClr val="E6E6E6"/>
                </a:solidFill>
                <a:latin typeface="Consolas"/>
              </a:rPr>
              <a:t>current.right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else: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return current   # split point</a:t>
            </a:r>
          </a:p>
          <a:p>
            <a:endParaRPr lang="en-US" sz="1200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83680" y="5029200"/>
            <a:ext cx="521208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512064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Complexity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40680"/>
            <a:ext cx="49377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333D4A"/>
                </a:solidFill>
                <a:latin typeface="Calibri"/>
              </a:rPr>
              <a:t>Time  O(h)   ·   Space  O(1).
On a balanced BST: O(log N) and no recursion stack.</a:t>
            </a:r>
          </a:p>
        </p:txBody>
      </p:sp>
      <p:cxnSp>
        <p:nvCxnSpPr>
          <p:cNvPr id="38" name="Connector 11">
            <a:extLst>
              <a:ext uri="{FF2B5EF4-FFF2-40B4-BE49-F238E27FC236}">
                <a16:creationId xmlns:a16="http://schemas.microsoft.com/office/drawing/2014/main" id="{9D661883-D09B-CD47-78DB-9F55B91E468D}"/>
              </a:ext>
            </a:extLst>
          </p:cNvPr>
          <p:cNvCxnSpPr>
            <a:cxnSpLocks/>
          </p:cNvCxnSpPr>
          <p:nvPr/>
        </p:nvCxnSpPr>
        <p:spPr>
          <a:xfrm flipH="1">
            <a:off x="1888560" y="3311808"/>
            <a:ext cx="300000" cy="233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1">
            <a:extLst>
              <a:ext uri="{FF2B5EF4-FFF2-40B4-BE49-F238E27FC236}">
                <a16:creationId xmlns:a16="http://schemas.microsoft.com/office/drawing/2014/main" id="{6E137EA8-2806-DFB5-480D-403C7D919226}"/>
              </a:ext>
            </a:extLst>
          </p:cNvPr>
          <p:cNvCxnSpPr>
            <a:cxnSpLocks/>
          </p:cNvCxnSpPr>
          <p:nvPr/>
        </p:nvCxnSpPr>
        <p:spPr>
          <a:xfrm>
            <a:off x="2212560" y="3317808"/>
            <a:ext cx="270000" cy="221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5714A146-B313-F2F4-E947-95073DD78F3E}"/>
              </a:ext>
            </a:extLst>
          </p:cNvPr>
          <p:cNvCxnSpPr>
            <a:cxnSpLocks/>
          </p:cNvCxnSpPr>
          <p:nvPr/>
        </p:nvCxnSpPr>
        <p:spPr>
          <a:xfrm flipH="1">
            <a:off x="3772560" y="3323808"/>
            <a:ext cx="246000" cy="185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1">
            <a:extLst>
              <a:ext uri="{FF2B5EF4-FFF2-40B4-BE49-F238E27FC236}">
                <a16:creationId xmlns:a16="http://schemas.microsoft.com/office/drawing/2014/main" id="{F4FBF734-4AA3-218E-B1B0-589E5A2D41B0}"/>
              </a:ext>
            </a:extLst>
          </p:cNvPr>
          <p:cNvCxnSpPr>
            <a:cxnSpLocks/>
          </p:cNvCxnSpPr>
          <p:nvPr/>
        </p:nvCxnSpPr>
        <p:spPr>
          <a:xfrm>
            <a:off x="4054560" y="3323808"/>
            <a:ext cx="252000" cy="101184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F60A44B-1B79-AA7D-94D1-492075EEA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17" y="0"/>
            <a:ext cx="9626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57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12.  Balanced vs Degenerate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Insertion order silently destroys your O(log N)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Balanced — height ≈ log₂ N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331720" y="2286000"/>
            <a:ext cx="86868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2286000"/>
            <a:ext cx="86868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0" y="3154680"/>
            <a:ext cx="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3154680"/>
            <a:ext cx="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0" y="3154680"/>
            <a:ext cx="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3154680"/>
            <a:ext cx="0" cy="32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26080" y="17373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173736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2057400" y="2606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2606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3794760" y="2606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2606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15</a:t>
            </a:r>
          </a:p>
        </p:txBody>
      </p:sp>
      <p:sp>
        <p:nvSpPr>
          <p:cNvPr id="22" name="Oval 21"/>
          <p:cNvSpPr/>
          <p:nvPr/>
        </p:nvSpPr>
        <p:spPr>
          <a:xfrm>
            <a:off x="1579626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79626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2535174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35174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3316986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6986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12</a:t>
            </a:r>
          </a:p>
        </p:txBody>
      </p:sp>
      <p:sp>
        <p:nvSpPr>
          <p:cNvPr id="28" name="Oval 27"/>
          <p:cNvSpPr/>
          <p:nvPr/>
        </p:nvSpPr>
        <p:spPr>
          <a:xfrm>
            <a:off x="4272534" y="3474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2534" y="34747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37160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Degenerate — sorted insert collapses to a chain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09760" y="2240280"/>
            <a:ext cx="502920" cy="1828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12680" y="2880360"/>
            <a:ext cx="502920" cy="1828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15600" y="3520440"/>
            <a:ext cx="502920" cy="1828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18520" y="4160520"/>
            <a:ext cx="502920" cy="18288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281160" y="17830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178308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37" name="Oval 36"/>
          <p:cNvSpPr/>
          <p:nvPr/>
        </p:nvSpPr>
        <p:spPr>
          <a:xfrm>
            <a:off x="9784080" y="24231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0" y="242316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10287000" y="30632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87000" y="306324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10789920" y="3703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37033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43" name="Oval 42"/>
          <p:cNvSpPr/>
          <p:nvPr/>
        </p:nvSpPr>
        <p:spPr>
          <a:xfrm>
            <a:off x="11292840" y="43434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292840" y="43434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What went wrong?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333D4A"/>
                </a:solidFill>
                <a:latin typeface="Calibri"/>
              </a:rPr>
              <a:t>Inserting [1,2,3,4,5] into a plain BST yields a right-only chain. Search becomes O(N). Self-balancing trees (AVL, Red-Black, B-trees) restore O(log N) by re-shaping after insertions.</a:t>
            </a:r>
          </a:p>
        </p:txBody>
      </p:sp>
      <p:cxnSp>
        <p:nvCxnSpPr>
          <p:cNvPr id="48" name="Connector 12">
            <a:extLst>
              <a:ext uri="{FF2B5EF4-FFF2-40B4-BE49-F238E27FC236}">
                <a16:creationId xmlns:a16="http://schemas.microsoft.com/office/drawing/2014/main" id="{BF16DAE7-85F8-EA2F-BC9F-613A7E9C9E89}"/>
              </a:ext>
            </a:extLst>
          </p:cNvPr>
          <p:cNvCxnSpPr>
            <a:cxnSpLocks/>
          </p:cNvCxnSpPr>
          <p:nvPr/>
        </p:nvCxnSpPr>
        <p:spPr>
          <a:xfrm flipH="1">
            <a:off x="2103720" y="3460680"/>
            <a:ext cx="222000" cy="14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2">
            <a:extLst>
              <a:ext uri="{FF2B5EF4-FFF2-40B4-BE49-F238E27FC236}">
                <a16:creationId xmlns:a16="http://schemas.microsoft.com/office/drawing/2014/main" id="{04C77A9C-1414-12FC-6A3D-CE24E9613A83}"/>
              </a:ext>
            </a:extLst>
          </p:cNvPr>
          <p:cNvCxnSpPr>
            <a:cxnSpLocks/>
          </p:cNvCxnSpPr>
          <p:nvPr/>
        </p:nvCxnSpPr>
        <p:spPr>
          <a:xfrm>
            <a:off x="2343720" y="3442680"/>
            <a:ext cx="204000" cy="146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2">
            <a:extLst>
              <a:ext uri="{FF2B5EF4-FFF2-40B4-BE49-F238E27FC236}">
                <a16:creationId xmlns:a16="http://schemas.microsoft.com/office/drawing/2014/main" id="{3FC30C3A-38B3-940E-77DE-07558454B6DA}"/>
              </a:ext>
            </a:extLst>
          </p:cNvPr>
          <p:cNvCxnSpPr>
            <a:cxnSpLocks/>
          </p:cNvCxnSpPr>
          <p:nvPr/>
        </p:nvCxnSpPr>
        <p:spPr>
          <a:xfrm flipH="1">
            <a:off x="3837720" y="3448680"/>
            <a:ext cx="210000" cy="170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2">
            <a:extLst>
              <a:ext uri="{FF2B5EF4-FFF2-40B4-BE49-F238E27FC236}">
                <a16:creationId xmlns:a16="http://schemas.microsoft.com/office/drawing/2014/main" id="{82F15AB6-A960-2B7C-4273-D1F960D496CB}"/>
              </a:ext>
            </a:extLst>
          </p:cNvPr>
          <p:cNvCxnSpPr>
            <a:cxnSpLocks/>
          </p:cNvCxnSpPr>
          <p:nvPr/>
        </p:nvCxnSpPr>
        <p:spPr>
          <a:xfrm>
            <a:off x="4095720" y="3436680"/>
            <a:ext cx="216000" cy="158040"/>
          </a:xfrm>
          <a:prstGeom prst="line">
            <a:avLst/>
          </a:prstGeom>
          <a:ln w="22225">
            <a:solidFill>
              <a:srgbClr val="33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13.  Complexity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h = tree height. Balanced ⇒ h = log N. Degenerate ⇒ h = 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16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508760"/>
            <a:ext cx="41148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50876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508760"/>
            <a:ext cx="27432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0" y="150876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Avg / Balanced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508760"/>
            <a:ext cx="32004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0876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Worst / Degenerate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011680"/>
            <a:ext cx="41148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011680"/>
            <a:ext cx="27432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0" y="201168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O(log 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011680"/>
            <a:ext cx="32004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5146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0200" y="251460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Insert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5146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0" y="251460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O(log 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514600"/>
            <a:ext cx="3200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251460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017520"/>
            <a:ext cx="41148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00200" y="301752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Delete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017520"/>
            <a:ext cx="27432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0" y="301752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O(log 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017520"/>
            <a:ext cx="32004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301752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5204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00200" y="352044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Min / Max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5204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15000" y="352044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O(log 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520440"/>
            <a:ext cx="3200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352044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4023360"/>
            <a:ext cx="41148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00200" y="402336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In-order walk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023360"/>
            <a:ext cx="27432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15000" y="402336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023360"/>
            <a:ext cx="32004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402336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63040" y="4526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00200" y="452628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Space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45262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15000" y="452628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4526280"/>
            <a:ext cx="3200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452628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3040" y="5029200"/>
            <a:ext cx="41148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600200" y="5029200"/>
            <a:ext cx="3931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Recursion depth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5029200"/>
            <a:ext cx="27432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15000" y="5029200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O(log 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5029200"/>
            <a:ext cx="32004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58200" y="502920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  ← stack-overflow risk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127A8A"/>
                </a:solidFill>
                <a:latin typeface="Calibri"/>
              </a:rPr>
              <a:t>Self-balancing trees (AVL, Red-Black) guarantee the average column even on adversarial input.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E94C18-3AC1-9A76-43D6-5998F6EE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50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14.  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Where students lose marks — and where production code breaks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Forgetting the empty tree.  </a:t>
            </a:r>
            <a:r>
              <a:rPr sz="1500">
                <a:solidFill>
                  <a:srgbClr val="333D4A"/>
                </a:solidFill>
                <a:latin typeface="Calibri"/>
              </a:rPr>
              <a:t>Calling root.val on None raises AttributeError; always guard root is None first.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Confusing the BST property.  </a:t>
            </a:r>
            <a:r>
              <a:rPr sz="1500">
                <a:solidFill>
                  <a:srgbClr val="333D4A"/>
                </a:solidFill>
                <a:latin typeface="Calibri"/>
              </a:rPr>
              <a:t>It applies recursively: every value in the left subtree, not just the immediate child.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Equal values inconsistency.  </a:t>
            </a:r>
            <a:r>
              <a:rPr sz="1500">
                <a:solidFill>
                  <a:srgbClr val="333D4A"/>
                </a:solidFill>
                <a:latin typeface="Calibri"/>
              </a:rPr>
              <a:t>Pick a side (left or right) for duplicates and apply it everywhere; document it.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Recursive depth on degenerate trees.  </a:t>
            </a:r>
            <a:r>
              <a:rPr sz="1500">
                <a:solidFill>
                  <a:srgbClr val="333D4A"/>
                </a:solidFill>
                <a:latin typeface="Calibri"/>
              </a:rPr>
              <a:t>A chain of 10⁴ nodes can blow Python's default 1000-frame stack. Prefer iteration.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Mutating during traversal.  </a:t>
            </a:r>
            <a:r>
              <a:rPr sz="1500">
                <a:solidFill>
                  <a:srgbClr val="333D4A"/>
                </a:solidFill>
                <a:latin typeface="Calibri"/>
              </a:rPr>
              <a:t>Inserting or deleting while walking the tree corrupts the iteration. Snapshot first.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Wrong traversal for the job.  </a:t>
            </a:r>
            <a:r>
              <a:rPr sz="1500">
                <a:solidFill>
                  <a:srgbClr val="333D4A"/>
                </a:solidFill>
                <a:latin typeface="Calibri"/>
              </a:rPr>
              <a:t>Use post-order to delete; in-order to print sorted; pre-order to copy structure.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15.  Trees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Where the structures from this lecture run in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18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Filesystems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Directories form a tree; ext4 and NTFS use B-trees for indexing.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3657600" cy="5029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Databases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Indexes are B+ trees — every SQL WHERE you've ever written touches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HTML / 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Browsers parse pages into a tree the JS engine traverses to render.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Compilers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Source code becomes an Abstract Syntax Tree before optimisation and codegen.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794760"/>
            <a:ext cx="36576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37947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Game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443484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Decision trees and Monte-Carlo Tree Search drive chess, Go, and modern game AI.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9476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434840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IP routing tables use radix / trie trees for longest-prefix match.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16.  Practical Lab — practice.py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Three exercises. Build, traverse, reason.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1.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BST.insert() iteratively, preserving the BST invariant.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2.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inorder_traversal() and preorder_traversal() recursively.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3.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lowest_common_ancestor(root, p, q) using the BST property in O(h).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Submission expectations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Test the empty tree, single-node tree, and a degenerate (sorted-insert) tree.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Verify that inorder_traversal returns a sorted list.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Annotate each function with its time and space complexity.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Avoid recursion deeper than necessary; prefer iteration where natural.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17.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Six sentences worth memorising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A tree is a hierarchy of nodes connected by edges; one root, no cycles.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A binary tree has at most two children per node — left and right.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A BST imposes left &lt; parent &lt; right recursively, enabling O(log N) search on balanced inputs.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Pre-order, In-order, and Post-order are DFS traversals distinguished by where the node visit happens relative to the recursive calls.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Level-order is BFS over a queue — used for tier-by-tier algorithms.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E0A81F"/>
                </a:solidFill>
                <a:latin typeface="Calibri"/>
              </a:rPr>
              <a:t>▸  </a:t>
            </a:r>
            <a:r>
              <a:rPr sz="1700">
                <a:solidFill>
                  <a:srgbClr val="333D4A"/>
                </a:solidFill>
                <a:latin typeface="Calibri"/>
              </a:rPr>
              <a:t>Insertion order matters: a sorted insert produces a degenerate tree; balancing trees fix this.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18. 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Trusted sources for deeper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06 · Trees &amp; BSTs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CLRS — Introduction to Algorithms (4th ed.).  </a:t>
            </a:r>
            <a:r>
              <a:rPr sz="1600">
                <a:solidFill>
                  <a:srgbClr val="333D4A"/>
                </a:solidFill>
                <a:latin typeface="Calibri"/>
              </a:rPr>
              <a:t>Cormen, Leiserson, Rivest, Stein. Chapter 12 — Binary Search Trees.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The Art of Computer Programming, Vol. 3.  </a:t>
            </a:r>
            <a:r>
              <a:rPr sz="1600">
                <a:solidFill>
                  <a:srgbClr val="333D4A"/>
                </a:solidFill>
                <a:latin typeface="Calibri"/>
              </a:rPr>
              <a:t>Donald E. Knuth. Section 6.2 — Searching by Tree Insertion.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Algorithms (4th ed.).  </a:t>
            </a:r>
            <a:r>
              <a:rPr sz="1600">
                <a:solidFill>
                  <a:srgbClr val="333D4A"/>
                </a:solidFill>
                <a:latin typeface="Calibri"/>
              </a:rPr>
              <a:t>Sedgewick &amp; Wayne. Princeton University. Chapter 3.2 — BSTs.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Adelson-Velsky &amp; Landis (1962).  </a:t>
            </a:r>
            <a:r>
              <a:rPr sz="1600">
                <a:solidFill>
                  <a:srgbClr val="333D4A"/>
                </a:solidFill>
                <a:latin typeface="Calibri"/>
              </a:rPr>
              <a:t>An algorithm for the organization of information. Origin of AVL trees.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LeetCode practice set.  </a:t>
            </a:r>
            <a:r>
              <a:rPr sz="1600">
                <a:solidFill>
                  <a:srgbClr val="333D4A"/>
                </a:solidFill>
                <a:latin typeface="Calibri"/>
              </a:rPr>
              <a:t>94 (Inorder), 144 (Preorder), 102 (Level-order), 235 (LCA-BST), 98 (Validate BST).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>
                <a:solidFill>
                  <a:srgbClr val="E0A81F"/>
                </a:solidFill>
                <a:latin typeface="Calibri"/>
              </a:rPr>
              <a:t>Bring your traces, your edge cases, and your degenerate trees.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  <a:latin typeface="Calibri"/>
              </a:rPr>
              <a:t>Next week  ·  Heaps &amp; Priority Queues — the BST's specialised cousin.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F2F4F7"/>
                </a:solidFill>
                <a:latin typeface="Calibri"/>
              </a:rPr>
              <a:t>Data Structures &amp; Algorithms  ·  Week 06  ·  Trees &amp; BSTs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128</cp:revision>
  <dcterms:created xsi:type="dcterms:W3CDTF">2013-01-27T09:14:16Z</dcterms:created>
  <dcterms:modified xsi:type="dcterms:W3CDTF">2026-05-11T20:22:56Z</dcterms:modified>
  <cp:category/>
</cp:coreProperties>
</file>