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029200"/>
            <a:ext cx="12191695" cy="109728"/>
          </a:xfrm>
          <a:prstGeom prst="rect">
            <a:avLst/>
          </a:prstGeom>
          <a:solidFill>
            <a:srgbClr val="E0A8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212080"/>
            <a:ext cx="12191695" cy="36576"/>
          </a:xfrm>
          <a:prstGeom prst="rect">
            <a:avLst/>
          </a:prstGeom>
          <a:solidFill>
            <a:srgbClr val="127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22960" y="914400"/>
            <a:ext cx="2194560" cy="502920"/>
          </a:xfrm>
          <a:prstGeom prst="roundRect">
            <a:avLst/>
          </a:prstGeom>
          <a:solidFill>
            <a:srgbClr val="E0A8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914400"/>
            <a:ext cx="219456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800" b="1" i="0">
                <a:solidFill>
                  <a:srgbClr val="0B2A4A"/>
                </a:solidFill>
                <a:latin typeface="Calibri"/>
              </a:rPr>
              <a:t>WEEK 06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691640"/>
            <a:ext cx="10515600" cy="12801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5800" b="1" i="0">
                <a:solidFill>
                  <a:srgbClr val="FFFFFF"/>
                </a:solidFill>
                <a:latin typeface="Calibri"/>
              </a:rPr>
              <a:t>Trees &amp; Binary Search Trees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880360"/>
            <a:ext cx="1051560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0" i="1">
                <a:solidFill>
                  <a:srgbClr val="E0A81F"/>
                </a:solidFill>
                <a:latin typeface="Calibri"/>
              </a:rPr>
              <a:t>Hierarchies, Recursion, and Logarithmic Search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749039"/>
            <a:ext cx="105156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00" b="0" i="0">
                <a:solidFill>
                  <a:srgbClr val="F2F4F7"/>
                </a:solidFill>
                <a:latin typeface="Calibri"/>
              </a:rPr>
              <a:t>A University-Grade Lecture in Data Structures &amp; Algorithms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5486400"/>
            <a:ext cx="7315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Course   ·   CSC: Data Structures &amp; Algorithms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5852160"/>
            <a:ext cx="7315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Module   ·   Week 06 of 12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6217920"/>
            <a:ext cx="7315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Format   ·   Lecture · Demonstration · Practical Lab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0"/>
            <a:ext cx="11871655" cy="73152"/>
          </a:xfrm>
          <a:prstGeom prst="rect">
            <a:avLst/>
          </a:prstGeom>
          <a:solidFill>
            <a:srgbClr val="E0A8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051560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1" i="0">
                <a:solidFill>
                  <a:srgbClr val="0B2A4A"/>
                </a:solidFill>
                <a:latin typeface="Calibri"/>
              </a:rPr>
              <a:t>Lecture Outline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13232"/>
            <a:ext cx="105156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0" i="1">
                <a:solidFill>
                  <a:srgbClr val="127A8A"/>
                </a:solidFill>
                <a:latin typeface="Calibri"/>
              </a:rPr>
              <a:t>From flat lists to branching hierarchies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115568"/>
            <a:ext cx="1828800" cy="36576"/>
          </a:xfrm>
          <a:prstGeom prst="rect">
            <a:avLst/>
          </a:prstGeom>
          <a:solidFill>
            <a:srgbClr val="E0A8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1">
                <a:solidFill>
                  <a:srgbClr val="333D4A"/>
                </a:solidFill>
                <a:latin typeface="Calibri"/>
              </a:rPr>
              <a:t>Data Structures &amp; Algorithms · Week 06 · Trees &amp; BSTs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46520"/>
            <a:ext cx="10972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333D4A"/>
                </a:solidFill>
                <a:latin typeface="Calibri"/>
              </a:rPr>
              <a:t>Slide 2 / 22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1371600"/>
            <a:ext cx="10972800" cy="502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1800" b="1">
                <a:solidFill>
                  <a:srgbClr val="127A8A"/>
                </a:solidFill>
                <a:latin typeface="Calibri"/>
              </a:rPr>
              <a:t>▸  </a:t>
            </a:r>
            <a:r>
              <a:rPr sz="1800" b="1">
                <a:solidFill>
                  <a:srgbClr val="0B2A4A"/>
                </a:solidFill>
                <a:latin typeface="Calibri"/>
              </a:rPr>
              <a:t>1. From linear to hierarchical.  </a:t>
            </a:r>
            <a:r>
              <a:rPr sz="1800">
                <a:solidFill>
                  <a:srgbClr val="333D4A"/>
                </a:solidFill>
                <a:latin typeface="Calibri"/>
              </a:rPr>
              <a:t>Why we need trees.</a:t>
            </a:r>
          </a:p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1800" b="1">
                <a:solidFill>
                  <a:srgbClr val="127A8A"/>
                </a:solidFill>
                <a:latin typeface="Calibri"/>
              </a:rPr>
              <a:t>▸  </a:t>
            </a:r>
            <a:r>
              <a:rPr sz="1800" b="1">
                <a:solidFill>
                  <a:srgbClr val="0B2A4A"/>
                </a:solidFill>
                <a:latin typeface="Calibri"/>
              </a:rPr>
              <a:t>2. Tree terminology.  </a:t>
            </a:r>
            <a:r>
              <a:rPr sz="1800">
                <a:solidFill>
                  <a:srgbClr val="333D4A"/>
                </a:solidFill>
                <a:latin typeface="Calibri"/>
              </a:rPr>
              <a:t>Root, parent, child, leaf, depth, height.</a:t>
            </a:r>
          </a:p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1800" b="1">
                <a:solidFill>
                  <a:srgbClr val="127A8A"/>
                </a:solidFill>
                <a:latin typeface="Calibri"/>
              </a:rPr>
              <a:t>▸  </a:t>
            </a:r>
            <a:r>
              <a:rPr sz="1800" b="1">
                <a:solidFill>
                  <a:srgbClr val="0B2A4A"/>
                </a:solidFill>
                <a:latin typeface="Calibri"/>
              </a:rPr>
              <a:t>3. Binary Trees.  </a:t>
            </a:r>
            <a:r>
              <a:rPr sz="1800">
                <a:solidFill>
                  <a:srgbClr val="333D4A"/>
                </a:solidFill>
                <a:latin typeface="Calibri"/>
              </a:rPr>
              <a:t>At most two children — and what that buys us.</a:t>
            </a:r>
          </a:p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1800" b="1">
                <a:solidFill>
                  <a:srgbClr val="127A8A"/>
                </a:solidFill>
                <a:latin typeface="Calibri"/>
              </a:rPr>
              <a:t>▸  </a:t>
            </a:r>
            <a:r>
              <a:rPr sz="1800" b="1">
                <a:solidFill>
                  <a:srgbClr val="0B2A4A"/>
                </a:solidFill>
                <a:latin typeface="Calibri"/>
              </a:rPr>
              <a:t>4. Binary Search Trees.  </a:t>
            </a:r>
            <a:r>
              <a:rPr sz="1800">
                <a:solidFill>
                  <a:srgbClr val="333D4A"/>
                </a:solidFill>
                <a:latin typeface="Calibri"/>
              </a:rPr>
              <a:t>The ordering invariant that enables O(log N) lookup.</a:t>
            </a:r>
          </a:p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1800" b="1">
                <a:solidFill>
                  <a:srgbClr val="127A8A"/>
                </a:solidFill>
                <a:latin typeface="Calibri"/>
              </a:rPr>
              <a:t>▸  </a:t>
            </a:r>
            <a:r>
              <a:rPr sz="1800" b="1">
                <a:solidFill>
                  <a:srgbClr val="0B2A4A"/>
                </a:solidFill>
                <a:latin typeface="Calibri"/>
              </a:rPr>
              <a:t>5. Insertion &amp; Search.  </a:t>
            </a:r>
            <a:r>
              <a:rPr sz="1800">
                <a:solidFill>
                  <a:srgbClr val="333D4A"/>
                </a:solidFill>
                <a:latin typeface="Calibri"/>
              </a:rPr>
              <a:t>Walking the tree under the BST property.</a:t>
            </a:r>
          </a:p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1800" b="1">
                <a:solidFill>
                  <a:srgbClr val="127A8A"/>
                </a:solidFill>
                <a:latin typeface="Calibri"/>
              </a:rPr>
              <a:t>▸  </a:t>
            </a:r>
            <a:r>
              <a:rPr sz="1800" b="1">
                <a:solidFill>
                  <a:srgbClr val="0B2A4A"/>
                </a:solidFill>
                <a:latin typeface="Calibri"/>
              </a:rPr>
              <a:t>6. DFS Traversals.  </a:t>
            </a:r>
            <a:r>
              <a:rPr sz="1800">
                <a:solidFill>
                  <a:srgbClr val="333D4A"/>
                </a:solidFill>
                <a:latin typeface="Calibri"/>
              </a:rPr>
              <a:t>Pre-order, In-order, Post-order — and what each is for.</a:t>
            </a:r>
          </a:p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1800" b="1">
                <a:solidFill>
                  <a:srgbClr val="127A8A"/>
                </a:solidFill>
                <a:latin typeface="Calibri"/>
              </a:rPr>
              <a:t>▸  </a:t>
            </a:r>
            <a:r>
              <a:rPr sz="1800" b="1">
                <a:solidFill>
                  <a:srgbClr val="0B2A4A"/>
                </a:solidFill>
                <a:latin typeface="Calibri"/>
              </a:rPr>
              <a:t>7. BFS / Level-order.  </a:t>
            </a:r>
            <a:r>
              <a:rPr sz="1800">
                <a:solidFill>
                  <a:srgbClr val="333D4A"/>
                </a:solidFill>
                <a:latin typeface="Calibri"/>
              </a:rPr>
              <a:t>Visiting tier by tier with a queue.</a:t>
            </a:r>
          </a:p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1800" b="1">
                <a:solidFill>
                  <a:srgbClr val="127A8A"/>
                </a:solidFill>
                <a:latin typeface="Calibri"/>
              </a:rPr>
              <a:t>▸  </a:t>
            </a:r>
            <a:r>
              <a:rPr sz="1800" b="1">
                <a:solidFill>
                  <a:srgbClr val="0B2A4A"/>
                </a:solidFill>
                <a:latin typeface="Calibri"/>
              </a:rPr>
              <a:t>8. Lowest Common Ancestor.  </a:t>
            </a:r>
            <a:r>
              <a:rPr sz="1800">
                <a:solidFill>
                  <a:srgbClr val="333D4A"/>
                </a:solidFill>
                <a:latin typeface="Calibri"/>
              </a:rPr>
              <a:t>A canonical interview question.</a:t>
            </a:r>
          </a:p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1800" b="1">
                <a:solidFill>
                  <a:srgbClr val="127A8A"/>
                </a:solidFill>
                <a:latin typeface="Calibri"/>
              </a:rPr>
              <a:t>▸  </a:t>
            </a:r>
            <a:r>
              <a:rPr sz="1800" b="1">
                <a:solidFill>
                  <a:srgbClr val="0B2A4A"/>
                </a:solidFill>
                <a:latin typeface="Calibri"/>
              </a:rPr>
              <a:t>9. Balanced vs Degenerate.  </a:t>
            </a:r>
            <a:r>
              <a:rPr sz="1800">
                <a:solidFill>
                  <a:srgbClr val="333D4A"/>
                </a:solidFill>
                <a:latin typeface="Calibri"/>
              </a:rPr>
              <a:t>Why a sorted insert ruins your tree.</a:t>
            </a:r>
          </a:p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1800" b="1">
                <a:solidFill>
                  <a:srgbClr val="127A8A"/>
                </a:solidFill>
                <a:latin typeface="Calibri"/>
              </a:rPr>
              <a:t>▸  </a:t>
            </a:r>
            <a:r>
              <a:rPr sz="1800">
                <a:solidFill>
                  <a:srgbClr val="333D4A"/>
                </a:solidFill>
                <a:latin typeface="Calibri"/>
              </a:rPr>
              <a:t>10. Pitfalls, applications, and the lab.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0"/>
            <a:ext cx="11871655" cy="73152"/>
          </a:xfrm>
          <a:prstGeom prst="rect">
            <a:avLst/>
          </a:prstGeom>
          <a:solidFill>
            <a:srgbClr val="E0A8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051560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1" i="0">
                <a:solidFill>
                  <a:srgbClr val="0B2A4A"/>
                </a:solidFill>
                <a:latin typeface="Calibri"/>
              </a:rPr>
              <a:t>Learning Outcomes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13232"/>
            <a:ext cx="105156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0" i="1">
                <a:solidFill>
                  <a:srgbClr val="127A8A"/>
                </a:solidFill>
                <a:latin typeface="Calibri"/>
              </a:rPr>
              <a:t>By the end of this lecture you will be able to…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115568"/>
            <a:ext cx="1828800" cy="36576"/>
          </a:xfrm>
          <a:prstGeom prst="rect">
            <a:avLst/>
          </a:prstGeom>
          <a:solidFill>
            <a:srgbClr val="E0A8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1">
                <a:solidFill>
                  <a:srgbClr val="333D4A"/>
                </a:solidFill>
                <a:latin typeface="Calibri"/>
              </a:rPr>
              <a:t>Data Structures &amp; Algorithms · Week 06 · Trees &amp; BSTs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46520"/>
            <a:ext cx="10972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333D4A"/>
                </a:solidFill>
                <a:latin typeface="Calibri"/>
              </a:rPr>
              <a:t>Slide 3 / 22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1371600"/>
            <a:ext cx="10972800" cy="502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1700" b="1">
                <a:solidFill>
                  <a:srgbClr val="127A8A"/>
                </a:solidFill>
                <a:latin typeface="Calibri"/>
              </a:rPr>
              <a:t>▸  </a:t>
            </a:r>
            <a:r>
              <a:rPr sz="1700">
                <a:solidFill>
                  <a:srgbClr val="333D4A"/>
                </a:solidFill>
                <a:latin typeface="Calibri"/>
              </a:rPr>
              <a:t>Define the canonical tree vocabulary and identify each component on a diagram.</a:t>
            </a:r>
          </a:p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1700" b="1">
                <a:solidFill>
                  <a:srgbClr val="127A8A"/>
                </a:solidFill>
                <a:latin typeface="Calibri"/>
              </a:rPr>
              <a:t>▸  </a:t>
            </a:r>
            <a:r>
              <a:rPr sz="1700">
                <a:solidFill>
                  <a:srgbClr val="333D4A"/>
                </a:solidFill>
                <a:latin typeface="Calibri"/>
              </a:rPr>
              <a:t>Implement a TreeNode and a Binary Search Tree with iterative insertion.</a:t>
            </a:r>
          </a:p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1700" b="1">
                <a:solidFill>
                  <a:srgbClr val="127A8A"/>
                </a:solidFill>
                <a:latin typeface="Calibri"/>
              </a:rPr>
              <a:t>▸  </a:t>
            </a:r>
            <a:r>
              <a:rPr sz="1700">
                <a:solidFill>
                  <a:srgbClr val="333D4A"/>
                </a:solidFill>
                <a:latin typeface="Calibri"/>
              </a:rPr>
              <a:t>State the BST invariant and explain why it implies O(log N) search on balanced inputs.</a:t>
            </a:r>
          </a:p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1700" b="1">
                <a:solidFill>
                  <a:srgbClr val="127A8A"/>
                </a:solidFill>
                <a:latin typeface="Calibri"/>
              </a:rPr>
              <a:t>▸  </a:t>
            </a:r>
            <a:r>
              <a:rPr sz="1700">
                <a:solidFill>
                  <a:srgbClr val="333D4A"/>
                </a:solidFill>
                <a:latin typeface="Calibri"/>
              </a:rPr>
              <a:t>Implement Pre-, In-, and Post-order DFS traversals recursively and reason about which to use when.</a:t>
            </a:r>
          </a:p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1700" b="1">
                <a:solidFill>
                  <a:srgbClr val="127A8A"/>
                </a:solidFill>
                <a:latin typeface="Calibri"/>
              </a:rPr>
              <a:t>▸  </a:t>
            </a:r>
            <a:r>
              <a:rPr sz="1700">
                <a:solidFill>
                  <a:srgbClr val="333D4A"/>
                </a:solidFill>
                <a:latin typeface="Calibri"/>
              </a:rPr>
              <a:t>Describe Level-order (BFS) traversal and implement it with a queue.</a:t>
            </a:r>
          </a:p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1700" b="1">
                <a:solidFill>
                  <a:srgbClr val="127A8A"/>
                </a:solidFill>
                <a:latin typeface="Calibri"/>
              </a:rPr>
              <a:t>▸  </a:t>
            </a:r>
            <a:r>
              <a:rPr sz="1700">
                <a:solidFill>
                  <a:srgbClr val="333D4A"/>
                </a:solidFill>
                <a:latin typeface="Calibri"/>
              </a:rPr>
              <a:t>Use the BST property to compute the Lowest Common Ancestor of two nodes in O(h).</a:t>
            </a:r>
          </a:p>
          <a:p>
            <a:pPr algn="l">
              <a:lnSpc>
                <a:spcPct val="132000"/>
              </a:lnSpc>
              <a:spcAft>
                <a:spcPts val="400"/>
              </a:spcAft>
            </a:pPr>
            <a:r>
              <a:rPr sz="1700" b="1">
                <a:solidFill>
                  <a:srgbClr val="127A8A"/>
                </a:solidFill>
                <a:latin typeface="Calibri"/>
              </a:rPr>
              <a:t>▸  </a:t>
            </a:r>
            <a:r>
              <a:rPr sz="1700">
                <a:solidFill>
                  <a:srgbClr val="333D4A"/>
                </a:solidFill>
                <a:latin typeface="Calibri"/>
              </a:rPr>
              <a:t>Recognise degenerate trees and describe the motivation for self-balancing variants (AVL, Red-Black).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0"/>
            <a:ext cx="11871655" cy="73152"/>
          </a:xfrm>
          <a:prstGeom prst="rect">
            <a:avLst/>
          </a:prstGeom>
          <a:solidFill>
            <a:srgbClr val="E0A8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051560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1" i="0">
                <a:solidFill>
                  <a:srgbClr val="0B2A4A"/>
                </a:solidFill>
                <a:latin typeface="Calibri"/>
              </a:rPr>
              <a:t>1.  From Linear to Hierarchical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13232"/>
            <a:ext cx="105156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0" i="1">
                <a:solidFill>
                  <a:srgbClr val="127A8A"/>
                </a:solidFill>
                <a:latin typeface="Calibri"/>
              </a:rPr>
              <a:t>Where a single chain stops being enough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115568"/>
            <a:ext cx="1828800" cy="36576"/>
          </a:xfrm>
          <a:prstGeom prst="rect">
            <a:avLst/>
          </a:prstGeom>
          <a:solidFill>
            <a:srgbClr val="E0A8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1">
                <a:solidFill>
                  <a:srgbClr val="333D4A"/>
                </a:solidFill>
                <a:latin typeface="Calibri"/>
              </a:rPr>
              <a:t>Data Structures &amp; Algorithms · Week 06 · Trees &amp; BSTs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46520"/>
            <a:ext cx="10972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333D4A"/>
                </a:solidFill>
                <a:latin typeface="Calibri"/>
              </a:rPr>
              <a:t>Slide 4 / 22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1371600"/>
            <a:ext cx="54864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0B2A4A"/>
                </a:solidFill>
                <a:latin typeface="Calibri"/>
              </a:rPr>
              <a:t>Linked lists are 1-D chains.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874519"/>
            <a:ext cx="5486400" cy="22860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0" i="0">
                <a:solidFill>
                  <a:srgbClr val="333D4A"/>
                </a:solidFill>
                <a:latin typeface="Calibri"/>
              </a:rPr>
              <a:t>But the world is hierarchical: a filesystem is folders inside folders; an HTML page is elements inside elements; a chess engine reasons about moves that branch into more moves.
Whenever an item logically owns several other items, you have a tree.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4023360"/>
            <a:ext cx="54864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00" b="1" i="0">
                <a:solidFill>
                  <a:srgbClr val="127A8A"/>
                </a:solidFill>
                <a:latin typeface="Calibri"/>
              </a:rPr>
              <a:t>Why the shape matters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4434840"/>
            <a:ext cx="5486400" cy="21945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500" b="1">
                <a:solidFill>
                  <a:srgbClr val="127A8A"/>
                </a:solidFill>
                <a:latin typeface="Calibri"/>
              </a:rPr>
              <a:t>▸  </a:t>
            </a:r>
            <a:r>
              <a:rPr sz="1500">
                <a:solidFill>
                  <a:srgbClr val="333D4A"/>
                </a:solidFill>
                <a:latin typeface="Calibri"/>
              </a:rPr>
              <a:t>A chain of N items is searched in O(N).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500" b="1">
                <a:solidFill>
                  <a:srgbClr val="127A8A"/>
                </a:solidFill>
                <a:latin typeface="Calibri"/>
              </a:rPr>
              <a:t>▸  </a:t>
            </a:r>
            <a:r>
              <a:rPr sz="1500">
                <a:solidFill>
                  <a:srgbClr val="333D4A"/>
                </a:solidFill>
                <a:latin typeface="Calibri"/>
              </a:rPr>
              <a:t>A balanced tree of N items is searched in O(log N).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500" b="1">
                <a:solidFill>
                  <a:srgbClr val="127A8A"/>
                </a:solidFill>
                <a:latin typeface="Calibri"/>
              </a:rPr>
              <a:t>▸  </a:t>
            </a:r>
            <a:r>
              <a:rPr sz="1500">
                <a:solidFill>
                  <a:srgbClr val="333D4A"/>
                </a:solidFill>
                <a:latin typeface="Calibri"/>
              </a:rPr>
              <a:t>log₂(1,000,000) ≈ 20 — twenty steps to find one in a million.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858000" y="1371600"/>
            <a:ext cx="4937760" cy="484632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0" y="1417320"/>
            <a:ext cx="49377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400" b="1" i="0">
                <a:solidFill>
                  <a:srgbClr val="0B2A4A"/>
                </a:solidFill>
                <a:latin typeface="Calibri"/>
              </a:rPr>
              <a:t>A small tree</a:t>
            </a:r>
          </a:p>
        </p:txBody>
      </p:sp>
      <p:cxnSp>
        <p:nvCxnSpPr>
          <p:cNvPr id="15" name="Connector 14"/>
          <p:cNvCxnSpPr/>
          <p:nvPr/>
        </p:nvCxnSpPr>
        <p:spPr>
          <a:xfrm flipH="1">
            <a:off x="8229600" y="2377440"/>
            <a:ext cx="1097280" cy="411480"/>
          </a:xfrm>
          <a:prstGeom prst="line">
            <a:avLst/>
          </a:prstGeom>
          <a:ln w="22225">
            <a:solidFill>
              <a:srgbClr val="333D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9326880" y="2377440"/>
            <a:ext cx="1097280" cy="411480"/>
          </a:xfrm>
          <a:prstGeom prst="line">
            <a:avLst/>
          </a:prstGeom>
          <a:ln w="22225">
            <a:solidFill>
              <a:srgbClr val="333D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H="1">
            <a:off x="7571232.0" y="3337560"/>
            <a:ext cx="658368.0" cy="411480"/>
          </a:xfrm>
          <a:prstGeom prst="line">
            <a:avLst/>
          </a:prstGeom>
          <a:ln w="22225">
            <a:solidFill>
              <a:srgbClr val="333D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8229600" y="3337560"/>
            <a:ext cx="658368.0" cy="411480"/>
          </a:xfrm>
          <a:prstGeom prst="line">
            <a:avLst/>
          </a:prstGeom>
          <a:ln w="22225">
            <a:solidFill>
              <a:srgbClr val="333D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H="1">
            <a:off x="9875520.0" y="3337560"/>
            <a:ext cx="548640.0" cy="411480"/>
          </a:xfrm>
          <a:prstGeom prst="line">
            <a:avLst/>
          </a:prstGeom>
          <a:ln w="22225">
            <a:solidFill>
              <a:srgbClr val="333D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10424160" y="3337560"/>
            <a:ext cx="658368.0" cy="411480"/>
          </a:xfrm>
          <a:prstGeom prst="line">
            <a:avLst/>
          </a:prstGeom>
          <a:ln w="22225">
            <a:solidFill>
              <a:srgbClr val="333D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Oval 20"/>
          <p:cNvSpPr/>
          <p:nvPr/>
        </p:nvSpPr>
        <p:spPr>
          <a:xfrm>
            <a:off x="9052560" y="1828800"/>
            <a:ext cx="548640" cy="54864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052560" y="1828800"/>
            <a:ext cx="5486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200" b="1" i="0">
                <a:solidFill>
                  <a:srgbClr val="0B2A4A"/>
                </a:solidFill>
                <a:latin typeface="Calibri"/>
              </a:rPr>
              <a:t>10</a:t>
            </a:r>
          </a:p>
        </p:txBody>
      </p:sp>
      <p:sp>
        <p:nvSpPr>
          <p:cNvPr id="23" name="Oval 22"/>
          <p:cNvSpPr/>
          <p:nvPr/>
        </p:nvSpPr>
        <p:spPr>
          <a:xfrm>
            <a:off x="7955280" y="2788920"/>
            <a:ext cx="548640" cy="54864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955280" y="2788920"/>
            <a:ext cx="5486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200" b="1" i="0">
                <a:solidFill>
                  <a:srgbClr val="0B2A4A"/>
                </a:solidFill>
                <a:latin typeface="Calibri"/>
              </a:rPr>
              <a:t>5</a:t>
            </a:r>
          </a:p>
        </p:txBody>
      </p:sp>
      <p:sp>
        <p:nvSpPr>
          <p:cNvPr id="25" name="Oval 24"/>
          <p:cNvSpPr/>
          <p:nvPr/>
        </p:nvSpPr>
        <p:spPr>
          <a:xfrm>
            <a:off x="10149840" y="2788920"/>
            <a:ext cx="548640" cy="54864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149840" y="2788920"/>
            <a:ext cx="5486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200" b="1" i="0">
                <a:solidFill>
                  <a:srgbClr val="0B2A4A"/>
                </a:solidFill>
                <a:latin typeface="Calibri"/>
              </a:rPr>
              <a:t>15</a:t>
            </a:r>
          </a:p>
        </p:txBody>
      </p:sp>
      <p:sp>
        <p:nvSpPr>
          <p:cNvPr id="27" name="Oval 26"/>
          <p:cNvSpPr/>
          <p:nvPr/>
        </p:nvSpPr>
        <p:spPr>
          <a:xfrm>
            <a:off x="7296912" y="3749040"/>
            <a:ext cx="548640" cy="54864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296912" y="3749040"/>
            <a:ext cx="5486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200" b="1" i="0">
                <a:solidFill>
                  <a:srgbClr val="0B2A4A"/>
                </a:solidFill>
                <a:latin typeface="Calibri"/>
              </a:rPr>
              <a:t>2</a:t>
            </a:r>
          </a:p>
        </p:txBody>
      </p:sp>
      <p:sp>
        <p:nvSpPr>
          <p:cNvPr id="29" name="Oval 28"/>
          <p:cNvSpPr/>
          <p:nvPr/>
        </p:nvSpPr>
        <p:spPr>
          <a:xfrm>
            <a:off x="8613648" y="3749040"/>
            <a:ext cx="548640" cy="54864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613648" y="3749040"/>
            <a:ext cx="5486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200" b="1" i="0">
                <a:solidFill>
                  <a:srgbClr val="0B2A4A"/>
                </a:solidFill>
                <a:latin typeface="Calibri"/>
              </a:rPr>
              <a:t>7</a:t>
            </a:r>
          </a:p>
        </p:txBody>
      </p:sp>
      <p:sp>
        <p:nvSpPr>
          <p:cNvPr id="31" name="Oval 30"/>
          <p:cNvSpPr/>
          <p:nvPr/>
        </p:nvSpPr>
        <p:spPr>
          <a:xfrm>
            <a:off x="9601200" y="3749040"/>
            <a:ext cx="548640" cy="54864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601200" y="3749040"/>
            <a:ext cx="5486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200" b="1" i="0">
                <a:solidFill>
                  <a:srgbClr val="0B2A4A"/>
                </a:solidFill>
                <a:latin typeface="Calibri"/>
              </a:rPr>
              <a:t>12</a:t>
            </a:r>
          </a:p>
        </p:txBody>
      </p:sp>
      <p:sp>
        <p:nvSpPr>
          <p:cNvPr id="33" name="Oval 32"/>
          <p:cNvSpPr/>
          <p:nvPr/>
        </p:nvSpPr>
        <p:spPr>
          <a:xfrm>
            <a:off x="10808208" y="3749040"/>
            <a:ext cx="548640" cy="54864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808208" y="3749040"/>
            <a:ext cx="5486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200" b="1" i="0">
                <a:solidFill>
                  <a:srgbClr val="0B2A4A"/>
                </a:solidFill>
                <a:latin typeface="Calibri"/>
              </a:rPr>
              <a:t>20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58000" y="5669280"/>
            <a:ext cx="49377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200" b="0" i="1">
                <a:solidFill>
                  <a:srgbClr val="333D4A"/>
                </a:solidFill>
                <a:latin typeface="Calibri"/>
              </a:rPr>
              <a:t>Same data — but ordered for O(log N) search.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0"/>
            <a:ext cx="11871655" cy="73152"/>
          </a:xfrm>
          <a:prstGeom prst="rect">
            <a:avLst/>
          </a:prstGeom>
          <a:solidFill>
            <a:srgbClr val="E0A8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051560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1" i="0">
                <a:solidFill>
                  <a:srgbClr val="0B2A4A"/>
                </a:solidFill>
                <a:latin typeface="Calibri"/>
              </a:rPr>
              <a:t>2.  Tree Terminology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13232"/>
            <a:ext cx="105156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0" i="1">
                <a:solidFill>
                  <a:srgbClr val="127A8A"/>
                </a:solidFill>
                <a:latin typeface="Calibri"/>
              </a:rPr>
              <a:t>The vocabulary of every tree question you will ever face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115568"/>
            <a:ext cx="1828800" cy="36576"/>
          </a:xfrm>
          <a:prstGeom prst="rect">
            <a:avLst/>
          </a:prstGeom>
          <a:solidFill>
            <a:srgbClr val="E0A8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1">
                <a:solidFill>
                  <a:srgbClr val="333D4A"/>
                </a:solidFill>
                <a:latin typeface="Calibri"/>
              </a:rPr>
              <a:t>Data Structures &amp; Algorithms · Week 06 · Trees &amp; BSTs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46520"/>
            <a:ext cx="10972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333D4A"/>
                </a:solidFill>
                <a:latin typeface="Calibri"/>
              </a:rPr>
              <a:t>Slide 5 / 22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1371600"/>
            <a:ext cx="5943600" cy="502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1">
                <a:solidFill>
                  <a:srgbClr val="127A8A"/>
                </a:solidFill>
                <a:latin typeface="Calibri"/>
              </a:rPr>
              <a:t>▸  </a:t>
            </a:r>
            <a:r>
              <a:rPr sz="1500" b="1">
                <a:solidFill>
                  <a:srgbClr val="0B2A4A"/>
                </a:solidFill>
                <a:latin typeface="Calibri"/>
              </a:rPr>
              <a:t>Root.  </a:t>
            </a:r>
            <a:r>
              <a:rPr sz="1500">
                <a:solidFill>
                  <a:srgbClr val="333D4A"/>
                </a:solidFill>
                <a:latin typeface="Calibri"/>
              </a:rPr>
              <a:t>The single topmost node; the entry point.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1">
                <a:solidFill>
                  <a:srgbClr val="127A8A"/>
                </a:solidFill>
                <a:latin typeface="Calibri"/>
              </a:rPr>
              <a:t>▸  </a:t>
            </a:r>
            <a:r>
              <a:rPr sz="1500" b="1">
                <a:solidFill>
                  <a:srgbClr val="0B2A4A"/>
                </a:solidFill>
                <a:latin typeface="Calibri"/>
              </a:rPr>
              <a:t>Parent / Child.  </a:t>
            </a:r>
            <a:r>
              <a:rPr sz="1500">
                <a:solidFill>
                  <a:srgbClr val="333D4A"/>
                </a:solidFill>
                <a:latin typeface="Calibri"/>
              </a:rPr>
              <a:t>Direct hierarchical relationship along an edge.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1">
                <a:solidFill>
                  <a:srgbClr val="127A8A"/>
                </a:solidFill>
                <a:latin typeface="Calibri"/>
              </a:rPr>
              <a:t>▸  </a:t>
            </a:r>
            <a:r>
              <a:rPr sz="1500" b="1">
                <a:solidFill>
                  <a:srgbClr val="0B2A4A"/>
                </a:solidFill>
                <a:latin typeface="Calibri"/>
              </a:rPr>
              <a:t>Sibling.  </a:t>
            </a:r>
            <a:r>
              <a:rPr sz="1500">
                <a:solidFill>
                  <a:srgbClr val="333D4A"/>
                </a:solidFill>
                <a:latin typeface="Calibri"/>
              </a:rPr>
              <a:t>Two nodes that share a parent.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1">
                <a:solidFill>
                  <a:srgbClr val="127A8A"/>
                </a:solidFill>
                <a:latin typeface="Calibri"/>
              </a:rPr>
              <a:t>▸  </a:t>
            </a:r>
            <a:r>
              <a:rPr sz="1500" b="1">
                <a:solidFill>
                  <a:srgbClr val="0B2A4A"/>
                </a:solidFill>
                <a:latin typeface="Calibri"/>
              </a:rPr>
              <a:t>Leaf.  </a:t>
            </a:r>
            <a:r>
              <a:rPr sz="1500">
                <a:solidFill>
                  <a:srgbClr val="333D4A"/>
                </a:solidFill>
                <a:latin typeface="Calibri"/>
              </a:rPr>
              <a:t>A node with no children; the end of a branch.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1">
                <a:solidFill>
                  <a:srgbClr val="127A8A"/>
                </a:solidFill>
                <a:latin typeface="Calibri"/>
              </a:rPr>
              <a:t>▸  </a:t>
            </a:r>
            <a:r>
              <a:rPr sz="1500" b="1">
                <a:solidFill>
                  <a:srgbClr val="0B2A4A"/>
                </a:solidFill>
                <a:latin typeface="Calibri"/>
              </a:rPr>
              <a:t>Edge.  </a:t>
            </a:r>
            <a:r>
              <a:rPr sz="1500">
                <a:solidFill>
                  <a:srgbClr val="333D4A"/>
                </a:solidFill>
                <a:latin typeface="Calibri"/>
              </a:rPr>
              <a:t>The connection between a parent and a child.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1">
                <a:solidFill>
                  <a:srgbClr val="127A8A"/>
                </a:solidFill>
                <a:latin typeface="Calibri"/>
              </a:rPr>
              <a:t>▸  </a:t>
            </a:r>
            <a:r>
              <a:rPr sz="1500" b="1">
                <a:solidFill>
                  <a:srgbClr val="0B2A4A"/>
                </a:solidFill>
                <a:latin typeface="Calibri"/>
              </a:rPr>
              <a:t>Path.  </a:t>
            </a:r>
            <a:r>
              <a:rPr sz="1500">
                <a:solidFill>
                  <a:srgbClr val="333D4A"/>
                </a:solidFill>
                <a:latin typeface="Calibri"/>
              </a:rPr>
              <a:t>The sequence of edges from one node to another.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1">
                <a:solidFill>
                  <a:srgbClr val="127A8A"/>
                </a:solidFill>
                <a:latin typeface="Calibri"/>
              </a:rPr>
              <a:t>▸  </a:t>
            </a:r>
            <a:r>
              <a:rPr sz="1500" b="1">
                <a:solidFill>
                  <a:srgbClr val="0B2A4A"/>
                </a:solidFill>
                <a:latin typeface="Calibri"/>
              </a:rPr>
              <a:t>Depth of a node.  </a:t>
            </a:r>
            <a:r>
              <a:rPr sz="1500">
                <a:solidFill>
                  <a:srgbClr val="333D4A"/>
                </a:solidFill>
                <a:latin typeface="Calibri"/>
              </a:rPr>
              <a:t>Number of edges from the root to that node.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1">
                <a:solidFill>
                  <a:srgbClr val="127A8A"/>
                </a:solidFill>
                <a:latin typeface="Calibri"/>
              </a:rPr>
              <a:t>▸  </a:t>
            </a:r>
            <a:r>
              <a:rPr sz="1500" b="1">
                <a:solidFill>
                  <a:srgbClr val="0B2A4A"/>
                </a:solidFill>
                <a:latin typeface="Calibri"/>
              </a:rPr>
              <a:t>Height of a tree.  </a:t>
            </a:r>
            <a:r>
              <a:rPr sz="1500">
                <a:solidFill>
                  <a:srgbClr val="333D4A"/>
                </a:solidFill>
                <a:latin typeface="Calibri"/>
              </a:rPr>
              <a:t>Length of the longest root-to-leaf path.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500" b="1">
                <a:solidFill>
                  <a:srgbClr val="127A8A"/>
                </a:solidFill>
                <a:latin typeface="Calibri"/>
              </a:rPr>
              <a:t>▸  </a:t>
            </a:r>
            <a:r>
              <a:rPr sz="1500" b="1">
                <a:solidFill>
                  <a:srgbClr val="0B2A4A"/>
                </a:solidFill>
                <a:latin typeface="Calibri"/>
              </a:rPr>
              <a:t>Subtree.  </a:t>
            </a:r>
            <a:r>
              <a:rPr sz="1500">
                <a:solidFill>
                  <a:srgbClr val="333D4A"/>
                </a:solidFill>
                <a:latin typeface="Calibri"/>
              </a:rPr>
              <a:t>Any node together with all of its descendants.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040880" y="1371600"/>
            <a:ext cx="4754880" cy="493776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 flipH="1">
            <a:off x="8549640" y="2103120"/>
            <a:ext cx="868680" cy="365760"/>
          </a:xfrm>
          <a:prstGeom prst="line">
            <a:avLst/>
          </a:prstGeom>
          <a:ln w="22225">
            <a:solidFill>
              <a:srgbClr val="333D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9418320" y="2103120"/>
            <a:ext cx="868680" cy="365760"/>
          </a:xfrm>
          <a:prstGeom prst="line">
            <a:avLst/>
          </a:prstGeom>
          <a:ln w="22225">
            <a:solidFill>
              <a:srgbClr val="333D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H="1">
            <a:off x="8028432.0" y="3017520"/>
            <a:ext cx="521208.0" cy="365760"/>
          </a:xfrm>
          <a:prstGeom prst="line">
            <a:avLst/>
          </a:prstGeom>
          <a:ln w="22225">
            <a:solidFill>
              <a:srgbClr val="333D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8549640" y="3017520"/>
            <a:ext cx="521208.0" cy="365760"/>
          </a:xfrm>
          <a:prstGeom prst="line">
            <a:avLst/>
          </a:prstGeom>
          <a:ln w="22225">
            <a:solidFill>
              <a:srgbClr val="333D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10287000" y="3017520"/>
            <a:ext cx="0" cy="365760"/>
          </a:xfrm>
          <a:prstGeom prst="line">
            <a:avLst/>
          </a:prstGeom>
          <a:ln w="22225">
            <a:solidFill>
              <a:srgbClr val="333D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9070848.0" y="3931920"/>
            <a:ext cx="0.0" cy="365760"/>
          </a:xfrm>
          <a:prstGeom prst="line">
            <a:avLst/>
          </a:prstGeom>
          <a:ln w="22225">
            <a:solidFill>
              <a:srgbClr val="333D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Oval 16"/>
          <p:cNvSpPr/>
          <p:nvPr/>
        </p:nvSpPr>
        <p:spPr>
          <a:xfrm>
            <a:off x="9144000" y="1554480"/>
            <a:ext cx="548640" cy="54864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0" y="1554480"/>
            <a:ext cx="5486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200" b="1" i="0">
                <a:solidFill>
                  <a:srgbClr val="0B2A4A"/>
                </a:solidFill>
                <a:latin typeface="Calibri"/>
              </a:rPr>
              <a:t>A</a:t>
            </a:r>
          </a:p>
        </p:txBody>
      </p:sp>
      <p:sp>
        <p:nvSpPr>
          <p:cNvPr id="19" name="Oval 18"/>
          <p:cNvSpPr/>
          <p:nvPr/>
        </p:nvSpPr>
        <p:spPr>
          <a:xfrm>
            <a:off x="8275320" y="2468880"/>
            <a:ext cx="548640" cy="54864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75320" y="2468880"/>
            <a:ext cx="5486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200" b="1" i="0">
                <a:solidFill>
                  <a:srgbClr val="0B2A4A"/>
                </a:solidFill>
                <a:latin typeface="Calibri"/>
              </a:rPr>
              <a:t>B</a:t>
            </a:r>
          </a:p>
        </p:txBody>
      </p:sp>
      <p:sp>
        <p:nvSpPr>
          <p:cNvPr id="21" name="Oval 20"/>
          <p:cNvSpPr/>
          <p:nvPr/>
        </p:nvSpPr>
        <p:spPr>
          <a:xfrm>
            <a:off x="10012680" y="2468880"/>
            <a:ext cx="548640" cy="54864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12680" y="2468880"/>
            <a:ext cx="5486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200" b="1" i="0">
                <a:solidFill>
                  <a:srgbClr val="0B2A4A"/>
                </a:solidFill>
                <a:latin typeface="Calibri"/>
              </a:rPr>
              <a:t>C</a:t>
            </a:r>
          </a:p>
        </p:txBody>
      </p:sp>
      <p:sp>
        <p:nvSpPr>
          <p:cNvPr id="23" name="Oval 22"/>
          <p:cNvSpPr/>
          <p:nvPr/>
        </p:nvSpPr>
        <p:spPr>
          <a:xfrm>
            <a:off x="7754112" y="3383280"/>
            <a:ext cx="548640" cy="54864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754112" y="3383280"/>
            <a:ext cx="5486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200" b="1" i="0">
                <a:solidFill>
                  <a:srgbClr val="0B2A4A"/>
                </a:solidFill>
                <a:latin typeface="Calibri"/>
              </a:rPr>
              <a:t>D</a:t>
            </a:r>
          </a:p>
        </p:txBody>
      </p:sp>
      <p:sp>
        <p:nvSpPr>
          <p:cNvPr id="25" name="Oval 24"/>
          <p:cNvSpPr/>
          <p:nvPr/>
        </p:nvSpPr>
        <p:spPr>
          <a:xfrm>
            <a:off x="8796528" y="3383280"/>
            <a:ext cx="548640" cy="54864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796528" y="3383280"/>
            <a:ext cx="5486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200" b="1" i="0">
                <a:solidFill>
                  <a:srgbClr val="0B2A4A"/>
                </a:solidFill>
                <a:latin typeface="Calibri"/>
              </a:rPr>
              <a:t>E</a:t>
            </a:r>
          </a:p>
        </p:txBody>
      </p:sp>
      <p:sp>
        <p:nvSpPr>
          <p:cNvPr id="27" name="Oval 26"/>
          <p:cNvSpPr/>
          <p:nvPr/>
        </p:nvSpPr>
        <p:spPr>
          <a:xfrm>
            <a:off x="10012680" y="3383280"/>
            <a:ext cx="548640" cy="54864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012680" y="3383280"/>
            <a:ext cx="5486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200" b="1" i="0">
                <a:solidFill>
                  <a:srgbClr val="0B2A4A"/>
                </a:solidFill>
                <a:latin typeface="Calibri"/>
              </a:rPr>
              <a:t>F</a:t>
            </a:r>
          </a:p>
        </p:txBody>
      </p:sp>
      <p:sp>
        <p:nvSpPr>
          <p:cNvPr id="29" name="Oval 28"/>
          <p:cNvSpPr/>
          <p:nvPr/>
        </p:nvSpPr>
        <p:spPr>
          <a:xfrm>
            <a:off x="8796528" y="4297680"/>
            <a:ext cx="548640" cy="54864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796528" y="4297680"/>
            <a:ext cx="5486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200" b="1" i="0">
                <a:solidFill>
                  <a:srgbClr val="0B2A4A"/>
                </a:solidFill>
                <a:latin typeface="Calibri"/>
              </a:rPr>
              <a:t>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223760" y="1828800"/>
            <a:ext cx="14630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C0392B"/>
                </a:solidFill>
                <a:latin typeface="Calibri"/>
              </a:rPr>
              <a:t>← Root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149840" y="2697480"/>
            <a:ext cx="13716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1">
                <a:solidFill>
                  <a:srgbClr val="333D4A"/>
                </a:solidFill>
                <a:latin typeface="Calibri"/>
              </a:rPr>
              <a:t>Parent of F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040880" y="4572000"/>
            <a:ext cx="18288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1" i="0">
                <a:solidFill>
                  <a:srgbClr val="2E7D32"/>
                </a:solidFill>
                <a:latin typeface="Calibri"/>
              </a:rPr>
              <a:t>Leaf →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223760" y="5852160"/>
            <a:ext cx="45720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0B2A4A"/>
                </a:solidFill>
                <a:latin typeface="Calibri"/>
              </a:rPr>
              <a:t>Height of this tree = 3 (longest path A→B→E→G)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0"/>
            <a:ext cx="11871655" cy="73152"/>
          </a:xfrm>
          <a:prstGeom prst="rect">
            <a:avLst/>
          </a:prstGeom>
          <a:solidFill>
            <a:srgbClr val="E0A8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051560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1" i="0">
                <a:solidFill>
                  <a:srgbClr val="0B2A4A"/>
                </a:solidFill>
                <a:latin typeface="Calibri"/>
              </a:rPr>
              <a:t>3.  Binary Trees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13232"/>
            <a:ext cx="105156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0" i="1">
                <a:solidFill>
                  <a:srgbClr val="127A8A"/>
                </a:solidFill>
                <a:latin typeface="Calibri"/>
              </a:rPr>
              <a:t>Each node has at most two children — left and right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115568"/>
            <a:ext cx="1828800" cy="36576"/>
          </a:xfrm>
          <a:prstGeom prst="rect">
            <a:avLst/>
          </a:prstGeom>
          <a:solidFill>
            <a:srgbClr val="E0A8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1">
                <a:solidFill>
                  <a:srgbClr val="333D4A"/>
                </a:solidFill>
                <a:latin typeface="Calibri"/>
              </a:rPr>
              <a:t>Data Structures &amp; Algorithms · Week 06 · Trees &amp; BSTs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46520"/>
            <a:ext cx="10972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333D4A"/>
                </a:solidFill>
                <a:latin typeface="Calibri"/>
              </a:rPr>
              <a:t>Slide 6 / 22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1371600"/>
            <a:ext cx="54864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0B2A4A"/>
                </a:solidFill>
                <a:latin typeface="Calibri"/>
              </a:rPr>
              <a:t>Definition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828800"/>
            <a:ext cx="5486400" cy="18288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0" i="0">
                <a:solidFill>
                  <a:srgbClr val="333D4A"/>
                </a:solidFill>
                <a:latin typeface="Calibri"/>
              </a:rPr>
              <a:t>A binary tree is a tree where every node has zero, one, or two children, distinguished as left and right.
Binary trees are the workhorse of CS: BSTs, heaps, expression trees, Huffman codes, and decision trees are all binary.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840480"/>
            <a:ext cx="54864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00" b="1" i="0">
                <a:solidFill>
                  <a:srgbClr val="127A8A"/>
                </a:solidFill>
                <a:latin typeface="Calibri"/>
              </a:rPr>
              <a:t>Special shapes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4251960"/>
            <a:ext cx="5486400" cy="22860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400" b="1">
                <a:solidFill>
                  <a:srgbClr val="127A8A"/>
                </a:solidFill>
                <a:latin typeface="Calibri"/>
              </a:rPr>
              <a:t>▸  </a:t>
            </a:r>
            <a:r>
              <a:rPr sz="1400" b="1">
                <a:solidFill>
                  <a:srgbClr val="0B2A4A"/>
                </a:solidFill>
                <a:latin typeface="Calibri"/>
              </a:rPr>
              <a:t>Full.  </a:t>
            </a:r>
            <a:r>
              <a:rPr sz="1400">
                <a:solidFill>
                  <a:srgbClr val="333D4A"/>
                </a:solidFill>
                <a:latin typeface="Calibri"/>
              </a:rPr>
              <a:t>Every node has either 0 or 2 children.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400" b="1">
                <a:solidFill>
                  <a:srgbClr val="127A8A"/>
                </a:solidFill>
                <a:latin typeface="Calibri"/>
              </a:rPr>
              <a:t>▸  </a:t>
            </a:r>
            <a:r>
              <a:rPr sz="1400" b="1">
                <a:solidFill>
                  <a:srgbClr val="0B2A4A"/>
                </a:solidFill>
                <a:latin typeface="Calibri"/>
              </a:rPr>
              <a:t>Complete.  </a:t>
            </a:r>
            <a:r>
              <a:rPr sz="1400">
                <a:solidFill>
                  <a:srgbClr val="333D4A"/>
                </a:solidFill>
                <a:latin typeface="Calibri"/>
              </a:rPr>
              <a:t>Every level full except possibly the last, filled left-to-right.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400" b="1">
                <a:solidFill>
                  <a:srgbClr val="127A8A"/>
                </a:solidFill>
                <a:latin typeface="Calibri"/>
              </a:rPr>
              <a:t>▸  </a:t>
            </a:r>
            <a:r>
              <a:rPr sz="1400" b="1">
                <a:solidFill>
                  <a:srgbClr val="0B2A4A"/>
                </a:solidFill>
                <a:latin typeface="Calibri"/>
              </a:rPr>
              <a:t>Perfect.  </a:t>
            </a:r>
            <a:r>
              <a:rPr sz="1400">
                <a:solidFill>
                  <a:srgbClr val="333D4A"/>
                </a:solidFill>
                <a:latin typeface="Calibri"/>
              </a:rPr>
              <a:t>All internal nodes have 2 children, all leaves at the same depth.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400" b="1">
                <a:solidFill>
                  <a:srgbClr val="127A8A"/>
                </a:solidFill>
                <a:latin typeface="Calibri"/>
              </a:rPr>
              <a:t>▸  </a:t>
            </a:r>
            <a:r>
              <a:rPr sz="1400" b="1">
                <a:solidFill>
                  <a:srgbClr val="0B2A4A"/>
                </a:solidFill>
                <a:latin typeface="Calibri"/>
              </a:rPr>
              <a:t>Balanced.  </a:t>
            </a:r>
            <a:r>
              <a:rPr sz="1400">
                <a:solidFill>
                  <a:srgbClr val="333D4A"/>
                </a:solidFill>
                <a:latin typeface="Calibri"/>
              </a:rPr>
              <a:t>Heights of left and right subtrees differ by at most a constant.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66560" y="1371600"/>
            <a:ext cx="50292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00" b="1" i="0">
                <a:solidFill>
                  <a:srgbClr val="0B2A4A"/>
                </a:solidFill>
                <a:latin typeface="Calibri"/>
              </a:rPr>
              <a:t>The atom — TreeNode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766560" y="1828800"/>
            <a:ext cx="5029200" cy="3108960"/>
          </a:xfrm>
          <a:prstGeom prst="rect">
            <a:avLst/>
          </a:prstGeom>
          <a:solidFill>
            <a:srgbClr val="1E1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766560" y="1828800"/>
            <a:ext cx="73152" cy="3108960"/>
          </a:xfrm>
          <a:prstGeom prst="rect">
            <a:avLst/>
          </a:prstGeom>
          <a:solidFill>
            <a:srgbClr val="E0A8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903720" y="1920240"/>
            <a:ext cx="48006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>
                <a:solidFill>
                  <a:srgbClr val="E6E6E6"/>
                </a:solidFill>
                <a:latin typeface="Consolas"/>
              </a:rPr>
              <a:t>class TreeNode:</a:t>
            </a:r>
          </a:p>
          <a:p>
            <a:pPr algn="l">
              <a:lnSpc>
                <a:spcPct val="115000"/>
              </a:lnSpc>
            </a:pPr>
            <a:r>
              <a:rPr sz="1400">
                <a:solidFill>
                  <a:srgbClr val="E6E6E6"/>
                </a:solidFill>
                <a:latin typeface="Consolas"/>
              </a:rPr>
              <a:t>    """A single node of a binary tree."""</a:t>
            </a:r>
          </a:p>
          <a:p>
            <a:pPr algn="l">
              <a:lnSpc>
                <a:spcPct val="115000"/>
              </a:lnSpc>
            </a:pPr>
            <a:r>
              <a:rPr sz="1400">
                <a:solidFill>
                  <a:srgbClr val="E6E6E6"/>
                </a:solidFill>
                <a:latin typeface="Consolas"/>
              </a:rPr>
              <a:t> </a:t>
            </a:r>
          </a:p>
          <a:p>
            <a:pPr algn="l">
              <a:lnSpc>
                <a:spcPct val="115000"/>
              </a:lnSpc>
            </a:pPr>
            <a:r>
              <a:rPr sz="1400">
                <a:solidFill>
                  <a:srgbClr val="E6E6E6"/>
                </a:solidFill>
                <a:latin typeface="Consolas"/>
              </a:rPr>
              <a:t>    __slots__ = ("val", "left", "right")</a:t>
            </a:r>
          </a:p>
          <a:p>
            <a:pPr algn="l">
              <a:lnSpc>
                <a:spcPct val="115000"/>
              </a:lnSpc>
            </a:pPr>
            <a:r>
              <a:rPr sz="1400">
                <a:solidFill>
                  <a:srgbClr val="E6E6E6"/>
                </a:solidFill>
                <a:latin typeface="Consolas"/>
              </a:rPr>
              <a:t> </a:t>
            </a:r>
          </a:p>
          <a:p>
            <a:pPr algn="l">
              <a:lnSpc>
                <a:spcPct val="115000"/>
              </a:lnSpc>
            </a:pPr>
            <a:r>
              <a:rPr sz="1400">
                <a:solidFill>
                  <a:srgbClr val="E6E6E6"/>
                </a:solidFill>
                <a:latin typeface="Consolas"/>
              </a:rPr>
              <a:t>    def __init__(self, val=0):</a:t>
            </a:r>
          </a:p>
          <a:p>
            <a:pPr algn="l">
              <a:lnSpc>
                <a:spcPct val="115000"/>
              </a:lnSpc>
            </a:pPr>
            <a:r>
              <a:rPr sz="1400">
                <a:solidFill>
                  <a:srgbClr val="E6E6E6"/>
                </a:solidFill>
                <a:latin typeface="Consolas"/>
              </a:rPr>
              <a:t>        self.val   = val</a:t>
            </a:r>
          </a:p>
          <a:p>
            <a:pPr algn="l">
              <a:lnSpc>
                <a:spcPct val="115000"/>
              </a:lnSpc>
            </a:pPr>
            <a:r>
              <a:rPr sz="1400">
                <a:solidFill>
                  <a:srgbClr val="E6E6E6"/>
                </a:solidFill>
                <a:latin typeface="Consolas"/>
              </a:rPr>
              <a:t>        self.left  = None</a:t>
            </a:r>
          </a:p>
          <a:p>
            <a:pPr algn="l">
              <a:lnSpc>
                <a:spcPct val="115000"/>
              </a:lnSpc>
            </a:pPr>
            <a:r>
              <a:rPr sz="1400">
                <a:solidFill>
                  <a:srgbClr val="E6E6E6"/>
                </a:solidFill>
                <a:latin typeface="Consolas"/>
              </a:rPr>
              <a:t>        self.right = None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66560" y="5029200"/>
            <a:ext cx="50292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1" i="0">
                <a:solidFill>
                  <a:srgbClr val="0B2A4A"/>
                </a:solidFill>
                <a:latin typeface="Calibri"/>
              </a:rPr>
              <a:t>Mini binary tree</a:t>
            </a:r>
          </a:p>
        </p:txBody>
      </p:sp>
      <p:cxnSp>
        <p:nvCxnSpPr>
          <p:cNvPr id="18" name="Connector 17"/>
          <p:cNvCxnSpPr/>
          <p:nvPr/>
        </p:nvCxnSpPr>
        <p:spPr>
          <a:xfrm flipH="1">
            <a:off x="8595360" y="5715000"/>
            <a:ext cx="640080" cy="91440"/>
          </a:xfrm>
          <a:prstGeom prst="line">
            <a:avLst/>
          </a:prstGeom>
          <a:ln w="22225">
            <a:solidFill>
              <a:srgbClr val="333D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9235440" y="5715000"/>
            <a:ext cx="640080" cy="91440"/>
          </a:xfrm>
          <a:prstGeom prst="line">
            <a:avLst/>
          </a:prstGeom>
          <a:ln w="22225">
            <a:solidFill>
              <a:srgbClr val="333D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Oval 19"/>
          <p:cNvSpPr/>
          <p:nvPr/>
        </p:nvSpPr>
        <p:spPr>
          <a:xfrm>
            <a:off x="9006840" y="5257800"/>
            <a:ext cx="457200" cy="45720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006840" y="5257800"/>
            <a:ext cx="45720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200" b="1" i="0">
                <a:solidFill>
                  <a:srgbClr val="0B2A4A"/>
                </a:solidFill>
                <a:latin typeface="Calibri"/>
              </a:rPr>
              <a:t>R</a:t>
            </a:r>
          </a:p>
        </p:txBody>
      </p:sp>
      <p:sp>
        <p:nvSpPr>
          <p:cNvPr id="22" name="Oval 21"/>
          <p:cNvSpPr/>
          <p:nvPr/>
        </p:nvSpPr>
        <p:spPr>
          <a:xfrm>
            <a:off x="8366760" y="5806440"/>
            <a:ext cx="457200" cy="45720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66760" y="5806440"/>
            <a:ext cx="45720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200" b="1" i="0">
                <a:solidFill>
                  <a:srgbClr val="0B2A4A"/>
                </a:solidFill>
                <a:latin typeface="Calibri"/>
              </a:rPr>
              <a:t>L</a:t>
            </a:r>
          </a:p>
        </p:txBody>
      </p:sp>
      <p:sp>
        <p:nvSpPr>
          <p:cNvPr id="24" name="Oval 23"/>
          <p:cNvSpPr/>
          <p:nvPr/>
        </p:nvSpPr>
        <p:spPr>
          <a:xfrm>
            <a:off x="9646920" y="5806440"/>
            <a:ext cx="457200" cy="45720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646920" y="5806440"/>
            <a:ext cx="45720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200" b="1" i="0">
                <a:solidFill>
                  <a:srgbClr val="0B2A4A"/>
                </a:solidFill>
                <a:latin typeface="Calibri"/>
              </a:rPr>
              <a:t>Rt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0"/>
            <a:ext cx="11871655" cy="73152"/>
          </a:xfrm>
          <a:prstGeom prst="rect">
            <a:avLst/>
          </a:prstGeom>
          <a:solidFill>
            <a:srgbClr val="E0A8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051560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1" i="0">
                <a:solidFill>
                  <a:srgbClr val="0B2A4A"/>
                </a:solidFill>
                <a:latin typeface="Calibri"/>
              </a:rPr>
              <a:t>4.  Binary Search Trees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13232"/>
            <a:ext cx="105156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0" i="1">
                <a:solidFill>
                  <a:srgbClr val="127A8A"/>
                </a:solidFill>
                <a:latin typeface="Calibri"/>
              </a:rPr>
              <a:t>The invariant that turns a tree into a sorted index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115568"/>
            <a:ext cx="1828800" cy="36576"/>
          </a:xfrm>
          <a:prstGeom prst="rect">
            <a:avLst/>
          </a:prstGeom>
          <a:solidFill>
            <a:srgbClr val="E0A8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1">
                <a:solidFill>
                  <a:srgbClr val="333D4A"/>
                </a:solidFill>
                <a:latin typeface="Calibri"/>
              </a:rPr>
              <a:t>Data Structures &amp; Algorithms · Week 06 · Trees &amp; BSTs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46520"/>
            <a:ext cx="10972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333D4A"/>
                </a:solidFill>
                <a:latin typeface="Calibri"/>
              </a:rPr>
              <a:t>Slide 7 / 22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1371600"/>
            <a:ext cx="54864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0B2A4A"/>
                </a:solidFill>
                <a:latin typeface="Calibri"/>
              </a:rPr>
              <a:t>The BST invariant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1874519"/>
            <a:ext cx="5486400" cy="18288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1965960"/>
            <a:ext cx="5212080" cy="1691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0" i="0">
                <a:solidFill>
                  <a:srgbClr val="0B2A4A"/>
                </a:solidFill>
                <a:latin typeface="Consolas"/>
              </a:rPr>
              <a:t>For every node N:
   • every value in the left subtree of N  &lt;  N.val
   • every value in the right subtree of N &gt;  N.val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3886200"/>
            <a:ext cx="54864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00" b="1" i="0">
                <a:solidFill>
                  <a:srgbClr val="127A8A"/>
                </a:solidFill>
                <a:latin typeface="Calibri"/>
              </a:rPr>
              <a:t>Why this matters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4297680"/>
            <a:ext cx="5486400" cy="22860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400" b="1">
                <a:solidFill>
                  <a:srgbClr val="127A8A"/>
                </a:solidFill>
                <a:latin typeface="Calibri"/>
              </a:rPr>
              <a:t>▸  </a:t>
            </a:r>
            <a:r>
              <a:rPr sz="1400">
                <a:solidFill>
                  <a:srgbClr val="333D4A"/>
                </a:solidFill>
                <a:latin typeface="Calibri"/>
              </a:rPr>
              <a:t>Searching halves the candidate set at every step.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400" b="1">
                <a:solidFill>
                  <a:srgbClr val="127A8A"/>
                </a:solidFill>
                <a:latin typeface="Calibri"/>
              </a:rPr>
              <a:t>▸  </a:t>
            </a:r>
            <a:r>
              <a:rPr sz="1400">
                <a:solidFill>
                  <a:srgbClr val="333D4A"/>
                </a:solidFill>
                <a:latin typeface="Calibri"/>
              </a:rPr>
              <a:t>An in-order DFS yields the values in sorted order — for free.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400" b="1">
                <a:solidFill>
                  <a:srgbClr val="127A8A"/>
                </a:solidFill>
                <a:latin typeface="Calibri"/>
              </a:rPr>
              <a:t>▸  </a:t>
            </a:r>
            <a:r>
              <a:rPr sz="1400">
                <a:solidFill>
                  <a:srgbClr val="333D4A"/>
                </a:solidFill>
                <a:latin typeface="Calibri"/>
              </a:rPr>
              <a:t>Insertion preserves the invariant by always going one side.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400" b="1">
                <a:solidFill>
                  <a:srgbClr val="127A8A"/>
                </a:solidFill>
                <a:latin typeface="Calibri"/>
              </a:rPr>
              <a:t>▸  </a:t>
            </a:r>
            <a:r>
              <a:rPr sz="1400">
                <a:solidFill>
                  <a:srgbClr val="333D4A"/>
                </a:solidFill>
                <a:latin typeface="Calibri"/>
              </a:rPr>
              <a:t>When balanced, height = ⌈log₂ N⌉ + 1 — hence O(log N) operations.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766560" y="1371600"/>
            <a:ext cx="5029200" cy="493776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66560" y="1417320"/>
            <a:ext cx="5029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400" b="1" i="0">
                <a:solidFill>
                  <a:srgbClr val="0B2A4A"/>
                </a:solidFill>
                <a:latin typeface="Calibri"/>
              </a:rPr>
              <a:t>Example</a:t>
            </a:r>
          </a:p>
        </p:txBody>
      </p:sp>
      <p:cxnSp>
        <p:nvCxnSpPr>
          <p:cNvPr id="16" name="Connector 15"/>
          <p:cNvCxnSpPr/>
          <p:nvPr/>
        </p:nvCxnSpPr>
        <p:spPr>
          <a:xfrm flipH="1">
            <a:off x="8366760" y="2395728"/>
            <a:ext cx="914400" cy="374904"/>
          </a:xfrm>
          <a:prstGeom prst="line">
            <a:avLst/>
          </a:prstGeom>
          <a:ln w="22225">
            <a:solidFill>
              <a:srgbClr val="333D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9281160" y="2395728"/>
            <a:ext cx="914400" cy="374904"/>
          </a:xfrm>
          <a:prstGeom prst="line">
            <a:avLst/>
          </a:prstGeom>
          <a:ln w="22225">
            <a:solidFill>
              <a:srgbClr val="333D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 flipH="1">
            <a:off x="7863840.0" y="3355848"/>
            <a:ext cx="502920.0" cy="374904"/>
          </a:xfrm>
          <a:prstGeom prst="line">
            <a:avLst/>
          </a:prstGeom>
          <a:ln w="22225">
            <a:solidFill>
              <a:srgbClr val="333D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8366760" y="3355848"/>
            <a:ext cx="502920.0" cy="374904"/>
          </a:xfrm>
          <a:prstGeom prst="line">
            <a:avLst/>
          </a:prstGeom>
          <a:ln w="22225">
            <a:solidFill>
              <a:srgbClr val="333D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H="1">
            <a:off x="9692640.0" y="3355848"/>
            <a:ext cx="502920.0" cy="374904"/>
          </a:xfrm>
          <a:prstGeom prst="line">
            <a:avLst/>
          </a:prstGeom>
          <a:ln w="22225">
            <a:solidFill>
              <a:srgbClr val="333D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10195560" y="3355848"/>
            <a:ext cx="502920.0" cy="374904"/>
          </a:xfrm>
          <a:prstGeom prst="line">
            <a:avLst/>
          </a:prstGeom>
          <a:ln w="22225">
            <a:solidFill>
              <a:srgbClr val="333D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Oval 21"/>
          <p:cNvSpPr/>
          <p:nvPr/>
        </p:nvSpPr>
        <p:spPr>
          <a:xfrm>
            <a:off x="8988552" y="1810512"/>
            <a:ext cx="585216" cy="585216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988552" y="1810512"/>
            <a:ext cx="585216" cy="58521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200" b="1" i="0">
                <a:solidFill>
                  <a:srgbClr val="0B2A4A"/>
                </a:solidFill>
                <a:latin typeface="Calibri"/>
              </a:rPr>
              <a:t>10</a:t>
            </a:r>
          </a:p>
        </p:txBody>
      </p:sp>
      <p:sp>
        <p:nvSpPr>
          <p:cNvPr id="24" name="Oval 23"/>
          <p:cNvSpPr/>
          <p:nvPr/>
        </p:nvSpPr>
        <p:spPr>
          <a:xfrm>
            <a:off x="8074152" y="2770632"/>
            <a:ext cx="585216" cy="585216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74152" y="2770632"/>
            <a:ext cx="585216" cy="58521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200" b="1" i="0">
                <a:solidFill>
                  <a:srgbClr val="0B2A4A"/>
                </a:solidFill>
                <a:latin typeface="Calibri"/>
              </a:rPr>
              <a:t>5</a:t>
            </a:r>
          </a:p>
        </p:txBody>
      </p:sp>
      <p:sp>
        <p:nvSpPr>
          <p:cNvPr id="26" name="Oval 25"/>
          <p:cNvSpPr/>
          <p:nvPr/>
        </p:nvSpPr>
        <p:spPr>
          <a:xfrm>
            <a:off x="9902952" y="2770632"/>
            <a:ext cx="585216" cy="585216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902952" y="2770632"/>
            <a:ext cx="585216" cy="58521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200" b="1" i="0">
                <a:solidFill>
                  <a:srgbClr val="0B2A4A"/>
                </a:solidFill>
                <a:latin typeface="Calibri"/>
              </a:rPr>
              <a:t>15</a:t>
            </a:r>
          </a:p>
        </p:txBody>
      </p:sp>
      <p:sp>
        <p:nvSpPr>
          <p:cNvPr id="28" name="Oval 27"/>
          <p:cNvSpPr/>
          <p:nvPr/>
        </p:nvSpPr>
        <p:spPr>
          <a:xfrm>
            <a:off x="7571232" y="3730752"/>
            <a:ext cx="585216" cy="585216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571232" y="3730752"/>
            <a:ext cx="585216" cy="58521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200" b="1" i="0">
                <a:solidFill>
                  <a:srgbClr val="0B2A4A"/>
                </a:solidFill>
                <a:latin typeface="Calibri"/>
              </a:rPr>
              <a:t>2</a:t>
            </a:r>
          </a:p>
        </p:txBody>
      </p:sp>
      <p:sp>
        <p:nvSpPr>
          <p:cNvPr id="30" name="Oval 29"/>
          <p:cNvSpPr/>
          <p:nvPr/>
        </p:nvSpPr>
        <p:spPr>
          <a:xfrm>
            <a:off x="8577072" y="3730752"/>
            <a:ext cx="585216" cy="585216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577072" y="3730752"/>
            <a:ext cx="585216" cy="58521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200" b="1" i="0">
                <a:solidFill>
                  <a:srgbClr val="0B2A4A"/>
                </a:solidFill>
                <a:latin typeface="Calibri"/>
              </a:rPr>
              <a:t>7</a:t>
            </a:r>
          </a:p>
        </p:txBody>
      </p:sp>
      <p:sp>
        <p:nvSpPr>
          <p:cNvPr id="32" name="Oval 31"/>
          <p:cNvSpPr/>
          <p:nvPr/>
        </p:nvSpPr>
        <p:spPr>
          <a:xfrm>
            <a:off x="9400032" y="3730752"/>
            <a:ext cx="585216" cy="585216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400032" y="3730752"/>
            <a:ext cx="585216" cy="58521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200" b="1" i="0">
                <a:solidFill>
                  <a:srgbClr val="0B2A4A"/>
                </a:solidFill>
                <a:latin typeface="Calibri"/>
              </a:rPr>
              <a:t>12</a:t>
            </a:r>
          </a:p>
        </p:txBody>
      </p:sp>
      <p:sp>
        <p:nvSpPr>
          <p:cNvPr id="34" name="Oval 33"/>
          <p:cNvSpPr/>
          <p:nvPr/>
        </p:nvSpPr>
        <p:spPr>
          <a:xfrm>
            <a:off x="10405872" y="3730752"/>
            <a:ext cx="585216" cy="585216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405872" y="3730752"/>
            <a:ext cx="585216" cy="58521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200" b="1" i="0">
                <a:solidFill>
                  <a:srgbClr val="0B2A4A"/>
                </a:solidFill>
                <a:latin typeface="Calibri"/>
              </a:rPr>
              <a:t>20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58000" y="5486400"/>
            <a:ext cx="48463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100" b="0" i="1">
                <a:solidFill>
                  <a:srgbClr val="333D4A"/>
                </a:solidFill>
                <a:latin typeface="Calibri"/>
              </a:rPr>
              <a:t>Each left subtree is &lt; parent.   Each right subtree is &gt; parent.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0"/>
            <a:ext cx="11871655" cy="73152"/>
          </a:xfrm>
          <a:prstGeom prst="rect">
            <a:avLst/>
          </a:prstGeom>
          <a:solidFill>
            <a:srgbClr val="E0A8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051560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1" i="0">
                <a:solidFill>
                  <a:srgbClr val="0B2A4A"/>
                </a:solidFill>
                <a:latin typeface="Calibri"/>
              </a:rPr>
              <a:t>5.  Why O(log N)?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13232"/>
            <a:ext cx="105156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0" i="1">
                <a:solidFill>
                  <a:srgbClr val="127A8A"/>
                </a:solidFill>
                <a:latin typeface="Calibri"/>
              </a:rPr>
              <a:t>Each comparison eliminates half the remaining tree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115568"/>
            <a:ext cx="1828800" cy="36576"/>
          </a:xfrm>
          <a:prstGeom prst="rect">
            <a:avLst/>
          </a:prstGeom>
          <a:solidFill>
            <a:srgbClr val="E0A8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1">
                <a:solidFill>
                  <a:srgbClr val="333D4A"/>
                </a:solidFill>
                <a:latin typeface="Calibri"/>
              </a:rPr>
              <a:t>Data Structures &amp; Algorithms · Week 06 · Trees &amp; BSTs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46520"/>
            <a:ext cx="10972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333D4A"/>
                </a:solidFill>
                <a:latin typeface="Calibri"/>
              </a:rPr>
              <a:t>Slide 8 / 22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1371600"/>
            <a:ext cx="100584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0">
                <a:solidFill>
                  <a:srgbClr val="333D4A"/>
                </a:solidFill>
                <a:latin typeface="Calibri"/>
              </a:rPr>
              <a:t>Searching for 7 in the BST below — only 3 comparisons.</a:t>
            </a:r>
          </a:p>
        </p:txBody>
      </p:sp>
      <p:cxnSp>
        <p:nvCxnSpPr>
          <p:cNvPr id="10" name="Connector 9"/>
          <p:cNvCxnSpPr/>
          <p:nvPr/>
        </p:nvCxnSpPr>
        <p:spPr>
          <a:xfrm flipH="1">
            <a:off x="5120640" y="2651760"/>
            <a:ext cx="1280160" cy="365760"/>
          </a:xfrm>
          <a:prstGeom prst="line">
            <a:avLst/>
          </a:prstGeom>
          <a:ln w="31750">
            <a:solidFill>
              <a:srgbClr val="E0A8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6400800" y="2651760"/>
            <a:ext cx="1280160" cy="365760"/>
          </a:xfrm>
          <a:prstGeom prst="line">
            <a:avLst/>
          </a:prstGeom>
          <a:ln w="22225">
            <a:solidFill>
              <a:srgbClr val="333D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H="1">
            <a:off x="4352544.0" y="3749040"/>
            <a:ext cx="768096.0" cy="365760"/>
          </a:xfrm>
          <a:prstGeom prst="line">
            <a:avLst/>
          </a:prstGeom>
          <a:ln w="22225">
            <a:solidFill>
              <a:srgbClr val="333D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5120640" y="3749040"/>
            <a:ext cx="768096.0" cy="365760"/>
          </a:xfrm>
          <a:prstGeom prst="line">
            <a:avLst/>
          </a:prstGeom>
          <a:ln w="31750">
            <a:solidFill>
              <a:srgbClr val="E0A8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6912864.0" y="3749040"/>
            <a:ext cx="768096.0" cy="365760"/>
          </a:xfrm>
          <a:prstGeom prst="line">
            <a:avLst/>
          </a:prstGeom>
          <a:ln w="22225">
            <a:solidFill>
              <a:srgbClr val="333D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7680960" y="3749040"/>
            <a:ext cx="768096.0" cy="365760"/>
          </a:xfrm>
          <a:prstGeom prst="line">
            <a:avLst/>
          </a:prstGeom>
          <a:ln w="22225">
            <a:solidFill>
              <a:srgbClr val="333D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Oval 15"/>
          <p:cNvSpPr/>
          <p:nvPr/>
        </p:nvSpPr>
        <p:spPr>
          <a:xfrm>
            <a:off x="6035040" y="1920240"/>
            <a:ext cx="731520" cy="731520"/>
          </a:xfrm>
          <a:prstGeom prst="ellipse">
            <a:avLst/>
          </a:prstGeom>
          <a:solidFill>
            <a:srgbClr val="E0A81F"/>
          </a:solidFill>
          <a:ln w="25400">
            <a:solidFill>
              <a:srgbClr val="0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35040" y="1920240"/>
            <a:ext cx="731520" cy="7315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400" b="1" i="0">
                <a:solidFill>
                  <a:srgbClr val="0B2A4A"/>
                </a:solidFill>
                <a:latin typeface="Calibri"/>
              </a:rPr>
              <a:t>10</a:t>
            </a:r>
          </a:p>
        </p:txBody>
      </p:sp>
      <p:sp>
        <p:nvSpPr>
          <p:cNvPr id="18" name="Oval 17"/>
          <p:cNvSpPr/>
          <p:nvPr/>
        </p:nvSpPr>
        <p:spPr>
          <a:xfrm>
            <a:off x="4754880" y="3017520"/>
            <a:ext cx="731520" cy="731520"/>
          </a:xfrm>
          <a:prstGeom prst="ellipse">
            <a:avLst/>
          </a:prstGeom>
          <a:solidFill>
            <a:srgbClr val="E0A81F"/>
          </a:solidFill>
          <a:ln w="25400">
            <a:solidFill>
              <a:srgbClr val="0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754880" y="3017520"/>
            <a:ext cx="731520" cy="7315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400" b="1" i="0">
                <a:solidFill>
                  <a:srgbClr val="0B2A4A"/>
                </a:solidFill>
                <a:latin typeface="Calibri"/>
              </a:rPr>
              <a:t>5</a:t>
            </a:r>
          </a:p>
        </p:txBody>
      </p:sp>
      <p:sp>
        <p:nvSpPr>
          <p:cNvPr id="20" name="Oval 19"/>
          <p:cNvSpPr/>
          <p:nvPr/>
        </p:nvSpPr>
        <p:spPr>
          <a:xfrm>
            <a:off x="7315200" y="3017520"/>
            <a:ext cx="731520" cy="73152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0" y="3017520"/>
            <a:ext cx="731520" cy="7315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400" b="1" i="0">
                <a:solidFill>
                  <a:srgbClr val="0B2A4A"/>
                </a:solidFill>
                <a:latin typeface="Calibri"/>
              </a:rPr>
              <a:t>15</a:t>
            </a:r>
          </a:p>
        </p:txBody>
      </p:sp>
      <p:sp>
        <p:nvSpPr>
          <p:cNvPr id="22" name="Oval 21"/>
          <p:cNvSpPr/>
          <p:nvPr/>
        </p:nvSpPr>
        <p:spPr>
          <a:xfrm>
            <a:off x="3986784" y="4114800"/>
            <a:ext cx="731520" cy="73152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986784" y="4114800"/>
            <a:ext cx="731520" cy="7315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400" b="1" i="0">
                <a:solidFill>
                  <a:srgbClr val="0B2A4A"/>
                </a:solidFill>
                <a:latin typeface="Calibri"/>
              </a:rPr>
              <a:t>2</a:t>
            </a:r>
          </a:p>
        </p:txBody>
      </p:sp>
      <p:sp>
        <p:nvSpPr>
          <p:cNvPr id="24" name="Oval 23"/>
          <p:cNvSpPr/>
          <p:nvPr/>
        </p:nvSpPr>
        <p:spPr>
          <a:xfrm>
            <a:off x="5522976" y="4114800"/>
            <a:ext cx="731520" cy="731520"/>
          </a:xfrm>
          <a:prstGeom prst="ellipse">
            <a:avLst/>
          </a:prstGeom>
          <a:solidFill>
            <a:srgbClr val="E0A81F"/>
          </a:solidFill>
          <a:ln w="25400">
            <a:solidFill>
              <a:srgbClr val="0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522976" y="4114800"/>
            <a:ext cx="731520" cy="7315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400" b="1" i="0">
                <a:solidFill>
                  <a:srgbClr val="0B2A4A"/>
                </a:solidFill>
                <a:latin typeface="Calibri"/>
              </a:rPr>
              <a:t>7</a:t>
            </a:r>
          </a:p>
        </p:txBody>
      </p:sp>
      <p:sp>
        <p:nvSpPr>
          <p:cNvPr id="26" name="Oval 25"/>
          <p:cNvSpPr/>
          <p:nvPr/>
        </p:nvSpPr>
        <p:spPr>
          <a:xfrm>
            <a:off x="6547104" y="4114800"/>
            <a:ext cx="731520" cy="73152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47104" y="4114800"/>
            <a:ext cx="731520" cy="7315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400" b="1" i="0">
                <a:solidFill>
                  <a:srgbClr val="0B2A4A"/>
                </a:solidFill>
                <a:latin typeface="Calibri"/>
              </a:rPr>
              <a:t>12</a:t>
            </a:r>
          </a:p>
        </p:txBody>
      </p:sp>
      <p:sp>
        <p:nvSpPr>
          <p:cNvPr id="28" name="Oval 27"/>
          <p:cNvSpPr/>
          <p:nvPr/>
        </p:nvSpPr>
        <p:spPr>
          <a:xfrm>
            <a:off x="8083296" y="4114800"/>
            <a:ext cx="731520" cy="73152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083296" y="4114800"/>
            <a:ext cx="731520" cy="7315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400" b="1" i="0">
                <a:solidFill>
                  <a:srgbClr val="0B2A4A"/>
                </a:solidFill>
                <a:latin typeface="Calibri"/>
              </a:rPr>
              <a:t>20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22960" y="5212080"/>
            <a:ext cx="10515600" cy="118872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05840" y="5303520"/>
            <a:ext cx="100584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1" i="0">
                <a:solidFill>
                  <a:srgbClr val="0B2A4A"/>
                </a:solidFill>
                <a:latin typeface="Calibri"/>
              </a:rPr>
              <a:t>Step-by-step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05840" y="5669280"/>
            <a:ext cx="1005840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0" i="0">
                <a:solidFill>
                  <a:srgbClr val="333D4A"/>
                </a:solidFill>
                <a:latin typeface="Calibri"/>
              </a:rPr>
              <a:t>1) 7 &lt; 10  →  go left.    2) 7 &gt; 5   →  go right.    3) Match: return node 7.   Three steps, not seven.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0"/>
            <a:ext cx="11871655" cy="73152"/>
          </a:xfrm>
          <a:prstGeom prst="rect">
            <a:avLst/>
          </a:prstGeom>
          <a:solidFill>
            <a:srgbClr val="E0A8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051560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1" i="0">
                <a:solidFill>
                  <a:srgbClr val="0B2A4A"/>
                </a:solidFill>
                <a:latin typeface="Calibri"/>
              </a:rPr>
              <a:t>6.  BST Insertion — Walkthrough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13232"/>
            <a:ext cx="105156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0" i="1">
                <a:solidFill>
                  <a:srgbClr val="127A8A"/>
                </a:solidFill>
                <a:latin typeface="Calibri"/>
              </a:rPr>
              <a:t>Insert 8 into the tree below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115568"/>
            <a:ext cx="1828800" cy="36576"/>
          </a:xfrm>
          <a:prstGeom prst="rect">
            <a:avLst/>
          </a:prstGeom>
          <a:solidFill>
            <a:srgbClr val="E0A8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1">
                <a:solidFill>
                  <a:srgbClr val="333D4A"/>
                </a:solidFill>
                <a:latin typeface="Calibri"/>
              </a:rPr>
              <a:t>Data Structures &amp; Algorithms · Week 06 · Trees &amp; BSTs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46520"/>
            <a:ext cx="10972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333D4A"/>
                </a:solidFill>
                <a:latin typeface="Calibri"/>
              </a:rPr>
              <a:t>Slide 9 / 22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1371600"/>
            <a:ext cx="100584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1" i="0">
                <a:solidFill>
                  <a:srgbClr val="0B2A4A"/>
                </a:solidFill>
                <a:latin typeface="Calibri"/>
              </a:rPr>
              <a:t>Step 1 — Start at root. 8 &lt; 10  →  go left.</a:t>
            </a:r>
          </a:p>
        </p:txBody>
      </p:sp>
      <p:cxnSp>
        <p:nvCxnSpPr>
          <p:cNvPr id="10" name="Connector 9"/>
          <p:cNvCxnSpPr/>
          <p:nvPr/>
        </p:nvCxnSpPr>
        <p:spPr>
          <a:xfrm flipH="1">
            <a:off x="2286000" y="2468880"/>
            <a:ext cx="914400" cy="228600"/>
          </a:xfrm>
          <a:prstGeom prst="line">
            <a:avLst/>
          </a:prstGeom>
          <a:ln w="22225">
            <a:solidFill>
              <a:srgbClr val="333D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3200400" y="2468880"/>
            <a:ext cx="914400" cy="228600"/>
          </a:xfrm>
          <a:prstGeom prst="line">
            <a:avLst/>
          </a:prstGeom>
          <a:ln w="22225">
            <a:solidFill>
              <a:srgbClr val="333D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H="1">
            <a:off x="1783080.0" y="3246120"/>
            <a:ext cx="502920.0" cy="228600"/>
          </a:xfrm>
          <a:prstGeom prst="line">
            <a:avLst/>
          </a:prstGeom>
          <a:ln w="22225">
            <a:solidFill>
              <a:srgbClr val="333D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2286000" y="3246120"/>
            <a:ext cx="502920.0" cy="228600"/>
          </a:xfrm>
          <a:prstGeom prst="line">
            <a:avLst/>
          </a:prstGeom>
          <a:ln w="22225">
            <a:solidFill>
              <a:srgbClr val="333D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3611880.0" y="3246120"/>
            <a:ext cx="502920.0" cy="228600"/>
          </a:xfrm>
          <a:prstGeom prst="line">
            <a:avLst/>
          </a:prstGeom>
          <a:ln w="22225">
            <a:solidFill>
              <a:srgbClr val="333D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4114800" y="3246120"/>
            <a:ext cx="502920.0" cy="228600"/>
          </a:xfrm>
          <a:prstGeom prst="line">
            <a:avLst/>
          </a:prstGeom>
          <a:ln w="22225">
            <a:solidFill>
              <a:srgbClr val="333D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Oval 15"/>
          <p:cNvSpPr/>
          <p:nvPr/>
        </p:nvSpPr>
        <p:spPr>
          <a:xfrm>
            <a:off x="2926080" y="1920240"/>
            <a:ext cx="548640" cy="548640"/>
          </a:xfrm>
          <a:prstGeom prst="ellipse">
            <a:avLst/>
          </a:prstGeom>
          <a:solidFill>
            <a:srgbClr val="E0A81F"/>
          </a:solidFill>
          <a:ln w="25400">
            <a:solidFill>
              <a:srgbClr val="0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926080" y="1920240"/>
            <a:ext cx="5486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200" b="1" i="0">
                <a:solidFill>
                  <a:srgbClr val="0B2A4A"/>
                </a:solidFill>
                <a:latin typeface="Calibri"/>
              </a:rPr>
              <a:t>10</a:t>
            </a:r>
          </a:p>
        </p:txBody>
      </p:sp>
      <p:sp>
        <p:nvSpPr>
          <p:cNvPr id="18" name="Oval 17"/>
          <p:cNvSpPr/>
          <p:nvPr/>
        </p:nvSpPr>
        <p:spPr>
          <a:xfrm>
            <a:off x="2011680" y="2697480"/>
            <a:ext cx="548640" cy="54864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011680" y="2697480"/>
            <a:ext cx="5486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200" b="1" i="0">
                <a:solidFill>
                  <a:srgbClr val="0B2A4A"/>
                </a:solidFill>
                <a:latin typeface="Calibri"/>
              </a:rPr>
              <a:t>5</a:t>
            </a:r>
          </a:p>
        </p:txBody>
      </p:sp>
      <p:sp>
        <p:nvSpPr>
          <p:cNvPr id="20" name="Oval 19"/>
          <p:cNvSpPr/>
          <p:nvPr/>
        </p:nvSpPr>
        <p:spPr>
          <a:xfrm>
            <a:off x="3840480" y="2697480"/>
            <a:ext cx="548640" cy="54864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840480" y="2697480"/>
            <a:ext cx="5486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200" b="1" i="0">
                <a:solidFill>
                  <a:srgbClr val="0B2A4A"/>
                </a:solidFill>
                <a:latin typeface="Calibri"/>
              </a:rPr>
              <a:t>15</a:t>
            </a:r>
          </a:p>
        </p:txBody>
      </p:sp>
      <p:sp>
        <p:nvSpPr>
          <p:cNvPr id="22" name="Oval 21"/>
          <p:cNvSpPr/>
          <p:nvPr/>
        </p:nvSpPr>
        <p:spPr>
          <a:xfrm>
            <a:off x="1508760" y="3474720"/>
            <a:ext cx="548640" cy="54864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508760" y="3474720"/>
            <a:ext cx="5486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200" b="1" i="0">
                <a:solidFill>
                  <a:srgbClr val="0B2A4A"/>
                </a:solidFill>
                <a:latin typeface="Calibri"/>
              </a:rPr>
              <a:t>2</a:t>
            </a:r>
          </a:p>
        </p:txBody>
      </p:sp>
      <p:sp>
        <p:nvSpPr>
          <p:cNvPr id="24" name="Oval 23"/>
          <p:cNvSpPr/>
          <p:nvPr/>
        </p:nvSpPr>
        <p:spPr>
          <a:xfrm>
            <a:off x="2514600" y="3474720"/>
            <a:ext cx="548640" cy="54864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514600" y="3474720"/>
            <a:ext cx="5486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200" b="1" i="0">
                <a:solidFill>
                  <a:srgbClr val="0B2A4A"/>
                </a:solidFill>
                <a:latin typeface="Calibri"/>
              </a:rPr>
              <a:t>7</a:t>
            </a:r>
          </a:p>
        </p:txBody>
      </p:sp>
      <p:sp>
        <p:nvSpPr>
          <p:cNvPr id="26" name="Oval 25"/>
          <p:cNvSpPr/>
          <p:nvPr/>
        </p:nvSpPr>
        <p:spPr>
          <a:xfrm>
            <a:off x="3337560" y="3474720"/>
            <a:ext cx="548640" cy="54864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337560" y="3474720"/>
            <a:ext cx="5486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200" b="1" i="0">
                <a:solidFill>
                  <a:srgbClr val="0B2A4A"/>
                </a:solidFill>
                <a:latin typeface="Calibri"/>
              </a:rPr>
              <a:t>12</a:t>
            </a:r>
          </a:p>
        </p:txBody>
      </p:sp>
      <p:sp>
        <p:nvSpPr>
          <p:cNvPr id="28" name="Oval 27"/>
          <p:cNvSpPr/>
          <p:nvPr/>
        </p:nvSpPr>
        <p:spPr>
          <a:xfrm>
            <a:off x="4343400" y="3474720"/>
            <a:ext cx="548640" cy="54864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343400" y="3474720"/>
            <a:ext cx="5486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200" b="1" i="0">
                <a:solidFill>
                  <a:srgbClr val="0B2A4A"/>
                </a:solidFill>
                <a:latin typeface="Calibri"/>
              </a:rPr>
              <a:t>20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2960" y="4114800"/>
            <a:ext cx="100584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1" i="0">
                <a:solidFill>
                  <a:srgbClr val="0B2A4A"/>
                </a:solidFill>
                <a:latin typeface="Calibri"/>
              </a:rPr>
              <a:t>Step 2 — At 5: 8 &gt; 5  →  go right.   Step 3 — At 7: 8 &gt; 7 and 7.right is None → insert.</a:t>
            </a:r>
          </a:p>
        </p:txBody>
      </p:sp>
      <p:cxnSp>
        <p:nvCxnSpPr>
          <p:cNvPr id="31" name="Connector 30"/>
          <p:cNvCxnSpPr/>
          <p:nvPr/>
        </p:nvCxnSpPr>
        <p:spPr>
          <a:xfrm flipH="1">
            <a:off x="8229600" y="2468880"/>
            <a:ext cx="914400" cy="228600"/>
          </a:xfrm>
          <a:prstGeom prst="line">
            <a:avLst/>
          </a:prstGeom>
          <a:ln w="22225">
            <a:solidFill>
              <a:srgbClr val="333D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9144000" y="2468880"/>
            <a:ext cx="914400" cy="228600"/>
          </a:xfrm>
          <a:prstGeom prst="line">
            <a:avLst/>
          </a:prstGeom>
          <a:ln w="22225">
            <a:solidFill>
              <a:srgbClr val="333D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 flipH="1">
            <a:off x="7726680.0" y="3246120"/>
            <a:ext cx="502920.0" cy="228600"/>
          </a:xfrm>
          <a:prstGeom prst="line">
            <a:avLst/>
          </a:prstGeom>
          <a:ln w="22225">
            <a:solidFill>
              <a:srgbClr val="333D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8229600" y="3246120"/>
            <a:ext cx="502920.0" cy="228600"/>
          </a:xfrm>
          <a:prstGeom prst="line">
            <a:avLst/>
          </a:prstGeom>
          <a:ln w="22225">
            <a:solidFill>
              <a:srgbClr val="333D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 flipH="1">
            <a:off x="9555480.0" y="3246120"/>
            <a:ext cx="502920.0" cy="228600"/>
          </a:xfrm>
          <a:prstGeom prst="line">
            <a:avLst/>
          </a:prstGeom>
          <a:ln w="22225">
            <a:solidFill>
              <a:srgbClr val="333D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10058400" y="3246120"/>
            <a:ext cx="502920.0" cy="228600"/>
          </a:xfrm>
          <a:prstGeom prst="line">
            <a:avLst/>
          </a:prstGeom>
          <a:ln w="22225">
            <a:solidFill>
              <a:srgbClr val="333D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8732520.0" y="4023360"/>
            <a:ext cx="411480.0" cy="228600"/>
          </a:xfrm>
          <a:prstGeom prst="line">
            <a:avLst/>
          </a:prstGeom>
          <a:ln w="31750">
            <a:solidFill>
              <a:srgbClr val="E0A8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Oval 37"/>
          <p:cNvSpPr/>
          <p:nvPr/>
        </p:nvSpPr>
        <p:spPr>
          <a:xfrm>
            <a:off x="8869680" y="1920240"/>
            <a:ext cx="548640" cy="54864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869680" y="1920240"/>
            <a:ext cx="5486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200" b="1" i="0">
                <a:solidFill>
                  <a:srgbClr val="0B2A4A"/>
                </a:solidFill>
                <a:latin typeface="Calibri"/>
              </a:rPr>
              <a:t>10</a:t>
            </a:r>
          </a:p>
        </p:txBody>
      </p:sp>
      <p:sp>
        <p:nvSpPr>
          <p:cNvPr id="40" name="Oval 39"/>
          <p:cNvSpPr/>
          <p:nvPr/>
        </p:nvSpPr>
        <p:spPr>
          <a:xfrm>
            <a:off x="7955280" y="2697480"/>
            <a:ext cx="548640" cy="54864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955280" y="2697480"/>
            <a:ext cx="5486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200" b="1" i="0">
                <a:solidFill>
                  <a:srgbClr val="0B2A4A"/>
                </a:solidFill>
                <a:latin typeface="Calibri"/>
              </a:rPr>
              <a:t>5</a:t>
            </a:r>
          </a:p>
        </p:txBody>
      </p:sp>
      <p:sp>
        <p:nvSpPr>
          <p:cNvPr id="42" name="Oval 41"/>
          <p:cNvSpPr/>
          <p:nvPr/>
        </p:nvSpPr>
        <p:spPr>
          <a:xfrm>
            <a:off x="9784080" y="2697480"/>
            <a:ext cx="548640" cy="54864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784080" y="2697480"/>
            <a:ext cx="5486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200" b="1" i="0">
                <a:solidFill>
                  <a:srgbClr val="0B2A4A"/>
                </a:solidFill>
                <a:latin typeface="Calibri"/>
              </a:rPr>
              <a:t>15</a:t>
            </a:r>
          </a:p>
        </p:txBody>
      </p:sp>
      <p:sp>
        <p:nvSpPr>
          <p:cNvPr id="44" name="Oval 43"/>
          <p:cNvSpPr/>
          <p:nvPr/>
        </p:nvSpPr>
        <p:spPr>
          <a:xfrm>
            <a:off x="7452360" y="3474720"/>
            <a:ext cx="548640" cy="54864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452360" y="3474720"/>
            <a:ext cx="5486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200" b="1" i="0">
                <a:solidFill>
                  <a:srgbClr val="0B2A4A"/>
                </a:solidFill>
                <a:latin typeface="Calibri"/>
              </a:rPr>
              <a:t>2</a:t>
            </a:r>
          </a:p>
        </p:txBody>
      </p:sp>
      <p:sp>
        <p:nvSpPr>
          <p:cNvPr id="46" name="Oval 45"/>
          <p:cNvSpPr/>
          <p:nvPr/>
        </p:nvSpPr>
        <p:spPr>
          <a:xfrm>
            <a:off x="8458200" y="3474720"/>
            <a:ext cx="548640" cy="54864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458200" y="3474720"/>
            <a:ext cx="5486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200" b="1" i="0">
                <a:solidFill>
                  <a:srgbClr val="0B2A4A"/>
                </a:solidFill>
                <a:latin typeface="Calibri"/>
              </a:rPr>
              <a:t>7</a:t>
            </a:r>
          </a:p>
        </p:txBody>
      </p:sp>
      <p:sp>
        <p:nvSpPr>
          <p:cNvPr id="48" name="Oval 47"/>
          <p:cNvSpPr/>
          <p:nvPr/>
        </p:nvSpPr>
        <p:spPr>
          <a:xfrm>
            <a:off x="9281160" y="3474720"/>
            <a:ext cx="548640" cy="54864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281160" y="3474720"/>
            <a:ext cx="5486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200" b="1" i="0">
                <a:solidFill>
                  <a:srgbClr val="0B2A4A"/>
                </a:solidFill>
                <a:latin typeface="Calibri"/>
              </a:rPr>
              <a:t>12</a:t>
            </a:r>
          </a:p>
        </p:txBody>
      </p:sp>
      <p:sp>
        <p:nvSpPr>
          <p:cNvPr id="50" name="Oval 49"/>
          <p:cNvSpPr/>
          <p:nvPr/>
        </p:nvSpPr>
        <p:spPr>
          <a:xfrm>
            <a:off x="10287000" y="3474720"/>
            <a:ext cx="548640" cy="54864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0287000" y="3474720"/>
            <a:ext cx="5486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200" b="1" i="0">
                <a:solidFill>
                  <a:srgbClr val="0B2A4A"/>
                </a:solidFill>
                <a:latin typeface="Calibri"/>
              </a:rPr>
              <a:t>20</a:t>
            </a:r>
          </a:p>
        </p:txBody>
      </p:sp>
      <p:sp>
        <p:nvSpPr>
          <p:cNvPr id="52" name="Oval 51"/>
          <p:cNvSpPr/>
          <p:nvPr/>
        </p:nvSpPr>
        <p:spPr>
          <a:xfrm>
            <a:off x="8869680" y="4251960"/>
            <a:ext cx="548640" cy="548640"/>
          </a:xfrm>
          <a:prstGeom prst="ellipse">
            <a:avLst/>
          </a:prstGeom>
          <a:solidFill>
            <a:srgbClr val="E0A81F"/>
          </a:solidFill>
          <a:ln w="25400">
            <a:solidFill>
              <a:srgbClr val="0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869680" y="4251960"/>
            <a:ext cx="5486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200" b="1" i="0">
                <a:solidFill>
                  <a:srgbClr val="0B2A4A"/>
                </a:solidFill>
                <a:latin typeface="Calibri"/>
              </a:rPr>
              <a:t>8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22960" y="5212080"/>
            <a:ext cx="105156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0" i="1">
                <a:solidFill>
                  <a:srgbClr val="127A8A"/>
                </a:solidFill>
                <a:latin typeface="Calibri"/>
              </a:rPr>
              <a:t>Each comparison decides one direction. Insertion cost = path length = O(h).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0"/>
            <a:ext cx="11871655" cy="73152"/>
          </a:xfrm>
          <a:prstGeom prst="rect">
            <a:avLst/>
          </a:prstGeom>
          <a:solidFill>
            <a:srgbClr val="E0A8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051560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1" i="0">
                <a:solidFill>
                  <a:srgbClr val="0B2A4A"/>
                </a:solidFill>
                <a:latin typeface="Calibri"/>
              </a:rPr>
              <a:t>7.  BST Insertion — 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13232"/>
            <a:ext cx="105156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0" i="1">
                <a:solidFill>
                  <a:srgbClr val="127A8A"/>
                </a:solidFill>
                <a:latin typeface="Calibri"/>
              </a:rPr>
              <a:t>Iterative insertion is robust and stack-safe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115568"/>
            <a:ext cx="1828800" cy="36576"/>
          </a:xfrm>
          <a:prstGeom prst="rect">
            <a:avLst/>
          </a:prstGeom>
          <a:solidFill>
            <a:srgbClr val="E0A8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1">
                <a:solidFill>
                  <a:srgbClr val="333D4A"/>
                </a:solidFill>
                <a:latin typeface="Calibri"/>
              </a:rPr>
              <a:t>Data Structures &amp; Algorithms · Week 06 · Trees &amp; BSTs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46520"/>
            <a:ext cx="10972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333D4A"/>
                </a:solidFill>
                <a:latin typeface="Calibri"/>
              </a:rPr>
              <a:t>Slide 10 / 22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1325880"/>
            <a:ext cx="7040880" cy="5120640"/>
          </a:xfrm>
          <a:prstGeom prst="rect">
            <a:avLst/>
          </a:prstGeom>
          <a:solidFill>
            <a:srgbClr val="1E1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22960" y="1325880"/>
            <a:ext cx="73152" cy="5120640"/>
          </a:xfrm>
          <a:prstGeom prst="rect">
            <a:avLst/>
          </a:prstGeom>
          <a:solidFill>
            <a:srgbClr val="E0A8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1417320"/>
            <a:ext cx="681228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class BST:</a:t>
            </a:r>
          </a:p>
          <a:p>
            <a:pPr algn="l">
              <a:lnSpc>
                <a:spcPct val="115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    def __init__(self):</a:t>
            </a:r>
          </a:p>
          <a:p>
            <a:pPr algn="l">
              <a:lnSpc>
                <a:spcPct val="115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        self.root = None</a:t>
            </a:r>
          </a:p>
          <a:p>
            <a:pPr algn="l">
              <a:lnSpc>
                <a:spcPct val="115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 </a:t>
            </a:r>
          </a:p>
          <a:p>
            <a:pPr algn="l">
              <a:lnSpc>
                <a:spcPct val="115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    def insert(self, val):</a:t>
            </a:r>
          </a:p>
          <a:p>
            <a:pPr algn="l">
              <a:lnSpc>
                <a:spcPct val="115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        if self.root is None:</a:t>
            </a:r>
          </a:p>
          <a:p>
            <a:pPr algn="l">
              <a:lnSpc>
                <a:spcPct val="115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            self.root = TreeNode(val)</a:t>
            </a:r>
          </a:p>
          <a:p>
            <a:pPr algn="l">
              <a:lnSpc>
                <a:spcPct val="115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            return</a:t>
            </a:r>
          </a:p>
          <a:p>
            <a:pPr algn="l">
              <a:lnSpc>
                <a:spcPct val="115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 </a:t>
            </a:r>
          </a:p>
          <a:p>
            <a:pPr algn="l">
              <a:lnSpc>
                <a:spcPct val="115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        current = self.root</a:t>
            </a:r>
          </a:p>
          <a:p>
            <a:pPr algn="l">
              <a:lnSpc>
                <a:spcPct val="115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        while True:</a:t>
            </a:r>
          </a:p>
          <a:p>
            <a:pPr algn="l">
              <a:lnSpc>
                <a:spcPct val="115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            if val &lt; current.val:</a:t>
            </a:r>
          </a:p>
          <a:p>
            <a:pPr algn="l">
              <a:lnSpc>
                <a:spcPct val="115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                if current.left is None:</a:t>
            </a:r>
          </a:p>
          <a:p>
            <a:pPr algn="l">
              <a:lnSpc>
                <a:spcPct val="115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                    current.left = TreeNode(val)</a:t>
            </a:r>
          </a:p>
          <a:p>
            <a:pPr algn="l">
              <a:lnSpc>
                <a:spcPct val="115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                    return</a:t>
            </a:r>
          </a:p>
          <a:p>
            <a:pPr algn="l">
              <a:lnSpc>
                <a:spcPct val="115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                current = current.left</a:t>
            </a:r>
          </a:p>
          <a:p>
            <a:pPr algn="l">
              <a:lnSpc>
                <a:spcPct val="115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            else:</a:t>
            </a:r>
          </a:p>
          <a:p>
            <a:pPr algn="l">
              <a:lnSpc>
                <a:spcPct val="115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                if current.right is None:</a:t>
            </a:r>
          </a:p>
          <a:p>
            <a:pPr algn="l">
              <a:lnSpc>
                <a:spcPct val="115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                    current.right = TreeNode(val)</a:t>
            </a:r>
          </a:p>
          <a:p>
            <a:pPr algn="l">
              <a:lnSpc>
                <a:spcPct val="115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                    return</a:t>
            </a:r>
          </a:p>
          <a:p>
            <a:pPr algn="l">
              <a:lnSpc>
                <a:spcPct val="115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                current = current.right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38160" y="1325880"/>
            <a:ext cx="36576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00" b="1" i="0">
                <a:solidFill>
                  <a:srgbClr val="0B2A4A"/>
                </a:solidFill>
                <a:latin typeface="Calibri"/>
              </a:rPr>
              <a:t>Notes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38160" y="1828800"/>
            <a:ext cx="3749039" cy="41148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300" b="1">
                <a:solidFill>
                  <a:srgbClr val="127A8A"/>
                </a:solidFill>
                <a:latin typeface="Calibri"/>
              </a:rPr>
              <a:t>▸  </a:t>
            </a:r>
            <a:r>
              <a:rPr sz="1300">
                <a:solidFill>
                  <a:srgbClr val="333D4A"/>
                </a:solidFill>
                <a:latin typeface="Calibri"/>
              </a:rPr>
              <a:t>Iterative form avoids recursion depth limits on large trees.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300" b="1">
                <a:solidFill>
                  <a:srgbClr val="127A8A"/>
                </a:solidFill>
                <a:latin typeface="Calibri"/>
              </a:rPr>
              <a:t>▸  </a:t>
            </a:r>
            <a:r>
              <a:rPr sz="1300">
                <a:solidFill>
                  <a:srgbClr val="333D4A"/>
                </a:solidFill>
                <a:latin typeface="Calibri"/>
              </a:rPr>
              <a:t>Empty-tree branch creates the root and returns immediately.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300" b="1">
                <a:solidFill>
                  <a:srgbClr val="127A8A"/>
                </a:solidFill>
                <a:latin typeface="Calibri"/>
              </a:rPr>
              <a:t>▸  </a:t>
            </a:r>
            <a:r>
              <a:rPr sz="1300">
                <a:solidFill>
                  <a:srgbClr val="333D4A"/>
                </a:solidFill>
                <a:latin typeface="Calibri"/>
              </a:rPr>
              <a:t>Equal values go right by convention — choose and document.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300" b="1">
                <a:solidFill>
                  <a:srgbClr val="127A8A"/>
                </a:solidFill>
                <a:latin typeface="Calibri"/>
              </a:rPr>
              <a:t>▸  </a:t>
            </a:r>
            <a:r>
              <a:rPr sz="1300">
                <a:solidFill>
                  <a:srgbClr val="333D4A"/>
                </a:solidFill>
                <a:latin typeface="Calibri"/>
              </a:rPr>
              <a:t>Time O(h);  for balanced trees O(log N);  worst-case O(N).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0"/>
            <a:ext cx="11871655" cy="73152"/>
          </a:xfrm>
          <a:prstGeom prst="rect">
            <a:avLst/>
          </a:prstGeom>
          <a:solidFill>
            <a:srgbClr val="E0A8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051560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1" i="0">
                <a:solidFill>
                  <a:srgbClr val="0B2A4A"/>
                </a:solidFill>
                <a:latin typeface="Calibri"/>
              </a:rPr>
              <a:t>8.  Tree Traversals —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13232"/>
            <a:ext cx="105156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0" i="1">
                <a:solidFill>
                  <a:srgbClr val="127A8A"/>
                </a:solidFill>
                <a:latin typeface="Calibri"/>
              </a:rPr>
              <a:t>Two strategies, four orders, one tree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115568"/>
            <a:ext cx="1828800" cy="36576"/>
          </a:xfrm>
          <a:prstGeom prst="rect">
            <a:avLst/>
          </a:prstGeom>
          <a:solidFill>
            <a:srgbClr val="E0A8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1">
                <a:solidFill>
                  <a:srgbClr val="333D4A"/>
                </a:solidFill>
                <a:latin typeface="Calibri"/>
              </a:rPr>
              <a:t>Data Structures &amp; Algorithms · Week 06 · Trees &amp; BSTs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46520"/>
            <a:ext cx="10972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333D4A"/>
                </a:solidFill>
                <a:latin typeface="Calibri"/>
              </a:rPr>
              <a:t>Slide 11 / 22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1371600"/>
            <a:ext cx="5440680" cy="5029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371600"/>
            <a:ext cx="544068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Calibri"/>
              </a:rPr>
              <a:t>Pre-Order (DFS)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1874520"/>
            <a:ext cx="5440680" cy="187452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2011680"/>
            <a:ext cx="4983480" cy="17373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300" b="1">
                <a:solidFill>
                  <a:srgbClr val="0B2A4A"/>
                </a:solidFill>
                <a:latin typeface="Calibri"/>
              </a:rPr>
              <a:t>▸  </a:t>
            </a:r>
            <a:r>
              <a:rPr sz="1300">
                <a:solidFill>
                  <a:srgbClr val="333D4A"/>
                </a:solidFill>
                <a:latin typeface="Calibri"/>
              </a:rPr>
              <a:t>Visit Node → Left → Right.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300" b="1">
                <a:solidFill>
                  <a:srgbClr val="0B2A4A"/>
                </a:solidFill>
                <a:latin typeface="Calibri"/>
              </a:rPr>
              <a:t>▸  </a:t>
            </a:r>
            <a:r>
              <a:rPr sz="1300">
                <a:solidFill>
                  <a:srgbClr val="333D4A"/>
                </a:solidFill>
                <a:latin typeface="Calibri"/>
              </a:rPr>
              <a:t>Use: deep-copy a tree; serialise structure.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300" b="1">
                <a:solidFill>
                  <a:srgbClr val="0B2A4A"/>
                </a:solidFill>
                <a:latin typeface="Calibri"/>
              </a:rPr>
              <a:t>▸  </a:t>
            </a:r>
            <a:r>
              <a:rPr sz="1300">
                <a:solidFill>
                  <a:srgbClr val="333D4A"/>
                </a:solidFill>
                <a:latin typeface="Calibri"/>
              </a:rPr>
              <a:t>Implemented with recursion or an explicit stack.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0" y="1371600"/>
            <a:ext cx="5440680" cy="502920"/>
          </a:xfrm>
          <a:prstGeom prst="rect">
            <a:avLst/>
          </a:prstGeom>
          <a:solidFill>
            <a:srgbClr val="127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17920" y="1371600"/>
            <a:ext cx="544068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Calibri"/>
              </a:rPr>
              <a:t>In-Order (DFS)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0" y="1874520"/>
            <a:ext cx="5440680" cy="187452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46520" y="2011680"/>
            <a:ext cx="4983480" cy="17373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300" b="1">
                <a:solidFill>
                  <a:srgbClr val="127A8A"/>
                </a:solidFill>
                <a:latin typeface="Calibri"/>
              </a:rPr>
              <a:t>▸  </a:t>
            </a:r>
            <a:r>
              <a:rPr sz="1300">
                <a:solidFill>
                  <a:srgbClr val="333D4A"/>
                </a:solidFill>
                <a:latin typeface="Calibri"/>
              </a:rPr>
              <a:t>Visit Left → Node → Right.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300" b="1">
                <a:solidFill>
                  <a:srgbClr val="127A8A"/>
                </a:solidFill>
                <a:latin typeface="Calibri"/>
              </a:rPr>
              <a:t>▸  </a:t>
            </a:r>
            <a:r>
              <a:rPr sz="1300">
                <a:solidFill>
                  <a:srgbClr val="333D4A"/>
                </a:solidFill>
                <a:latin typeface="Calibri"/>
              </a:rPr>
              <a:t>On a BST: produces values in sorted ascending order.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300" b="1">
                <a:solidFill>
                  <a:srgbClr val="127A8A"/>
                </a:solidFill>
                <a:latin typeface="Calibri"/>
              </a:rPr>
              <a:t>▸  </a:t>
            </a:r>
            <a:r>
              <a:rPr sz="1300">
                <a:solidFill>
                  <a:srgbClr val="333D4A"/>
                </a:solidFill>
                <a:latin typeface="Calibri"/>
              </a:rPr>
              <a:t>Use: validate a BST; output sorted view.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3931920"/>
            <a:ext cx="5440680" cy="502920"/>
          </a:xfrm>
          <a:prstGeom prst="rect">
            <a:avLst/>
          </a:prstGeom>
          <a:solidFill>
            <a:srgbClr val="E0A8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3931920"/>
            <a:ext cx="544068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Calibri"/>
              </a:rPr>
              <a:t>Post-Order (DFS)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4434840"/>
            <a:ext cx="5440680" cy="187452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4572000"/>
            <a:ext cx="4983480" cy="17373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300" b="1">
                <a:solidFill>
                  <a:srgbClr val="E0A81F"/>
                </a:solidFill>
                <a:latin typeface="Calibri"/>
              </a:rPr>
              <a:t>▸  </a:t>
            </a:r>
            <a:r>
              <a:rPr sz="1300">
                <a:solidFill>
                  <a:srgbClr val="333D4A"/>
                </a:solidFill>
                <a:latin typeface="Calibri"/>
              </a:rPr>
              <a:t>Visit Left → Right → Node.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300" b="1">
                <a:solidFill>
                  <a:srgbClr val="E0A81F"/>
                </a:solidFill>
                <a:latin typeface="Calibri"/>
              </a:rPr>
              <a:t>▸  </a:t>
            </a:r>
            <a:r>
              <a:rPr sz="1300">
                <a:solidFill>
                  <a:srgbClr val="333D4A"/>
                </a:solidFill>
                <a:latin typeface="Calibri"/>
              </a:rPr>
              <a:t>Use: free / delete a tree; evaluate expression trees.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300" b="1">
                <a:solidFill>
                  <a:srgbClr val="E0A81F"/>
                </a:solidFill>
                <a:latin typeface="Calibri"/>
              </a:rPr>
              <a:t>▸  </a:t>
            </a:r>
            <a:r>
              <a:rPr sz="1300">
                <a:solidFill>
                  <a:srgbClr val="333D4A"/>
                </a:solidFill>
                <a:latin typeface="Calibri"/>
              </a:rPr>
              <a:t>Children are processed before their parent.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17920" y="3931920"/>
            <a:ext cx="5440680" cy="502920"/>
          </a:xfrm>
          <a:prstGeom prst="rect">
            <a:avLst/>
          </a:prstGeom>
          <a:solidFill>
            <a:srgbClr val="6A1B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17920" y="3931920"/>
            <a:ext cx="544068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Calibri"/>
              </a:rPr>
              <a:t>Level-Order (BFS)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17920" y="4434840"/>
            <a:ext cx="5440680" cy="187452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46520" y="4572000"/>
            <a:ext cx="4983480" cy="17373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300" b="1">
                <a:solidFill>
                  <a:srgbClr val="6A1B9A"/>
                </a:solidFill>
                <a:latin typeface="Calibri"/>
              </a:rPr>
              <a:t>▸  </a:t>
            </a:r>
            <a:r>
              <a:rPr sz="1300">
                <a:solidFill>
                  <a:srgbClr val="333D4A"/>
                </a:solidFill>
                <a:latin typeface="Calibri"/>
              </a:rPr>
              <a:t>Visit tier by tier from the root downward.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300" b="1">
                <a:solidFill>
                  <a:srgbClr val="6A1B9A"/>
                </a:solidFill>
                <a:latin typeface="Calibri"/>
              </a:rPr>
              <a:t>▸  </a:t>
            </a:r>
            <a:r>
              <a:rPr sz="1300">
                <a:solidFill>
                  <a:srgbClr val="333D4A"/>
                </a:solidFill>
                <a:latin typeface="Calibri"/>
              </a:rPr>
              <a:t>Implemented with a FIFO queue, not recursion.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300" b="1">
                <a:solidFill>
                  <a:srgbClr val="6A1B9A"/>
                </a:solidFill>
                <a:latin typeface="Calibri"/>
              </a:rPr>
              <a:t>▸  </a:t>
            </a:r>
            <a:r>
              <a:rPr sz="1300">
                <a:solidFill>
                  <a:srgbClr val="333D4A"/>
                </a:solidFill>
                <a:latin typeface="Calibri"/>
              </a:rPr>
              <a:t>Use: shortest path in unweighted trees, level summaries.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0"/>
            <a:ext cx="11871655" cy="73152"/>
          </a:xfrm>
          <a:prstGeom prst="rect">
            <a:avLst/>
          </a:prstGeom>
          <a:solidFill>
            <a:srgbClr val="E0A8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051560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1" i="0">
                <a:solidFill>
                  <a:srgbClr val="0B2A4A"/>
                </a:solidFill>
                <a:latin typeface="Calibri"/>
              </a:rPr>
              <a:t>9.  Same Tree, Four Outputs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13232"/>
            <a:ext cx="105156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0" i="1">
                <a:solidFill>
                  <a:srgbClr val="127A8A"/>
                </a:solidFill>
                <a:latin typeface="Calibri"/>
              </a:rPr>
              <a:t>What each traversal actually produces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115568"/>
            <a:ext cx="1828800" cy="36576"/>
          </a:xfrm>
          <a:prstGeom prst="rect">
            <a:avLst/>
          </a:prstGeom>
          <a:solidFill>
            <a:srgbClr val="E0A8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1">
                <a:solidFill>
                  <a:srgbClr val="333D4A"/>
                </a:solidFill>
                <a:latin typeface="Calibri"/>
              </a:rPr>
              <a:t>Data Structures &amp; Algorithms · Week 06 · Trees &amp; BSTs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46520"/>
            <a:ext cx="10972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333D4A"/>
                </a:solidFill>
                <a:latin typeface="Calibri"/>
              </a:rPr>
              <a:t>Slide 12 / 22</a:t>
            </a:r>
          </a:p>
        </p:txBody>
      </p:sp>
      <p:cxnSp>
        <p:nvCxnSpPr>
          <p:cNvPr id="9" name="Connector 8"/>
          <p:cNvCxnSpPr/>
          <p:nvPr/>
        </p:nvCxnSpPr>
        <p:spPr>
          <a:xfrm flipH="1">
            <a:off x="2194560" y="2121408"/>
            <a:ext cx="914400" cy="329184"/>
          </a:xfrm>
          <a:prstGeom prst="line">
            <a:avLst/>
          </a:prstGeom>
          <a:ln w="22225">
            <a:solidFill>
              <a:srgbClr val="333D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3108960" y="2121408"/>
            <a:ext cx="914400" cy="329184"/>
          </a:xfrm>
          <a:prstGeom prst="line">
            <a:avLst/>
          </a:prstGeom>
          <a:ln w="22225">
            <a:solidFill>
              <a:srgbClr val="333D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H="1">
            <a:off x="1691640.0" y="3035808"/>
            <a:ext cx="502920.0" cy="329184"/>
          </a:xfrm>
          <a:prstGeom prst="line">
            <a:avLst/>
          </a:prstGeom>
          <a:ln w="22225">
            <a:solidFill>
              <a:srgbClr val="333D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2194560" y="3035808"/>
            <a:ext cx="502920.0" cy="329184"/>
          </a:xfrm>
          <a:prstGeom prst="line">
            <a:avLst/>
          </a:prstGeom>
          <a:ln w="22225">
            <a:solidFill>
              <a:srgbClr val="333D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H="1">
            <a:off x="3520440.0" y="3035808"/>
            <a:ext cx="502920.0" cy="329184"/>
          </a:xfrm>
          <a:prstGeom prst="line">
            <a:avLst/>
          </a:prstGeom>
          <a:ln w="22225">
            <a:solidFill>
              <a:srgbClr val="333D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4023360" y="3035808"/>
            <a:ext cx="502920.0" cy="329184"/>
          </a:xfrm>
          <a:prstGeom prst="line">
            <a:avLst/>
          </a:prstGeom>
          <a:ln w="22225">
            <a:solidFill>
              <a:srgbClr val="333D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Oval 14"/>
          <p:cNvSpPr/>
          <p:nvPr/>
        </p:nvSpPr>
        <p:spPr>
          <a:xfrm>
            <a:off x="2816352" y="1536192"/>
            <a:ext cx="585216" cy="585216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816352" y="1536192"/>
            <a:ext cx="585216" cy="58521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400" b="1" i="0">
                <a:solidFill>
                  <a:srgbClr val="0B2A4A"/>
                </a:solidFill>
                <a:latin typeface="Calibri"/>
              </a:rPr>
              <a:t>10</a:t>
            </a:r>
          </a:p>
        </p:txBody>
      </p:sp>
      <p:sp>
        <p:nvSpPr>
          <p:cNvPr id="17" name="Oval 16"/>
          <p:cNvSpPr/>
          <p:nvPr/>
        </p:nvSpPr>
        <p:spPr>
          <a:xfrm>
            <a:off x="1901952" y="2450592"/>
            <a:ext cx="585216" cy="585216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901952" y="2450592"/>
            <a:ext cx="585216" cy="58521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400" b="1" i="0">
                <a:solidFill>
                  <a:srgbClr val="0B2A4A"/>
                </a:solidFill>
                <a:latin typeface="Calibri"/>
              </a:rPr>
              <a:t>5</a:t>
            </a:r>
          </a:p>
        </p:txBody>
      </p:sp>
      <p:sp>
        <p:nvSpPr>
          <p:cNvPr id="19" name="Oval 18"/>
          <p:cNvSpPr/>
          <p:nvPr/>
        </p:nvSpPr>
        <p:spPr>
          <a:xfrm>
            <a:off x="3730752" y="2450592"/>
            <a:ext cx="585216" cy="585216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730752" y="2450592"/>
            <a:ext cx="585216" cy="58521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400" b="1" i="0">
                <a:solidFill>
                  <a:srgbClr val="0B2A4A"/>
                </a:solidFill>
                <a:latin typeface="Calibri"/>
              </a:rPr>
              <a:t>15</a:t>
            </a:r>
          </a:p>
        </p:txBody>
      </p:sp>
      <p:sp>
        <p:nvSpPr>
          <p:cNvPr id="21" name="Oval 20"/>
          <p:cNvSpPr/>
          <p:nvPr/>
        </p:nvSpPr>
        <p:spPr>
          <a:xfrm>
            <a:off x="1399032" y="3364992"/>
            <a:ext cx="585216" cy="585216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9032" y="3364992"/>
            <a:ext cx="585216" cy="58521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400" b="1" i="0">
                <a:solidFill>
                  <a:srgbClr val="0B2A4A"/>
                </a:solidFill>
                <a:latin typeface="Calibri"/>
              </a:rPr>
              <a:t>2</a:t>
            </a:r>
          </a:p>
        </p:txBody>
      </p:sp>
      <p:sp>
        <p:nvSpPr>
          <p:cNvPr id="23" name="Oval 22"/>
          <p:cNvSpPr/>
          <p:nvPr/>
        </p:nvSpPr>
        <p:spPr>
          <a:xfrm>
            <a:off x="2404872" y="3364992"/>
            <a:ext cx="585216" cy="585216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404872" y="3364992"/>
            <a:ext cx="585216" cy="58521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400" b="1" i="0">
                <a:solidFill>
                  <a:srgbClr val="0B2A4A"/>
                </a:solidFill>
                <a:latin typeface="Calibri"/>
              </a:rPr>
              <a:t>7</a:t>
            </a:r>
          </a:p>
        </p:txBody>
      </p:sp>
      <p:sp>
        <p:nvSpPr>
          <p:cNvPr id="25" name="Oval 24"/>
          <p:cNvSpPr/>
          <p:nvPr/>
        </p:nvSpPr>
        <p:spPr>
          <a:xfrm>
            <a:off x="3227832" y="3364992"/>
            <a:ext cx="585216" cy="585216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227832" y="3364992"/>
            <a:ext cx="585216" cy="58521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400" b="1" i="0">
                <a:solidFill>
                  <a:srgbClr val="0B2A4A"/>
                </a:solidFill>
                <a:latin typeface="Calibri"/>
              </a:rPr>
              <a:t>12</a:t>
            </a:r>
          </a:p>
        </p:txBody>
      </p:sp>
      <p:sp>
        <p:nvSpPr>
          <p:cNvPr id="27" name="Oval 26"/>
          <p:cNvSpPr/>
          <p:nvPr/>
        </p:nvSpPr>
        <p:spPr>
          <a:xfrm>
            <a:off x="4233672" y="3364992"/>
            <a:ext cx="585216" cy="585216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233672" y="3364992"/>
            <a:ext cx="585216" cy="58521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400" b="1" i="0">
                <a:solidFill>
                  <a:srgbClr val="0B2A4A"/>
                </a:solidFill>
                <a:latin typeface="Calibri"/>
              </a:rPr>
              <a:t>20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0" y="1554480"/>
            <a:ext cx="54864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1" i="0">
                <a:solidFill>
                  <a:srgbClr val="0B2A4A"/>
                </a:solidFill>
                <a:latin typeface="Calibri"/>
              </a:rPr>
              <a:t>Pre-Order  (Node, Left, Right)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0" y="1920240"/>
            <a:ext cx="54864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0" i="0">
                <a:solidFill>
                  <a:srgbClr val="333D4A"/>
                </a:solidFill>
                <a:latin typeface="Consolas"/>
              </a:rPr>
              <a:t>10 · 5 · 2 · 7 · 15 · 12 · 20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2560320"/>
            <a:ext cx="54864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1" i="0">
                <a:solidFill>
                  <a:srgbClr val="127A8A"/>
                </a:solidFill>
                <a:latin typeface="Calibri"/>
              </a:rPr>
              <a:t>In-Order  (Left, Node, Right)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0" y="2926080"/>
            <a:ext cx="54864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0" i="0">
                <a:solidFill>
                  <a:srgbClr val="2E7D32"/>
                </a:solidFill>
                <a:latin typeface="Consolas"/>
              </a:rPr>
              <a:t>2 · 5 · 7 · 10 · 12 · 15 · 20    ← sorted!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0" y="3566160"/>
            <a:ext cx="54864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1" i="0">
                <a:solidFill>
                  <a:srgbClr val="E0A81F"/>
                </a:solidFill>
                <a:latin typeface="Calibri"/>
              </a:rPr>
              <a:t>Post-Order  (Left, Right, Node)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0" y="3931920"/>
            <a:ext cx="54864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0" i="0">
                <a:solidFill>
                  <a:srgbClr val="333D4A"/>
                </a:solidFill>
                <a:latin typeface="Consolas"/>
              </a:rPr>
              <a:t>2 · 7 · 5 · 12 · 20 · 15 · 10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0" y="4572000"/>
            <a:ext cx="54864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1" i="0">
                <a:solidFill>
                  <a:srgbClr val="6A1B9A"/>
                </a:solidFill>
                <a:latin typeface="Calibri"/>
              </a:rPr>
              <a:t>Level-Order  (BFS)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00800" y="4937760"/>
            <a:ext cx="54864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0" i="0">
                <a:solidFill>
                  <a:srgbClr val="333D4A"/>
                </a:solidFill>
                <a:latin typeface="Consolas"/>
              </a:rPr>
              <a:t>10 · 5 · 15 · 2 · 7 · 12 · 20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22960" y="5852160"/>
            <a:ext cx="10515600" cy="64008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05840" y="5897880"/>
            <a:ext cx="1005840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400" b="0" i="1">
                <a:solidFill>
                  <a:srgbClr val="0B2A4A"/>
                </a:solidFill>
                <a:latin typeface="Calibri"/>
              </a:rPr>
              <a:t>In-order on a BST is the cheapest sort you'll ever write.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0"/>
            <a:ext cx="11871655" cy="73152"/>
          </a:xfrm>
          <a:prstGeom prst="rect">
            <a:avLst/>
          </a:prstGeom>
          <a:solidFill>
            <a:srgbClr val="E0A8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051560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1" i="0">
                <a:solidFill>
                  <a:srgbClr val="0B2A4A"/>
                </a:solidFill>
                <a:latin typeface="Calibri"/>
              </a:rPr>
              <a:t>10.  Traversal Implementations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13232"/>
            <a:ext cx="105156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0" i="1">
                <a:solidFill>
                  <a:srgbClr val="127A8A"/>
                </a:solidFill>
                <a:latin typeface="Calibri"/>
              </a:rPr>
              <a:t>Three lines change between Pre-, In-, and Post-order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115568"/>
            <a:ext cx="1828800" cy="36576"/>
          </a:xfrm>
          <a:prstGeom prst="rect">
            <a:avLst/>
          </a:prstGeom>
          <a:solidFill>
            <a:srgbClr val="E0A8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1">
                <a:solidFill>
                  <a:srgbClr val="333D4A"/>
                </a:solidFill>
                <a:latin typeface="Calibri"/>
              </a:rPr>
              <a:t>Data Structures &amp; Algorithms · Week 06 · Trees &amp; BSTs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46520"/>
            <a:ext cx="10972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333D4A"/>
                </a:solidFill>
                <a:latin typeface="Calibri"/>
              </a:rPr>
              <a:t>Slide 13 / 22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1325880"/>
            <a:ext cx="7040880" cy="5120640"/>
          </a:xfrm>
          <a:prstGeom prst="rect">
            <a:avLst/>
          </a:prstGeom>
          <a:solidFill>
            <a:srgbClr val="1E1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22960" y="1325880"/>
            <a:ext cx="73152" cy="5120640"/>
          </a:xfrm>
          <a:prstGeom prst="rect">
            <a:avLst/>
          </a:prstGeom>
          <a:solidFill>
            <a:srgbClr val="E0A8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1417320"/>
            <a:ext cx="681228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def inorder_traversal(root):</a:t>
            </a:r>
          </a:p>
          <a:p>
            <a:pPr algn="l">
              <a:lnSpc>
                <a:spcPct val="115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    res = []</a:t>
            </a:r>
          </a:p>
          <a:p>
            <a:pPr algn="l">
              <a:lnSpc>
                <a:spcPct val="115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    def dfs(node):</a:t>
            </a:r>
          </a:p>
          <a:p>
            <a:pPr algn="l">
              <a:lnSpc>
                <a:spcPct val="115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        if node is None: return</a:t>
            </a:r>
          </a:p>
          <a:p>
            <a:pPr algn="l">
              <a:lnSpc>
                <a:spcPct val="115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        dfs(node.left)</a:t>
            </a:r>
          </a:p>
          <a:p>
            <a:pPr algn="l">
              <a:lnSpc>
                <a:spcPct val="115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        res.append(node.val)     # ← position decides the order</a:t>
            </a:r>
          </a:p>
          <a:p>
            <a:pPr algn="l">
              <a:lnSpc>
                <a:spcPct val="115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        dfs(node.right)</a:t>
            </a:r>
          </a:p>
          <a:p>
            <a:pPr algn="l">
              <a:lnSpc>
                <a:spcPct val="115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    dfs(root)</a:t>
            </a:r>
          </a:p>
          <a:p>
            <a:pPr algn="l">
              <a:lnSpc>
                <a:spcPct val="115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    return res</a:t>
            </a:r>
          </a:p>
          <a:p>
            <a:pPr algn="l">
              <a:lnSpc>
                <a:spcPct val="115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 </a:t>
            </a:r>
          </a:p>
          <a:p>
            <a:pPr algn="l">
              <a:lnSpc>
                <a:spcPct val="115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def preorder_traversal(root):</a:t>
            </a:r>
          </a:p>
          <a:p>
            <a:pPr algn="l">
              <a:lnSpc>
                <a:spcPct val="115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    res = []</a:t>
            </a:r>
          </a:p>
          <a:p>
            <a:pPr algn="l">
              <a:lnSpc>
                <a:spcPct val="115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    def dfs(node):</a:t>
            </a:r>
          </a:p>
          <a:p>
            <a:pPr algn="l">
              <a:lnSpc>
                <a:spcPct val="115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        if node is None: return</a:t>
            </a:r>
          </a:p>
          <a:p>
            <a:pPr algn="l">
              <a:lnSpc>
                <a:spcPct val="115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        res.append(node.val)     # node first</a:t>
            </a:r>
          </a:p>
          <a:p>
            <a:pPr algn="l">
              <a:lnSpc>
                <a:spcPct val="115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        dfs(node.left)</a:t>
            </a:r>
          </a:p>
          <a:p>
            <a:pPr algn="l">
              <a:lnSpc>
                <a:spcPct val="115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        dfs(node.right)</a:t>
            </a:r>
          </a:p>
          <a:p>
            <a:pPr algn="l">
              <a:lnSpc>
                <a:spcPct val="115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    dfs(root)</a:t>
            </a:r>
          </a:p>
          <a:p>
            <a:pPr algn="l">
              <a:lnSpc>
                <a:spcPct val="115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    return res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38160" y="1325880"/>
            <a:ext cx="3749039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1" i="0">
                <a:solidFill>
                  <a:srgbClr val="0B2A4A"/>
                </a:solidFill>
                <a:latin typeface="Calibri"/>
              </a:rPr>
              <a:t>Level-order (BFS)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138160" y="1828800"/>
            <a:ext cx="3749039" cy="4114800"/>
          </a:xfrm>
          <a:prstGeom prst="rect">
            <a:avLst/>
          </a:prstGeom>
          <a:solidFill>
            <a:srgbClr val="1E1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138160" y="1828800"/>
            <a:ext cx="73152" cy="4114800"/>
          </a:xfrm>
          <a:prstGeom prst="rect">
            <a:avLst/>
          </a:prstGeom>
          <a:solidFill>
            <a:srgbClr val="E0A8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75320" y="1920240"/>
            <a:ext cx="3520439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>
                <a:solidFill>
                  <a:srgbClr val="E6E6E6"/>
                </a:solidFill>
                <a:latin typeface="Consolas"/>
              </a:rPr>
              <a:t>from collections import deque</a:t>
            </a:r>
          </a:p>
          <a:p>
            <a:pPr algn="l">
              <a:lnSpc>
                <a:spcPct val="115000"/>
              </a:lnSpc>
            </a:pPr>
            <a:r>
              <a:rPr sz="1100">
                <a:solidFill>
                  <a:srgbClr val="E6E6E6"/>
                </a:solidFill>
                <a:latin typeface="Consolas"/>
              </a:rPr>
              <a:t> </a:t>
            </a:r>
          </a:p>
          <a:p>
            <a:pPr algn="l">
              <a:lnSpc>
                <a:spcPct val="115000"/>
              </a:lnSpc>
            </a:pPr>
            <a:r>
              <a:rPr sz="1100">
                <a:solidFill>
                  <a:srgbClr val="E6E6E6"/>
                </a:solidFill>
                <a:latin typeface="Consolas"/>
              </a:rPr>
              <a:t>def level_order(root):</a:t>
            </a:r>
          </a:p>
          <a:p>
            <a:pPr algn="l">
              <a:lnSpc>
                <a:spcPct val="115000"/>
              </a:lnSpc>
            </a:pPr>
            <a:r>
              <a:rPr sz="1100">
                <a:solidFill>
                  <a:srgbClr val="E6E6E6"/>
                </a:solidFill>
                <a:latin typeface="Consolas"/>
              </a:rPr>
              <a:t>    if root is None: return []</a:t>
            </a:r>
          </a:p>
          <a:p>
            <a:pPr algn="l">
              <a:lnSpc>
                <a:spcPct val="115000"/>
              </a:lnSpc>
            </a:pPr>
            <a:r>
              <a:rPr sz="1100">
                <a:solidFill>
                  <a:srgbClr val="E6E6E6"/>
                </a:solidFill>
                <a:latin typeface="Consolas"/>
              </a:rPr>
              <a:t>    res, q = [], deque([root])</a:t>
            </a:r>
          </a:p>
          <a:p>
            <a:pPr algn="l">
              <a:lnSpc>
                <a:spcPct val="115000"/>
              </a:lnSpc>
            </a:pPr>
            <a:r>
              <a:rPr sz="1100">
                <a:solidFill>
                  <a:srgbClr val="E6E6E6"/>
                </a:solidFill>
                <a:latin typeface="Consolas"/>
              </a:rPr>
              <a:t>    while q:</a:t>
            </a:r>
          </a:p>
          <a:p>
            <a:pPr algn="l">
              <a:lnSpc>
                <a:spcPct val="115000"/>
              </a:lnSpc>
            </a:pPr>
            <a:r>
              <a:rPr sz="1100">
                <a:solidFill>
                  <a:srgbClr val="E6E6E6"/>
                </a:solidFill>
                <a:latin typeface="Consolas"/>
              </a:rPr>
              <a:t>        n = q.popleft()</a:t>
            </a:r>
          </a:p>
          <a:p>
            <a:pPr algn="l">
              <a:lnSpc>
                <a:spcPct val="115000"/>
              </a:lnSpc>
            </a:pPr>
            <a:r>
              <a:rPr sz="1100">
                <a:solidFill>
                  <a:srgbClr val="E6E6E6"/>
                </a:solidFill>
                <a:latin typeface="Consolas"/>
              </a:rPr>
              <a:t>        res.append(n.val)</a:t>
            </a:r>
          </a:p>
          <a:p>
            <a:pPr algn="l">
              <a:lnSpc>
                <a:spcPct val="115000"/>
              </a:lnSpc>
            </a:pPr>
            <a:r>
              <a:rPr sz="1100">
                <a:solidFill>
                  <a:srgbClr val="E6E6E6"/>
                </a:solidFill>
                <a:latin typeface="Consolas"/>
              </a:rPr>
              <a:t>        if n.left:  q.append(n.left)</a:t>
            </a:r>
          </a:p>
          <a:p>
            <a:pPr algn="l">
              <a:lnSpc>
                <a:spcPct val="115000"/>
              </a:lnSpc>
            </a:pPr>
            <a:r>
              <a:rPr sz="1100">
                <a:solidFill>
                  <a:srgbClr val="E6E6E6"/>
                </a:solidFill>
                <a:latin typeface="Consolas"/>
              </a:rPr>
              <a:t>        if n.right: q.append(n.right)</a:t>
            </a:r>
          </a:p>
          <a:p>
            <a:pPr algn="l">
              <a:lnSpc>
                <a:spcPct val="115000"/>
              </a:lnSpc>
            </a:pPr>
            <a:r>
              <a:rPr sz="1100">
                <a:solidFill>
                  <a:srgbClr val="E6E6E6"/>
                </a:solidFill>
                <a:latin typeface="Consolas"/>
              </a:rPr>
              <a:t>    return res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0"/>
            <a:ext cx="11871655" cy="73152"/>
          </a:xfrm>
          <a:prstGeom prst="rect">
            <a:avLst/>
          </a:prstGeom>
          <a:solidFill>
            <a:srgbClr val="E0A8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051560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1" i="0">
                <a:solidFill>
                  <a:srgbClr val="0B2A4A"/>
                </a:solidFill>
                <a:latin typeface="Calibri"/>
              </a:rPr>
              <a:t>11.  Lowest Common Ancestor (BST)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13232"/>
            <a:ext cx="105156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0" i="1">
                <a:solidFill>
                  <a:srgbClr val="127A8A"/>
                </a:solidFill>
                <a:latin typeface="Calibri"/>
              </a:rPr>
              <a:t>The first node where the paths to p and q diverge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115568"/>
            <a:ext cx="1828800" cy="36576"/>
          </a:xfrm>
          <a:prstGeom prst="rect">
            <a:avLst/>
          </a:prstGeom>
          <a:solidFill>
            <a:srgbClr val="E0A8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1">
                <a:solidFill>
                  <a:srgbClr val="333D4A"/>
                </a:solidFill>
                <a:latin typeface="Calibri"/>
              </a:rPr>
              <a:t>Data Structures &amp; Algorithms · Week 06 · Trees &amp; BSTs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46520"/>
            <a:ext cx="10972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333D4A"/>
                </a:solidFill>
                <a:latin typeface="Calibri"/>
              </a:rPr>
              <a:t>Slide 14 / 22</a:t>
            </a:r>
          </a:p>
        </p:txBody>
      </p:sp>
      <p:cxnSp>
        <p:nvCxnSpPr>
          <p:cNvPr id="9" name="Connector 8"/>
          <p:cNvCxnSpPr/>
          <p:nvPr/>
        </p:nvCxnSpPr>
        <p:spPr>
          <a:xfrm flipH="1">
            <a:off x="2194560" y="2121408"/>
            <a:ext cx="914400" cy="329184"/>
          </a:xfrm>
          <a:prstGeom prst="line">
            <a:avLst/>
          </a:prstGeom>
          <a:ln w="31750">
            <a:solidFill>
              <a:srgbClr val="E0A8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3108960" y="2121408"/>
            <a:ext cx="914400" cy="329184"/>
          </a:xfrm>
          <a:prstGeom prst="line">
            <a:avLst/>
          </a:prstGeom>
          <a:ln w="22225">
            <a:solidFill>
              <a:srgbClr val="333D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H="1">
            <a:off x="1691640.0" y="3035808"/>
            <a:ext cx="502920.0" cy="329184"/>
          </a:xfrm>
          <a:prstGeom prst="line">
            <a:avLst/>
          </a:prstGeom>
          <a:ln w="22225">
            <a:solidFill>
              <a:srgbClr val="333D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2194560" y="3035808"/>
            <a:ext cx="502920.0" cy="329184"/>
          </a:xfrm>
          <a:prstGeom prst="line">
            <a:avLst/>
          </a:prstGeom>
          <a:ln w="22225">
            <a:solidFill>
              <a:srgbClr val="333D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H="1">
            <a:off x="3520440.0" y="3035808"/>
            <a:ext cx="502920.0" cy="329184"/>
          </a:xfrm>
          <a:prstGeom prst="line">
            <a:avLst/>
          </a:prstGeom>
          <a:ln w="22225">
            <a:solidFill>
              <a:srgbClr val="333D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4023360" y="3035808"/>
            <a:ext cx="502920.0" cy="329184"/>
          </a:xfrm>
          <a:prstGeom prst="line">
            <a:avLst/>
          </a:prstGeom>
          <a:ln w="22225">
            <a:solidFill>
              <a:srgbClr val="333D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Oval 14"/>
          <p:cNvSpPr/>
          <p:nvPr/>
        </p:nvSpPr>
        <p:spPr>
          <a:xfrm>
            <a:off x="2816352" y="1536192"/>
            <a:ext cx="585216" cy="585216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816352" y="1536192"/>
            <a:ext cx="585216" cy="58521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400" b="1" i="0">
                <a:solidFill>
                  <a:srgbClr val="0B2A4A"/>
                </a:solidFill>
                <a:latin typeface="Calibri"/>
              </a:rPr>
              <a:t>10</a:t>
            </a:r>
          </a:p>
        </p:txBody>
      </p:sp>
      <p:sp>
        <p:nvSpPr>
          <p:cNvPr id="17" name="Oval 16"/>
          <p:cNvSpPr/>
          <p:nvPr/>
        </p:nvSpPr>
        <p:spPr>
          <a:xfrm>
            <a:off x="1901952" y="2450592"/>
            <a:ext cx="585216" cy="585216"/>
          </a:xfrm>
          <a:prstGeom prst="ellipse">
            <a:avLst/>
          </a:prstGeom>
          <a:solidFill>
            <a:srgbClr val="E0A81F"/>
          </a:solidFill>
          <a:ln w="25400">
            <a:solidFill>
              <a:srgbClr val="0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901952" y="2450592"/>
            <a:ext cx="585216" cy="58521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400" b="1" i="0">
                <a:solidFill>
                  <a:srgbClr val="0B2A4A"/>
                </a:solidFill>
                <a:latin typeface="Calibri"/>
              </a:rPr>
              <a:t>5</a:t>
            </a:r>
          </a:p>
        </p:txBody>
      </p:sp>
      <p:sp>
        <p:nvSpPr>
          <p:cNvPr id="19" name="Oval 18"/>
          <p:cNvSpPr/>
          <p:nvPr/>
        </p:nvSpPr>
        <p:spPr>
          <a:xfrm>
            <a:off x="3730752" y="2450592"/>
            <a:ext cx="585216" cy="585216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730752" y="2450592"/>
            <a:ext cx="585216" cy="58521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400" b="1" i="0">
                <a:solidFill>
                  <a:srgbClr val="0B2A4A"/>
                </a:solidFill>
                <a:latin typeface="Calibri"/>
              </a:rPr>
              <a:t>15</a:t>
            </a:r>
          </a:p>
        </p:txBody>
      </p:sp>
      <p:sp>
        <p:nvSpPr>
          <p:cNvPr id="21" name="Oval 20"/>
          <p:cNvSpPr/>
          <p:nvPr/>
        </p:nvSpPr>
        <p:spPr>
          <a:xfrm>
            <a:off x="1399032" y="3364992"/>
            <a:ext cx="585216" cy="585216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9032" y="3364992"/>
            <a:ext cx="585216" cy="58521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400" b="1" i="0">
                <a:solidFill>
                  <a:srgbClr val="0B2A4A"/>
                </a:solidFill>
                <a:latin typeface="Calibri"/>
              </a:rPr>
              <a:t>2</a:t>
            </a:r>
          </a:p>
        </p:txBody>
      </p:sp>
      <p:sp>
        <p:nvSpPr>
          <p:cNvPr id="23" name="Oval 22"/>
          <p:cNvSpPr/>
          <p:nvPr/>
        </p:nvSpPr>
        <p:spPr>
          <a:xfrm>
            <a:off x="2404872" y="3364992"/>
            <a:ext cx="585216" cy="585216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404872" y="3364992"/>
            <a:ext cx="585216" cy="58521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400" b="1" i="0">
                <a:solidFill>
                  <a:srgbClr val="0B2A4A"/>
                </a:solidFill>
                <a:latin typeface="Calibri"/>
              </a:rPr>
              <a:t>7</a:t>
            </a:r>
          </a:p>
        </p:txBody>
      </p:sp>
      <p:sp>
        <p:nvSpPr>
          <p:cNvPr id="25" name="Oval 24"/>
          <p:cNvSpPr/>
          <p:nvPr/>
        </p:nvSpPr>
        <p:spPr>
          <a:xfrm>
            <a:off x="3227832" y="3364992"/>
            <a:ext cx="585216" cy="585216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227832" y="3364992"/>
            <a:ext cx="585216" cy="58521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400" b="1" i="0">
                <a:solidFill>
                  <a:srgbClr val="0B2A4A"/>
                </a:solidFill>
                <a:latin typeface="Calibri"/>
              </a:rPr>
              <a:t>12</a:t>
            </a:r>
          </a:p>
        </p:txBody>
      </p:sp>
      <p:sp>
        <p:nvSpPr>
          <p:cNvPr id="27" name="Oval 26"/>
          <p:cNvSpPr/>
          <p:nvPr/>
        </p:nvSpPr>
        <p:spPr>
          <a:xfrm>
            <a:off x="4233672" y="3364992"/>
            <a:ext cx="585216" cy="585216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233672" y="3364992"/>
            <a:ext cx="585216" cy="58521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400" b="1" i="0">
                <a:solidFill>
                  <a:srgbClr val="0B2A4A"/>
                </a:solidFill>
                <a:latin typeface="Calibri"/>
              </a:rPr>
              <a:t>20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2960" y="4937760"/>
            <a:ext cx="54864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00" b="1" i="0">
                <a:solidFill>
                  <a:srgbClr val="0B2A4A"/>
                </a:solidFill>
                <a:latin typeface="Calibri"/>
              </a:rPr>
              <a:t>LCA(2, 7) = 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2960" y="5349240"/>
            <a:ext cx="548640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0" i="0">
                <a:solidFill>
                  <a:srgbClr val="333D4A"/>
                </a:solidFill>
                <a:latin typeface="Calibri"/>
              </a:rPr>
              <a:t>Both 2 and 7 are smaller than 10 → go left.
Now at 5: 2 &lt; 5 and 7 &gt; 5 → split point. Stop.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83680" y="1371600"/>
            <a:ext cx="521208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1" i="0">
                <a:solidFill>
                  <a:srgbClr val="0B2A4A"/>
                </a:solidFill>
                <a:latin typeface="Calibri"/>
              </a:rPr>
              <a:t>Iterative LCA (uses BST property)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583680" y="1874519"/>
            <a:ext cx="5212080" cy="3017520"/>
          </a:xfrm>
          <a:prstGeom prst="rect">
            <a:avLst/>
          </a:prstGeom>
          <a:solidFill>
            <a:srgbClr val="1E1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583680" y="1874519"/>
            <a:ext cx="73152" cy="3017520"/>
          </a:xfrm>
          <a:prstGeom prst="rect">
            <a:avLst/>
          </a:prstGeom>
          <a:solidFill>
            <a:srgbClr val="E0A8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720840" y="1965959"/>
            <a:ext cx="498348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def lowest_common_ancestor(root, p, q):</a:t>
            </a:r>
          </a:p>
          <a:p>
            <a:pPr algn="l">
              <a:lnSpc>
                <a:spcPct val="115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    current = root</a:t>
            </a:r>
          </a:p>
          <a:p>
            <a:pPr algn="l">
              <a:lnSpc>
                <a:spcPct val="115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    while current:</a:t>
            </a:r>
          </a:p>
          <a:p>
            <a:pPr algn="l">
              <a:lnSpc>
                <a:spcPct val="115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        if p.val &lt; current.val and q.val &lt; current.val:</a:t>
            </a:r>
          </a:p>
          <a:p>
            <a:pPr algn="l">
              <a:lnSpc>
                <a:spcPct val="115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            current = current.left</a:t>
            </a:r>
          </a:p>
          <a:p>
            <a:pPr algn="l">
              <a:lnSpc>
                <a:spcPct val="115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        elif p.val &gt; current.val and q.val &gt; current.val:</a:t>
            </a:r>
          </a:p>
          <a:p>
            <a:pPr algn="l">
              <a:lnSpc>
                <a:spcPct val="115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            current = current.right</a:t>
            </a:r>
          </a:p>
          <a:p>
            <a:pPr algn="l">
              <a:lnSpc>
                <a:spcPct val="115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        else:</a:t>
            </a:r>
          </a:p>
          <a:p>
            <a:pPr algn="l">
              <a:lnSpc>
                <a:spcPct val="115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            return current   # split point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583680" y="5029200"/>
            <a:ext cx="5212080" cy="13716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766560" y="5120640"/>
            <a:ext cx="49377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1" i="0">
                <a:solidFill>
                  <a:srgbClr val="0B2A4A"/>
                </a:solidFill>
                <a:latin typeface="Calibri"/>
              </a:rPr>
              <a:t>Complexity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766560" y="5440680"/>
            <a:ext cx="493776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333D4A"/>
                </a:solidFill>
                <a:latin typeface="Calibri"/>
              </a:rPr>
              <a:t>Time  O(h)   ·   Space  O(1).
On a balanced BST: O(log N) and no recursion stack.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0"/>
            <a:ext cx="11871655" cy="73152"/>
          </a:xfrm>
          <a:prstGeom prst="rect">
            <a:avLst/>
          </a:prstGeom>
          <a:solidFill>
            <a:srgbClr val="E0A8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051560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1" i="0">
                <a:solidFill>
                  <a:srgbClr val="0B2A4A"/>
                </a:solidFill>
                <a:latin typeface="Calibri"/>
              </a:rPr>
              <a:t>12.  Balanced vs Degenerate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13232"/>
            <a:ext cx="105156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0" i="1">
                <a:solidFill>
                  <a:srgbClr val="127A8A"/>
                </a:solidFill>
                <a:latin typeface="Calibri"/>
              </a:rPr>
              <a:t>Insertion order silently destroys your O(log N) guarantee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115568"/>
            <a:ext cx="1828800" cy="36576"/>
          </a:xfrm>
          <a:prstGeom prst="rect">
            <a:avLst/>
          </a:prstGeom>
          <a:solidFill>
            <a:srgbClr val="E0A8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1">
                <a:solidFill>
                  <a:srgbClr val="333D4A"/>
                </a:solidFill>
                <a:latin typeface="Calibri"/>
              </a:rPr>
              <a:t>Data Structures &amp; Algorithms · Week 06 · Trees &amp; BSTs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46520"/>
            <a:ext cx="10972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333D4A"/>
                </a:solidFill>
                <a:latin typeface="Calibri"/>
              </a:rPr>
              <a:t>Slide 15 / 22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1371600"/>
            <a:ext cx="530352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1" i="0">
                <a:solidFill>
                  <a:srgbClr val="2E7D32"/>
                </a:solidFill>
                <a:latin typeface="Calibri"/>
              </a:rPr>
              <a:t>Balanced — height ≈ log₂ N</a:t>
            </a:r>
          </a:p>
        </p:txBody>
      </p:sp>
      <p:cxnSp>
        <p:nvCxnSpPr>
          <p:cNvPr id="10" name="Connector 9"/>
          <p:cNvCxnSpPr/>
          <p:nvPr/>
        </p:nvCxnSpPr>
        <p:spPr>
          <a:xfrm flipH="1">
            <a:off x="2331720" y="2286000"/>
            <a:ext cx="868680" cy="320040"/>
          </a:xfrm>
          <a:prstGeom prst="line">
            <a:avLst/>
          </a:prstGeom>
          <a:ln w="22225">
            <a:solidFill>
              <a:srgbClr val="333D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3200400" y="2286000"/>
            <a:ext cx="868680" cy="320040"/>
          </a:xfrm>
          <a:prstGeom prst="line">
            <a:avLst/>
          </a:prstGeom>
          <a:ln w="22225">
            <a:solidFill>
              <a:srgbClr val="333D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H="1">
            <a:off x="1853946.0" y="3154680"/>
            <a:ext cx="477774.0" cy="320040"/>
          </a:xfrm>
          <a:prstGeom prst="line">
            <a:avLst/>
          </a:prstGeom>
          <a:ln w="22225">
            <a:solidFill>
              <a:srgbClr val="333D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2331720" y="3154680"/>
            <a:ext cx="477774.0" cy="320040"/>
          </a:xfrm>
          <a:prstGeom prst="line">
            <a:avLst/>
          </a:prstGeom>
          <a:ln w="22225">
            <a:solidFill>
              <a:srgbClr val="333D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3591306.0" y="3154680"/>
            <a:ext cx="477774.0" cy="320040"/>
          </a:xfrm>
          <a:prstGeom prst="line">
            <a:avLst/>
          </a:prstGeom>
          <a:ln w="22225">
            <a:solidFill>
              <a:srgbClr val="333D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4069080" y="3154680"/>
            <a:ext cx="477774.0" cy="320040"/>
          </a:xfrm>
          <a:prstGeom prst="line">
            <a:avLst/>
          </a:prstGeom>
          <a:ln w="22225">
            <a:solidFill>
              <a:srgbClr val="333D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Oval 15"/>
          <p:cNvSpPr/>
          <p:nvPr/>
        </p:nvSpPr>
        <p:spPr>
          <a:xfrm>
            <a:off x="2926080" y="1737360"/>
            <a:ext cx="548640" cy="54864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926080" y="1737360"/>
            <a:ext cx="5486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200" b="1" i="0">
                <a:solidFill>
                  <a:srgbClr val="0B2A4A"/>
                </a:solidFill>
                <a:latin typeface="Calibri"/>
              </a:rPr>
              <a:t>10</a:t>
            </a:r>
          </a:p>
        </p:txBody>
      </p:sp>
      <p:sp>
        <p:nvSpPr>
          <p:cNvPr id="18" name="Oval 17"/>
          <p:cNvSpPr/>
          <p:nvPr/>
        </p:nvSpPr>
        <p:spPr>
          <a:xfrm>
            <a:off x="2057400" y="2606040"/>
            <a:ext cx="548640" cy="54864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057400" y="2606040"/>
            <a:ext cx="5486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200" b="1" i="0">
                <a:solidFill>
                  <a:srgbClr val="0B2A4A"/>
                </a:solidFill>
                <a:latin typeface="Calibri"/>
              </a:rPr>
              <a:t>5</a:t>
            </a:r>
          </a:p>
        </p:txBody>
      </p:sp>
      <p:sp>
        <p:nvSpPr>
          <p:cNvPr id="20" name="Oval 19"/>
          <p:cNvSpPr/>
          <p:nvPr/>
        </p:nvSpPr>
        <p:spPr>
          <a:xfrm>
            <a:off x="3794760" y="2606040"/>
            <a:ext cx="548640" cy="54864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794760" y="2606040"/>
            <a:ext cx="5486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200" b="1" i="0">
                <a:solidFill>
                  <a:srgbClr val="0B2A4A"/>
                </a:solidFill>
                <a:latin typeface="Calibri"/>
              </a:rPr>
              <a:t>15</a:t>
            </a:r>
          </a:p>
        </p:txBody>
      </p:sp>
      <p:sp>
        <p:nvSpPr>
          <p:cNvPr id="22" name="Oval 21"/>
          <p:cNvSpPr/>
          <p:nvPr/>
        </p:nvSpPr>
        <p:spPr>
          <a:xfrm>
            <a:off x="1579626" y="3474720"/>
            <a:ext cx="548640" cy="54864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579626" y="3474720"/>
            <a:ext cx="5486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200" b="1" i="0">
                <a:solidFill>
                  <a:srgbClr val="0B2A4A"/>
                </a:solidFill>
                <a:latin typeface="Calibri"/>
              </a:rPr>
              <a:t>2</a:t>
            </a:r>
          </a:p>
        </p:txBody>
      </p:sp>
      <p:sp>
        <p:nvSpPr>
          <p:cNvPr id="24" name="Oval 23"/>
          <p:cNvSpPr/>
          <p:nvPr/>
        </p:nvSpPr>
        <p:spPr>
          <a:xfrm>
            <a:off x="2535174" y="3474720"/>
            <a:ext cx="548640" cy="54864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535174" y="3474720"/>
            <a:ext cx="5486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200" b="1" i="0">
                <a:solidFill>
                  <a:srgbClr val="0B2A4A"/>
                </a:solidFill>
                <a:latin typeface="Calibri"/>
              </a:rPr>
              <a:t>7</a:t>
            </a:r>
          </a:p>
        </p:txBody>
      </p:sp>
      <p:sp>
        <p:nvSpPr>
          <p:cNvPr id="26" name="Oval 25"/>
          <p:cNvSpPr/>
          <p:nvPr/>
        </p:nvSpPr>
        <p:spPr>
          <a:xfrm>
            <a:off x="3316986" y="3474720"/>
            <a:ext cx="548640" cy="54864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316986" y="3474720"/>
            <a:ext cx="5486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200" b="1" i="0">
                <a:solidFill>
                  <a:srgbClr val="0B2A4A"/>
                </a:solidFill>
                <a:latin typeface="Calibri"/>
              </a:rPr>
              <a:t>12</a:t>
            </a:r>
          </a:p>
        </p:txBody>
      </p:sp>
      <p:sp>
        <p:nvSpPr>
          <p:cNvPr id="28" name="Oval 27"/>
          <p:cNvSpPr/>
          <p:nvPr/>
        </p:nvSpPr>
        <p:spPr>
          <a:xfrm>
            <a:off x="4272534" y="3474720"/>
            <a:ext cx="548640" cy="54864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272534" y="3474720"/>
            <a:ext cx="5486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200" b="1" i="0">
                <a:solidFill>
                  <a:srgbClr val="0B2A4A"/>
                </a:solidFill>
                <a:latin typeface="Calibri"/>
              </a:rPr>
              <a:t>20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58000" y="1371600"/>
            <a:ext cx="493776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1" i="0">
                <a:solidFill>
                  <a:srgbClr val="C0392B"/>
                </a:solidFill>
                <a:latin typeface="Calibri"/>
              </a:rPr>
              <a:t>Degenerate — sorted insert collapses to a chain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9509760" y="2240280"/>
            <a:ext cx="502920" cy="182880"/>
          </a:xfrm>
          <a:prstGeom prst="line">
            <a:avLst/>
          </a:prstGeom>
          <a:ln w="22225">
            <a:solidFill>
              <a:srgbClr val="333D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10012680" y="2880360"/>
            <a:ext cx="502920" cy="182880"/>
          </a:xfrm>
          <a:prstGeom prst="line">
            <a:avLst/>
          </a:prstGeom>
          <a:ln w="22225">
            <a:solidFill>
              <a:srgbClr val="333D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10515600" y="3520440"/>
            <a:ext cx="502920" cy="182880"/>
          </a:xfrm>
          <a:prstGeom prst="line">
            <a:avLst/>
          </a:prstGeom>
          <a:ln w="22225">
            <a:solidFill>
              <a:srgbClr val="333D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11018520" y="4160520"/>
            <a:ext cx="502920" cy="182880"/>
          </a:xfrm>
          <a:prstGeom prst="line">
            <a:avLst/>
          </a:prstGeom>
          <a:ln w="22225">
            <a:solidFill>
              <a:srgbClr val="333D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Oval 34"/>
          <p:cNvSpPr/>
          <p:nvPr/>
        </p:nvSpPr>
        <p:spPr>
          <a:xfrm>
            <a:off x="9281160" y="1783080"/>
            <a:ext cx="457200" cy="45720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281160" y="1783080"/>
            <a:ext cx="45720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200" b="1" i="0">
                <a:solidFill>
                  <a:srgbClr val="0B2A4A"/>
                </a:solidFill>
                <a:latin typeface="Calibri"/>
              </a:rPr>
              <a:t>1</a:t>
            </a:r>
          </a:p>
        </p:txBody>
      </p:sp>
      <p:sp>
        <p:nvSpPr>
          <p:cNvPr id="37" name="Oval 36"/>
          <p:cNvSpPr/>
          <p:nvPr/>
        </p:nvSpPr>
        <p:spPr>
          <a:xfrm>
            <a:off x="9784080" y="2423160"/>
            <a:ext cx="457200" cy="45720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784080" y="2423160"/>
            <a:ext cx="45720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200" b="1" i="0">
                <a:solidFill>
                  <a:srgbClr val="0B2A4A"/>
                </a:solidFill>
                <a:latin typeface="Calibri"/>
              </a:rPr>
              <a:t>2</a:t>
            </a:r>
          </a:p>
        </p:txBody>
      </p:sp>
      <p:sp>
        <p:nvSpPr>
          <p:cNvPr id="39" name="Oval 38"/>
          <p:cNvSpPr/>
          <p:nvPr/>
        </p:nvSpPr>
        <p:spPr>
          <a:xfrm>
            <a:off x="10287000" y="3063240"/>
            <a:ext cx="457200" cy="45720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287000" y="3063240"/>
            <a:ext cx="45720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200" b="1" i="0">
                <a:solidFill>
                  <a:srgbClr val="0B2A4A"/>
                </a:solidFill>
                <a:latin typeface="Calibri"/>
              </a:rPr>
              <a:t>3</a:t>
            </a:r>
          </a:p>
        </p:txBody>
      </p:sp>
      <p:sp>
        <p:nvSpPr>
          <p:cNvPr id="41" name="Oval 40"/>
          <p:cNvSpPr/>
          <p:nvPr/>
        </p:nvSpPr>
        <p:spPr>
          <a:xfrm>
            <a:off x="10789920" y="3703320"/>
            <a:ext cx="457200" cy="45720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0789920" y="3703320"/>
            <a:ext cx="45720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200" b="1" i="0">
                <a:solidFill>
                  <a:srgbClr val="0B2A4A"/>
                </a:solidFill>
                <a:latin typeface="Calibri"/>
              </a:rPr>
              <a:t>4</a:t>
            </a:r>
          </a:p>
        </p:txBody>
      </p:sp>
      <p:sp>
        <p:nvSpPr>
          <p:cNvPr id="43" name="Oval 42"/>
          <p:cNvSpPr/>
          <p:nvPr/>
        </p:nvSpPr>
        <p:spPr>
          <a:xfrm>
            <a:off x="11292840" y="4343400"/>
            <a:ext cx="457200" cy="45720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1292840" y="4343400"/>
            <a:ext cx="45720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200" b="1" i="0">
                <a:solidFill>
                  <a:srgbClr val="0B2A4A"/>
                </a:solidFill>
                <a:latin typeface="Calibri"/>
              </a:rPr>
              <a:t>5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22960" y="5394960"/>
            <a:ext cx="10515600" cy="109728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005840" y="5486400"/>
            <a:ext cx="100584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1" i="0">
                <a:solidFill>
                  <a:srgbClr val="0B2A4A"/>
                </a:solidFill>
                <a:latin typeface="Calibri"/>
              </a:rPr>
              <a:t>What went wrong?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05840" y="5852160"/>
            <a:ext cx="1005840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 i="0">
                <a:solidFill>
                  <a:srgbClr val="333D4A"/>
                </a:solidFill>
                <a:latin typeface="Calibri"/>
              </a:rPr>
              <a:t>Inserting [1,2,3,4,5] into a plain BST yields a right-only chain. Search becomes O(N). Self-balancing trees (AVL, Red-Black, B-trees) restore O(log N) by re-shaping after insertions.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0"/>
            <a:ext cx="11871655" cy="73152"/>
          </a:xfrm>
          <a:prstGeom prst="rect">
            <a:avLst/>
          </a:prstGeom>
          <a:solidFill>
            <a:srgbClr val="E0A8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051560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1" i="0">
                <a:solidFill>
                  <a:srgbClr val="0B2A4A"/>
                </a:solidFill>
                <a:latin typeface="Calibri"/>
              </a:rPr>
              <a:t>13.  Complexity Reference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13232"/>
            <a:ext cx="105156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0" i="1">
                <a:solidFill>
                  <a:srgbClr val="127A8A"/>
                </a:solidFill>
                <a:latin typeface="Calibri"/>
              </a:rPr>
              <a:t>h = tree height. Balanced ⇒ h = log N. Degenerate ⇒ h = N.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115568"/>
            <a:ext cx="1828800" cy="36576"/>
          </a:xfrm>
          <a:prstGeom prst="rect">
            <a:avLst/>
          </a:prstGeom>
          <a:solidFill>
            <a:srgbClr val="E0A8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1">
                <a:solidFill>
                  <a:srgbClr val="333D4A"/>
                </a:solidFill>
                <a:latin typeface="Calibri"/>
              </a:rPr>
              <a:t>Data Structures &amp; Algorithms · Week 06 · Trees &amp; BSTs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46520"/>
            <a:ext cx="10972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333D4A"/>
                </a:solidFill>
                <a:latin typeface="Calibri"/>
              </a:rPr>
              <a:t>Slide 16 / 22</a:t>
            </a:r>
          </a:p>
        </p:txBody>
      </p:sp>
      <p:sp>
        <p:nvSpPr>
          <p:cNvPr id="9" name="Rectangle 8"/>
          <p:cNvSpPr/>
          <p:nvPr/>
        </p:nvSpPr>
        <p:spPr>
          <a:xfrm>
            <a:off x="1463040" y="1508760"/>
            <a:ext cx="4114800" cy="502920"/>
          </a:xfrm>
          <a:prstGeom prst="rect">
            <a:avLst/>
          </a:prstGeom>
          <a:solidFill>
            <a:srgbClr val="0B2A4A"/>
          </a:solidFill>
          <a:ln w="12700">
            <a:solidFill>
              <a:srgbClr val="C0C4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00200" y="1508760"/>
            <a:ext cx="393192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Operation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577840" y="1508760"/>
            <a:ext cx="2743200" cy="502920"/>
          </a:xfrm>
          <a:prstGeom prst="rect">
            <a:avLst/>
          </a:prstGeom>
          <a:solidFill>
            <a:srgbClr val="0B2A4A"/>
          </a:solidFill>
          <a:ln w="12700">
            <a:solidFill>
              <a:srgbClr val="C0C4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715000" y="1508760"/>
            <a:ext cx="256032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Avg / Balanced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321040" y="1508760"/>
            <a:ext cx="3200400" cy="502920"/>
          </a:xfrm>
          <a:prstGeom prst="rect">
            <a:avLst/>
          </a:prstGeom>
          <a:solidFill>
            <a:srgbClr val="0B2A4A"/>
          </a:solidFill>
          <a:ln w="12700">
            <a:solidFill>
              <a:srgbClr val="C0C4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58200" y="1508760"/>
            <a:ext cx="301752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Worst / Degenerate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463040" y="2011680"/>
            <a:ext cx="4114800" cy="502920"/>
          </a:xfrm>
          <a:prstGeom prst="rect">
            <a:avLst/>
          </a:prstGeom>
          <a:solidFill>
            <a:srgbClr val="F2F4F7"/>
          </a:solidFill>
          <a:ln w="12700">
            <a:solidFill>
              <a:srgbClr val="C0C4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600200" y="2011680"/>
            <a:ext cx="393192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400" b="1" i="0">
                <a:solidFill>
                  <a:srgbClr val="333D4A"/>
                </a:solidFill>
                <a:latin typeface="Calibri"/>
              </a:rPr>
              <a:t>Search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577840" y="2011680"/>
            <a:ext cx="2743200" cy="502920"/>
          </a:xfrm>
          <a:prstGeom prst="rect">
            <a:avLst/>
          </a:prstGeom>
          <a:solidFill>
            <a:srgbClr val="F2F4F7"/>
          </a:solidFill>
          <a:ln w="12700">
            <a:solidFill>
              <a:srgbClr val="C0C4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715000" y="2011680"/>
            <a:ext cx="256032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400" b="0" i="0">
                <a:solidFill>
                  <a:srgbClr val="333D4A"/>
                </a:solidFill>
                <a:latin typeface="Calibri"/>
              </a:rPr>
              <a:t>O(log N)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321040" y="2011680"/>
            <a:ext cx="3200400" cy="502920"/>
          </a:xfrm>
          <a:prstGeom prst="rect">
            <a:avLst/>
          </a:prstGeom>
          <a:solidFill>
            <a:srgbClr val="F2F4F7"/>
          </a:solidFill>
          <a:ln w="12700">
            <a:solidFill>
              <a:srgbClr val="C0C4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58200" y="2011680"/>
            <a:ext cx="301752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400" b="0" i="0">
                <a:solidFill>
                  <a:srgbClr val="333D4A"/>
                </a:solidFill>
                <a:latin typeface="Calibri"/>
              </a:rPr>
              <a:t>O(N)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463040" y="2514600"/>
            <a:ext cx="411480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C0C4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600200" y="2514600"/>
            <a:ext cx="393192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400" b="1" i="0">
                <a:solidFill>
                  <a:srgbClr val="333D4A"/>
                </a:solidFill>
                <a:latin typeface="Calibri"/>
              </a:rPr>
              <a:t>Insert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577840" y="2514600"/>
            <a:ext cx="274320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C0C4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715000" y="2514600"/>
            <a:ext cx="256032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400" b="0" i="0">
                <a:solidFill>
                  <a:srgbClr val="333D4A"/>
                </a:solidFill>
                <a:latin typeface="Calibri"/>
              </a:rPr>
              <a:t>O(log N)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321040" y="2514600"/>
            <a:ext cx="320040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C0C4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458200" y="2514600"/>
            <a:ext cx="301752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400" b="0" i="0">
                <a:solidFill>
                  <a:srgbClr val="333D4A"/>
                </a:solidFill>
                <a:latin typeface="Calibri"/>
              </a:rPr>
              <a:t>O(N)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463040" y="3017520"/>
            <a:ext cx="4114800" cy="502920"/>
          </a:xfrm>
          <a:prstGeom prst="rect">
            <a:avLst/>
          </a:prstGeom>
          <a:solidFill>
            <a:srgbClr val="F2F4F7"/>
          </a:solidFill>
          <a:ln w="12700">
            <a:solidFill>
              <a:srgbClr val="C0C4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600200" y="3017520"/>
            <a:ext cx="393192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400" b="1" i="0">
                <a:solidFill>
                  <a:srgbClr val="333D4A"/>
                </a:solidFill>
                <a:latin typeface="Calibri"/>
              </a:rPr>
              <a:t>Delete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577840" y="3017520"/>
            <a:ext cx="2743200" cy="502920"/>
          </a:xfrm>
          <a:prstGeom prst="rect">
            <a:avLst/>
          </a:prstGeom>
          <a:solidFill>
            <a:srgbClr val="F2F4F7"/>
          </a:solidFill>
          <a:ln w="12700">
            <a:solidFill>
              <a:srgbClr val="C0C4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715000" y="3017520"/>
            <a:ext cx="256032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400" b="0" i="0">
                <a:solidFill>
                  <a:srgbClr val="333D4A"/>
                </a:solidFill>
                <a:latin typeface="Calibri"/>
              </a:rPr>
              <a:t>O(log N)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321040" y="3017520"/>
            <a:ext cx="3200400" cy="502920"/>
          </a:xfrm>
          <a:prstGeom prst="rect">
            <a:avLst/>
          </a:prstGeom>
          <a:solidFill>
            <a:srgbClr val="F2F4F7"/>
          </a:solidFill>
          <a:ln w="12700">
            <a:solidFill>
              <a:srgbClr val="C0C4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458200" y="3017520"/>
            <a:ext cx="301752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400" b="0" i="0">
                <a:solidFill>
                  <a:srgbClr val="333D4A"/>
                </a:solidFill>
                <a:latin typeface="Calibri"/>
              </a:rPr>
              <a:t>O(N)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463040" y="3520440"/>
            <a:ext cx="411480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C0C4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600200" y="3520440"/>
            <a:ext cx="393192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400" b="1" i="0">
                <a:solidFill>
                  <a:srgbClr val="333D4A"/>
                </a:solidFill>
                <a:latin typeface="Calibri"/>
              </a:rPr>
              <a:t>Min / Max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577840" y="3520440"/>
            <a:ext cx="274320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C0C4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715000" y="3520440"/>
            <a:ext cx="256032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400" b="0" i="0">
                <a:solidFill>
                  <a:srgbClr val="333D4A"/>
                </a:solidFill>
                <a:latin typeface="Calibri"/>
              </a:rPr>
              <a:t>O(log N)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321040" y="3520440"/>
            <a:ext cx="320040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C0C4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458200" y="3520440"/>
            <a:ext cx="301752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400" b="0" i="0">
                <a:solidFill>
                  <a:srgbClr val="333D4A"/>
                </a:solidFill>
                <a:latin typeface="Calibri"/>
              </a:rPr>
              <a:t>O(N)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463040" y="4023360"/>
            <a:ext cx="4114800" cy="502920"/>
          </a:xfrm>
          <a:prstGeom prst="rect">
            <a:avLst/>
          </a:prstGeom>
          <a:solidFill>
            <a:srgbClr val="F2F4F7"/>
          </a:solidFill>
          <a:ln w="12700">
            <a:solidFill>
              <a:srgbClr val="C0C4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600200" y="4023360"/>
            <a:ext cx="393192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400" b="1" i="0">
                <a:solidFill>
                  <a:srgbClr val="333D4A"/>
                </a:solidFill>
                <a:latin typeface="Calibri"/>
              </a:rPr>
              <a:t>In-order walk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577840" y="4023360"/>
            <a:ext cx="2743200" cy="502920"/>
          </a:xfrm>
          <a:prstGeom prst="rect">
            <a:avLst/>
          </a:prstGeom>
          <a:solidFill>
            <a:srgbClr val="F2F4F7"/>
          </a:solidFill>
          <a:ln w="12700">
            <a:solidFill>
              <a:srgbClr val="C0C4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715000" y="4023360"/>
            <a:ext cx="256032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400" b="0" i="0">
                <a:solidFill>
                  <a:srgbClr val="333D4A"/>
                </a:solidFill>
                <a:latin typeface="Calibri"/>
              </a:rPr>
              <a:t>O(N)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321040" y="4023360"/>
            <a:ext cx="3200400" cy="502920"/>
          </a:xfrm>
          <a:prstGeom prst="rect">
            <a:avLst/>
          </a:prstGeom>
          <a:solidFill>
            <a:srgbClr val="F2F4F7"/>
          </a:solidFill>
          <a:ln w="12700">
            <a:solidFill>
              <a:srgbClr val="C0C4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458200" y="4023360"/>
            <a:ext cx="301752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400" b="0" i="0">
                <a:solidFill>
                  <a:srgbClr val="333D4A"/>
                </a:solidFill>
                <a:latin typeface="Calibri"/>
              </a:rPr>
              <a:t>O(N)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463040" y="4526280"/>
            <a:ext cx="411480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C0C4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600200" y="4526280"/>
            <a:ext cx="393192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400" b="1" i="0">
                <a:solidFill>
                  <a:srgbClr val="333D4A"/>
                </a:solidFill>
                <a:latin typeface="Calibri"/>
              </a:rPr>
              <a:t>Space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577840" y="4526280"/>
            <a:ext cx="274320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C0C4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715000" y="4526280"/>
            <a:ext cx="256032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400" b="0" i="0">
                <a:solidFill>
                  <a:srgbClr val="333D4A"/>
                </a:solidFill>
                <a:latin typeface="Calibri"/>
              </a:rPr>
              <a:t>O(N)</a:t>
            </a:r>
          </a:p>
        </p:txBody>
      </p:sp>
      <p:sp>
        <p:nvSpPr>
          <p:cNvPr id="49" name="Rectangle 48"/>
          <p:cNvSpPr/>
          <p:nvPr/>
        </p:nvSpPr>
        <p:spPr>
          <a:xfrm>
            <a:off x="8321040" y="4526280"/>
            <a:ext cx="320040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C0C4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458200" y="4526280"/>
            <a:ext cx="301752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400" b="0" i="0">
                <a:solidFill>
                  <a:srgbClr val="333D4A"/>
                </a:solidFill>
                <a:latin typeface="Calibri"/>
              </a:rPr>
              <a:t>O(N)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463040" y="5029200"/>
            <a:ext cx="4114800" cy="502920"/>
          </a:xfrm>
          <a:prstGeom prst="rect">
            <a:avLst/>
          </a:prstGeom>
          <a:solidFill>
            <a:srgbClr val="F2F4F7"/>
          </a:solidFill>
          <a:ln w="12700">
            <a:solidFill>
              <a:srgbClr val="C0C4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600200" y="5029200"/>
            <a:ext cx="393192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400" b="1" i="0">
                <a:solidFill>
                  <a:srgbClr val="333D4A"/>
                </a:solidFill>
                <a:latin typeface="Calibri"/>
              </a:rPr>
              <a:t>Recursion depth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577840" y="5029200"/>
            <a:ext cx="2743200" cy="502920"/>
          </a:xfrm>
          <a:prstGeom prst="rect">
            <a:avLst/>
          </a:prstGeom>
          <a:solidFill>
            <a:srgbClr val="F2F4F7"/>
          </a:solidFill>
          <a:ln w="12700">
            <a:solidFill>
              <a:srgbClr val="C0C4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5715000" y="5029200"/>
            <a:ext cx="256032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400" b="0" i="0">
                <a:solidFill>
                  <a:srgbClr val="333D4A"/>
                </a:solidFill>
                <a:latin typeface="Calibri"/>
              </a:rPr>
              <a:t>O(log N)</a:t>
            </a:r>
          </a:p>
        </p:txBody>
      </p:sp>
      <p:sp>
        <p:nvSpPr>
          <p:cNvPr id="55" name="Rectangle 54"/>
          <p:cNvSpPr/>
          <p:nvPr/>
        </p:nvSpPr>
        <p:spPr>
          <a:xfrm>
            <a:off x="8321040" y="5029200"/>
            <a:ext cx="3200400" cy="502920"/>
          </a:xfrm>
          <a:prstGeom prst="rect">
            <a:avLst/>
          </a:prstGeom>
          <a:solidFill>
            <a:srgbClr val="F2F4F7"/>
          </a:solidFill>
          <a:ln w="12700">
            <a:solidFill>
              <a:srgbClr val="C0C4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8458200" y="5029200"/>
            <a:ext cx="301752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400" b="0" i="0">
                <a:solidFill>
                  <a:srgbClr val="333D4A"/>
                </a:solidFill>
                <a:latin typeface="Calibri"/>
              </a:rPr>
              <a:t>O(N)  ← stack-overflow risk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22960" y="5760720"/>
            <a:ext cx="105156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0" i="1">
                <a:solidFill>
                  <a:srgbClr val="127A8A"/>
                </a:solidFill>
                <a:latin typeface="Calibri"/>
              </a:rPr>
              <a:t>Self-balancing trees (AVL, Red-Black) guarantee the average column even on adversarial input.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0"/>
            <a:ext cx="11871655" cy="73152"/>
          </a:xfrm>
          <a:prstGeom prst="rect">
            <a:avLst/>
          </a:prstGeom>
          <a:solidFill>
            <a:srgbClr val="E0A8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051560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1" i="0">
                <a:solidFill>
                  <a:srgbClr val="0B2A4A"/>
                </a:solidFill>
                <a:latin typeface="Calibri"/>
              </a:rPr>
              <a:t>14.  Common Pitfalls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13232"/>
            <a:ext cx="105156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0" i="1">
                <a:solidFill>
                  <a:srgbClr val="127A8A"/>
                </a:solidFill>
                <a:latin typeface="Calibri"/>
              </a:rPr>
              <a:t>Where students lose marks — and where production code breaks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115568"/>
            <a:ext cx="1828800" cy="36576"/>
          </a:xfrm>
          <a:prstGeom prst="rect">
            <a:avLst/>
          </a:prstGeom>
          <a:solidFill>
            <a:srgbClr val="E0A8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1">
                <a:solidFill>
                  <a:srgbClr val="333D4A"/>
                </a:solidFill>
                <a:latin typeface="Calibri"/>
              </a:rPr>
              <a:t>Data Structures &amp; Algorithms · Week 06 · Trees &amp; BSTs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46520"/>
            <a:ext cx="10972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333D4A"/>
                </a:solidFill>
                <a:latin typeface="Calibri"/>
              </a:rPr>
              <a:t>Slide 17 / 22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1371600"/>
            <a:ext cx="10972800" cy="502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500" b="1">
                <a:solidFill>
                  <a:srgbClr val="C0392B"/>
                </a:solidFill>
                <a:latin typeface="Calibri"/>
              </a:rPr>
              <a:t>▸  </a:t>
            </a:r>
            <a:r>
              <a:rPr sz="1500" b="1">
                <a:solidFill>
                  <a:srgbClr val="0B2A4A"/>
                </a:solidFill>
                <a:latin typeface="Calibri"/>
              </a:rPr>
              <a:t>Forgetting the empty tree.  </a:t>
            </a:r>
            <a:r>
              <a:rPr sz="1500">
                <a:solidFill>
                  <a:srgbClr val="333D4A"/>
                </a:solidFill>
                <a:latin typeface="Calibri"/>
              </a:rPr>
              <a:t>Calling root.val on None raises AttributeError; always guard root is None first.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500" b="1">
                <a:solidFill>
                  <a:srgbClr val="C0392B"/>
                </a:solidFill>
                <a:latin typeface="Calibri"/>
              </a:rPr>
              <a:t>▸  </a:t>
            </a:r>
            <a:r>
              <a:rPr sz="1500" b="1">
                <a:solidFill>
                  <a:srgbClr val="0B2A4A"/>
                </a:solidFill>
                <a:latin typeface="Calibri"/>
              </a:rPr>
              <a:t>Confusing the BST property.  </a:t>
            </a:r>
            <a:r>
              <a:rPr sz="1500">
                <a:solidFill>
                  <a:srgbClr val="333D4A"/>
                </a:solidFill>
                <a:latin typeface="Calibri"/>
              </a:rPr>
              <a:t>It applies recursively: every value in the left subtree, not just the immediate child.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500" b="1">
                <a:solidFill>
                  <a:srgbClr val="C0392B"/>
                </a:solidFill>
                <a:latin typeface="Calibri"/>
              </a:rPr>
              <a:t>▸  </a:t>
            </a:r>
            <a:r>
              <a:rPr sz="1500" b="1">
                <a:solidFill>
                  <a:srgbClr val="0B2A4A"/>
                </a:solidFill>
                <a:latin typeface="Calibri"/>
              </a:rPr>
              <a:t>Equal values inconsistency.  </a:t>
            </a:r>
            <a:r>
              <a:rPr sz="1500">
                <a:solidFill>
                  <a:srgbClr val="333D4A"/>
                </a:solidFill>
                <a:latin typeface="Calibri"/>
              </a:rPr>
              <a:t>Pick a side (left or right) for duplicates and apply it everywhere; document it.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500" b="1">
                <a:solidFill>
                  <a:srgbClr val="C0392B"/>
                </a:solidFill>
                <a:latin typeface="Calibri"/>
              </a:rPr>
              <a:t>▸  </a:t>
            </a:r>
            <a:r>
              <a:rPr sz="1500" b="1">
                <a:solidFill>
                  <a:srgbClr val="0B2A4A"/>
                </a:solidFill>
                <a:latin typeface="Calibri"/>
              </a:rPr>
              <a:t>Recursive depth on degenerate trees.  </a:t>
            </a:r>
            <a:r>
              <a:rPr sz="1500">
                <a:solidFill>
                  <a:srgbClr val="333D4A"/>
                </a:solidFill>
                <a:latin typeface="Calibri"/>
              </a:rPr>
              <a:t>A chain of 10⁴ nodes can blow Python's default 1000-frame stack. Prefer iteration.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500" b="1">
                <a:solidFill>
                  <a:srgbClr val="C0392B"/>
                </a:solidFill>
                <a:latin typeface="Calibri"/>
              </a:rPr>
              <a:t>▸  </a:t>
            </a:r>
            <a:r>
              <a:rPr sz="1500" b="1">
                <a:solidFill>
                  <a:srgbClr val="0B2A4A"/>
                </a:solidFill>
                <a:latin typeface="Calibri"/>
              </a:rPr>
              <a:t>Mutating during traversal.  </a:t>
            </a:r>
            <a:r>
              <a:rPr sz="1500">
                <a:solidFill>
                  <a:srgbClr val="333D4A"/>
                </a:solidFill>
                <a:latin typeface="Calibri"/>
              </a:rPr>
              <a:t>Inserting or deleting while walking the tree corrupts the iteration. Snapshot first.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500" b="1">
                <a:solidFill>
                  <a:srgbClr val="C0392B"/>
                </a:solidFill>
                <a:latin typeface="Calibri"/>
              </a:rPr>
              <a:t>▸  </a:t>
            </a:r>
            <a:r>
              <a:rPr sz="1500" b="1">
                <a:solidFill>
                  <a:srgbClr val="0B2A4A"/>
                </a:solidFill>
                <a:latin typeface="Calibri"/>
              </a:rPr>
              <a:t>Wrong traversal for the job.  </a:t>
            </a:r>
            <a:r>
              <a:rPr sz="1500">
                <a:solidFill>
                  <a:srgbClr val="333D4A"/>
                </a:solidFill>
                <a:latin typeface="Calibri"/>
              </a:rPr>
              <a:t>Use post-order to delete; in-order to print sorted; pre-order to copy structure.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0"/>
            <a:ext cx="11871655" cy="73152"/>
          </a:xfrm>
          <a:prstGeom prst="rect">
            <a:avLst/>
          </a:prstGeom>
          <a:solidFill>
            <a:srgbClr val="E0A8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051560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1" i="0">
                <a:solidFill>
                  <a:srgbClr val="0B2A4A"/>
                </a:solidFill>
                <a:latin typeface="Calibri"/>
              </a:rPr>
              <a:t>15.  Trees in the Real World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13232"/>
            <a:ext cx="105156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0" i="1">
                <a:solidFill>
                  <a:srgbClr val="127A8A"/>
                </a:solidFill>
                <a:latin typeface="Calibri"/>
              </a:rPr>
              <a:t>Where the structures from this lecture run in production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115568"/>
            <a:ext cx="1828800" cy="36576"/>
          </a:xfrm>
          <a:prstGeom prst="rect">
            <a:avLst/>
          </a:prstGeom>
          <a:solidFill>
            <a:srgbClr val="E0A8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1">
                <a:solidFill>
                  <a:srgbClr val="333D4A"/>
                </a:solidFill>
                <a:latin typeface="Calibri"/>
              </a:rPr>
              <a:t>Data Structures &amp; Algorithms · Week 06 · Trees &amp; BSTs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46520"/>
            <a:ext cx="10972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333D4A"/>
                </a:solidFill>
                <a:latin typeface="Calibri"/>
              </a:rPr>
              <a:t>Slide 18 / 22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1417320"/>
            <a:ext cx="3657600" cy="5029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417320"/>
            <a:ext cx="36576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Filesystems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1920240"/>
            <a:ext cx="3657600" cy="169164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2057400"/>
            <a:ext cx="3291840" cy="1554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0" i="0">
                <a:solidFill>
                  <a:srgbClr val="333D4A"/>
                </a:solidFill>
                <a:latin typeface="Calibri"/>
              </a:rPr>
              <a:t>Directories form a tree; ext4 and NTFS use B-trees for indexing.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89120" y="1417320"/>
            <a:ext cx="3657600" cy="502920"/>
          </a:xfrm>
          <a:prstGeom prst="rect">
            <a:avLst/>
          </a:prstGeom>
          <a:solidFill>
            <a:srgbClr val="127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89120" y="1417320"/>
            <a:ext cx="36576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Databases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89120" y="1920240"/>
            <a:ext cx="3657600" cy="169164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0" y="2057400"/>
            <a:ext cx="3291840" cy="1554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0" i="0">
                <a:solidFill>
                  <a:srgbClr val="333D4A"/>
                </a:solidFill>
                <a:latin typeface="Calibri"/>
              </a:rPr>
              <a:t>Indexes are B+ trees — every SQL WHERE you've ever written touches one.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0" y="1417320"/>
            <a:ext cx="3657600" cy="502920"/>
          </a:xfrm>
          <a:prstGeom prst="rect">
            <a:avLst/>
          </a:prstGeom>
          <a:solidFill>
            <a:srgbClr val="E0A8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0" y="1417320"/>
            <a:ext cx="36576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HTML / DOM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0" y="1920240"/>
            <a:ext cx="3657600" cy="169164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12480" y="2057400"/>
            <a:ext cx="3291840" cy="1554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0" i="0">
                <a:solidFill>
                  <a:srgbClr val="333D4A"/>
                </a:solidFill>
                <a:latin typeface="Calibri"/>
              </a:rPr>
              <a:t>Browsers parse pages into a tree the JS engine traverses to render.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3794760"/>
            <a:ext cx="3657600" cy="50292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3794760"/>
            <a:ext cx="36576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Compilers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4297680"/>
            <a:ext cx="3657600" cy="169164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1520" y="4434840"/>
            <a:ext cx="3291840" cy="1554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0" i="0">
                <a:solidFill>
                  <a:srgbClr val="333D4A"/>
                </a:solidFill>
                <a:latin typeface="Calibri"/>
              </a:rPr>
              <a:t>Source code becomes an Abstract Syntax Tree before optimisation and codegen.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389120" y="3794760"/>
            <a:ext cx="3657600" cy="50292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389120" y="3794760"/>
            <a:ext cx="36576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Game AI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389120" y="4297680"/>
            <a:ext cx="3657600" cy="169164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72000" y="4434840"/>
            <a:ext cx="3291840" cy="1554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0" i="0">
                <a:solidFill>
                  <a:srgbClr val="333D4A"/>
                </a:solidFill>
                <a:latin typeface="Calibri"/>
              </a:rPr>
              <a:t>Decision trees and Monte-Carlo Tree Search drive chess, Go, and modern game AI.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229600" y="3794760"/>
            <a:ext cx="3657600" cy="502920"/>
          </a:xfrm>
          <a:prstGeom prst="rect">
            <a:avLst/>
          </a:prstGeom>
          <a:solidFill>
            <a:srgbClr val="6A1B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29600" y="3794760"/>
            <a:ext cx="36576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Networking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229600" y="4297680"/>
            <a:ext cx="3657600" cy="169164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412480" y="4434840"/>
            <a:ext cx="3291840" cy="1554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0" i="0">
                <a:solidFill>
                  <a:srgbClr val="333D4A"/>
                </a:solidFill>
                <a:latin typeface="Calibri"/>
              </a:rPr>
              <a:t>IP routing tables use radix / trie trees for longest-prefix match.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0"/>
            <a:ext cx="11871655" cy="73152"/>
          </a:xfrm>
          <a:prstGeom prst="rect">
            <a:avLst/>
          </a:prstGeom>
          <a:solidFill>
            <a:srgbClr val="E0A8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051560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1" i="0">
                <a:solidFill>
                  <a:srgbClr val="0B2A4A"/>
                </a:solidFill>
                <a:latin typeface="Calibri"/>
              </a:rPr>
              <a:t>16.  Practical Lab — practice.py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13232"/>
            <a:ext cx="105156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0" i="1">
                <a:solidFill>
                  <a:srgbClr val="127A8A"/>
                </a:solidFill>
                <a:latin typeface="Calibri"/>
              </a:rPr>
              <a:t>Three exercises. Build, traverse, reason.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115568"/>
            <a:ext cx="1828800" cy="36576"/>
          </a:xfrm>
          <a:prstGeom prst="rect">
            <a:avLst/>
          </a:prstGeom>
          <a:solidFill>
            <a:srgbClr val="E0A8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1">
                <a:solidFill>
                  <a:srgbClr val="333D4A"/>
                </a:solidFill>
                <a:latin typeface="Calibri"/>
              </a:rPr>
              <a:t>Data Structures &amp; Algorithms · Week 06 · Trees &amp; BSTs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46520"/>
            <a:ext cx="10972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333D4A"/>
                </a:solidFill>
                <a:latin typeface="Calibri"/>
              </a:rPr>
              <a:t>Slide 19 / 22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1417320"/>
            <a:ext cx="10972800" cy="22860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800" b="1">
                <a:solidFill>
                  <a:srgbClr val="127A8A"/>
                </a:solidFill>
                <a:latin typeface="Calibri"/>
              </a:rPr>
              <a:t>▸  </a:t>
            </a:r>
            <a:r>
              <a:rPr sz="1800" b="1">
                <a:solidFill>
                  <a:srgbClr val="0B2A4A"/>
                </a:solidFill>
                <a:latin typeface="Calibri"/>
              </a:rPr>
              <a:t>Exercise 1.  </a:t>
            </a:r>
            <a:r>
              <a:rPr sz="1800">
                <a:solidFill>
                  <a:srgbClr val="333D4A"/>
                </a:solidFill>
                <a:latin typeface="Calibri"/>
              </a:rPr>
              <a:t>Implement BST.insert() iteratively, preserving the BST invariant.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800" b="1">
                <a:solidFill>
                  <a:srgbClr val="127A8A"/>
                </a:solidFill>
                <a:latin typeface="Calibri"/>
              </a:rPr>
              <a:t>▸  </a:t>
            </a:r>
            <a:r>
              <a:rPr sz="1800" b="1">
                <a:solidFill>
                  <a:srgbClr val="0B2A4A"/>
                </a:solidFill>
                <a:latin typeface="Calibri"/>
              </a:rPr>
              <a:t>Exercise 2.  </a:t>
            </a:r>
            <a:r>
              <a:rPr sz="1800">
                <a:solidFill>
                  <a:srgbClr val="333D4A"/>
                </a:solidFill>
                <a:latin typeface="Calibri"/>
              </a:rPr>
              <a:t>Implement inorder_traversal() and preorder_traversal() recursively.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800" b="1">
                <a:solidFill>
                  <a:srgbClr val="127A8A"/>
                </a:solidFill>
                <a:latin typeface="Calibri"/>
              </a:rPr>
              <a:t>▸  </a:t>
            </a:r>
            <a:r>
              <a:rPr sz="1800" b="1">
                <a:solidFill>
                  <a:srgbClr val="0B2A4A"/>
                </a:solidFill>
                <a:latin typeface="Calibri"/>
              </a:rPr>
              <a:t>Exercise 3.  </a:t>
            </a:r>
            <a:r>
              <a:rPr sz="1800">
                <a:solidFill>
                  <a:srgbClr val="333D4A"/>
                </a:solidFill>
                <a:latin typeface="Calibri"/>
              </a:rPr>
              <a:t>Implement lowest_common_ancestor(root, p, q) using the BST property in O(h).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840480"/>
            <a:ext cx="109728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00" b="1" i="0">
                <a:solidFill>
                  <a:srgbClr val="0B2A4A"/>
                </a:solidFill>
                <a:latin typeface="Calibri"/>
              </a:rPr>
              <a:t>Submission expectations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4251960"/>
            <a:ext cx="10972800" cy="22860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500" b="1">
                <a:solidFill>
                  <a:srgbClr val="E0A81F"/>
                </a:solidFill>
                <a:latin typeface="Calibri"/>
              </a:rPr>
              <a:t>▸  </a:t>
            </a:r>
            <a:r>
              <a:rPr sz="1500">
                <a:solidFill>
                  <a:srgbClr val="333D4A"/>
                </a:solidFill>
                <a:latin typeface="Calibri"/>
              </a:rPr>
              <a:t>Test the empty tree, single-node tree, and a degenerate (sorted-insert) tree.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500" b="1">
                <a:solidFill>
                  <a:srgbClr val="E0A81F"/>
                </a:solidFill>
                <a:latin typeface="Calibri"/>
              </a:rPr>
              <a:t>▸  </a:t>
            </a:r>
            <a:r>
              <a:rPr sz="1500">
                <a:solidFill>
                  <a:srgbClr val="333D4A"/>
                </a:solidFill>
                <a:latin typeface="Calibri"/>
              </a:rPr>
              <a:t>Verify that inorder_traversal returns a sorted list.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500" b="1">
                <a:solidFill>
                  <a:srgbClr val="E0A81F"/>
                </a:solidFill>
                <a:latin typeface="Calibri"/>
              </a:rPr>
              <a:t>▸  </a:t>
            </a:r>
            <a:r>
              <a:rPr sz="1500">
                <a:solidFill>
                  <a:srgbClr val="333D4A"/>
                </a:solidFill>
                <a:latin typeface="Calibri"/>
              </a:rPr>
              <a:t>Annotate each function with its time and space complexity.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500" b="1">
                <a:solidFill>
                  <a:srgbClr val="E0A81F"/>
                </a:solidFill>
                <a:latin typeface="Calibri"/>
              </a:rPr>
              <a:t>▸  </a:t>
            </a:r>
            <a:r>
              <a:rPr sz="1500">
                <a:solidFill>
                  <a:srgbClr val="333D4A"/>
                </a:solidFill>
                <a:latin typeface="Calibri"/>
              </a:rPr>
              <a:t>Avoid recursion deeper than necessary; prefer iteration where natural.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0"/>
            <a:ext cx="11871655" cy="73152"/>
          </a:xfrm>
          <a:prstGeom prst="rect">
            <a:avLst/>
          </a:prstGeom>
          <a:solidFill>
            <a:srgbClr val="E0A8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051560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1" i="0">
                <a:solidFill>
                  <a:srgbClr val="0B2A4A"/>
                </a:solidFill>
                <a:latin typeface="Calibri"/>
              </a:rPr>
              <a:t>17.  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13232"/>
            <a:ext cx="105156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0" i="1">
                <a:solidFill>
                  <a:srgbClr val="127A8A"/>
                </a:solidFill>
                <a:latin typeface="Calibri"/>
              </a:rPr>
              <a:t>Six sentences worth memorising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115568"/>
            <a:ext cx="1828800" cy="36576"/>
          </a:xfrm>
          <a:prstGeom prst="rect">
            <a:avLst/>
          </a:prstGeom>
          <a:solidFill>
            <a:srgbClr val="E0A8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1">
                <a:solidFill>
                  <a:srgbClr val="333D4A"/>
                </a:solidFill>
                <a:latin typeface="Calibri"/>
              </a:rPr>
              <a:t>Data Structures &amp; Algorithms · Week 06 · Trees &amp; BSTs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46520"/>
            <a:ext cx="10972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333D4A"/>
                </a:solidFill>
                <a:latin typeface="Calibri"/>
              </a:rPr>
              <a:t>Slide 20 / 22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1417320"/>
            <a:ext cx="10972800" cy="502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700" b="1">
                <a:solidFill>
                  <a:srgbClr val="E0A81F"/>
                </a:solidFill>
                <a:latin typeface="Calibri"/>
              </a:rPr>
              <a:t>▸  </a:t>
            </a:r>
            <a:r>
              <a:rPr sz="1700">
                <a:solidFill>
                  <a:srgbClr val="333D4A"/>
                </a:solidFill>
                <a:latin typeface="Calibri"/>
              </a:rPr>
              <a:t>A tree is a hierarchy of nodes connected by edges; one root, no cycles.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700" b="1">
                <a:solidFill>
                  <a:srgbClr val="E0A81F"/>
                </a:solidFill>
                <a:latin typeface="Calibri"/>
              </a:rPr>
              <a:t>▸  </a:t>
            </a:r>
            <a:r>
              <a:rPr sz="1700">
                <a:solidFill>
                  <a:srgbClr val="333D4A"/>
                </a:solidFill>
                <a:latin typeface="Calibri"/>
              </a:rPr>
              <a:t>A binary tree has at most two children per node — left and right.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700" b="1">
                <a:solidFill>
                  <a:srgbClr val="E0A81F"/>
                </a:solidFill>
                <a:latin typeface="Calibri"/>
              </a:rPr>
              <a:t>▸  </a:t>
            </a:r>
            <a:r>
              <a:rPr sz="1700">
                <a:solidFill>
                  <a:srgbClr val="333D4A"/>
                </a:solidFill>
                <a:latin typeface="Calibri"/>
              </a:rPr>
              <a:t>A BST imposes left &lt; parent &lt; right recursively, enabling O(log N) search on balanced inputs.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700" b="1">
                <a:solidFill>
                  <a:srgbClr val="E0A81F"/>
                </a:solidFill>
                <a:latin typeface="Calibri"/>
              </a:rPr>
              <a:t>▸  </a:t>
            </a:r>
            <a:r>
              <a:rPr sz="1700">
                <a:solidFill>
                  <a:srgbClr val="333D4A"/>
                </a:solidFill>
                <a:latin typeface="Calibri"/>
              </a:rPr>
              <a:t>Pre-order, In-order, and Post-order are DFS traversals distinguished by where the node visit happens relative to the recursive calls.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700" b="1">
                <a:solidFill>
                  <a:srgbClr val="E0A81F"/>
                </a:solidFill>
                <a:latin typeface="Calibri"/>
              </a:rPr>
              <a:t>▸  </a:t>
            </a:r>
            <a:r>
              <a:rPr sz="1700">
                <a:solidFill>
                  <a:srgbClr val="333D4A"/>
                </a:solidFill>
                <a:latin typeface="Calibri"/>
              </a:rPr>
              <a:t>Level-order is BFS over a queue — used for tier-by-tier algorithms.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700" b="1">
                <a:solidFill>
                  <a:srgbClr val="E0A81F"/>
                </a:solidFill>
                <a:latin typeface="Calibri"/>
              </a:rPr>
              <a:t>▸  </a:t>
            </a:r>
            <a:r>
              <a:rPr sz="1700">
                <a:solidFill>
                  <a:srgbClr val="333D4A"/>
                </a:solidFill>
                <a:latin typeface="Calibri"/>
              </a:rPr>
              <a:t>Insertion order matters: a sorted insert produces a degenerate tree; balancing trees fix this.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0"/>
            <a:ext cx="11871655" cy="73152"/>
          </a:xfrm>
          <a:prstGeom prst="rect">
            <a:avLst/>
          </a:prstGeom>
          <a:solidFill>
            <a:srgbClr val="E0A8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051560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1" i="0">
                <a:solidFill>
                  <a:srgbClr val="0B2A4A"/>
                </a:solidFill>
                <a:latin typeface="Calibri"/>
              </a:rPr>
              <a:t>18.  Further Reading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13232"/>
            <a:ext cx="105156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500" b="0" i="1">
                <a:solidFill>
                  <a:srgbClr val="127A8A"/>
                </a:solidFill>
                <a:latin typeface="Calibri"/>
              </a:rPr>
              <a:t>Trusted sources for deeper study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115568"/>
            <a:ext cx="1828800" cy="36576"/>
          </a:xfrm>
          <a:prstGeom prst="rect">
            <a:avLst/>
          </a:prstGeom>
          <a:solidFill>
            <a:srgbClr val="E0A8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1">
                <a:solidFill>
                  <a:srgbClr val="333D4A"/>
                </a:solidFill>
                <a:latin typeface="Calibri"/>
              </a:rPr>
              <a:t>Data Structures &amp; Algorithms · Week 06 · Trees &amp; BSTs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46520"/>
            <a:ext cx="10972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00" b="0" i="0">
                <a:solidFill>
                  <a:srgbClr val="333D4A"/>
                </a:solidFill>
                <a:latin typeface="Calibri"/>
              </a:rPr>
              <a:t>Slide 21 / 22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1417320"/>
            <a:ext cx="10972800" cy="502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600" b="1">
                <a:solidFill>
                  <a:srgbClr val="127A8A"/>
                </a:solidFill>
                <a:latin typeface="Calibri"/>
              </a:rPr>
              <a:t>▸  </a:t>
            </a:r>
            <a:r>
              <a:rPr sz="1600" b="1">
                <a:solidFill>
                  <a:srgbClr val="0B2A4A"/>
                </a:solidFill>
                <a:latin typeface="Calibri"/>
              </a:rPr>
              <a:t>CLRS — Introduction to Algorithms (4th ed.).  </a:t>
            </a:r>
            <a:r>
              <a:rPr sz="1600">
                <a:solidFill>
                  <a:srgbClr val="333D4A"/>
                </a:solidFill>
                <a:latin typeface="Calibri"/>
              </a:rPr>
              <a:t>Cormen, Leiserson, Rivest, Stein. Chapter 12 — Binary Search Trees.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600" b="1">
                <a:solidFill>
                  <a:srgbClr val="127A8A"/>
                </a:solidFill>
                <a:latin typeface="Calibri"/>
              </a:rPr>
              <a:t>▸  </a:t>
            </a:r>
            <a:r>
              <a:rPr sz="1600" b="1">
                <a:solidFill>
                  <a:srgbClr val="0B2A4A"/>
                </a:solidFill>
                <a:latin typeface="Calibri"/>
              </a:rPr>
              <a:t>The Art of Computer Programming, Vol. 3.  </a:t>
            </a:r>
            <a:r>
              <a:rPr sz="1600">
                <a:solidFill>
                  <a:srgbClr val="333D4A"/>
                </a:solidFill>
                <a:latin typeface="Calibri"/>
              </a:rPr>
              <a:t>Donald E. Knuth. Section 6.2 — Searching by Tree Insertion.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600" b="1">
                <a:solidFill>
                  <a:srgbClr val="127A8A"/>
                </a:solidFill>
                <a:latin typeface="Calibri"/>
              </a:rPr>
              <a:t>▸  </a:t>
            </a:r>
            <a:r>
              <a:rPr sz="1600" b="1">
                <a:solidFill>
                  <a:srgbClr val="0B2A4A"/>
                </a:solidFill>
                <a:latin typeface="Calibri"/>
              </a:rPr>
              <a:t>Algorithms (4th ed.).  </a:t>
            </a:r>
            <a:r>
              <a:rPr sz="1600">
                <a:solidFill>
                  <a:srgbClr val="333D4A"/>
                </a:solidFill>
                <a:latin typeface="Calibri"/>
              </a:rPr>
              <a:t>Sedgewick &amp; Wayne. Princeton University. Chapter 3.2 — BSTs.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600" b="1">
                <a:solidFill>
                  <a:srgbClr val="127A8A"/>
                </a:solidFill>
                <a:latin typeface="Calibri"/>
              </a:rPr>
              <a:t>▸  </a:t>
            </a:r>
            <a:r>
              <a:rPr sz="1600" b="1">
                <a:solidFill>
                  <a:srgbClr val="0B2A4A"/>
                </a:solidFill>
                <a:latin typeface="Calibri"/>
              </a:rPr>
              <a:t>Adelson-Velsky &amp; Landis (1962).  </a:t>
            </a:r>
            <a:r>
              <a:rPr sz="1600">
                <a:solidFill>
                  <a:srgbClr val="333D4A"/>
                </a:solidFill>
                <a:latin typeface="Calibri"/>
              </a:rPr>
              <a:t>An algorithm for the organization of information. Origin of AVL trees.</a:t>
            </a:r>
          </a:p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600" b="1">
                <a:solidFill>
                  <a:srgbClr val="127A8A"/>
                </a:solidFill>
                <a:latin typeface="Calibri"/>
              </a:rPr>
              <a:t>▸  </a:t>
            </a:r>
            <a:r>
              <a:rPr sz="1600" b="1">
                <a:solidFill>
                  <a:srgbClr val="0B2A4A"/>
                </a:solidFill>
                <a:latin typeface="Calibri"/>
              </a:rPr>
              <a:t>LeetCode practice set.  </a:t>
            </a:r>
            <a:r>
              <a:rPr sz="1600">
                <a:solidFill>
                  <a:srgbClr val="333D4A"/>
                </a:solidFill>
                <a:latin typeface="Calibri"/>
              </a:rPr>
              <a:t>94 (Inorder), 144 (Preorder), 102 (Level-order), 235 (LCA-BST), 98 (Validate BST).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029200"/>
            <a:ext cx="12191695" cy="109728"/>
          </a:xfrm>
          <a:prstGeom prst="rect">
            <a:avLst/>
          </a:prstGeom>
          <a:solidFill>
            <a:srgbClr val="E0A8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194560"/>
            <a:ext cx="10515600" cy="1371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8000" b="1" i="0">
                <a:solidFill>
                  <a:srgbClr val="FFFFFF"/>
                </a:solidFill>
                <a:latin typeface="Calibri"/>
              </a:rPr>
              <a:t>Questions?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383280"/>
            <a:ext cx="1051560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00" b="0" i="1">
                <a:solidFill>
                  <a:srgbClr val="E0A81F"/>
                </a:solidFill>
                <a:latin typeface="Calibri"/>
              </a:rPr>
              <a:t>Bring your traces, your edge cases, and your degenerate trees.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669280"/>
            <a:ext cx="105156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F2F4F7"/>
                </a:solidFill>
                <a:latin typeface="Calibri"/>
              </a:rPr>
              <a:t>Next week  ·  Heaps &amp; Priority Queues — the BST's specialised cousin.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126480"/>
            <a:ext cx="105156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F2F4F7"/>
                </a:solidFill>
                <a:latin typeface="Calibri"/>
              </a:rPr>
              <a:t>Data Structures &amp; Algorithms  ·  Week 06  ·  Trees &amp; BSTs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