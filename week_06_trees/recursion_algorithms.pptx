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91695" cy="109728"/>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212080"/>
            <a:ext cx="12191695"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914400"/>
            <a:ext cx="3108960" cy="502920"/>
          </a:xfrm>
          <a:prstGeom prst="round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14400"/>
            <a:ext cx="3108960" cy="502920"/>
          </a:xfrm>
          <a:prstGeom prst="rect">
            <a:avLst/>
          </a:prstGeom>
          <a:noFill/>
        </p:spPr>
        <p:txBody>
          <a:bodyPr wrap="square" lIns="45720" rIns="45720" tIns="18288" bIns="18288" anchor="ctr">
            <a:spAutoFit/>
          </a:bodyPr>
          <a:lstStyle/>
          <a:p>
            <a:pPr algn="ctr"/>
            <a:r>
              <a:rPr sz="1800" b="1" i="0">
                <a:solidFill>
                  <a:srgbClr val="0B2A4A"/>
                </a:solidFill>
                <a:latin typeface="Calibri"/>
              </a:rPr>
              <a:t>PRE-REQUISITE</a:t>
            </a:r>
          </a:p>
        </p:txBody>
      </p:sp>
      <p:sp>
        <p:nvSpPr>
          <p:cNvPr id="7" name="TextBox 6"/>
          <p:cNvSpPr txBox="1"/>
          <p:nvPr/>
        </p:nvSpPr>
        <p:spPr>
          <a:xfrm>
            <a:off x="822960" y="1691640"/>
            <a:ext cx="10515600" cy="1280160"/>
          </a:xfrm>
          <a:prstGeom prst="rect">
            <a:avLst/>
          </a:prstGeom>
          <a:noFill/>
        </p:spPr>
        <p:txBody>
          <a:bodyPr wrap="square" lIns="45720" rIns="45720" tIns="18288" bIns="18288" anchor="t">
            <a:spAutoFit/>
          </a:bodyPr>
          <a:lstStyle/>
          <a:p>
            <a:pPr algn="l"/>
            <a:r>
              <a:rPr sz="5800" b="1" i="0">
                <a:solidFill>
                  <a:srgbClr val="FFFFFF"/>
                </a:solidFill>
                <a:latin typeface="Calibri"/>
              </a:rPr>
              <a:t>Recursive Algorithms</a:t>
            </a:r>
          </a:p>
        </p:txBody>
      </p:sp>
      <p:sp>
        <p:nvSpPr>
          <p:cNvPr id="8" name="TextBox 7"/>
          <p:cNvSpPr txBox="1"/>
          <p:nvPr/>
        </p:nvSpPr>
        <p:spPr>
          <a:xfrm>
            <a:off x="822960" y="2880360"/>
            <a:ext cx="10515600" cy="640080"/>
          </a:xfrm>
          <a:prstGeom prst="rect">
            <a:avLst/>
          </a:prstGeom>
          <a:noFill/>
        </p:spPr>
        <p:txBody>
          <a:bodyPr wrap="square" lIns="45720" rIns="45720" tIns="18288" bIns="18288" anchor="t">
            <a:spAutoFit/>
          </a:bodyPr>
          <a:lstStyle/>
          <a:p>
            <a:pPr algn="l"/>
            <a:r>
              <a:rPr sz="2400" b="0" i="1">
                <a:solidFill>
                  <a:srgbClr val="E0A81F"/>
                </a:solidFill>
                <a:latin typeface="Calibri"/>
              </a:rPr>
              <a:t>The Foundation for Tree Traversals and Divide &amp; Conquer</a:t>
            </a:r>
          </a:p>
        </p:txBody>
      </p:sp>
      <p:sp>
        <p:nvSpPr>
          <p:cNvPr id="9" name="TextBox 8"/>
          <p:cNvSpPr txBox="1"/>
          <p:nvPr/>
        </p:nvSpPr>
        <p:spPr>
          <a:xfrm>
            <a:off x="822960" y="3749039"/>
            <a:ext cx="10515600" cy="548640"/>
          </a:xfrm>
          <a:prstGeom prst="rect">
            <a:avLst/>
          </a:prstGeom>
          <a:noFill/>
        </p:spPr>
        <p:txBody>
          <a:bodyPr wrap="square" lIns="45720" rIns="45720" tIns="18288" bIns="18288" anchor="t">
            <a:spAutoFit/>
          </a:bodyPr>
          <a:lstStyle/>
          <a:p>
            <a:pPr algn="l"/>
            <a:r>
              <a:rPr sz="1800" b="0" i="0">
                <a:solidFill>
                  <a:srgbClr val="F2F4F7"/>
                </a:solidFill>
                <a:latin typeface="Calibri"/>
              </a:rPr>
              <a:t>A University-Grade Lecture in Data Structures &amp; Algorithms</a:t>
            </a:r>
          </a:p>
        </p:txBody>
      </p:sp>
      <p:sp>
        <p:nvSpPr>
          <p:cNvPr id="10" name="TextBox 9"/>
          <p:cNvSpPr txBox="1"/>
          <p:nvPr/>
        </p:nvSpPr>
        <p:spPr>
          <a:xfrm>
            <a:off x="822960" y="5486400"/>
            <a:ext cx="7315200" cy="365760"/>
          </a:xfrm>
          <a:prstGeom prst="rect">
            <a:avLst/>
          </a:prstGeom>
          <a:noFill/>
        </p:spPr>
        <p:txBody>
          <a:bodyPr wrap="square" lIns="45720" rIns="45720" tIns="18288" bIns="18288" anchor="t">
            <a:spAutoFit/>
          </a:bodyPr>
          <a:lstStyle/>
          <a:p>
            <a:pPr algn="l"/>
            <a:r>
              <a:rPr sz="1400" b="0" i="0">
                <a:solidFill>
                  <a:srgbClr val="FFFFFF"/>
                </a:solidFill>
                <a:latin typeface="Calibri"/>
              </a:rPr>
              <a:t>Course   ·   CSC: Data Structures &amp; Algorithms</a:t>
            </a:r>
          </a:p>
        </p:txBody>
      </p:sp>
      <p:sp>
        <p:nvSpPr>
          <p:cNvPr id="11" name="TextBox 10"/>
          <p:cNvSpPr txBox="1"/>
          <p:nvPr/>
        </p:nvSpPr>
        <p:spPr>
          <a:xfrm>
            <a:off x="822960" y="5852160"/>
            <a:ext cx="7315200" cy="365760"/>
          </a:xfrm>
          <a:prstGeom prst="rect">
            <a:avLst/>
          </a:prstGeom>
          <a:noFill/>
        </p:spPr>
        <p:txBody>
          <a:bodyPr wrap="square" lIns="45720" rIns="45720" tIns="18288" bIns="18288" anchor="t">
            <a:spAutoFit/>
          </a:bodyPr>
          <a:lstStyle/>
          <a:p>
            <a:pPr algn="l"/>
            <a:r>
              <a:rPr sz="1400" b="0" i="0">
                <a:solidFill>
                  <a:srgbClr val="FFFFFF"/>
                </a:solidFill>
                <a:latin typeface="Calibri"/>
              </a:rPr>
              <a:t>Prerequisite for Trees &amp; Divide/Conquer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Lecture Outline</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Understanding functions that call themselves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 / 9</a:t>
            </a:r>
          </a:p>
        </p:txBody>
      </p:sp>
      <p:sp>
        <p:nvSpPr>
          <p:cNvPr id="9" name="TextBox 8"/>
          <p:cNvSpPr txBox="1"/>
          <p:nvPr/>
        </p:nvSpPr>
        <p:spPr>
          <a:xfrm>
            <a:off x="822960" y="1371600"/>
            <a:ext cx="10972800" cy="5029200"/>
          </a:xfrm>
          <a:prstGeom prst="rect">
            <a:avLst/>
          </a:prstGeom>
          <a:noFill/>
        </p:spPr>
        <p:txBody>
          <a:bodyPr wrap="square" lIns="45720" rIns="45720">
            <a:spAutoFit/>
          </a:bodyPr>
          <a:lstStyle/>
          <a:p>
            <a:pPr algn="l">
              <a:lnSpc>
                <a:spcPct val="132000"/>
              </a:lnSpc>
              <a:spcAft>
                <a:spcPts val="400"/>
              </a:spcAft>
            </a:pPr>
            <a:r>
              <a:rPr sz="1800" b="1">
                <a:solidFill>
                  <a:srgbClr val="127A8A"/>
                </a:solidFill>
                <a:latin typeface="Calibri"/>
              </a:rPr>
              <a:t>▸  </a:t>
            </a:r>
            <a:r>
              <a:rPr sz="1800" b="1">
                <a:solidFill>
                  <a:srgbClr val="0B2A4A"/>
                </a:solidFill>
                <a:latin typeface="Calibri"/>
              </a:rPr>
              <a:t>1. What is Recursion?  </a:t>
            </a:r>
            <a:r>
              <a:rPr sz="1800">
                <a:solidFill>
                  <a:srgbClr val="333D4A"/>
                </a:solidFill>
                <a:latin typeface="Calibri"/>
              </a:rPr>
              <a:t>Definition and real-world intuition.</a:t>
            </a:r>
          </a:p>
          <a:p>
            <a:pPr algn="l">
              <a:lnSpc>
                <a:spcPct val="132000"/>
              </a:lnSpc>
              <a:spcAft>
                <a:spcPts val="400"/>
              </a:spcAft>
            </a:pPr>
            <a:r>
              <a:rPr sz="1800" b="1">
                <a:solidFill>
                  <a:srgbClr val="127A8A"/>
                </a:solidFill>
                <a:latin typeface="Calibri"/>
              </a:rPr>
              <a:t>▸  </a:t>
            </a:r>
            <a:r>
              <a:rPr sz="1800" b="1">
                <a:solidFill>
                  <a:srgbClr val="0B2A4A"/>
                </a:solidFill>
                <a:latin typeface="Calibri"/>
              </a:rPr>
              <a:t>2. The Two Rules.  </a:t>
            </a:r>
            <a:r>
              <a:rPr sz="1800">
                <a:solidFill>
                  <a:srgbClr val="333D4A"/>
                </a:solidFill>
                <a:latin typeface="Calibri"/>
              </a:rPr>
              <a:t>Base Case and Recursive Step.</a:t>
            </a:r>
          </a:p>
          <a:p>
            <a:pPr algn="l">
              <a:lnSpc>
                <a:spcPct val="132000"/>
              </a:lnSpc>
              <a:spcAft>
                <a:spcPts val="400"/>
              </a:spcAft>
            </a:pPr>
            <a:r>
              <a:rPr sz="1800" b="1">
                <a:solidFill>
                  <a:srgbClr val="127A8A"/>
                </a:solidFill>
                <a:latin typeface="Calibri"/>
              </a:rPr>
              <a:t>▸  </a:t>
            </a:r>
            <a:r>
              <a:rPr sz="1800" b="1">
                <a:solidFill>
                  <a:srgbClr val="0B2A4A"/>
                </a:solidFill>
                <a:latin typeface="Calibri"/>
              </a:rPr>
              <a:t>3. The Call Stack.  </a:t>
            </a:r>
            <a:r>
              <a:rPr sz="1800">
                <a:solidFill>
                  <a:srgbClr val="333D4A"/>
                </a:solidFill>
                <a:latin typeface="Calibri"/>
              </a:rPr>
              <a:t>How the computer keeps track of deferred operations.</a:t>
            </a:r>
          </a:p>
          <a:p>
            <a:pPr algn="l">
              <a:lnSpc>
                <a:spcPct val="132000"/>
              </a:lnSpc>
              <a:spcAft>
                <a:spcPts val="400"/>
              </a:spcAft>
            </a:pPr>
            <a:r>
              <a:rPr sz="1800" b="1">
                <a:solidFill>
                  <a:srgbClr val="127A8A"/>
                </a:solidFill>
                <a:latin typeface="Calibri"/>
              </a:rPr>
              <a:t>▸  </a:t>
            </a:r>
            <a:r>
              <a:rPr sz="1800" b="1">
                <a:solidFill>
                  <a:srgbClr val="0B2A4A"/>
                </a:solidFill>
                <a:latin typeface="Calibri"/>
              </a:rPr>
              <a:t>4. Example: Factorial.  </a:t>
            </a:r>
            <a:r>
              <a:rPr sz="1800">
                <a:solidFill>
                  <a:srgbClr val="333D4A"/>
                </a:solidFill>
                <a:latin typeface="Calibri"/>
              </a:rPr>
              <a:t>A classic math example broken down line-by-line.</a:t>
            </a:r>
          </a:p>
          <a:p>
            <a:pPr algn="l">
              <a:lnSpc>
                <a:spcPct val="132000"/>
              </a:lnSpc>
              <a:spcAft>
                <a:spcPts val="400"/>
              </a:spcAft>
            </a:pPr>
            <a:r>
              <a:rPr sz="1800" b="1">
                <a:solidFill>
                  <a:srgbClr val="127A8A"/>
                </a:solidFill>
                <a:latin typeface="Calibri"/>
              </a:rPr>
              <a:t>▸  </a:t>
            </a:r>
            <a:r>
              <a:rPr sz="1800" b="1">
                <a:solidFill>
                  <a:srgbClr val="0B2A4A"/>
                </a:solidFill>
                <a:latin typeface="Calibri"/>
              </a:rPr>
              <a:t>5. Example: Fibonacci.  </a:t>
            </a:r>
            <a:r>
              <a:rPr sz="1800">
                <a:solidFill>
                  <a:srgbClr val="333D4A"/>
                </a:solidFill>
                <a:latin typeface="Calibri"/>
              </a:rPr>
              <a:t>Branching recursion and why overlapping subproblems matter.</a:t>
            </a:r>
          </a:p>
          <a:p>
            <a:pPr algn="l">
              <a:lnSpc>
                <a:spcPct val="132000"/>
              </a:lnSpc>
              <a:spcAft>
                <a:spcPts val="400"/>
              </a:spcAft>
            </a:pPr>
            <a:r>
              <a:rPr sz="1800" b="1">
                <a:solidFill>
                  <a:srgbClr val="127A8A"/>
                </a:solidFill>
                <a:latin typeface="Calibri"/>
              </a:rPr>
              <a:t>▸  </a:t>
            </a:r>
            <a:r>
              <a:rPr sz="1800" b="1">
                <a:solidFill>
                  <a:srgbClr val="0B2A4A"/>
                </a:solidFill>
                <a:latin typeface="Calibri"/>
              </a:rPr>
              <a:t>6. Recursion vs Iteration.  </a:t>
            </a:r>
            <a:r>
              <a:rPr sz="1800">
                <a:solidFill>
                  <a:srgbClr val="333D4A"/>
                </a:solidFill>
                <a:latin typeface="Calibri"/>
              </a:rPr>
              <a:t>When to use which: memory overhead vs elegance.</a:t>
            </a:r>
          </a:p>
          <a:p>
            <a:pPr algn="l">
              <a:lnSpc>
                <a:spcPct val="132000"/>
              </a:lnSpc>
              <a:spcAft>
                <a:spcPts val="400"/>
              </a:spcAft>
            </a:pPr>
            <a:r>
              <a:rPr sz="1800" b="1">
                <a:solidFill>
                  <a:srgbClr val="127A8A"/>
                </a:solidFill>
                <a:latin typeface="Calibri"/>
              </a:rPr>
              <a:t>▸  </a:t>
            </a:r>
            <a:r>
              <a:rPr sz="1800" b="1">
                <a:solidFill>
                  <a:srgbClr val="0B2A4A"/>
                </a:solidFill>
                <a:latin typeface="Calibri"/>
              </a:rPr>
              <a:t>7. Why Recursion for Trees?  </a:t>
            </a:r>
            <a:r>
              <a:rPr sz="1800">
                <a:solidFill>
                  <a:srgbClr val="333D4A"/>
                </a:solidFill>
                <a:latin typeface="Calibri"/>
              </a:rPr>
              <a:t>How hierarchical data structures naturally demand recursive logic.</a:t>
            </a:r>
          </a:p>
          <a:p>
            <a:pPr algn="l">
              <a:lnSpc>
                <a:spcPct val="132000"/>
              </a:lnSpc>
              <a:spcAft>
                <a:spcPts val="400"/>
              </a:spcAft>
            </a:pPr>
            <a:r>
              <a:rPr sz="1800" b="1">
                <a:solidFill>
                  <a:srgbClr val="127A8A"/>
                </a:solidFill>
                <a:latin typeface="Calibri"/>
              </a:rPr>
              <a:t>▸  </a:t>
            </a:r>
            <a:r>
              <a:rPr sz="1800" b="1">
                <a:solidFill>
                  <a:srgbClr val="0B2A4A"/>
                </a:solidFill>
                <a:latin typeface="Calibri"/>
              </a:rPr>
              <a:t>8. Common Pitfalls.  </a:t>
            </a:r>
            <a:r>
              <a:rPr sz="1800">
                <a:solidFill>
                  <a:srgbClr val="333D4A"/>
                </a:solidFill>
                <a:latin typeface="Calibri"/>
              </a:rPr>
              <a:t>Stack Overflow and missing base cases.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1. What is Recursion?</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Solving a problem by solving smaller instances of the same problem</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2 / 9</a:t>
            </a:r>
          </a:p>
        </p:txBody>
      </p:sp>
      <p:sp>
        <p:nvSpPr>
          <p:cNvPr id="9" name="TextBox 8"/>
          <p:cNvSpPr txBox="1"/>
          <p:nvPr/>
        </p:nvSpPr>
        <p:spPr>
          <a:xfrm>
            <a:off x="822960" y="1371600"/>
            <a:ext cx="5486400" cy="457200"/>
          </a:xfrm>
          <a:prstGeom prst="rect">
            <a:avLst/>
          </a:prstGeom>
          <a:noFill/>
        </p:spPr>
        <p:txBody>
          <a:bodyPr wrap="square" lIns="45720" rIns="45720" tIns="18288" bIns="18288" anchor="t">
            <a:spAutoFit/>
          </a:bodyPr>
          <a:lstStyle/>
          <a:p>
            <a:pPr algn="l"/>
            <a:r>
              <a:rPr sz="2000" b="1" i="0">
                <a:solidFill>
                  <a:srgbClr val="0B2A4A"/>
                </a:solidFill>
                <a:latin typeface="Calibri"/>
              </a:rPr>
              <a:t>Definition</a:t>
            </a:r>
          </a:p>
        </p:txBody>
      </p:sp>
      <p:sp>
        <p:nvSpPr>
          <p:cNvPr id="10" name="TextBox 9"/>
          <p:cNvSpPr txBox="1"/>
          <p:nvPr/>
        </p:nvSpPr>
        <p:spPr>
          <a:xfrm>
            <a:off x="822960" y="1874519"/>
            <a:ext cx="5486400" cy="1371600"/>
          </a:xfrm>
          <a:prstGeom prst="rect">
            <a:avLst/>
          </a:prstGeom>
          <a:noFill/>
        </p:spPr>
        <p:txBody>
          <a:bodyPr wrap="square" lIns="45720" rIns="45720" tIns="18288" bIns="18288" anchor="t">
            <a:spAutoFit/>
          </a:bodyPr>
          <a:lstStyle/>
          <a:p>
            <a:pPr algn="l"/>
            <a:r>
              <a:rPr sz="1500" b="0" i="0">
                <a:solidFill>
                  <a:srgbClr val="333D4A"/>
                </a:solidFill>
                <a:latin typeface="Calibri"/>
              </a:rPr>
              <a:t>In computer science, recursion occurs when a function calls itself directly or indirectly. It allows us to break down complex problems into smaller, manageable subproblems of the exact same structure.</a:t>
            </a:r>
          </a:p>
        </p:txBody>
      </p:sp>
      <p:sp>
        <p:nvSpPr>
          <p:cNvPr id="11" name="TextBox 10"/>
          <p:cNvSpPr txBox="1"/>
          <p:nvPr/>
        </p:nvSpPr>
        <p:spPr>
          <a:xfrm>
            <a:off x="822960" y="3474720"/>
            <a:ext cx="5486400" cy="457200"/>
          </a:xfrm>
          <a:prstGeom prst="rect">
            <a:avLst/>
          </a:prstGeom>
          <a:noFill/>
        </p:spPr>
        <p:txBody>
          <a:bodyPr wrap="square" lIns="45720" rIns="45720" tIns="18288" bIns="18288" anchor="t">
            <a:spAutoFit/>
          </a:bodyPr>
          <a:lstStyle/>
          <a:p>
            <a:pPr algn="l"/>
            <a:r>
              <a:rPr sz="1800" b="1" i="0">
                <a:solidFill>
                  <a:srgbClr val="127A8A"/>
                </a:solidFill>
                <a:latin typeface="Calibri"/>
              </a:rPr>
              <a:t>Real-world Intuition</a:t>
            </a:r>
          </a:p>
        </p:txBody>
      </p:sp>
      <p:sp>
        <p:nvSpPr>
          <p:cNvPr id="12" name="TextBox 11"/>
          <p:cNvSpPr txBox="1"/>
          <p:nvPr/>
        </p:nvSpPr>
        <p:spPr>
          <a:xfrm>
            <a:off x="822960" y="3931920"/>
            <a:ext cx="5486400" cy="2194560"/>
          </a:xfrm>
          <a:prstGeom prst="rect">
            <a:avLst/>
          </a:prstGeom>
          <a:noFill/>
        </p:spPr>
        <p:txBody>
          <a:bodyPr wrap="square" lIns="45720" rIns="45720">
            <a:spAutoFit/>
          </a:bodyPr>
          <a:lstStyle/>
          <a:p>
            <a:pPr algn="l">
              <a:lnSpc>
                <a:spcPct val="130000"/>
              </a:lnSpc>
              <a:spcAft>
                <a:spcPts val="400"/>
              </a:spcAft>
            </a:pPr>
            <a:r>
              <a:rPr sz="1500" b="1">
                <a:solidFill>
                  <a:srgbClr val="127A8A"/>
                </a:solidFill>
                <a:latin typeface="Calibri"/>
              </a:rPr>
              <a:t>▸  </a:t>
            </a:r>
            <a:r>
              <a:rPr sz="1500">
                <a:solidFill>
                  <a:srgbClr val="333D4A"/>
                </a:solidFill>
                <a:latin typeface="Calibri"/>
              </a:rPr>
              <a:t>A dictionary definition that refers to other words in the dictionary.</a:t>
            </a:r>
          </a:p>
          <a:p>
            <a:pPr algn="l">
              <a:lnSpc>
                <a:spcPct val="130000"/>
              </a:lnSpc>
              <a:spcAft>
                <a:spcPts val="400"/>
              </a:spcAft>
            </a:pPr>
            <a:r>
              <a:rPr sz="1500" b="1">
                <a:solidFill>
                  <a:srgbClr val="127A8A"/>
                </a:solidFill>
                <a:latin typeface="Calibri"/>
              </a:rPr>
              <a:t>▸  </a:t>
            </a:r>
            <a:r>
              <a:rPr sz="1500">
                <a:solidFill>
                  <a:srgbClr val="333D4A"/>
                </a:solidFill>
                <a:latin typeface="Calibri"/>
              </a:rPr>
              <a:t>Russian Matryoshka dolls (a doll inside a doll).</a:t>
            </a:r>
          </a:p>
          <a:p>
            <a:pPr algn="l">
              <a:lnSpc>
                <a:spcPct val="130000"/>
              </a:lnSpc>
              <a:spcAft>
                <a:spcPts val="400"/>
              </a:spcAft>
            </a:pPr>
            <a:r>
              <a:rPr sz="1500" b="1">
                <a:solidFill>
                  <a:srgbClr val="127A8A"/>
                </a:solidFill>
                <a:latin typeface="Calibri"/>
              </a:rPr>
              <a:t>▸  </a:t>
            </a:r>
            <a:r>
              <a:rPr sz="1500">
                <a:solidFill>
                  <a:srgbClr val="333D4A"/>
                </a:solidFill>
                <a:latin typeface="Calibri"/>
              </a:rPr>
              <a:t>Looking between two facing mirrors.</a:t>
            </a:r>
          </a:p>
        </p:txBody>
      </p:sp>
      <p:sp>
        <p:nvSpPr>
          <p:cNvPr id="13" name="Rectangle 12"/>
          <p:cNvSpPr/>
          <p:nvPr/>
        </p:nvSpPr>
        <p:spPr>
          <a:xfrm>
            <a:off x="6858000" y="1371600"/>
            <a:ext cx="4937760" cy="4846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1417320"/>
            <a:ext cx="4937760" cy="365760"/>
          </a:xfrm>
          <a:prstGeom prst="rect">
            <a:avLst/>
          </a:prstGeom>
          <a:noFill/>
        </p:spPr>
        <p:txBody>
          <a:bodyPr wrap="square" lIns="45720" rIns="45720" tIns="18288" bIns="18288" anchor="t">
            <a:spAutoFit/>
          </a:bodyPr>
          <a:lstStyle/>
          <a:p>
            <a:pPr algn="ctr"/>
            <a:r>
              <a:rPr sz="1400" b="1" i="0">
                <a:solidFill>
                  <a:srgbClr val="0B2A4A"/>
                </a:solidFill>
                <a:latin typeface="Calibri"/>
              </a:rPr>
              <a:t>The Structure of a Recursive Function</a:t>
            </a:r>
          </a:p>
        </p:txBody>
      </p:sp>
      <p:sp>
        <p:nvSpPr>
          <p:cNvPr id="15" name="Rectangle 14"/>
          <p:cNvSpPr/>
          <p:nvPr/>
        </p:nvSpPr>
        <p:spPr>
          <a:xfrm>
            <a:off x="7040880" y="2011680"/>
            <a:ext cx="4572000" cy="27432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40880" y="2011680"/>
            <a:ext cx="73152" cy="27432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78040" y="2103120"/>
            <a:ext cx="4343400" cy="2560320"/>
          </a:xfrm>
          <a:prstGeom prst="rect">
            <a:avLst/>
          </a:prstGeom>
          <a:noFill/>
        </p:spPr>
        <p:txBody>
          <a:bodyPr wrap="square">
            <a:spAutoFit/>
          </a:bodyPr>
          <a:lstStyle/>
          <a:p>
            <a:pPr algn="l">
              <a:lnSpc>
                <a:spcPct val="115000"/>
              </a:lnSpc>
            </a:pPr>
            <a:r>
              <a:rPr sz="1400">
                <a:solidFill>
                  <a:srgbClr val="E6E6E6"/>
                </a:solidFill>
                <a:latin typeface="Consolas"/>
              </a:rPr>
              <a:t>def recursive_function(parameters):</a:t>
            </a:r>
          </a:p>
          <a:p>
            <a:pPr algn="l">
              <a:lnSpc>
                <a:spcPct val="115000"/>
              </a:lnSpc>
            </a:pPr>
            <a:r>
              <a:rPr sz="1400">
                <a:solidFill>
                  <a:srgbClr val="E6E6E6"/>
                </a:solidFill>
                <a:latin typeface="Consolas"/>
              </a:rPr>
              <a:t>    if base_condition:</a:t>
            </a:r>
          </a:p>
          <a:p>
            <a:pPr algn="l">
              <a:lnSpc>
                <a:spcPct val="115000"/>
              </a:lnSpc>
            </a:pPr>
            <a:r>
              <a:rPr sz="1400">
                <a:solidFill>
                  <a:srgbClr val="E6E6E6"/>
                </a:solidFill>
                <a:latin typeface="Consolas"/>
              </a:rPr>
              <a:t>        # BASE CASE</a:t>
            </a:r>
          </a:p>
          <a:p>
            <a:pPr algn="l">
              <a:lnSpc>
                <a:spcPct val="115000"/>
              </a:lnSpc>
            </a:pPr>
            <a:r>
              <a:rPr sz="1400">
                <a:solidFill>
                  <a:srgbClr val="E6E6E6"/>
                </a:solidFill>
                <a:latin typeface="Consolas"/>
              </a:rPr>
              <a:t>        return simple_result</a:t>
            </a:r>
          </a:p>
          <a:p>
            <a:pPr algn="l">
              <a:lnSpc>
                <a:spcPct val="115000"/>
              </a:lnSpc>
            </a:pPr>
            <a:r>
              <a:rPr sz="1400">
                <a:solidFill>
                  <a:srgbClr val="E6E6E6"/>
                </a:solidFill>
                <a:latin typeface="Consolas"/>
              </a:rPr>
              <a:t>    else:</a:t>
            </a:r>
          </a:p>
          <a:p>
            <a:pPr algn="l">
              <a:lnSpc>
                <a:spcPct val="115000"/>
              </a:lnSpc>
            </a:pPr>
            <a:r>
              <a:rPr sz="1400">
                <a:solidFill>
                  <a:srgbClr val="E6E6E6"/>
                </a:solidFill>
                <a:latin typeface="Consolas"/>
              </a:rPr>
              <a:t>        # RECURSIVE STEP</a:t>
            </a:r>
          </a:p>
          <a:p>
            <a:pPr algn="l">
              <a:lnSpc>
                <a:spcPct val="115000"/>
              </a:lnSpc>
            </a:pPr>
            <a:r>
              <a:rPr sz="1400">
                <a:solidFill>
                  <a:srgbClr val="E6E6E6"/>
                </a:solidFill>
                <a:latin typeface="Consolas"/>
              </a:rPr>
              <a:t>        modified_params = change(parameters)</a:t>
            </a:r>
          </a:p>
          <a:p>
            <a:pPr algn="l">
              <a:lnSpc>
                <a:spcPct val="115000"/>
              </a:lnSpc>
            </a:pPr>
            <a:r>
              <a:rPr sz="1400">
                <a:solidFill>
                  <a:srgbClr val="E6E6E6"/>
                </a:solidFill>
                <a:latin typeface="Consolas"/>
              </a:rPr>
              <a:t>        return recursive_function(modified_params)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2. The Two Essential Rules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Every valid recursive algorithm must satisfy these two conditions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3 / 9</a:t>
            </a:r>
          </a:p>
        </p:txBody>
      </p:sp>
      <p:sp>
        <p:nvSpPr>
          <p:cNvPr id="9" name="TextBox 8"/>
          <p:cNvSpPr txBox="1"/>
          <p:nvPr/>
        </p:nvSpPr>
        <p:spPr>
          <a:xfrm>
            <a:off x="822960" y="1371600"/>
            <a:ext cx="10515600" cy="457200"/>
          </a:xfrm>
          <a:prstGeom prst="rect">
            <a:avLst/>
          </a:prstGeom>
          <a:noFill/>
        </p:spPr>
        <p:txBody>
          <a:bodyPr wrap="square" lIns="45720" rIns="45720" tIns="18288" bIns="18288" anchor="t">
            <a:spAutoFit/>
          </a:bodyPr>
          <a:lstStyle/>
          <a:p>
            <a:pPr algn="l"/>
            <a:r>
              <a:rPr sz="2200" b="1" i="0">
                <a:solidFill>
                  <a:srgbClr val="C0392B"/>
                </a:solidFill>
                <a:latin typeface="Calibri"/>
              </a:rPr>
              <a:t>Rule #1: The Base Case</a:t>
            </a:r>
          </a:p>
        </p:txBody>
      </p:sp>
      <p:sp>
        <p:nvSpPr>
          <p:cNvPr id="10" name="TextBox 9"/>
          <p:cNvSpPr txBox="1"/>
          <p:nvPr/>
        </p:nvSpPr>
        <p:spPr>
          <a:xfrm>
            <a:off x="822960" y="1920240"/>
            <a:ext cx="10515600" cy="914400"/>
          </a:xfrm>
          <a:prstGeom prst="rect">
            <a:avLst/>
          </a:prstGeom>
          <a:noFill/>
        </p:spPr>
        <p:txBody>
          <a:bodyPr wrap="square" lIns="45720" rIns="45720" tIns="18288" bIns="18288" anchor="t">
            <a:spAutoFit/>
          </a:bodyPr>
          <a:lstStyle/>
          <a:p>
            <a:pPr algn="l"/>
            <a:r>
              <a:rPr sz="1600" b="0" i="0">
                <a:solidFill>
                  <a:srgbClr val="333D4A"/>
                </a:solidFill>
                <a:latin typeface="Calibri"/>
              </a:rPr>
              <a:t>There must be at least one condition where the function stops calling itself and returns a value. Without a base case, the function will recurse infinitely, leading to a Stack Overflow.</a:t>
            </a:r>
          </a:p>
        </p:txBody>
      </p:sp>
      <p:sp>
        <p:nvSpPr>
          <p:cNvPr id="11" name="TextBox 10"/>
          <p:cNvSpPr txBox="1"/>
          <p:nvPr/>
        </p:nvSpPr>
        <p:spPr>
          <a:xfrm>
            <a:off x="822960" y="3200400"/>
            <a:ext cx="10515600" cy="457200"/>
          </a:xfrm>
          <a:prstGeom prst="rect">
            <a:avLst/>
          </a:prstGeom>
          <a:noFill/>
        </p:spPr>
        <p:txBody>
          <a:bodyPr wrap="square" lIns="45720" rIns="45720" tIns="18288" bIns="18288" anchor="t">
            <a:spAutoFit/>
          </a:bodyPr>
          <a:lstStyle/>
          <a:p>
            <a:pPr algn="l"/>
            <a:r>
              <a:rPr sz="2200" b="1" i="0">
                <a:solidFill>
                  <a:srgbClr val="0B2A4A"/>
                </a:solidFill>
                <a:latin typeface="Calibri"/>
              </a:rPr>
              <a:t>Rule #2: The Recursive Step (making progress)</a:t>
            </a:r>
          </a:p>
        </p:txBody>
      </p:sp>
      <p:sp>
        <p:nvSpPr>
          <p:cNvPr id="12" name="TextBox 11"/>
          <p:cNvSpPr txBox="1"/>
          <p:nvPr/>
        </p:nvSpPr>
        <p:spPr>
          <a:xfrm>
            <a:off x="822960" y="3749039"/>
            <a:ext cx="10515600" cy="914400"/>
          </a:xfrm>
          <a:prstGeom prst="rect">
            <a:avLst/>
          </a:prstGeom>
          <a:noFill/>
        </p:spPr>
        <p:txBody>
          <a:bodyPr wrap="square" lIns="45720" rIns="45720" tIns="18288" bIns="18288" anchor="t">
            <a:spAutoFit/>
          </a:bodyPr>
          <a:lstStyle/>
          <a:p>
            <a:pPr algn="l"/>
            <a:r>
              <a:rPr sz="1600" b="0" i="0">
                <a:solidFill>
                  <a:srgbClr val="333D4A"/>
                </a:solidFill>
                <a:latin typeface="Calibri"/>
              </a:rPr>
              <a:t>Each time the function calls itself, it must alter the parameters so that they move closer to the base case. If the parameters do not change, or move away from the base case, the recursion will never terminate.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3. The Call Stack</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How the computer remembers where it was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4 / 9</a:t>
            </a:r>
          </a:p>
        </p:txBody>
      </p:sp>
      <p:sp>
        <p:nvSpPr>
          <p:cNvPr id="9" name="TextBox 8"/>
          <p:cNvSpPr txBox="1"/>
          <p:nvPr/>
        </p:nvSpPr>
        <p:spPr>
          <a:xfrm>
            <a:off x="822960" y="1371600"/>
            <a:ext cx="5943600" cy="4572000"/>
          </a:xfrm>
          <a:prstGeom prst="rect">
            <a:avLst/>
          </a:prstGeom>
          <a:noFill/>
        </p:spPr>
        <p:txBody>
          <a:bodyPr wrap="square" lIns="45720" rIns="45720" tIns="18288" bIns="18288" anchor="t">
            <a:spAutoFit/>
          </a:bodyPr>
          <a:lstStyle/>
          <a:p>
            <a:pPr algn="l"/>
            <a:r>
              <a:rPr sz="1600" b="0" i="0">
                <a:solidFill>
                  <a:srgbClr val="333D4A"/>
                </a:solidFill>
                <a:latin typeface="Calibri"/>
              </a:rPr>
              <a:t>When a function calls itself, the computer pauses the current execution and pushes the context onto the Call Stack.
• A stack operates Last-In, First-Out (LIFO).
• Each call gets its own memory frame (variables and state).
• When the base case is reached, the stack starts popping off, returning values back up the chain.
This explains why recursion can consume O(N) memory even if there are no explicit data structures.</a:t>
            </a:r>
          </a:p>
        </p:txBody>
      </p:sp>
      <p:sp>
        <p:nvSpPr>
          <p:cNvPr id="10" name="Rectangle 9"/>
          <p:cNvSpPr/>
          <p:nvPr/>
        </p:nvSpPr>
        <p:spPr>
          <a:xfrm>
            <a:off x="7315200" y="1371600"/>
            <a:ext cx="4114800" cy="4572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463040"/>
            <a:ext cx="4114800" cy="365760"/>
          </a:xfrm>
          <a:prstGeom prst="rect">
            <a:avLst/>
          </a:prstGeom>
          <a:noFill/>
        </p:spPr>
        <p:txBody>
          <a:bodyPr wrap="square" lIns="45720" rIns="45720" tIns="18288" bIns="18288" anchor="t">
            <a:spAutoFit/>
          </a:bodyPr>
          <a:lstStyle/>
          <a:p>
            <a:pPr algn="ctr"/>
            <a:r>
              <a:rPr sz="1400" b="1" i="0">
                <a:solidFill>
                  <a:srgbClr val="0B2A4A"/>
                </a:solidFill>
                <a:latin typeface="Calibri"/>
              </a:rPr>
              <a:t>Call Stack Example</a:t>
            </a:r>
          </a:p>
        </p:txBody>
      </p:sp>
      <p:sp>
        <p:nvSpPr>
          <p:cNvPr id="12" name="Rectangle 11"/>
          <p:cNvSpPr/>
          <p:nvPr/>
        </p:nvSpPr>
        <p:spPr>
          <a:xfrm>
            <a:off x="7772400" y="4114800"/>
            <a:ext cx="3200400" cy="5486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4114800"/>
            <a:ext cx="3200400" cy="548640"/>
          </a:xfrm>
          <a:prstGeom prst="rect">
            <a:avLst/>
          </a:prstGeom>
          <a:noFill/>
        </p:spPr>
        <p:txBody>
          <a:bodyPr wrap="square" lIns="45720" rIns="45720" tIns="18288" bIns="18288" anchor="ctr">
            <a:spAutoFit/>
          </a:bodyPr>
          <a:lstStyle/>
          <a:p>
            <a:pPr algn="ctr"/>
            <a:r>
              <a:rPr sz="1800" b="0" i="0">
                <a:solidFill>
                  <a:srgbClr val="333D4A"/>
                </a:solidFill>
                <a:latin typeface="Calibri"/>
              </a:rPr>
              <a:t>func(1) -&gt; BASE CASE</a:t>
            </a:r>
          </a:p>
        </p:txBody>
      </p:sp>
      <p:sp>
        <p:nvSpPr>
          <p:cNvPr id="14" name="Rectangle 13"/>
          <p:cNvSpPr/>
          <p:nvPr/>
        </p:nvSpPr>
        <p:spPr>
          <a:xfrm>
            <a:off x="7772400" y="3474720"/>
            <a:ext cx="3200400" cy="54864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3474720"/>
            <a:ext cx="3200400" cy="548640"/>
          </a:xfrm>
          <a:prstGeom prst="rect">
            <a:avLst/>
          </a:prstGeom>
          <a:noFill/>
        </p:spPr>
        <p:txBody>
          <a:bodyPr wrap="square" lIns="45720" rIns="45720" tIns="18288" bIns="18288" anchor="ctr">
            <a:spAutoFit/>
          </a:bodyPr>
          <a:lstStyle/>
          <a:p>
            <a:pPr algn="ctr"/>
            <a:r>
              <a:rPr sz="1800" b="0" i="0">
                <a:solidFill>
                  <a:srgbClr val="FFFFFF"/>
                </a:solidFill>
                <a:latin typeface="Calibri"/>
              </a:rPr>
              <a:t>func(2) -&gt; waiting...</a:t>
            </a:r>
          </a:p>
        </p:txBody>
      </p:sp>
      <p:sp>
        <p:nvSpPr>
          <p:cNvPr id="16" name="Rectangle 15"/>
          <p:cNvSpPr/>
          <p:nvPr/>
        </p:nvSpPr>
        <p:spPr>
          <a:xfrm>
            <a:off x="7772400" y="2834640"/>
            <a:ext cx="3200400"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834640"/>
            <a:ext cx="3200400" cy="548640"/>
          </a:xfrm>
          <a:prstGeom prst="rect">
            <a:avLst/>
          </a:prstGeom>
          <a:noFill/>
        </p:spPr>
        <p:txBody>
          <a:bodyPr wrap="square" lIns="45720" rIns="45720" tIns="18288" bIns="18288" anchor="ctr">
            <a:spAutoFit/>
          </a:bodyPr>
          <a:lstStyle/>
          <a:p>
            <a:pPr algn="ctr"/>
            <a:r>
              <a:rPr sz="1800" b="0" i="0">
                <a:solidFill>
                  <a:srgbClr val="FFFFFF"/>
                </a:solidFill>
                <a:latin typeface="Calibri"/>
              </a:rPr>
              <a:t>func(3) -&gt; waiting...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4. Classic Example: Factorial</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N! = N * (N-1)!</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5 / 9</a:t>
            </a:r>
          </a:p>
        </p:txBody>
      </p:sp>
      <p:sp>
        <p:nvSpPr>
          <p:cNvPr id="9" name="Rectangle 8"/>
          <p:cNvSpPr/>
          <p:nvPr/>
        </p:nvSpPr>
        <p:spPr>
          <a:xfrm>
            <a:off x="822960" y="1371600"/>
            <a:ext cx="5029200" cy="32004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371600"/>
            <a:ext cx="73152" cy="32004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63040"/>
            <a:ext cx="4800600" cy="3017520"/>
          </a:xfrm>
          <a:prstGeom prst="rect">
            <a:avLst/>
          </a:prstGeom>
          <a:noFill/>
        </p:spPr>
        <p:txBody>
          <a:bodyPr wrap="square">
            <a:spAutoFit/>
          </a:bodyPr>
          <a:lstStyle/>
          <a:p>
            <a:pPr algn="l">
              <a:lnSpc>
                <a:spcPct val="115000"/>
              </a:lnSpc>
            </a:pPr>
            <a:r>
              <a:rPr sz="1500">
                <a:solidFill>
                  <a:srgbClr val="E6E6E6"/>
                </a:solidFill>
                <a:latin typeface="Consolas"/>
              </a:rPr>
              <a:t>def factorial(n):</a:t>
            </a:r>
          </a:p>
          <a:p>
            <a:pPr algn="l">
              <a:lnSpc>
                <a:spcPct val="115000"/>
              </a:lnSpc>
            </a:pPr>
            <a:r>
              <a:rPr sz="1500">
                <a:solidFill>
                  <a:srgbClr val="E6E6E6"/>
                </a:solidFill>
                <a:latin typeface="Consolas"/>
              </a:rPr>
              <a:t>    # Base Case</a:t>
            </a:r>
          </a:p>
          <a:p>
            <a:pPr algn="l">
              <a:lnSpc>
                <a:spcPct val="115000"/>
              </a:lnSpc>
            </a:pPr>
            <a:r>
              <a:rPr sz="1500">
                <a:solidFill>
                  <a:srgbClr val="E6E6E6"/>
                </a:solidFill>
                <a:latin typeface="Consolas"/>
              </a:rPr>
              <a:t>    if n == 1 or n == 0:</a:t>
            </a:r>
          </a:p>
          <a:p>
            <a:pPr algn="l">
              <a:lnSpc>
                <a:spcPct val="115000"/>
              </a:lnSpc>
            </a:pPr>
            <a:r>
              <a:rPr sz="1500">
                <a:solidFill>
                  <a:srgbClr val="E6E6E6"/>
                </a:solidFill>
                <a:latin typeface="Consolas"/>
              </a:rPr>
              <a:t>        return 1</a:t>
            </a:r>
          </a:p>
          <a:p>
            <a:pPr algn="l">
              <a:lnSpc>
                <a:spcPct val="115000"/>
              </a:lnSpc>
            </a:pPr>
            <a:r>
              <a:rPr sz="1500">
                <a:solidFill>
                  <a:srgbClr val="E6E6E6"/>
                </a:solidFill>
                <a:latin typeface="Consolas"/>
              </a:rPr>
              <a:t>        </a:t>
            </a:r>
          </a:p>
          <a:p>
            <a:pPr algn="l">
              <a:lnSpc>
                <a:spcPct val="115000"/>
              </a:lnSpc>
            </a:pPr>
            <a:r>
              <a:rPr sz="1500">
                <a:solidFill>
                  <a:srgbClr val="E6E6E6"/>
                </a:solidFill>
                <a:latin typeface="Consolas"/>
              </a:rPr>
              <a:t>    # Recursive Step</a:t>
            </a:r>
          </a:p>
          <a:p>
            <a:pPr algn="l">
              <a:lnSpc>
                <a:spcPct val="115000"/>
              </a:lnSpc>
            </a:pPr>
            <a:r>
              <a:rPr sz="1500">
                <a:solidFill>
                  <a:srgbClr val="E6E6E6"/>
                </a:solidFill>
                <a:latin typeface="Consolas"/>
              </a:rPr>
              <a:t>    return n * factorial(n - 1)</a:t>
            </a:r>
          </a:p>
        </p:txBody>
      </p:sp>
      <p:sp>
        <p:nvSpPr>
          <p:cNvPr id="12" name="TextBox 11"/>
          <p:cNvSpPr txBox="1"/>
          <p:nvPr/>
        </p:nvSpPr>
        <p:spPr>
          <a:xfrm>
            <a:off x="6400800" y="1371600"/>
            <a:ext cx="5029200" cy="457200"/>
          </a:xfrm>
          <a:prstGeom prst="rect">
            <a:avLst/>
          </a:prstGeom>
          <a:noFill/>
        </p:spPr>
        <p:txBody>
          <a:bodyPr wrap="square" lIns="45720" rIns="45720" tIns="18288" bIns="18288" anchor="t">
            <a:spAutoFit/>
          </a:bodyPr>
          <a:lstStyle/>
          <a:p>
            <a:pPr algn="l"/>
            <a:r>
              <a:rPr sz="1800" b="1" i="0">
                <a:solidFill>
                  <a:srgbClr val="0B2A4A"/>
                </a:solidFill>
                <a:latin typeface="Calibri"/>
              </a:rPr>
              <a:t>Execution of factorial(4):</a:t>
            </a:r>
          </a:p>
        </p:txBody>
      </p:sp>
      <p:sp>
        <p:nvSpPr>
          <p:cNvPr id="13" name="TextBox 12"/>
          <p:cNvSpPr txBox="1"/>
          <p:nvPr/>
        </p:nvSpPr>
        <p:spPr>
          <a:xfrm>
            <a:off x="6400800" y="1828800"/>
            <a:ext cx="5486400" cy="1828800"/>
          </a:xfrm>
          <a:prstGeom prst="rect">
            <a:avLst/>
          </a:prstGeom>
          <a:noFill/>
        </p:spPr>
        <p:txBody>
          <a:bodyPr wrap="square" lIns="45720" rIns="45720">
            <a:spAutoFit/>
          </a:bodyPr>
          <a:lstStyle/>
          <a:p>
            <a:pPr algn="l">
              <a:lnSpc>
                <a:spcPct val="125000"/>
              </a:lnSpc>
              <a:spcAft>
                <a:spcPts val="400"/>
              </a:spcAft>
            </a:pPr>
            <a:r>
              <a:rPr sz="1400" b="1">
                <a:solidFill>
                  <a:srgbClr val="127A8A"/>
                </a:solidFill>
                <a:latin typeface="Calibri"/>
              </a:rPr>
              <a:t>▸  </a:t>
            </a:r>
            <a:r>
              <a:rPr sz="1400">
                <a:solidFill>
                  <a:srgbClr val="333D4A"/>
                </a:solidFill>
                <a:latin typeface="Calibri"/>
              </a:rPr>
              <a:t>factorial(4) returns 4 * factorial(3)</a:t>
            </a:r>
          </a:p>
          <a:p>
            <a:pPr algn="l">
              <a:lnSpc>
                <a:spcPct val="125000"/>
              </a:lnSpc>
              <a:spcAft>
                <a:spcPts val="400"/>
              </a:spcAft>
            </a:pPr>
            <a:r>
              <a:rPr sz="1400" b="1">
                <a:solidFill>
                  <a:srgbClr val="127A8A"/>
                </a:solidFill>
                <a:latin typeface="Calibri"/>
              </a:rPr>
              <a:t>▸  </a:t>
            </a:r>
            <a:r>
              <a:rPr sz="1400">
                <a:solidFill>
                  <a:srgbClr val="333D4A"/>
                </a:solidFill>
                <a:latin typeface="Calibri"/>
              </a:rPr>
              <a:t>factorial(3) returns 3 * factorial(2)</a:t>
            </a:r>
          </a:p>
          <a:p>
            <a:pPr algn="l">
              <a:lnSpc>
                <a:spcPct val="125000"/>
              </a:lnSpc>
              <a:spcAft>
                <a:spcPts val="400"/>
              </a:spcAft>
            </a:pPr>
            <a:r>
              <a:rPr sz="1400" b="1">
                <a:solidFill>
                  <a:srgbClr val="127A8A"/>
                </a:solidFill>
                <a:latin typeface="Calibri"/>
              </a:rPr>
              <a:t>▸  </a:t>
            </a:r>
            <a:r>
              <a:rPr sz="1400">
                <a:solidFill>
                  <a:srgbClr val="333D4A"/>
                </a:solidFill>
                <a:latin typeface="Calibri"/>
              </a:rPr>
              <a:t>factorial(2) returns 2 * factorial(1)</a:t>
            </a:r>
          </a:p>
          <a:p>
            <a:pPr algn="l">
              <a:lnSpc>
                <a:spcPct val="125000"/>
              </a:lnSpc>
              <a:spcAft>
                <a:spcPts val="400"/>
              </a:spcAft>
            </a:pPr>
            <a:r>
              <a:rPr sz="1400" b="1">
                <a:solidFill>
                  <a:srgbClr val="127A8A"/>
                </a:solidFill>
                <a:latin typeface="Calibri"/>
              </a:rPr>
              <a:t>▸  </a:t>
            </a:r>
            <a:r>
              <a:rPr sz="1400">
                <a:solidFill>
                  <a:srgbClr val="333D4A"/>
                </a:solidFill>
                <a:latin typeface="Calibri"/>
              </a:rPr>
              <a:t>factorial(1) returns 1 (Base Case!)</a:t>
            </a:r>
          </a:p>
        </p:txBody>
      </p:sp>
      <p:sp>
        <p:nvSpPr>
          <p:cNvPr id="14" name="TextBox 13"/>
          <p:cNvSpPr txBox="1"/>
          <p:nvPr/>
        </p:nvSpPr>
        <p:spPr>
          <a:xfrm>
            <a:off x="6400800" y="3840480"/>
            <a:ext cx="5486400" cy="1828800"/>
          </a:xfrm>
          <a:prstGeom prst="rect">
            <a:avLst/>
          </a:prstGeom>
          <a:noFill/>
        </p:spPr>
        <p:txBody>
          <a:bodyPr wrap="square" lIns="45720" rIns="45720" tIns="18288" bIns="18288" anchor="t">
            <a:spAutoFit/>
          </a:bodyPr>
          <a:lstStyle/>
          <a:p>
            <a:pPr algn="l"/>
            <a:r>
              <a:rPr sz="1500" b="1" i="0">
                <a:solidFill>
                  <a:srgbClr val="2E7D32"/>
                </a:solidFill>
                <a:latin typeface="Calibri"/>
              </a:rPr>
              <a:t>Unwinding the stack:
• 2 * 1 = 2
• 3 * 2 = 6
• 4 * 6 = 24  → Final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5. Branching Recursion: Fibonacci</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Multiple recursive calls per function</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6 / 9</a:t>
            </a:r>
          </a:p>
        </p:txBody>
      </p:sp>
      <p:sp>
        <p:nvSpPr>
          <p:cNvPr id="9" name="Rectangle 8"/>
          <p:cNvSpPr/>
          <p:nvPr/>
        </p:nvSpPr>
        <p:spPr>
          <a:xfrm>
            <a:off x="822960" y="1371600"/>
            <a:ext cx="4572000" cy="22860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371600"/>
            <a:ext cx="73152" cy="22860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63040"/>
            <a:ext cx="4343400" cy="2103120"/>
          </a:xfrm>
          <a:prstGeom prst="rect">
            <a:avLst/>
          </a:prstGeom>
          <a:noFill/>
        </p:spPr>
        <p:txBody>
          <a:bodyPr wrap="square">
            <a:spAutoFit/>
          </a:bodyPr>
          <a:lstStyle/>
          <a:p>
            <a:pPr algn="l">
              <a:lnSpc>
                <a:spcPct val="115000"/>
              </a:lnSpc>
            </a:pPr>
            <a:r>
              <a:rPr sz="1500">
                <a:solidFill>
                  <a:srgbClr val="E6E6E6"/>
                </a:solidFill>
                <a:latin typeface="Consolas"/>
              </a:rPr>
              <a:t>def fib(n):</a:t>
            </a:r>
          </a:p>
          <a:p>
            <a:pPr algn="l">
              <a:lnSpc>
                <a:spcPct val="115000"/>
              </a:lnSpc>
            </a:pPr>
            <a:r>
              <a:rPr sz="1500">
                <a:solidFill>
                  <a:srgbClr val="E6E6E6"/>
                </a:solidFill>
                <a:latin typeface="Consolas"/>
              </a:rPr>
              <a:t>    if n &lt;= 1:</a:t>
            </a:r>
          </a:p>
          <a:p>
            <a:pPr algn="l">
              <a:lnSpc>
                <a:spcPct val="115000"/>
              </a:lnSpc>
            </a:pPr>
            <a:r>
              <a:rPr sz="1500">
                <a:solidFill>
                  <a:srgbClr val="E6E6E6"/>
                </a:solidFill>
                <a:latin typeface="Consolas"/>
              </a:rPr>
              <a:t>        return n</a:t>
            </a:r>
          </a:p>
          <a:p>
            <a:pPr algn="l">
              <a:lnSpc>
                <a:spcPct val="115000"/>
              </a:lnSpc>
            </a:pPr>
            <a:r>
              <a:rPr sz="1500">
                <a:solidFill>
                  <a:srgbClr val="E6E6E6"/>
                </a:solidFill>
                <a:latin typeface="Consolas"/>
              </a:rPr>
              <a:t>    return fib(n-1) + fib(n-2)</a:t>
            </a:r>
          </a:p>
        </p:txBody>
      </p:sp>
      <p:sp>
        <p:nvSpPr>
          <p:cNvPr id="12" name="TextBox 11"/>
          <p:cNvSpPr txBox="1"/>
          <p:nvPr/>
        </p:nvSpPr>
        <p:spPr>
          <a:xfrm>
            <a:off x="822960" y="3840480"/>
            <a:ext cx="4572000" cy="1828800"/>
          </a:xfrm>
          <a:prstGeom prst="rect">
            <a:avLst/>
          </a:prstGeom>
          <a:noFill/>
        </p:spPr>
        <p:txBody>
          <a:bodyPr wrap="square" lIns="45720" rIns="45720" tIns="18288" bIns="18288" anchor="t">
            <a:spAutoFit/>
          </a:bodyPr>
          <a:lstStyle/>
          <a:p>
            <a:pPr algn="l"/>
            <a:r>
              <a:rPr sz="1400" b="1" i="0">
                <a:solidFill>
                  <a:srgbClr val="C0392B"/>
                </a:solidFill>
                <a:latin typeface="Calibri"/>
              </a:rPr>
              <a:t>Time Complexity: O(2^N)
Space Complexity: O(N) due to call stack depth.</a:t>
            </a:r>
          </a:p>
        </p:txBody>
      </p:sp>
      <p:sp>
        <p:nvSpPr>
          <p:cNvPr id="13" name="TextBox 12"/>
          <p:cNvSpPr txBox="1"/>
          <p:nvPr/>
        </p:nvSpPr>
        <p:spPr>
          <a:xfrm>
            <a:off x="5943600" y="1371600"/>
            <a:ext cx="5486400" cy="457200"/>
          </a:xfrm>
          <a:prstGeom prst="rect">
            <a:avLst/>
          </a:prstGeom>
          <a:noFill/>
        </p:spPr>
        <p:txBody>
          <a:bodyPr wrap="square" lIns="45720" rIns="45720" tIns="18288" bIns="18288" anchor="t">
            <a:spAutoFit/>
          </a:bodyPr>
          <a:lstStyle/>
          <a:p>
            <a:pPr algn="l"/>
            <a:r>
              <a:rPr sz="1800" b="1" i="0">
                <a:solidFill>
                  <a:srgbClr val="0B2A4A"/>
                </a:solidFill>
                <a:latin typeface="Calibri"/>
              </a:rPr>
              <a:t>Call Tree for fib(4):</a:t>
            </a:r>
          </a:p>
        </p:txBody>
      </p:sp>
      <p:sp>
        <p:nvSpPr>
          <p:cNvPr id="14" name="Rectangle 13"/>
          <p:cNvSpPr/>
          <p:nvPr/>
        </p:nvSpPr>
        <p:spPr>
          <a:xfrm>
            <a:off x="5943600" y="1828800"/>
            <a:ext cx="5486400"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2286000"/>
            <a:ext cx="5486400" cy="3200400"/>
          </a:xfrm>
          <a:prstGeom prst="rect">
            <a:avLst/>
          </a:prstGeom>
          <a:noFill/>
        </p:spPr>
        <p:txBody>
          <a:bodyPr wrap="square" lIns="45720" rIns="45720" tIns="18288" bIns="18288" anchor="t">
            <a:spAutoFit/>
          </a:bodyPr>
          <a:lstStyle/>
          <a:p>
            <a:pPr algn="ctr"/>
            <a:r>
              <a:rPr sz="1600" b="0" i="0">
                <a:solidFill>
                  <a:srgbClr val="333D4A"/>
                </a:solidFill>
                <a:latin typeface="Consolas"/>
              </a:rPr>
              <a:t>            fib(4)
           /      \
      fib(3)      fib(2)
      /    \      /    \
  fib(2) fib(1) fib(1) fib(0)
  /   \
fib(1) fib(0)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6. Recursion vs Iteration</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When to use which?</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7 / 9</a:t>
            </a:r>
          </a:p>
        </p:txBody>
      </p:sp>
      <p:sp>
        <p:nvSpPr>
          <p:cNvPr id="9" name="Rectangle 8"/>
          <p:cNvSpPr/>
          <p:nvPr/>
        </p:nvSpPr>
        <p:spPr>
          <a:xfrm>
            <a:off x="822960" y="1371600"/>
            <a:ext cx="5029200"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463040"/>
            <a:ext cx="5029200" cy="457200"/>
          </a:xfrm>
          <a:prstGeom prst="rect">
            <a:avLst/>
          </a:prstGeom>
          <a:noFill/>
        </p:spPr>
        <p:txBody>
          <a:bodyPr wrap="square" lIns="45720" rIns="45720" tIns="18288" bIns="18288" anchor="t">
            <a:spAutoFit/>
          </a:bodyPr>
          <a:lstStyle/>
          <a:p>
            <a:pPr algn="ctr"/>
            <a:r>
              <a:rPr sz="1800" b="1" i="0">
                <a:solidFill>
                  <a:srgbClr val="0B2A4A"/>
                </a:solidFill>
                <a:latin typeface="Calibri"/>
              </a:rPr>
              <a:t>Iterative (Loops)</a:t>
            </a:r>
          </a:p>
        </p:txBody>
      </p:sp>
      <p:sp>
        <p:nvSpPr>
          <p:cNvPr id="11" name="TextBox 10"/>
          <p:cNvSpPr txBox="1"/>
          <p:nvPr/>
        </p:nvSpPr>
        <p:spPr>
          <a:xfrm>
            <a:off x="1005840" y="2011680"/>
            <a:ext cx="4663440" cy="3200400"/>
          </a:xfrm>
          <a:prstGeom prst="rect">
            <a:avLst/>
          </a:prstGeom>
          <a:noFill/>
        </p:spPr>
        <p:txBody>
          <a:bodyPr wrap="square" lIns="45720" rIns="45720">
            <a:spAutoFit/>
          </a:bodyPr>
          <a:lstStyle/>
          <a:p>
            <a:pPr algn="l">
              <a:lnSpc>
                <a:spcPct val="125000"/>
              </a:lnSpc>
              <a:spcAft>
                <a:spcPts val="400"/>
              </a:spcAft>
            </a:pPr>
            <a:r>
              <a:rPr sz="1500" b="1">
                <a:solidFill>
                  <a:srgbClr val="127A8A"/>
                </a:solidFill>
                <a:latin typeface="Calibri"/>
              </a:rPr>
              <a:t>▸  </a:t>
            </a:r>
            <a:r>
              <a:rPr sz="1500">
                <a:solidFill>
                  <a:srgbClr val="333D4A"/>
                </a:solidFill>
                <a:latin typeface="Calibri"/>
              </a:rPr>
              <a:t>Uses explicit loops (for, while).</a:t>
            </a:r>
          </a:p>
          <a:p>
            <a:pPr algn="l">
              <a:lnSpc>
                <a:spcPct val="125000"/>
              </a:lnSpc>
              <a:spcAft>
                <a:spcPts val="400"/>
              </a:spcAft>
            </a:pPr>
            <a:r>
              <a:rPr sz="1500" b="1">
                <a:solidFill>
                  <a:srgbClr val="127A8A"/>
                </a:solidFill>
                <a:latin typeface="Calibri"/>
              </a:rPr>
              <a:t>▸  </a:t>
            </a:r>
            <a:r>
              <a:rPr sz="1500">
                <a:solidFill>
                  <a:srgbClr val="333D4A"/>
                </a:solidFill>
                <a:latin typeface="Calibri"/>
              </a:rPr>
              <a:t>O(1) auxiliary space (usually).</a:t>
            </a:r>
          </a:p>
          <a:p>
            <a:pPr algn="l">
              <a:lnSpc>
                <a:spcPct val="125000"/>
              </a:lnSpc>
              <a:spcAft>
                <a:spcPts val="400"/>
              </a:spcAft>
            </a:pPr>
            <a:r>
              <a:rPr sz="1500" b="1">
                <a:solidFill>
                  <a:srgbClr val="127A8A"/>
                </a:solidFill>
                <a:latin typeface="Calibri"/>
              </a:rPr>
              <a:t>▸  </a:t>
            </a:r>
            <a:r>
              <a:rPr sz="1500">
                <a:solidFill>
                  <a:srgbClr val="333D4A"/>
                </a:solidFill>
                <a:latin typeface="Calibri"/>
              </a:rPr>
              <a:t>Faster execution (no function call overhead).</a:t>
            </a:r>
          </a:p>
          <a:p>
            <a:pPr algn="l">
              <a:lnSpc>
                <a:spcPct val="125000"/>
              </a:lnSpc>
              <a:spcAft>
                <a:spcPts val="400"/>
              </a:spcAft>
            </a:pPr>
            <a:r>
              <a:rPr sz="1500" b="1">
                <a:solidFill>
                  <a:srgbClr val="127A8A"/>
                </a:solidFill>
                <a:latin typeface="Calibri"/>
              </a:rPr>
              <a:t>▸  </a:t>
            </a:r>
            <a:r>
              <a:rPr sz="1500">
                <a:solidFill>
                  <a:srgbClr val="333D4A"/>
                </a:solidFill>
                <a:latin typeface="Calibri"/>
              </a:rPr>
              <a:t>Can be harder to read for complex data structures like trees.</a:t>
            </a:r>
          </a:p>
        </p:txBody>
      </p:sp>
      <p:sp>
        <p:nvSpPr>
          <p:cNvPr id="12" name="Rectangle 11"/>
          <p:cNvSpPr/>
          <p:nvPr/>
        </p:nvSpPr>
        <p:spPr>
          <a:xfrm>
            <a:off x="6309360" y="1371600"/>
            <a:ext cx="5029200"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463040"/>
            <a:ext cx="5029200" cy="457200"/>
          </a:xfrm>
          <a:prstGeom prst="rect">
            <a:avLst/>
          </a:prstGeom>
          <a:noFill/>
        </p:spPr>
        <p:txBody>
          <a:bodyPr wrap="square" lIns="45720" rIns="45720" tIns="18288" bIns="18288" anchor="t">
            <a:spAutoFit/>
          </a:bodyPr>
          <a:lstStyle/>
          <a:p>
            <a:pPr algn="ctr"/>
            <a:r>
              <a:rPr sz="1800" b="1" i="0">
                <a:solidFill>
                  <a:srgbClr val="0B2A4A"/>
                </a:solidFill>
                <a:latin typeface="Calibri"/>
              </a:rPr>
              <a:t>Recursive</a:t>
            </a:r>
          </a:p>
        </p:txBody>
      </p:sp>
      <p:sp>
        <p:nvSpPr>
          <p:cNvPr id="14" name="TextBox 13"/>
          <p:cNvSpPr txBox="1"/>
          <p:nvPr/>
        </p:nvSpPr>
        <p:spPr>
          <a:xfrm>
            <a:off x="6492240" y="2011680"/>
            <a:ext cx="4663440" cy="3200400"/>
          </a:xfrm>
          <a:prstGeom prst="rect">
            <a:avLst/>
          </a:prstGeom>
          <a:noFill/>
        </p:spPr>
        <p:txBody>
          <a:bodyPr wrap="square" lIns="45720" rIns="45720">
            <a:spAutoFit/>
          </a:bodyPr>
          <a:lstStyle/>
          <a:p>
            <a:pPr algn="l">
              <a:lnSpc>
                <a:spcPct val="125000"/>
              </a:lnSpc>
              <a:spcAft>
                <a:spcPts val="400"/>
              </a:spcAft>
            </a:pPr>
            <a:r>
              <a:rPr sz="1500" b="1">
                <a:solidFill>
                  <a:srgbClr val="127A8A"/>
                </a:solidFill>
                <a:latin typeface="Calibri"/>
              </a:rPr>
              <a:t>▸  </a:t>
            </a:r>
            <a:r>
              <a:rPr sz="1500">
                <a:solidFill>
                  <a:srgbClr val="333D4A"/>
                </a:solidFill>
                <a:latin typeface="Calibri"/>
              </a:rPr>
              <a:t>Calls itself.</a:t>
            </a:r>
          </a:p>
          <a:p>
            <a:pPr algn="l">
              <a:lnSpc>
                <a:spcPct val="125000"/>
              </a:lnSpc>
              <a:spcAft>
                <a:spcPts val="400"/>
              </a:spcAft>
            </a:pPr>
            <a:r>
              <a:rPr sz="1500" b="1">
                <a:solidFill>
                  <a:srgbClr val="127A8A"/>
                </a:solidFill>
                <a:latin typeface="Calibri"/>
              </a:rPr>
              <a:t>▸  </a:t>
            </a:r>
            <a:r>
              <a:rPr sz="1500">
                <a:solidFill>
                  <a:srgbClr val="333D4A"/>
                </a:solidFill>
                <a:latin typeface="Calibri"/>
              </a:rPr>
              <a:t>O(N) auxiliary space for call stack.</a:t>
            </a:r>
          </a:p>
          <a:p>
            <a:pPr algn="l">
              <a:lnSpc>
                <a:spcPct val="125000"/>
              </a:lnSpc>
              <a:spcAft>
                <a:spcPts val="400"/>
              </a:spcAft>
            </a:pPr>
            <a:r>
              <a:rPr sz="1500" b="1">
                <a:solidFill>
                  <a:srgbClr val="127A8A"/>
                </a:solidFill>
                <a:latin typeface="Calibri"/>
              </a:rPr>
              <a:t>▸  </a:t>
            </a:r>
            <a:r>
              <a:rPr sz="1500">
                <a:solidFill>
                  <a:srgbClr val="333D4A"/>
                </a:solidFill>
                <a:latin typeface="Calibri"/>
              </a:rPr>
              <a:t>Slower due to stack setup/teardown.</a:t>
            </a:r>
          </a:p>
          <a:p>
            <a:pPr algn="l">
              <a:lnSpc>
                <a:spcPct val="125000"/>
              </a:lnSpc>
              <a:spcAft>
                <a:spcPts val="400"/>
              </a:spcAft>
            </a:pPr>
            <a:r>
              <a:rPr sz="1500" b="1">
                <a:solidFill>
                  <a:srgbClr val="127A8A"/>
                </a:solidFill>
                <a:latin typeface="Calibri"/>
              </a:rPr>
              <a:t>▸  </a:t>
            </a:r>
            <a:r>
              <a:rPr sz="1500">
                <a:solidFill>
                  <a:srgbClr val="333D4A"/>
                </a:solidFill>
                <a:latin typeface="Calibri"/>
              </a:rPr>
              <a:t>Leads to extremely elegant, concise code for hierarchical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7. Why Recursion for Trees?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The shape of the data matches the shape of the algorithm</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8 / 9</a:t>
            </a:r>
          </a:p>
        </p:txBody>
      </p:sp>
      <p:sp>
        <p:nvSpPr>
          <p:cNvPr id="9" name="TextBox 8"/>
          <p:cNvSpPr txBox="1"/>
          <p:nvPr/>
        </p:nvSpPr>
        <p:spPr>
          <a:xfrm>
            <a:off x="822960" y="1371600"/>
            <a:ext cx="10515600" cy="914400"/>
          </a:xfrm>
          <a:prstGeom prst="rect">
            <a:avLst/>
          </a:prstGeom>
          <a:noFill/>
        </p:spPr>
        <p:txBody>
          <a:bodyPr wrap="square" lIns="45720" rIns="45720" tIns="18288" bIns="18288" anchor="t">
            <a:spAutoFit/>
          </a:bodyPr>
          <a:lstStyle/>
          <a:p>
            <a:pPr algn="l"/>
            <a:r>
              <a:rPr sz="2000" b="1" i="0">
                <a:solidFill>
                  <a:srgbClr val="0B2A4A"/>
                </a:solidFill>
                <a:latin typeface="Calibri"/>
              </a:rPr>
              <a:t>A tree is inherently recursive by definition:
A Tree is either empty, or a Root node connected to left and right Subtrees.</a:t>
            </a:r>
          </a:p>
        </p:txBody>
      </p:sp>
      <p:sp>
        <p:nvSpPr>
          <p:cNvPr id="10" name="Rectangle 9"/>
          <p:cNvSpPr/>
          <p:nvPr/>
        </p:nvSpPr>
        <p:spPr>
          <a:xfrm>
            <a:off x="822960" y="2743200"/>
            <a:ext cx="6858000" cy="32004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743200"/>
            <a:ext cx="73152" cy="32004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834640"/>
            <a:ext cx="6629400" cy="3017520"/>
          </a:xfrm>
          <a:prstGeom prst="rect">
            <a:avLst/>
          </a:prstGeom>
          <a:noFill/>
        </p:spPr>
        <p:txBody>
          <a:bodyPr wrap="square">
            <a:spAutoFit/>
          </a:bodyPr>
          <a:lstStyle/>
          <a:p>
            <a:pPr algn="l">
              <a:lnSpc>
                <a:spcPct val="115000"/>
              </a:lnSpc>
            </a:pPr>
            <a:r>
              <a:rPr sz="1600">
                <a:solidFill>
                  <a:srgbClr val="E6E6E6"/>
                </a:solidFill>
                <a:latin typeface="Consolas"/>
              </a:rPr>
              <a:t># Traversing a tree recursively is beautifully simple:</a:t>
            </a:r>
          </a:p>
          <a:p>
            <a:pPr algn="l">
              <a:lnSpc>
                <a:spcPct val="115000"/>
              </a:lnSpc>
            </a:pPr>
            <a:r>
              <a:rPr sz="1600">
                <a:solidFill>
                  <a:srgbClr val="E6E6E6"/>
                </a:solidFill>
                <a:latin typeface="Consolas"/>
              </a:rPr>
              <a:t>def dfs(node):</a:t>
            </a:r>
          </a:p>
          <a:p>
            <a:pPr algn="l">
              <a:lnSpc>
                <a:spcPct val="115000"/>
              </a:lnSpc>
            </a:pPr>
            <a:r>
              <a:rPr sz="1600">
                <a:solidFill>
                  <a:srgbClr val="E6E6E6"/>
                </a:solidFill>
                <a:latin typeface="Consolas"/>
              </a:rPr>
              <a:t>    if node is None:         # Base Case</a:t>
            </a:r>
          </a:p>
          <a:p>
            <a:pPr algn="l">
              <a:lnSpc>
                <a:spcPct val="115000"/>
              </a:lnSpc>
            </a:pPr>
            <a:r>
              <a:rPr sz="1600">
                <a:solidFill>
                  <a:srgbClr val="E6E6E6"/>
                </a:solidFill>
                <a:latin typeface="Consolas"/>
              </a:rPr>
              <a:t>        return</a:t>
            </a:r>
          </a:p>
          <a:p>
            <a:pPr algn="l">
              <a:lnSpc>
                <a:spcPct val="115000"/>
              </a:lnSpc>
            </a:pPr>
            <a:r>
              <a:rPr sz="1600">
                <a:solidFill>
                  <a:srgbClr val="E6E6E6"/>
                </a:solidFill>
                <a:latin typeface="Consolas"/>
              </a:rPr>
              <a:t>    </a:t>
            </a:r>
          </a:p>
          <a:p>
            <a:pPr algn="l">
              <a:lnSpc>
                <a:spcPct val="115000"/>
              </a:lnSpc>
            </a:pPr>
            <a:r>
              <a:rPr sz="1600">
                <a:solidFill>
                  <a:srgbClr val="E6E6E6"/>
                </a:solidFill>
                <a:latin typeface="Consolas"/>
              </a:rPr>
              <a:t>    print(node.val)          # Process current</a:t>
            </a:r>
          </a:p>
          <a:p>
            <a:pPr algn="l">
              <a:lnSpc>
                <a:spcPct val="115000"/>
              </a:lnSpc>
            </a:pPr>
            <a:r>
              <a:rPr sz="1600">
                <a:solidFill>
                  <a:srgbClr val="E6E6E6"/>
                </a:solidFill>
                <a:latin typeface="Consolas"/>
              </a:rPr>
              <a:t>    dfs(node.left)           # Recurse left</a:t>
            </a:r>
          </a:p>
          <a:p>
            <a:pPr algn="l">
              <a:lnSpc>
                <a:spcPct val="115000"/>
              </a:lnSpc>
            </a:pPr>
            <a:r>
              <a:rPr sz="1600">
                <a:solidFill>
                  <a:srgbClr val="E6E6E6"/>
                </a:solidFill>
                <a:latin typeface="Consolas"/>
              </a:rPr>
              <a:t>    dfs(node.right)          # Recurse right</a:t>
            </a:r>
          </a:p>
          <a:p>
            <a:pPr algn="l">
              <a:lnSpc>
                <a:spcPct val="115000"/>
              </a:lnSpc>
            </a:pPr>
            <a:r>
              <a:rPr sz="1600">
                <a:solidFill>
                  <a:srgbClr val="E6E6E6"/>
                </a:solidFill>
                <a:latin typeface="Consolas"/>
              </a:rPr>
              <a:t> </a:t>
            </a:r>
          </a:p>
        </p:txBody>
      </p:sp>
      <p:sp>
        <p:nvSpPr>
          <p:cNvPr id="13" name="TextBox 12"/>
          <p:cNvSpPr txBox="1"/>
          <p:nvPr/>
        </p:nvSpPr>
        <p:spPr>
          <a:xfrm>
            <a:off x="8046720" y="3200400"/>
            <a:ext cx="3200400" cy="1828800"/>
          </a:xfrm>
          <a:prstGeom prst="rect">
            <a:avLst/>
          </a:prstGeom>
          <a:noFill/>
        </p:spPr>
        <p:txBody>
          <a:bodyPr wrap="square" lIns="45720" rIns="45720" tIns="18288" bIns="18288" anchor="t">
            <a:spAutoFit/>
          </a:bodyPr>
          <a:lstStyle/>
          <a:p>
            <a:pPr algn="l"/>
            <a:r>
              <a:rPr sz="1600" b="0" i="0">
                <a:solidFill>
                  <a:srgbClr val="333D4A"/>
                </a:solidFill>
                <a:latin typeface="Calibri"/>
              </a:rPr>
              <a:t>Attempting to do this iteratively requires managing an explicit Stack manually, which complicates the code significantly.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Summary &amp; Pitfalls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Key takeaways before we jump into Trees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Recursion Algorithms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9 / 9</a:t>
            </a:r>
          </a:p>
        </p:txBody>
      </p:sp>
      <p:sp>
        <p:nvSpPr>
          <p:cNvPr id="9" name="TextBox 8"/>
          <p:cNvSpPr txBox="1"/>
          <p:nvPr/>
        </p:nvSpPr>
        <p:spPr>
          <a:xfrm>
            <a:off x="822960" y="1371600"/>
            <a:ext cx="10515600" cy="4572000"/>
          </a:xfrm>
          <a:prstGeom prst="rect">
            <a:avLst/>
          </a:prstGeom>
          <a:noFill/>
        </p:spPr>
        <p:txBody>
          <a:bodyPr wrap="square" lIns="45720" rIns="45720">
            <a:spAutoFit/>
          </a:bodyPr>
          <a:lstStyle/>
          <a:p>
            <a:pPr algn="l">
              <a:lnSpc>
                <a:spcPct val="150000"/>
              </a:lnSpc>
              <a:spcAft>
                <a:spcPts val="400"/>
              </a:spcAft>
            </a:pPr>
            <a:r>
              <a:rPr sz="1800" b="1">
                <a:solidFill>
                  <a:srgbClr val="127A8A"/>
                </a:solidFill>
                <a:latin typeface="Calibri"/>
              </a:rPr>
              <a:t>▸  </a:t>
            </a:r>
            <a:r>
              <a:rPr sz="1800" b="1">
                <a:solidFill>
                  <a:srgbClr val="0B2A4A"/>
                </a:solidFill>
                <a:latin typeface="Calibri"/>
              </a:rPr>
              <a:t>Base Cases are mandatory. </a:t>
            </a:r>
            <a:r>
              <a:rPr sz="1800">
                <a:solidFill>
                  <a:srgbClr val="333D4A"/>
                </a:solidFill>
                <a:latin typeface="Calibri"/>
              </a:rPr>
              <a:t>Without them, you get a RecursionError (Stack Overflow).</a:t>
            </a:r>
          </a:p>
          <a:p>
            <a:pPr algn="l">
              <a:lnSpc>
                <a:spcPct val="150000"/>
              </a:lnSpc>
              <a:spcAft>
                <a:spcPts val="400"/>
              </a:spcAft>
            </a:pPr>
            <a:r>
              <a:rPr sz="1800" b="1">
                <a:solidFill>
                  <a:srgbClr val="127A8A"/>
                </a:solidFill>
                <a:latin typeface="Calibri"/>
              </a:rPr>
              <a:t>▸  </a:t>
            </a:r>
            <a:r>
              <a:rPr sz="1800" b="1">
                <a:solidFill>
                  <a:srgbClr val="0B2A4A"/>
                </a:solidFill>
                <a:latin typeface="Calibri"/>
              </a:rPr>
              <a:t>Trust the recursion. </a:t>
            </a:r>
            <a:r>
              <a:rPr sz="1800">
                <a:solidFill>
                  <a:srgbClr val="333D4A"/>
                </a:solidFill>
                <a:latin typeface="Calibri"/>
              </a:rPr>
              <a:t>Assume the recursive call will correctly solve the subproblem, and use its result.</a:t>
            </a:r>
          </a:p>
          <a:p>
            <a:pPr algn="l">
              <a:lnSpc>
                <a:spcPct val="150000"/>
              </a:lnSpc>
              <a:spcAft>
                <a:spcPts val="400"/>
              </a:spcAft>
            </a:pPr>
            <a:r>
              <a:rPr sz="1800" b="1">
                <a:solidFill>
                  <a:srgbClr val="127A8A"/>
                </a:solidFill>
                <a:latin typeface="Calibri"/>
              </a:rPr>
              <a:t>▸  </a:t>
            </a:r>
            <a:r>
              <a:rPr sz="1800" b="1">
                <a:solidFill>
                  <a:srgbClr val="0B2A4A"/>
                </a:solidFill>
                <a:latin typeface="Calibri"/>
              </a:rPr>
              <a:t>Watch out for overlapping subproblems. </a:t>
            </a:r>
            <a:r>
              <a:rPr sz="1800">
                <a:solidFill>
                  <a:srgbClr val="333D4A"/>
                </a:solidFill>
                <a:latin typeface="Calibri"/>
              </a:rPr>
              <a:t>Like in Fibonacci, standard recursion can be exponentially slow unless optimized (e.g., Memoization).</a:t>
            </a:r>
          </a:p>
          <a:p>
            <a:pPr algn="l">
              <a:lnSpc>
                <a:spcPct val="150000"/>
              </a:lnSpc>
              <a:spcAft>
                <a:spcPts val="400"/>
              </a:spcAft>
            </a:pPr>
            <a:r>
              <a:rPr sz="1800" b="1">
                <a:solidFill>
                  <a:srgbClr val="127A8A"/>
                </a:solidFill>
                <a:latin typeface="Calibri"/>
              </a:rPr>
              <a:t>▸  </a:t>
            </a:r>
            <a:r>
              <a:rPr sz="1800" b="1">
                <a:solidFill>
                  <a:srgbClr val="0B2A4A"/>
                </a:solidFill>
                <a:latin typeface="Calibri"/>
              </a:rPr>
              <a:t>Recursion is the key to Trees. </a:t>
            </a:r>
            <a:r>
              <a:rPr sz="1800">
                <a:solidFill>
                  <a:srgbClr val="333D4A"/>
                </a:solidFill>
                <a:latin typeface="Calibri"/>
              </a:rPr>
              <a:t>You must be comfortable with recursive thinking to master Binary Trees and BSTs.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