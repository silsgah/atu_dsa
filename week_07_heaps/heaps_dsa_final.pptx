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66560"/>
            <a:ext cx="12191695" cy="9144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097280"/>
            <a:ext cx="3200400" cy="457200"/>
          </a:xfrm>
          <a:prstGeom prst="roundRect">
            <a:avLst>
              <a:gd name="adj" fmla="val 5000"/>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97280"/>
            <a:ext cx="3200400" cy="457200"/>
          </a:xfrm>
          <a:prstGeom prst="rect">
            <a:avLst/>
          </a:prstGeom>
          <a:noFill/>
        </p:spPr>
        <p:txBody>
          <a:bodyPr wrap="square" lIns="45720" rIns="45720" tIns="18288" bIns="18288" anchor="ctr">
            <a:spAutoFit/>
          </a:bodyPr>
          <a:lstStyle/>
          <a:p>
            <a:pPr algn="ctr"/>
            <a:r>
              <a:rPr sz="1300" b="1" i="0">
                <a:solidFill>
                  <a:srgbClr val="FFFFFF"/>
                </a:solidFill>
                <a:latin typeface="Calibri"/>
              </a:rPr>
              <a:t>📅  Week 07  ·  Data Structures &amp; Algorithms</a:t>
            </a:r>
          </a:p>
        </p:txBody>
      </p:sp>
      <p:sp>
        <p:nvSpPr>
          <p:cNvPr id="7" name="TextBox 6"/>
          <p:cNvSpPr txBox="1"/>
          <p:nvPr/>
        </p:nvSpPr>
        <p:spPr>
          <a:xfrm>
            <a:off x="731520" y="1783080"/>
            <a:ext cx="8686800" cy="1463040"/>
          </a:xfrm>
          <a:prstGeom prst="rect">
            <a:avLst/>
          </a:prstGeom>
          <a:noFill/>
        </p:spPr>
        <p:txBody>
          <a:bodyPr wrap="square" lIns="45720" rIns="45720" tIns="18288" bIns="18288" anchor="t">
            <a:spAutoFit/>
          </a:bodyPr>
          <a:lstStyle/>
          <a:p>
            <a:pPr algn="l"/>
            <a:r>
              <a:rPr sz="5200" b="1" i="0">
                <a:solidFill>
                  <a:srgbClr val="FFFFFF"/>
                </a:solidFill>
                <a:latin typeface="Calibri"/>
              </a:rPr>
              <a:t>Heaps &amp; Priority Queues</a:t>
            </a:r>
          </a:p>
        </p:txBody>
      </p:sp>
      <p:sp>
        <p:nvSpPr>
          <p:cNvPr id="8" name="Rectangle 7"/>
          <p:cNvSpPr/>
          <p:nvPr/>
        </p:nvSpPr>
        <p:spPr>
          <a:xfrm>
            <a:off x="731520" y="3246120"/>
            <a:ext cx="5029200" cy="64008"/>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29000"/>
            <a:ext cx="7772400" cy="822960"/>
          </a:xfrm>
          <a:prstGeom prst="rect">
            <a:avLst/>
          </a:prstGeom>
          <a:noFill/>
        </p:spPr>
        <p:txBody>
          <a:bodyPr wrap="square" lIns="45720" rIns="45720" tIns="18288" bIns="18288" anchor="t">
            <a:spAutoFit/>
          </a:bodyPr>
          <a:lstStyle/>
          <a:p>
            <a:pPr algn="l"/>
            <a:r>
              <a:rPr sz="1700" b="0" i="1">
                <a:solidFill>
                  <a:srgbClr val="F2F4F7"/>
                </a:solidFill>
                <a:latin typeface="Calibri"/>
              </a:rPr>
              <a:t>Efficiently locating the minimum or maximum element — from the heap property to real-world scheduling algorithms.</a:t>
            </a:r>
          </a:p>
        </p:txBody>
      </p:sp>
      <p:sp>
        <p:nvSpPr>
          <p:cNvPr id="10" name="Rounded Rectangle 9"/>
          <p:cNvSpPr/>
          <p:nvPr/>
        </p:nvSpPr>
        <p:spPr>
          <a:xfrm>
            <a:off x="731520" y="4434840"/>
            <a:ext cx="1956816" cy="384048"/>
          </a:xfrm>
          <a:prstGeom prst="roundRect">
            <a:avLst>
              <a:gd name="adj" fmla="val 5000"/>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434840"/>
            <a:ext cx="1956816" cy="384048"/>
          </a:xfrm>
          <a:prstGeom prst="rect">
            <a:avLst/>
          </a:prstGeom>
          <a:noFill/>
        </p:spPr>
        <p:txBody>
          <a:bodyPr wrap="square" lIns="45720" rIns="45720" tIns="18288" bIns="18288" anchor="ctr">
            <a:spAutoFit/>
          </a:bodyPr>
          <a:lstStyle/>
          <a:p>
            <a:pPr algn="ctr"/>
            <a:r>
              <a:rPr sz="1300" b="1" i="0">
                <a:solidFill>
                  <a:srgbClr val="FFFFFF"/>
                </a:solidFill>
                <a:latin typeface="Calibri"/>
              </a:rPr>
              <a:t>Binary Heap</a:t>
            </a:r>
          </a:p>
        </p:txBody>
      </p:sp>
      <p:sp>
        <p:nvSpPr>
          <p:cNvPr id="12" name="Rounded Rectangle 11"/>
          <p:cNvSpPr/>
          <p:nvPr/>
        </p:nvSpPr>
        <p:spPr>
          <a:xfrm>
            <a:off x="2852928" y="4434840"/>
            <a:ext cx="2980944" cy="384048"/>
          </a:xfrm>
          <a:prstGeom prst="roundRect">
            <a:avLst>
              <a:gd name="adj" fmla="val 5000"/>
            </a:avLst>
          </a:prstGeom>
          <a:solidFill>
            <a:srgbClr val="277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2928" y="4434840"/>
            <a:ext cx="2980944" cy="384048"/>
          </a:xfrm>
          <a:prstGeom prst="rect">
            <a:avLst/>
          </a:prstGeom>
          <a:noFill/>
        </p:spPr>
        <p:txBody>
          <a:bodyPr wrap="square" lIns="45720" rIns="45720" tIns="18288" bIns="18288" anchor="ctr">
            <a:spAutoFit/>
          </a:bodyPr>
          <a:lstStyle/>
          <a:p>
            <a:pPr algn="ctr"/>
            <a:r>
              <a:rPr sz="1300" b="1" i="0">
                <a:solidFill>
                  <a:srgbClr val="FFFFFF"/>
                </a:solidFill>
                <a:latin typeface="Calibri"/>
              </a:rPr>
              <a:t>Min-Heap / Max-Heap</a:t>
            </a:r>
          </a:p>
        </p:txBody>
      </p:sp>
      <p:sp>
        <p:nvSpPr>
          <p:cNvPr id="14" name="Rounded Rectangle 13"/>
          <p:cNvSpPr/>
          <p:nvPr/>
        </p:nvSpPr>
        <p:spPr>
          <a:xfrm>
            <a:off x="5998464" y="4434840"/>
            <a:ext cx="2340864" cy="384048"/>
          </a:xfrm>
          <a:prstGeom prst="roundRect">
            <a:avLst>
              <a:gd name="adj" fmla="val 5000"/>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98464" y="4434840"/>
            <a:ext cx="2340864" cy="384048"/>
          </a:xfrm>
          <a:prstGeom prst="rect">
            <a:avLst/>
          </a:prstGeom>
          <a:noFill/>
        </p:spPr>
        <p:txBody>
          <a:bodyPr wrap="square" lIns="45720" rIns="45720" tIns="18288" bIns="18288" anchor="ctr">
            <a:spAutoFit/>
          </a:bodyPr>
          <a:lstStyle/>
          <a:p>
            <a:pPr algn="ctr"/>
            <a:r>
              <a:rPr sz="1300" b="1" i="0">
                <a:solidFill>
                  <a:srgbClr val="FFFFFF"/>
                </a:solidFill>
                <a:latin typeface="Calibri"/>
              </a:rPr>
              <a:t>Priority Queue</a:t>
            </a:r>
          </a:p>
        </p:txBody>
      </p:sp>
      <p:sp>
        <p:nvSpPr>
          <p:cNvPr id="16" name="Rounded Rectangle 15"/>
          <p:cNvSpPr/>
          <p:nvPr/>
        </p:nvSpPr>
        <p:spPr>
          <a:xfrm>
            <a:off x="8503920" y="4434840"/>
            <a:ext cx="2468880" cy="384048"/>
          </a:xfrm>
          <a:prstGeom prst="roundRect">
            <a:avLst>
              <a:gd name="adj" fmla="val 5000"/>
            </a:avLst>
          </a:prstGeom>
          <a:solidFill>
            <a:srgbClr val="D473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0" y="4434840"/>
            <a:ext cx="2468880" cy="384048"/>
          </a:xfrm>
          <a:prstGeom prst="rect">
            <a:avLst/>
          </a:prstGeom>
          <a:noFill/>
        </p:spPr>
        <p:txBody>
          <a:bodyPr wrap="square" lIns="45720" rIns="45720" tIns="18288" bIns="18288" anchor="ctr">
            <a:spAutoFit/>
          </a:bodyPr>
          <a:lstStyle/>
          <a:p>
            <a:pPr algn="ctr"/>
            <a:r>
              <a:rPr sz="1300" b="1" i="0">
                <a:solidFill>
                  <a:srgbClr val="FFFFFF"/>
                </a:solidFill>
                <a:latin typeface="Calibri"/>
              </a:rPr>
              <a:t>Sift Operations</a:t>
            </a:r>
          </a:p>
        </p:txBody>
      </p:sp>
      <p:sp>
        <p:nvSpPr>
          <p:cNvPr id="18" name="Rounded Rectangle 17"/>
          <p:cNvSpPr/>
          <p:nvPr/>
        </p:nvSpPr>
        <p:spPr>
          <a:xfrm>
            <a:off x="11137392" y="4434840"/>
            <a:ext cx="3108960" cy="384048"/>
          </a:xfrm>
          <a:prstGeom prst="roundRect">
            <a:avLst>
              <a:gd name="adj" fmla="val 5000"/>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137392" y="4434840"/>
            <a:ext cx="3108960" cy="384048"/>
          </a:xfrm>
          <a:prstGeom prst="rect">
            <a:avLst/>
          </a:prstGeom>
          <a:noFill/>
        </p:spPr>
        <p:txBody>
          <a:bodyPr wrap="square" lIns="45720" rIns="45720" tIns="18288" bIns="18288" anchor="ctr">
            <a:spAutoFit/>
          </a:bodyPr>
          <a:lstStyle/>
          <a:p>
            <a:pPr algn="ctr"/>
            <a:r>
              <a:rPr sz="1300" b="1" i="0">
                <a:solidFill>
                  <a:srgbClr val="FFFFFF"/>
                </a:solidFill>
                <a:latin typeface="Calibri"/>
              </a:rPr>
              <a:t>K-th Largest Element</a:t>
            </a:r>
          </a:p>
        </p:txBody>
      </p:sp>
      <p:sp>
        <p:nvSpPr>
          <p:cNvPr id="20" name="TextBox 19"/>
          <p:cNvSpPr txBox="1"/>
          <p:nvPr/>
        </p:nvSpPr>
        <p:spPr>
          <a:xfrm>
            <a:off x="731520" y="6035040"/>
            <a:ext cx="5486400" cy="320040"/>
          </a:xfrm>
          <a:prstGeom prst="rect">
            <a:avLst/>
          </a:prstGeom>
          <a:noFill/>
        </p:spPr>
        <p:txBody>
          <a:bodyPr wrap="square" lIns="45720" rIns="45720" tIns="18288" bIns="18288" anchor="t">
            <a:spAutoFit/>
          </a:bodyPr>
          <a:lstStyle/>
          <a:p>
            <a:pPr algn="l"/>
            <a:r>
              <a:rPr sz="1300" b="0" i="1">
                <a:solidFill>
                  <a:srgbClr val="F2F4F7"/>
                </a:solidFill>
                <a:latin typeface="Calibri"/>
              </a:rPr>
              <a:t>ATU  ·  Computer Science  ·  2024 –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Agenda</a:t>
            </a:r>
          </a:p>
        </p:txBody>
      </p:sp>
      <p:sp>
        <p:nvSpPr>
          <p:cNvPr id="6" name="TextBox 5"/>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What we cover this week</a:t>
            </a:r>
          </a:p>
        </p:txBody>
      </p:sp>
      <p:sp>
        <p:nvSpPr>
          <p:cNvPr id="7" name="Rectangle 6"/>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82296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07  ·  Heaps &amp; Priority Queues</a:t>
            </a:r>
          </a:p>
        </p:txBody>
      </p:sp>
      <p:sp>
        <p:nvSpPr>
          <p:cNvPr id="9" name="TextBox 8"/>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2 / 15</a:t>
            </a:r>
          </a:p>
        </p:txBody>
      </p:sp>
      <p:sp>
        <p:nvSpPr>
          <p:cNvPr id="10" name="TextBox 9"/>
          <p:cNvSpPr txBox="1"/>
          <p:nvPr/>
        </p:nvSpPr>
        <p:spPr>
          <a:xfrm>
            <a:off x="731520" y="1371600"/>
            <a:ext cx="10515600" cy="5029200"/>
          </a:xfrm>
          <a:prstGeom prst="rect">
            <a:avLst/>
          </a:prstGeom>
          <a:noFill/>
        </p:spPr>
        <p:txBody>
          <a:bodyPr wrap="square">
            <a:spAutoFit/>
          </a:bodyPr>
          <a:lstStyle/>
          <a:p>
            <a:pPr>
              <a:lnSpc>
                <a:spcPct val="130000"/>
              </a:lnSpc>
              <a:spcAft>
                <a:spcPts val="400"/>
              </a:spcAft>
            </a:pPr>
            <a:r>
              <a:rPr sz="1800" b="1">
                <a:solidFill>
                  <a:srgbClr val="127A8A"/>
                </a:solidFill>
                <a:latin typeface="Calibri"/>
              </a:rPr>
              <a:t>▸  </a:t>
            </a:r>
            <a:r>
              <a:rPr sz="1800">
                <a:solidFill>
                  <a:srgbClr val="333D4A"/>
                </a:solidFill>
                <a:latin typeface="Calibri"/>
              </a:rPr>
              <a:t>1.  What is a Binary Heap?</a:t>
            </a:r>
          </a:p>
          <a:p>
            <a:pPr>
              <a:lnSpc>
                <a:spcPct val="130000"/>
              </a:lnSpc>
              <a:spcAft>
                <a:spcPts val="400"/>
              </a:spcAft>
            </a:pPr>
            <a:r>
              <a:rPr sz="1800" b="1">
                <a:solidFill>
                  <a:srgbClr val="127A8A"/>
                </a:solidFill>
                <a:latin typeface="Calibri"/>
              </a:rPr>
              <a:t>▸  </a:t>
            </a:r>
            <a:r>
              <a:rPr sz="1800">
                <a:solidFill>
                  <a:srgbClr val="333D4A"/>
                </a:solidFill>
                <a:latin typeface="Calibri"/>
              </a:rPr>
              <a:t>2.  The Heap Property — Min-Heap vs. Max-Heap</a:t>
            </a:r>
          </a:p>
          <a:p>
            <a:pPr>
              <a:lnSpc>
                <a:spcPct val="130000"/>
              </a:lnSpc>
              <a:spcAft>
                <a:spcPts val="400"/>
              </a:spcAft>
            </a:pPr>
            <a:r>
              <a:rPr sz="1800" b="1">
                <a:solidFill>
                  <a:srgbClr val="127A8A"/>
                </a:solidFill>
                <a:latin typeface="Calibri"/>
              </a:rPr>
              <a:t>▸  </a:t>
            </a:r>
            <a:r>
              <a:rPr sz="1800">
                <a:solidFill>
                  <a:srgbClr val="333D4A"/>
                </a:solidFill>
                <a:latin typeface="Calibri"/>
              </a:rPr>
              <a:t>3.  Storing a Heap in a Plain Array</a:t>
            </a:r>
          </a:p>
          <a:p>
            <a:pPr>
              <a:lnSpc>
                <a:spcPct val="130000"/>
              </a:lnSpc>
              <a:spcAft>
                <a:spcPts val="400"/>
              </a:spcAft>
            </a:pPr>
            <a:r>
              <a:rPr sz="1800" b="1">
                <a:solidFill>
                  <a:srgbClr val="127A8A"/>
                </a:solidFill>
                <a:latin typeface="Calibri"/>
              </a:rPr>
              <a:t>▸  </a:t>
            </a:r>
            <a:r>
              <a:rPr sz="1800">
                <a:solidFill>
                  <a:srgbClr val="333D4A"/>
                </a:solidFill>
                <a:latin typeface="Calibri"/>
              </a:rPr>
              <a:t>4.  Sift-Up  (restoring the heap after insertion)</a:t>
            </a:r>
          </a:p>
          <a:p>
            <a:pPr>
              <a:lnSpc>
                <a:spcPct val="130000"/>
              </a:lnSpc>
              <a:spcAft>
                <a:spcPts val="400"/>
              </a:spcAft>
            </a:pPr>
            <a:r>
              <a:rPr sz="1800" b="1">
                <a:solidFill>
                  <a:srgbClr val="127A8A"/>
                </a:solidFill>
                <a:latin typeface="Calibri"/>
              </a:rPr>
              <a:t>▸  </a:t>
            </a:r>
            <a:r>
              <a:rPr sz="1800">
                <a:solidFill>
                  <a:srgbClr val="333D4A"/>
                </a:solidFill>
                <a:latin typeface="Calibri"/>
              </a:rPr>
              <a:t>5.  Sift-Down  (restoring the heap after extraction)</a:t>
            </a:r>
          </a:p>
          <a:p>
            <a:pPr>
              <a:lnSpc>
                <a:spcPct val="130000"/>
              </a:lnSpc>
              <a:spcAft>
                <a:spcPts val="400"/>
              </a:spcAft>
            </a:pPr>
            <a:r>
              <a:rPr sz="1800" b="1">
                <a:solidFill>
                  <a:srgbClr val="127A8A"/>
                </a:solidFill>
                <a:latin typeface="Calibri"/>
              </a:rPr>
              <a:t>▸  </a:t>
            </a:r>
            <a:r>
              <a:rPr sz="1800">
                <a:solidFill>
                  <a:srgbClr val="333D4A"/>
                </a:solidFill>
                <a:latin typeface="Calibri"/>
              </a:rPr>
              <a:t>6.  Worked Insert &amp; Extract Examples</a:t>
            </a:r>
          </a:p>
          <a:p>
            <a:pPr>
              <a:lnSpc>
                <a:spcPct val="130000"/>
              </a:lnSpc>
              <a:spcAft>
                <a:spcPts val="400"/>
              </a:spcAft>
            </a:pPr>
            <a:r>
              <a:rPr sz="1800" b="1">
                <a:solidFill>
                  <a:srgbClr val="127A8A"/>
                </a:solidFill>
                <a:latin typeface="Calibri"/>
              </a:rPr>
              <a:t>▸  </a:t>
            </a:r>
            <a:r>
              <a:rPr sz="1800">
                <a:solidFill>
                  <a:srgbClr val="333D4A"/>
                </a:solidFill>
                <a:latin typeface="Calibri"/>
              </a:rPr>
              <a:t>7.  Priority Queues and Real-World Applications</a:t>
            </a:r>
          </a:p>
          <a:p>
            <a:pPr>
              <a:lnSpc>
                <a:spcPct val="130000"/>
              </a:lnSpc>
              <a:spcAft>
                <a:spcPts val="400"/>
              </a:spcAft>
            </a:pPr>
            <a:r>
              <a:rPr sz="1800" b="1">
                <a:solidFill>
                  <a:srgbClr val="127A8A"/>
                </a:solidFill>
                <a:latin typeface="Calibri"/>
              </a:rPr>
              <a:t>▸  </a:t>
            </a:r>
            <a:r>
              <a:rPr sz="1800">
                <a:solidFill>
                  <a:srgbClr val="333D4A"/>
                </a:solidFill>
                <a:latin typeface="Calibri"/>
              </a:rPr>
              <a:t>8.  Python's heapq Module</a:t>
            </a:r>
          </a:p>
          <a:p>
            <a:pPr>
              <a:lnSpc>
                <a:spcPct val="130000"/>
              </a:lnSpc>
              <a:spcAft>
                <a:spcPts val="400"/>
              </a:spcAft>
            </a:pPr>
            <a:r>
              <a:rPr sz="1800" b="1">
                <a:solidFill>
                  <a:srgbClr val="127A8A"/>
                </a:solidFill>
                <a:latin typeface="Calibri"/>
              </a:rPr>
              <a:t>▸  </a:t>
            </a:r>
            <a:r>
              <a:rPr sz="1800">
                <a:solidFill>
                  <a:srgbClr val="333D4A"/>
                </a:solidFill>
                <a:latin typeface="Calibri"/>
              </a:rPr>
              <a:t>9.  K-th Largest Element Problem</a:t>
            </a:r>
          </a:p>
          <a:p>
            <a:pPr>
              <a:lnSpc>
                <a:spcPct val="130000"/>
              </a:lnSpc>
              <a:spcAft>
                <a:spcPts val="400"/>
              </a:spcAft>
            </a:pPr>
            <a:r>
              <a:rPr sz="1800" b="1">
                <a:solidFill>
                  <a:srgbClr val="127A8A"/>
                </a:solidFill>
                <a:latin typeface="Calibri"/>
              </a:rPr>
              <a:t>▸  </a:t>
            </a:r>
            <a:r>
              <a:rPr sz="1800">
                <a:solidFill>
                  <a:srgbClr val="333D4A"/>
                </a:solidFill>
                <a:latin typeface="Calibri"/>
              </a:rPr>
              <a:t>10. Floyd's O(N) Linear-Time Heap Construction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What Is a Binary Heap?</a:t>
            </a:r>
          </a:p>
        </p:txBody>
      </p:sp>
      <p:sp>
        <p:nvSpPr>
          <p:cNvPr id="6" name="TextBox 5"/>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Core concept</a:t>
            </a:r>
          </a:p>
        </p:txBody>
      </p:sp>
      <p:sp>
        <p:nvSpPr>
          <p:cNvPr id="7" name="Rectangle 6"/>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82296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07  ·  Heaps &amp; Priority Queues</a:t>
            </a:r>
          </a:p>
        </p:txBody>
      </p:sp>
      <p:sp>
        <p:nvSpPr>
          <p:cNvPr id="9" name="TextBox 8"/>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3 / 15</a:t>
            </a:r>
          </a:p>
        </p:txBody>
      </p:sp>
      <p:sp>
        <p:nvSpPr>
          <p:cNvPr id="10" name="TextBox 9"/>
          <p:cNvSpPr txBox="1"/>
          <p:nvPr/>
        </p:nvSpPr>
        <p:spPr>
          <a:xfrm>
            <a:off x="548640" y="1371600"/>
            <a:ext cx="5852160" cy="457200"/>
          </a:xfrm>
          <a:prstGeom prst="rect">
            <a:avLst/>
          </a:prstGeom>
          <a:noFill/>
        </p:spPr>
        <p:txBody>
          <a:bodyPr wrap="square" lIns="45720" rIns="45720" tIns="18288" bIns="18288" anchor="t">
            <a:spAutoFit/>
          </a:bodyPr>
          <a:lstStyle/>
          <a:p>
            <a:pPr algn="l"/>
            <a:r>
              <a:rPr sz="1900" b="1" i="0">
                <a:solidFill>
                  <a:srgbClr val="0B2A4A"/>
                </a:solidFill>
                <a:latin typeface="Calibri"/>
              </a:rPr>
              <a:t>Definition</a:t>
            </a:r>
          </a:p>
        </p:txBody>
      </p:sp>
      <p:sp>
        <p:nvSpPr>
          <p:cNvPr id="11" name="Rectangle 10"/>
          <p:cNvSpPr/>
          <p:nvPr/>
        </p:nvSpPr>
        <p:spPr>
          <a:xfrm>
            <a:off x="548640" y="1810512"/>
            <a:ext cx="146304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65960"/>
            <a:ext cx="5852160" cy="1828800"/>
          </a:xfrm>
          <a:prstGeom prst="rect">
            <a:avLst/>
          </a:prstGeom>
          <a:noFill/>
        </p:spPr>
        <p:txBody>
          <a:bodyPr wrap="square" lIns="45720" rIns="45720" tIns="18288" bIns="18288" anchor="t">
            <a:spAutoFit/>
          </a:bodyPr>
          <a:lstStyle/>
          <a:p>
            <a:pPr algn="l"/>
            <a:r>
              <a:rPr sz="1600" b="0" i="0">
                <a:solidFill>
                  <a:srgbClr val="333D4A"/>
                </a:solidFill>
                <a:latin typeface="Calibri"/>
              </a:rPr>
              <a:t>A Binary Heap is a special kind of complete binary tree designed to answer one specific question very efficiently:
“What is the absolute largest or smallest element in this dataset?”
It answers that question in O(1) time. Inserting or removing that top element while maintaining the heap structure takes O(log N) time.</a:t>
            </a:r>
          </a:p>
        </p:txBody>
      </p:sp>
      <p:sp>
        <p:nvSpPr>
          <p:cNvPr id="13" name="TextBox 12"/>
          <p:cNvSpPr txBox="1"/>
          <p:nvPr/>
        </p:nvSpPr>
        <p:spPr>
          <a:xfrm>
            <a:off x="548640" y="3977640"/>
            <a:ext cx="5852160" cy="365760"/>
          </a:xfrm>
          <a:prstGeom prst="rect">
            <a:avLst/>
          </a:prstGeom>
          <a:noFill/>
        </p:spPr>
        <p:txBody>
          <a:bodyPr wrap="square" lIns="45720" rIns="45720" tIns="18288" bIns="18288" anchor="t">
            <a:spAutoFit/>
          </a:bodyPr>
          <a:lstStyle/>
          <a:p>
            <a:pPr algn="l"/>
            <a:r>
              <a:rPr sz="1900" b="1" i="0">
                <a:solidFill>
                  <a:srgbClr val="0B2A4A"/>
                </a:solidFill>
                <a:latin typeface="Calibri"/>
              </a:rPr>
              <a:t>Structural Requirements</a:t>
            </a:r>
          </a:p>
        </p:txBody>
      </p:sp>
      <p:sp>
        <p:nvSpPr>
          <p:cNvPr id="14" name="Rectangle 13"/>
          <p:cNvSpPr/>
          <p:nvPr/>
        </p:nvSpPr>
        <p:spPr>
          <a:xfrm>
            <a:off x="548640" y="4370832"/>
            <a:ext cx="146304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526280"/>
            <a:ext cx="5852160" cy="1828800"/>
          </a:xfrm>
          <a:prstGeom prst="rect">
            <a:avLst/>
          </a:prstGeom>
          <a:noFill/>
        </p:spPr>
        <p:txBody>
          <a:bodyPr wrap="square">
            <a:spAutoFit/>
          </a:bodyPr>
          <a:lstStyle/>
          <a:p>
            <a:pPr>
              <a:lnSpc>
                <a:spcPct val="130000"/>
              </a:lnSpc>
              <a:spcAft>
                <a:spcPts val="600"/>
              </a:spcAft>
            </a:pPr>
            <a:r>
              <a:rPr sz="1600" b="1">
                <a:solidFill>
                  <a:srgbClr val="127A8A"/>
                </a:solidFill>
                <a:latin typeface="Calibri"/>
              </a:rPr>
              <a:t>▸  </a:t>
            </a:r>
            <a:r>
              <a:rPr sz="1600" b="1">
                <a:solidFill>
                  <a:srgbClr val="0B2A4A"/>
                </a:solidFill>
                <a:latin typeface="Calibri"/>
              </a:rPr>
              <a:t>Complete binary tree: </a:t>
            </a:r>
            <a:r>
              <a:rPr sz="1600">
                <a:solidFill>
                  <a:srgbClr val="333D4A"/>
                </a:solidFill>
                <a:latin typeface="Calibri"/>
              </a:rPr>
              <a:t>every level is fully filled except possibly the last, which is filled from left to right.</a:t>
            </a:r>
          </a:p>
          <a:p>
            <a:pPr>
              <a:lnSpc>
                <a:spcPct val="130000"/>
              </a:lnSpc>
              <a:spcAft>
                <a:spcPts val="600"/>
              </a:spcAft>
            </a:pPr>
            <a:r>
              <a:rPr sz="1600" b="1">
                <a:solidFill>
                  <a:srgbClr val="127A8A"/>
                </a:solidFill>
                <a:latin typeface="Calibri"/>
              </a:rPr>
              <a:t>▸  </a:t>
            </a:r>
            <a:r>
              <a:rPr sz="1600" b="1">
                <a:solidFill>
                  <a:srgbClr val="0B2A4A"/>
                </a:solidFill>
                <a:latin typeface="Calibri"/>
              </a:rPr>
              <a:t>Heap Property: </a:t>
            </a:r>
            <a:r>
              <a:rPr sz="1600">
                <a:solidFill>
                  <a:srgbClr val="333D4A"/>
                </a:solidFill>
                <a:latin typeface="Calibri"/>
              </a:rPr>
              <a:t>a strict ordering rule between every parent and its children (no ordering between siblings).</a:t>
            </a:r>
          </a:p>
          <a:p>
            <a:pPr>
              <a:lnSpc>
                <a:spcPct val="130000"/>
              </a:lnSpc>
              <a:spcAft>
                <a:spcPts val="600"/>
              </a:spcAft>
            </a:pPr>
            <a:r>
              <a:rPr sz="1600" b="1">
                <a:solidFill>
                  <a:srgbClr val="127A8A"/>
                </a:solidFill>
                <a:latin typeface="Calibri"/>
              </a:rPr>
              <a:t>▸  </a:t>
            </a:r>
            <a:r>
              <a:rPr sz="1600" b="1">
                <a:solidFill>
                  <a:srgbClr val="0B2A4A"/>
                </a:solidFill>
                <a:latin typeface="Calibri"/>
              </a:rPr>
              <a:t>No pointers needed: </a:t>
            </a:r>
            <a:r>
              <a:rPr sz="1600">
                <a:solidFill>
                  <a:srgbClr val="333D4A"/>
                </a:solidFill>
                <a:latin typeface="Calibri"/>
              </a:rPr>
              <a:t>because the tree is complete, it is stored in a plain array.</a:t>
            </a:r>
          </a:p>
        </p:txBody>
      </p:sp>
      <p:sp>
        <p:nvSpPr>
          <p:cNvPr id="16" name="Rectangle 15"/>
          <p:cNvSpPr/>
          <p:nvPr/>
        </p:nvSpPr>
        <p:spPr>
          <a:xfrm>
            <a:off x="6766560" y="1371600"/>
            <a:ext cx="4937760" cy="4114800"/>
          </a:xfrm>
          <a:prstGeom prst="rect">
            <a:avLst/>
          </a:prstGeom>
          <a:solidFill>
            <a:srgbClr val="FFFFFF"/>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66560" y="1371600"/>
            <a:ext cx="4937760" cy="5029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1371600"/>
            <a:ext cx="4937760" cy="502920"/>
          </a:xfrm>
          <a:prstGeom prst="rect">
            <a:avLst/>
          </a:prstGeom>
          <a:noFill/>
        </p:spPr>
        <p:txBody>
          <a:bodyPr wrap="square" lIns="45720" rIns="45720" tIns="18288" bIns="18288" anchor="ctr">
            <a:spAutoFit/>
          </a:bodyPr>
          <a:lstStyle/>
          <a:p>
            <a:pPr algn="ctr"/>
            <a:r>
              <a:rPr sz="1600" b="1" i="0">
                <a:solidFill>
                  <a:srgbClr val="FFFFFF"/>
                </a:solidFill>
                <a:latin typeface="Calibri"/>
              </a:rPr>
              <a:t>Time Complexity Summary</a:t>
            </a:r>
          </a:p>
        </p:txBody>
      </p:sp>
      <p:sp>
        <p:nvSpPr>
          <p:cNvPr id="19" name="Rectangle 18"/>
          <p:cNvSpPr/>
          <p:nvPr/>
        </p:nvSpPr>
        <p:spPr>
          <a:xfrm>
            <a:off x="6766560" y="1965960"/>
            <a:ext cx="4937760" cy="65836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76288" y="2057400"/>
            <a:ext cx="3291840" cy="475488"/>
          </a:xfrm>
          <a:prstGeom prst="rect">
            <a:avLst/>
          </a:prstGeom>
          <a:noFill/>
        </p:spPr>
        <p:txBody>
          <a:bodyPr wrap="square" lIns="45720" rIns="45720" tIns="18288" bIns="18288" anchor="ctr">
            <a:spAutoFit/>
          </a:bodyPr>
          <a:lstStyle/>
          <a:p>
            <a:pPr algn="l"/>
            <a:r>
              <a:rPr sz="1500" b="0" i="0">
                <a:solidFill>
                  <a:srgbClr val="333D4A"/>
                </a:solidFill>
                <a:latin typeface="Calibri"/>
              </a:rPr>
              <a:t>Peek minimum / maximum</a:t>
            </a:r>
          </a:p>
        </p:txBody>
      </p:sp>
      <p:sp>
        <p:nvSpPr>
          <p:cNvPr id="21" name="Rectangle 20"/>
          <p:cNvSpPr/>
          <p:nvPr/>
        </p:nvSpPr>
        <p:spPr>
          <a:xfrm>
            <a:off x="10241280" y="2075688"/>
            <a:ext cx="1234440" cy="43891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0" y="2075688"/>
            <a:ext cx="1234440" cy="438912"/>
          </a:xfrm>
          <a:prstGeom prst="rect">
            <a:avLst/>
          </a:prstGeom>
          <a:noFill/>
        </p:spPr>
        <p:txBody>
          <a:bodyPr wrap="square" lIns="45720" rIns="45720" tIns="18288" bIns="18288" anchor="ctr">
            <a:spAutoFit/>
          </a:bodyPr>
          <a:lstStyle/>
          <a:p>
            <a:pPr algn="ctr"/>
            <a:r>
              <a:rPr sz="1500" b="1" i="0">
                <a:solidFill>
                  <a:srgbClr val="0B2A4A"/>
                </a:solidFill>
                <a:latin typeface="Calibri"/>
              </a:rPr>
              <a:t>O(1)</a:t>
            </a:r>
          </a:p>
        </p:txBody>
      </p:sp>
      <p:sp>
        <p:nvSpPr>
          <p:cNvPr id="23" name="Rectangle 22"/>
          <p:cNvSpPr/>
          <p:nvPr/>
        </p:nvSpPr>
        <p:spPr>
          <a:xfrm>
            <a:off x="6766560" y="2624328"/>
            <a:ext cx="493776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76288" y="2715768"/>
            <a:ext cx="3291840" cy="475488"/>
          </a:xfrm>
          <a:prstGeom prst="rect">
            <a:avLst/>
          </a:prstGeom>
          <a:noFill/>
        </p:spPr>
        <p:txBody>
          <a:bodyPr wrap="square" lIns="45720" rIns="45720" tIns="18288" bIns="18288" anchor="ctr">
            <a:spAutoFit/>
          </a:bodyPr>
          <a:lstStyle/>
          <a:p>
            <a:pPr algn="l"/>
            <a:r>
              <a:rPr sz="1500" b="0" i="0">
                <a:solidFill>
                  <a:srgbClr val="333D4A"/>
                </a:solidFill>
                <a:latin typeface="Calibri"/>
              </a:rPr>
              <a:t>Insert an element</a:t>
            </a:r>
          </a:p>
        </p:txBody>
      </p:sp>
      <p:sp>
        <p:nvSpPr>
          <p:cNvPr id="25" name="Rectangle 24"/>
          <p:cNvSpPr/>
          <p:nvPr/>
        </p:nvSpPr>
        <p:spPr>
          <a:xfrm>
            <a:off x="10241280" y="2734056"/>
            <a:ext cx="1234440" cy="43891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41280" y="2734056"/>
            <a:ext cx="1234440" cy="438912"/>
          </a:xfrm>
          <a:prstGeom prst="rect">
            <a:avLst/>
          </a:prstGeom>
          <a:noFill/>
        </p:spPr>
        <p:txBody>
          <a:bodyPr wrap="square" lIns="45720" rIns="45720" tIns="18288" bIns="18288" anchor="ctr">
            <a:spAutoFit/>
          </a:bodyPr>
          <a:lstStyle/>
          <a:p>
            <a:pPr algn="ctr"/>
            <a:r>
              <a:rPr sz="1500" b="1" i="0">
                <a:solidFill>
                  <a:srgbClr val="0B2A4A"/>
                </a:solidFill>
                <a:latin typeface="Calibri"/>
              </a:rPr>
              <a:t>O(log N)</a:t>
            </a:r>
          </a:p>
        </p:txBody>
      </p:sp>
      <p:sp>
        <p:nvSpPr>
          <p:cNvPr id="27" name="Rectangle 26"/>
          <p:cNvSpPr/>
          <p:nvPr/>
        </p:nvSpPr>
        <p:spPr>
          <a:xfrm>
            <a:off x="6766560" y="3282696"/>
            <a:ext cx="4937760" cy="65836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76288" y="3374136"/>
            <a:ext cx="3291840" cy="475488"/>
          </a:xfrm>
          <a:prstGeom prst="rect">
            <a:avLst/>
          </a:prstGeom>
          <a:noFill/>
        </p:spPr>
        <p:txBody>
          <a:bodyPr wrap="square" lIns="45720" rIns="45720" tIns="18288" bIns="18288" anchor="ctr">
            <a:spAutoFit/>
          </a:bodyPr>
          <a:lstStyle/>
          <a:p>
            <a:pPr algn="l"/>
            <a:r>
              <a:rPr sz="1500" b="0" i="0">
                <a:solidFill>
                  <a:srgbClr val="333D4A"/>
                </a:solidFill>
                <a:latin typeface="Calibri"/>
              </a:rPr>
              <a:t>Remove minimum / maximum</a:t>
            </a:r>
          </a:p>
        </p:txBody>
      </p:sp>
      <p:sp>
        <p:nvSpPr>
          <p:cNvPr id="29" name="Rectangle 28"/>
          <p:cNvSpPr/>
          <p:nvPr/>
        </p:nvSpPr>
        <p:spPr>
          <a:xfrm>
            <a:off x="10241280" y="3392424"/>
            <a:ext cx="1234440" cy="43891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0" y="3392424"/>
            <a:ext cx="1234440" cy="438912"/>
          </a:xfrm>
          <a:prstGeom prst="rect">
            <a:avLst/>
          </a:prstGeom>
          <a:noFill/>
        </p:spPr>
        <p:txBody>
          <a:bodyPr wrap="square" lIns="45720" rIns="45720" tIns="18288" bIns="18288" anchor="ctr">
            <a:spAutoFit/>
          </a:bodyPr>
          <a:lstStyle/>
          <a:p>
            <a:pPr algn="ctr"/>
            <a:r>
              <a:rPr sz="1500" b="1" i="0">
                <a:solidFill>
                  <a:srgbClr val="0B2A4A"/>
                </a:solidFill>
                <a:latin typeface="Calibri"/>
              </a:rPr>
              <a:t>O(log N)</a:t>
            </a:r>
          </a:p>
        </p:txBody>
      </p:sp>
      <p:sp>
        <p:nvSpPr>
          <p:cNvPr id="31" name="Rectangle 30"/>
          <p:cNvSpPr/>
          <p:nvPr/>
        </p:nvSpPr>
        <p:spPr>
          <a:xfrm>
            <a:off x="6766560" y="3941064"/>
            <a:ext cx="493776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76288" y="4032504"/>
            <a:ext cx="3291840" cy="475488"/>
          </a:xfrm>
          <a:prstGeom prst="rect">
            <a:avLst/>
          </a:prstGeom>
          <a:noFill/>
        </p:spPr>
        <p:txBody>
          <a:bodyPr wrap="square" lIns="45720" rIns="45720" tIns="18288" bIns="18288" anchor="ctr">
            <a:spAutoFit/>
          </a:bodyPr>
          <a:lstStyle/>
          <a:p>
            <a:pPr algn="l"/>
            <a:r>
              <a:rPr sz="1500" b="0" i="0">
                <a:solidFill>
                  <a:srgbClr val="333D4A"/>
                </a:solidFill>
                <a:latin typeface="Calibri"/>
              </a:rPr>
              <a:t>Search for a value</a:t>
            </a:r>
          </a:p>
        </p:txBody>
      </p:sp>
      <p:sp>
        <p:nvSpPr>
          <p:cNvPr id="33" name="Rectangle 32"/>
          <p:cNvSpPr/>
          <p:nvPr/>
        </p:nvSpPr>
        <p:spPr>
          <a:xfrm>
            <a:off x="10241280" y="4050792"/>
            <a:ext cx="1234440" cy="43891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41280" y="4050792"/>
            <a:ext cx="1234440" cy="438912"/>
          </a:xfrm>
          <a:prstGeom prst="rect">
            <a:avLst/>
          </a:prstGeom>
          <a:noFill/>
        </p:spPr>
        <p:txBody>
          <a:bodyPr wrap="square" lIns="45720" rIns="45720" tIns="18288" bIns="18288" anchor="ctr">
            <a:spAutoFit/>
          </a:bodyPr>
          <a:lstStyle/>
          <a:p>
            <a:pPr algn="ctr"/>
            <a:r>
              <a:rPr sz="1500" b="1" i="0">
                <a:solidFill>
                  <a:srgbClr val="0B2A4A"/>
                </a:solidFill>
                <a:latin typeface="Calibri"/>
              </a:rPr>
              <a:t>O(N)</a:t>
            </a:r>
          </a:p>
        </p:txBody>
      </p:sp>
      <p:sp>
        <p:nvSpPr>
          <p:cNvPr id="35" name="Rectangle 34"/>
          <p:cNvSpPr/>
          <p:nvPr/>
        </p:nvSpPr>
        <p:spPr>
          <a:xfrm>
            <a:off x="6766560" y="4599432"/>
            <a:ext cx="4937760" cy="658368"/>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76288" y="4690872"/>
            <a:ext cx="3291840" cy="475488"/>
          </a:xfrm>
          <a:prstGeom prst="rect">
            <a:avLst/>
          </a:prstGeom>
          <a:noFill/>
        </p:spPr>
        <p:txBody>
          <a:bodyPr wrap="square" lIns="45720" rIns="45720" tIns="18288" bIns="18288" anchor="ctr">
            <a:spAutoFit/>
          </a:bodyPr>
          <a:lstStyle/>
          <a:p>
            <a:pPr algn="l"/>
            <a:r>
              <a:rPr sz="1500" b="0" i="0">
                <a:solidFill>
                  <a:srgbClr val="333D4A"/>
                </a:solidFill>
                <a:latin typeface="Calibri"/>
              </a:rPr>
              <a:t>Build heap from N items</a:t>
            </a:r>
          </a:p>
        </p:txBody>
      </p:sp>
      <p:sp>
        <p:nvSpPr>
          <p:cNvPr id="37" name="Rectangle 36"/>
          <p:cNvSpPr/>
          <p:nvPr/>
        </p:nvSpPr>
        <p:spPr>
          <a:xfrm>
            <a:off x="10241280" y="4709160"/>
            <a:ext cx="1234440" cy="43891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41280" y="4709160"/>
            <a:ext cx="1234440" cy="438912"/>
          </a:xfrm>
          <a:prstGeom prst="rect">
            <a:avLst/>
          </a:prstGeom>
          <a:noFill/>
        </p:spPr>
        <p:txBody>
          <a:bodyPr wrap="square" lIns="45720" rIns="45720" tIns="18288" bIns="18288" anchor="ctr">
            <a:spAutoFit/>
          </a:bodyPr>
          <a:lstStyle/>
          <a:p>
            <a:pPr algn="ctr"/>
            <a:r>
              <a:rPr sz="1500" b="1" i="0">
                <a:solidFill>
                  <a:srgbClr val="0B2A4A"/>
                </a:solidFill>
                <a:latin typeface="Calibri"/>
              </a:rPr>
              <a:t>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The Heap Property</a:t>
            </a:r>
          </a:p>
        </p:txBody>
      </p:sp>
      <p:sp>
        <p:nvSpPr>
          <p:cNvPr id="6" name="TextBox 5"/>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The rule every heap must obey</a:t>
            </a:r>
          </a:p>
        </p:txBody>
      </p:sp>
      <p:sp>
        <p:nvSpPr>
          <p:cNvPr id="7" name="Rectangle 6"/>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82296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07  ·  Heaps &amp; Priority Queues</a:t>
            </a:r>
          </a:p>
        </p:txBody>
      </p:sp>
      <p:sp>
        <p:nvSpPr>
          <p:cNvPr id="9" name="TextBox 8"/>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4 / 15</a:t>
            </a:r>
          </a:p>
        </p:txBody>
      </p:sp>
      <p:sp>
        <p:nvSpPr>
          <p:cNvPr id="10" name="Rectangle 9"/>
          <p:cNvSpPr/>
          <p:nvPr/>
        </p:nvSpPr>
        <p:spPr>
          <a:xfrm>
            <a:off x="502920" y="1325880"/>
            <a:ext cx="5577840" cy="5212080"/>
          </a:xfrm>
          <a:prstGeom prst="rect">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325880"/>
            <a:ext cx="5577840" cy="594360"/>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325880"/>
            <a:ext cx="5577840" cy="594360"/>
          </a:xfrm>
          <a:prstGeom prst="rect">
            <a:avLst/>
          </a:prstGeom>
          <a:noFill/>
        </p:spPr>
        <p:txBody>
          <a:bodyPr wrap="square" lIns="45720" rIns="45720" tIns="18288" bIns="18288" anchor="ctr">
            <a:spAutoFit/>
          </a:bodyPr>
          <a:lstStyle/>
          <a:p>
            <a:pPr algn="ctr"/>
            <a:r>
              <a:rPr sz="2200" b="1" i="0">
                <a:solidFill>
                  <a:srgbClr val="FFFFFF"/>
                </a:solidFill>
                <a:latin typeface="Calibri"/>
              </a:rPr>
              <a:t>Min-Heap</a:t>
            </a:r>
          </a:p>
        </p:txBody>
      </p:sp>
      <p:sp>
        <p:nvSpPr>
          <p:cNvPr id="13" name="TextBox 12"/>
          <p:cNvSpPr txBox="1"/>
          <p:nvPr/>
        </p:nvSpPr>
        <p:spPr>
          <a:xfrm>
            <a:off x="502920" y="1920240"/>
            <a:ext cx="5577840" cy="365760"/>
          </a:xfrm>
          <a:prstGeom prst="rect">
            <a:avLst/>
          </a:prstGeom>
          <a:noFill/>
        </p:spPr>
        <p:txBody>
          <a:bodyPr wrap="square" lIns="45720" rIns="45720" tIns="18288" bIns="18288" anchor="t">
            <a:spAutoFit/>
          </a:bodyPr>
          <a:lstStyle/>
          <a:p>
            <a:pPr algn="ctr"/>
            <a:r>
              <a:rPr sz="1300" b="0" i="1">
                <a:solidFill>
                  <a:srgbClr val="127A8A"/>
                </a:solidFill>
                <a:latin typeface="Calibri"/>
              </a:rPr>
              <a:t>Parent ≤ Both Children  →  Root = Minimum</a:t>
            </a:r>
          </a:p>
        </p:txBody>
      </p:sp>
      <p:cxnSp>
        <p:nvCxnSpPr>
          <p:cNvPr id="14" name="Connector 13"/>
          <p:cNvCxnSpPr/>
          <p:nvPr/>
        </p:nvCxnSpPr>
        <p:spPr>
          <a:xfrm flipH="1">
            <a:off x="2103120" y="2450592"/>
            <a:ext cx="1097280" cy="402336"/>
          </a:xfrm>
          <a:prstGeom prst="line">
            <a:avLst/>
          </a:prstGeom>
          <a:ln w="22225">
            <a:solidFill>
              <a:srgbClr val="127A8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200400" y="2450592"/>
            <a:ext cx="1097280" cy="402336"/>
          </a:xfrm>
          <a:prstGeom prst="line">
            <a:avLst/>
          </a:prstGeom>
          <a:ln w="22225">
            <a:solidFill>
              <a:srgbClr val="127A8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371600" y="3547872"/>
            <a:ext cx="731520" cy="402336"/>
          </a:xfrm>
          <a:prstGeom prst="line">
            <a:avLst/>
          </a:prstGeom>
          <a:ln w="22225">
            <a:solidFill>
              <a:srgbClr val="127A8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03120" y="3547872"/>
            <a:ext cx="731520" cy="402336"/>
          </a:xfrm>
          <a:prstGeom prst="line">
            <a:avLst/>
          </a:prstGeom>
          <a:ln w="22225">
            <a:solidFill>
              <a:srgbClr val="127A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3749039" y="3547872"/>
            <a:ext cx="548641" cy="402336"/>
          </a:xfrm>
          <a:prstGeom prst="line">
            <a:avLst/>
          </a:prstGeom>
          <a:ln w="22225">
            <a:solidFill>
              <a:srgbClr val="127A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297680" y="3547872"/>
            <a:ext cx="731520" cy="402336"/>
          </a:xfrm>
          <a:prstGeom prst="line">
            <a:avLst/>
          </a:prstGeom>
          <a:ln w="22225">
            <a:solidFill>
              <a:srgbClr val="127A8A"/>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2852928" y="1755648"/>
            <a:ext cx="694944" cy="694944"/>
          </a:xfrm>
          <a:prstGeom prst="ellipse">
            <a:avLst/>
          </a:prstGeom>
          <a:solidFill>
            <a:srgbClr val="127A8A"/>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2928" y="1755648"/>
            <a:ext cx="694944" cy="694944"/>
          </a:xfrm>
          <a:prstGeom prst="rect">
            <a:avLst/>
          </a:prstGeom>
          <a:noFill/>
        </p:spPr>
        <p:txBody>
          <a:bodyPr wrap="square" lIns="45720" rIns="45720" tIns="18288" bIns="18288" anchor="ctr">
            <a:spAutoFit/>
          </a:bodyPr>
          <a:lstStyle/>
          <a:p>
            <a:pPr algn="ctr"/>
            <a:r>
              <a:rPr sz="1600" b="1" i="0">
                <a:solidFill>
                  <a:srgbClr val="FFFFFF"/>
                </a:solidFill>
                <a:latin typeface="Calibri"/>
              </a:rPr>
              <a:t>1</a:t>
            </a:r>
          </a:p>
        </p:txBody>
      </p:sp>
      <p:sp>
        <p:nvSpPr>
          <p:cNvPr id="22" name="Oval 21"/>
          <p:cNvSpPr/>
          <p:nvPr/>
        </p:nvSpPr>
        <p:spPr>
          <a:xfrm>
            <a:off x="1755648" y="2852928"/>
            <a:ext cx="694944" cy="694944"/>
          </a:xfrm>
          <a:prstGeom prst="ellipse">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55648" y="2852928"/>
            <a:ext cx="694944" cy="694944"/>
          </a:xfrm>
          <a:prstGeom prst="rect">
            <a:avLst/>
          </a:prstGeom>
          <a:noFill/>
        </p:spPr>
        <p:txBody>
          <a:bodyPr wrap="square" lIns="45720" rIns="45720" tIns="18288" bIns="18288" anchor="ctr">
            <a:spAutoFit/>
          </a:bodyPr>
          <a:lstStyle/>
          <a:p>
            <a:pPr algn="ctr"/>
            <a:r>
              <a:rPr sz="1600" b="1" i="0">
                <a:solidFill>
                  <a:srgbClr val="333D4A"/>
                </a:solidFill>
                <a:latin typeface="Calibri"/>
              </a:rPr>
              <a:t>3</a:t>
            </a:r>
          </a:p>
        </p:txBody>
      </p:sp>
      <p:sp>
        <p:nvSpPr>
          <p:cNvPr id="24" name="Oval 23"/>
          <p:cNvSpPr/>
          <p:nvPr/>
        </p:nvSpPr>
        <p:spPr>
          <a:xfrm>
            <a:off x="3950208" y="2852928"/>
            <a:ext cx="694944" cy="694944"/>
          </a:xfrm>
          <a:prstGeom prst="ellipse">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50208" y="2852928"/>
            <a:ext cx="694944" cy="694944"/>
          </a:xfrm>
          <a:prstGeom prst="rect">
            <a:avLst/>
          </a:prstGeom>
          <a:noFill/>
        </p:spPr>
        <p:txBody>
          <a:bodyPr wrap="square" lIns="45720" rIns="45720" tIns="18288" bIns="18288" anchor="ctr">
            <a:spAutoFit/>
          </a:bodyPr>
          <a:lstStyle/>
          <a:p>
            <a:pPr algn="ctr"/>
            <a:r>
              <a:rPr sz="1600" b="1" i="0">
                <a:solidFill>
                  <a:srgbClr val="333D4A"/>
                </a:solidFill>
                <a:latin typeface="Calibri"/>
              </a:rPr>
              <a:t>5</a:t>
            </a:r>
          </a:p>
        </p:txBody>
      </p:sp>
      <p:sp>
        <p:nvSpPr>
          <p:cNvPr id="26" name="Oval 25"/>
          <p:cNvSpPr/>
          <p:nvPr/>
        </p:nvSpPr>
        <p:spPr>
          <a:xfrm>
            <a:off x="1024128" y="3950208"/>
            <a:ext cx="694944" cy="694944"/>
          </a:xfrm>
          <a:prstGeom prst="ellipse">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3950208"/>
            <a:ext cx="694944" cy="694944"/>
          </a:xfrm>
          <a:prstGeom prst="rect">
            <a:avLst/>
          </a:prstGeom>
          <a:noFill/>
        </p:spPr>
        <p:txBody>
          <a:bodyPr wrap="square" lIns="45720" rIns="45720" tIns="18288" bIns="18288" anchor="ctr">
            <a:spAutoFit/>
          </a:bodyPr>
          <a:lstStyle/>
          <a:p>
            <a:pPr algn="ctr"/>
            <a:r>
              <a:rPr sz="1600" b="1" i="0">
                <a:solidFill>
                  <a:srgbClr val="333D4A"/>
                </a:solidFill>
                <a:latin typeface="Calibri"/>
              </a:rPr>
              <a:t>9</a:t>
            </a:r>
          </a:p>
        </p:txBody>
      </p:sp>
      <p:sp>
        <p:nvSpPr>
          <p:cNvPr id="28" name="Oval 27"/>
          <p:cNvSpPr/>
          <p:nvPr/>
        </p:nvSpPr>
        <p:spPr>
          <a:xfrm>
            <a:off x="2487168" y="3950208"/>
            <a:ext cx="694944" cy="694944"/>
          </a:xfrm>
          <a:prstGeom prst="ellipse">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487168" y="3950208"/>
            <a:ext cx="694944" cy="694944"/>
          </a:xfrm>
          <a:prstGeom prst="rect">
            <a:avLst/>
          </a:prstGeom>
          <a:noFill/>
        </p:spPr>
        <p:txBody>
          <a:bodyPr wrap="square" lIns="45720" rIns="45720" tIns="18288" bIns="18288" anchor="ctr">
            <a:spAutoFit/>
          </a:bodyPr>
          <a:lstStyle/>
          <a:p>
            <a:pPr algn="ctr"/>
            <a:r>
              <a:rPr sz="1600" b="1" i="0">
                <a:solidFill>
                  <a:srgbClr val="333D4A"/>
                </a:solidFill>
                <a:latin typeface="Calibri"/>
              </a:rPr>
              <a:t>7</a:t>
            </a:r>
          </a:p>
        </p:txBody>
      </p:sp>
      <p:sp>
        <p:nvSpPr>
          <p:cNvPr id="30" name="Oval 29"/>
          <p:cNvSpPr/>
          <p:nvPr/>
        </p:nvSpPr>
        <p:spPr>
          <a:xfrm>
            <a:off x="3401567" y="3950208"/>
            <a:ext cx="694944" cy="694944"/>
          </a:xfrm>
          <a:prstGeom prst="ellipse">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01567" y="3950208"/>
            <a:ext cx="694944" cy="694944"/>
          </a:xfrm>
          <a:prstGeom prst="rect">
            <a:avLst/>
          </a:prstGeom>
          <a:noFill/>
        </p:spPr>
        <p:txBody>
          <a:bodyPr wrap="square" lIns="45720" rIns="45720" tIns="18288" bIns="18288" anchor="ctr">
            <a:spAutoFit/>
          </a:bodyPr>
          <a:lstStyle/>
          <a:p>
            <a:pPr algn="ctr"/>
            <a:r>
              <a:rPr sz="1600" b="1" i="0">
                <a:solidFill>
                  <a:srgbClr val="333D4A"/>
                </a:solidFill>
                <a:latin typeface="Calibri"/>
              </a:rPr>
              <a:t>6</a:t>
            </a:r>
          </a:p>
        </p:txBody>
      </p:sp>
      <p:sp>
        <p:nvSpPr>
          <p:cNvPr id="32" name="Oval 31"/>
          <p:cNvSpPr/>
          <p:nvPr/>
        </p:nvSpPr>
        <p:spPr>
          <a:xfrm>
            <a:off x="4681728" y="3950208"/>
            <a:ext cx="694944" cy="694944"/>
          </a:xfrm>
          <a:prstGeom prst="ellipse">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81728" y="3950208"/>
            <a:ext cx="694944" cy="694944"/>
          </a:xfrm>
          <a:prstGeom prst="rect">
            <a:avLst/>
          </a:prstGeom>
          <a:noFill/>
        </p:spPr>
        <p:txBody>
          <a:bodyPr wrap="square" lIns="45720" rIns="45720" tIns="18288" bIns="18288" anchor="ctr">
            <a:spAutoFit/>
          </a:bodyPr>
          <a:lstStyle/>
          <a:p>
            <a:pPr algn="ctr"/>
            <a:r>
              <a:rPr sz="1600" b="1" i="0">
                <a:solidFill>
                  <a:srgbClr val="333D4A"/>
                </a:solidFill>
                <a:latin typeface="Calibri"/>
              </a:rPr>
              <a:t>8</a:t>
            </a:r>
          </a:p>
        </p:txBody>
      </p:sp>
      <p:sp>
        <p:nvSpPr>
          <p:cNvPr id="34" name="Rectangle 33"/>
          <p:cNvSpPr/>
          <p:nvPr/>
        </p:nvSpPr>
        <p:spPr>
          <a:xfrm>
            <a:off x="6629400" y="1325880"/>
            <a:ext cx="5577840" cy="5212080"/>
          </a:xfrm>
          <a:prstGeom prst="rect">
            <a:avLst/>
          </a:prstGeom>
          <a:solidFill>
            <a:srgbClr val="FFFFFF"/>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629400" y="1325880"/>
            <a:ext cx="5577840" cy="5943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400" y="1325880"/>
            <a:ext cx="5577840" cy="594360"/>
          </a:xfrm>
          <a:prstGeom prst="rect">
            <a:avLst/>
          </a:prstGeom>
          <a:noFill/>
        </p:spPr>
        <p:txBody>
          <a:bodyPr wrap="square" lIns="45720" rIns="45720" tIns="18288" bIns="18288" anchor="ctr">
            <a:spAutoFit/>
          </a:bodyPr>
          <a:lstStyle/>
          <a:p>
            <a:pPr algn="ctr"/>
            <a:r>
              <a:rPr sz="2200" b="1" i="0">
                <a:solidFill>
                  <a:srgbClr val="FFFFFF"/>
                </a:solidFill>
                <a:latin typeface="Calibri"/>
              </a:rPr>
              <a:t>Max-Heap</a:t>
            </a:r>
          </a:p>
        </p:txBody>
      </p:sp>
      <p:sp>
        <p:nvSpPr>
          <p:cNvPr id="37" name="TextBox 36"/>
          <p:cNvSpPr txBox="1"/>
          <p:nvPr/>
        </p:nvSpPr>
        <p:spPr>
          <a:xfrm>
            <a:off x="6629400" y="1920240"/>
            <a:ext cx="5577840" cy="365760"/>
          </a:xfrm>
          <a:prstGeom prst="rect">
            <a:avLst/>
          </a:prstGeom>
          <a:noFill/>
        </p:spPr>
        <p:txBody>
          <a:bodyPr wrap="square" lIns="45720" rIns="45720" tIns="18288" bIns="18288" anchor="t">
            <a:spAutoFit/>
          </a:bodyPr>
          <a:lstStyle/>
          <a:p>
            <a:pPr algn="ctr"/>
            <a:r>
              <a:rPr sz="1300" b="0" i="1">
                <a:solidFill>
                  <a:srgbClr val="C0392B"/>
                </a:solidFill>
                <a:latin typeface="Calibri"/>
              </a:rPr>
              <a:t>Parent ≥ Both Children  →  Root = Maximum</a:t>
            </a:r>
          </a:p>
        </p:txBody>
      </p:sp>
      <p:cxnSp>
        <p:nvCxnSpPr>
          <p:cNvPr id="38" name="Connector 37"/>
          <p:cNvCxnSpPr/>
          <p:nvPr/>
        </p:nvCxnSpPr>
        <p:spPr>
          <a:xfrm flipH="1">
            <a:off x="7680960" y="2450592"/>
            <a:ext cx="1097280" cy="402336"/>
          </a:xfrm>
          <a:prstGeom prst="line">
            <a:avLst/>
          </a:prstGeom>
          <a:ln w="22225">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778240" y="2450592"/>
            <a:ext cx="1097280" cy="402336"/>
          </a:xfrm>
          <a:prstGeom prst="line">
            <a:avLst/>
          </a:prstGeom>
          <a:ln w="22225">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949440" y="3547872"/>
            <a:ext cx="731520" cy="402336"/>
          </a:xfrm>
          <a:prstGeom prst="line">
            <a:avLst/>
          </a:prstGeom>
          <a:ln w="22225">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680960" y="3547872"/>
            <a:ext cx="731520" cy="402336"/>
          </a:xfrm>
          <a:prstGeom prst="line">
            <a:avLst/>
          </a:prstGeom>
          <a:ln w="22225">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9326880" y="3547872"/>
            <a:ext cx="548640" cy="402336"/>
          </a:xfrm>
          <a:prstGeom prst="line">
            <a:avLst/>
          </a:prstGeom>
          <a:ln w="22225">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875520" y="3547872"/>
            <a:ext cx="731520" cy="402336"/>
          </a:xfrm>
          <a:prstGeom prst="line">
            <a:avLst/>
          </a:prstGeom>
          <a:ln w="22225">
            <a:solidFill>
              <a:srgbClr val="C0392B"/>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8430768" y="1755648"/>
            <a:ext cx="694944" cy="694944"/>
          </a:xfrm>
          <a:prstGeom prst="ellipse">
            <a:avLst/>
          </a:prstGeom>
          <a:solidFill>
            <a:srgbClr val="C0392B"/>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30768" y="1755648"/>
            <a:ext cx="694944" cy="694944"/>
          </a:xfrm>
          <a:prstGeom prst="rect">
            <a:avLst/>
          </a:prstGeom>
          <a:noFill/>
        </p:spPr>
        <p:txBody>
          <a:bodyPr wrap="square" lIns="45720" rIns="45720" tIns="18288" bIns="18288" anchor="ctr">
            <a:spAutoFit/>
          </a:bodyPr>
          <a:lstStyle/>
          <a:p>
            <a:pPr algn="ctr"/>
            <a:r>
              <a:rPr sz="1600" b="1" i="0">
                <a:solidFill>
                  <a:srgbClr val="FFFFFF"/>
                </a:solidFill>
                <a:latin typeface="Calibri"/>
              </a:rPr>
              <a:t>9</a:t>
            </a:r>
          </a:p>
        </p:txBody>
      </p:sp>
      <p:sp>
        <p:nvSpPr>
          <p:cNvPr id="46" name="Oval 45"/>
          <p:cNvSpPr/>
          <p:nvPr/>
        </p:nvSpPr>
        <p:spPr>
          <a:xfrm>
            <a:off x="7333488" y="2852928"/>
            <a:ext cx="694944" cy="694944"/>
          </a:xfrm>
          <a:prstGeom prst="ellipse">
            <a:avLst/>
          </a:prstGeom>
          <a:solidFill>
            <a:srgbClr val="FFFFFF"/>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33488" y="2852928"/>
            <a:ext cx="694944" cy="694944"/>
          </a:xfrm>
          <a:prstGeom prst="rect">
            <a:avLst/>
          </a:prstGeom>
          <a:noFill/>
        </p:spPr>
        <p:txBody>
          <a:bodyPr wrap="square" lIns="45720" rIns="45720" tIns="18288" bIns="18288" anchor="ctr">
            <a:spAutoFit/>
          </a:bodyPr>
          <a:lstStyle/>
          <a:p>
            <a:pPr algn="ctr"/>
            <a:r>
              <a:rPr sz="1600" b="1" i="0">
                <a:solidFill>
                  <a:srgbClr val="333D4A"/>
                </a:solidFill>
                <a:latin typeface="Calibri"/>
              </a:rPr>
              <a:t>7</a:t>
            </a:r>
          </a:p>
        </p:txBody>
      </p:sp>
      <p:sp>
        <p:nvSpPr>
          <p:cNvPr id="48" name="Oval 47"/>
          <p:cNvSpPr/>
          <p:nvPr/>
        </p:nvSpPr>
        <p:spPr>
          <a:xfrm>
            <a:off x="9528048" y="2852928"/>
            <a:ext cx="694944" cy="694944"/>
          </a:xfrm>
          <a:prstGeom prst="ellipse">
            <a:avLst/>
          </a:prstGeom>
          <a:solidFill>
            <a:srgbClr val="FFFFFF"/>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528048" y="2852928"/>
            <a:ext cx="694944" cy="694944"/>
          </a:xfrm>
          <a:prstGeom prst="rect">
            <a:avLst/>
          </a:prstGeom>
          <a:noFill/>
        </p:spPr>
        <p:txBody>
          <a:bodyPr wrap="square" lIns="45720" rIns="45720" tIns="18288" bIns="18288" anchor="ctr">
            <a:spAutoFit/>
          </a:bodyPr>
          <a:lstStyle/>
          <a:p>
            <a:pPr algn="ctr"/>
            <a:r>
              <a:rPr sz="1600" b="1" i="0">
                <a:solidFill>
                  <a:srgbClr val="333D4A"/>
                </a:solidFill>
                <a:latin typeface="Calibri"/>
              </a:rPr>
              <a:t>5</a:t>
            </a:r>
          </a:p>
        </p:txBody>
      </p:sp>
      <p:sp>
        <p:nvSpPr>
          <p:cNvPr id="50" name="Oval 49"/>
          <p:cNvSpPr/>
          <p:nvPr/>
        </p:nvSpPr>
        <p:spPr>
          <a:xfrm>
            <a:off x="6601968" y="3950208"/>
            <a:ext cx="694944" cy="694944"/>
          </a:xfrm>
          <a:prstGeom prst="ellipse">
            <a:avLst/>
          </a:prstGeom>
          <a:solidFill>
            <a:srgbClr val="FFFFFF"/>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01968" y="3950208"/>
            <a:ext cx="694944" cy="694944"/>
          </a:xfrm>
          <a:prstGeom prst="rect">
            <a:avLst/>
          </a:prstGeom>
          <a:noFill/>
        </p:spPr>
        <p:txBody>
          <a:bodyPr wrap="square" lIns="45720" rIns="45720" tIns="18288" bIns="18288" anchor="ctr">
            <a:spAutoFit/>
          </a:bodyPr>
          <a:lstStyle/>
          <a:p>
            <a:pPr algn="ctr"/>
            <a:r>
              <a:rPr sz="1600" b="1" i="0">
                <a:solidFill>
                  <a:srgbClr val="333D4A"/>
                </a:solidFill>
                <a:latin typeface="Calibri"/>
              </a:rPr>
              <a:t>1</a:t>
            </a:r>
          </a:p>
        </p:txBody>
      </p:sp>
      <p:sp>
        <p:nvSpPr>
          <p:cNvPr id="52" name="Oval 51"/>
          <p:cNvSpPr/>
          <p:nvPr/>
        </p:nvSpPr>
        <p:spPr>
          <a:xfrm>
            <a:off x="8065008" y="3950208"/>
            <a:ext cx="694944" cy="694944"/>
          </a:xfrm>
          <a:prstGeom prst="ellipse">
            <a:avLst/>
          </a:prstGeom>
          <a:solidFill>
            <a:srgbClr val="FFFFFF"/>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65008" y="3950208"/>
            <a:ext cx="694944" cy="694944"/>
          </a:xfrm>
          <a:prstGeom prst="rect">
            <a:avLst/>
          </a:prstGeom>
          <a:noFill/>
        </p:spPr>
        <p:txBody>
          <a:bodyPr wrap="square" lIns="45720" rIns="45720" tIns="18288" bIns="18288" anchor="ctr">
            <a:spAutoFit/>
          </a:bodyPr>
          <a:lstStyle/>
          <a:p>
            <a:pPr algn="ctr"/>
            <a:r>
              <a:rPr sz="1600" b="1" i="0">
                <a:solidFill>
                  <a:srgbClr val="333D4A"/>
                </a:solidFill>
                <a:latin typeface="Calibri"/>
              </a:rPr>
              <a:t>3</a:t>
            </a:r>
          </a:p>
        </p:txBody>
      </p:sp>
      <p:sp>
        <p:nvSpPr>
          <p:cNvPr id="54" name="Oval 53"/>
          <p:cNvSpPr/>
          <p:nvPr/>
        </p:nvSpPr>
        <p:spPr>
          <a:xfrm>
            <a:off x="8979408" y="3950208"/>
            <a:ext cx="694944" cy="694944"/>
          </a:xfrm>
          <a:prstGeom prst="ellipse">
            <a:avLst/>
          </a:prstGeom>
          <a:solidFill>
            <a:srgbClr val="FFFFFF"/>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79408" y="3950208"/>
            <a:ext cx="694944" cy="694944"/>
          </a:xfrm>
          <a:prstGeom prst="rect">
            <a:avLst/>
          </a:prstGeom>
          <a:noFill/>
        </p:spPr>
        <p:txBody>
          <a:bodyPr wrap="square" lIns="45720" rIns="45720" tIns="18288" bIns="18288" anchor="ctr">
            <a:spAutoFit/>
          </a:bodyPr>
          <a:lstStyle/>
          <a:p>
            <a:pPr algn="ctr"/>
            <a:r>
              <a:rPr sz="1600" b="1" i="0">
                <a:solidFill>
                  <a:srgbClr val="333D4A"/>
                </a:solidFill>
                <a:latin typeface="Calibri"/>
              </a:rPr>
              <a:t>4</a:t>
            </a:r>
          </a:p>
        </p:txBody>
      </p:sp>
      <p:sp>
        <p:nvSpPr>
          <p:cNvPr id="56" name="Oval 55"/>
          <p:cNvSpPr/>
          <p:nvPr/>
        </p:nvSpPr>
        <p:spPr>
          <a:xfrm>
            <a:off x="10259568" y="3950208"/>
            <a:ext cx="694944" cy="694944"/>
          </a:xfrm>
          <a:prstGeom prst="ellipse">
            <a:avLst/>
          </a:prstGeom>
          <a:solidFill>
            <a:srgbClr val="FFFFFF"/>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259568" y="3950208"/>
            <a:ext cx="694944" cy="694944"/>
          </a:xfrm>
          <a:prstGeom prst="rect">
            <a:avLst/>
          </a:prstGeom>
          <a:noFill/>
        </p:spPr>
        <p:txBody>
          <a:bodyPr wrap="square" lIns="45720" rIns="45720" tIns="18288" bIns="18288" anchor="ctr">
            <a:spAutoFit/>
          </a:bodyPr>
          <a:lstStyle/>
          <a:p>
            <a:pPr algn="ctr"/>
            <a:r>
              <a:rPr sz="1600" b="1" i="0">
                <a:solidFill>
                  <a:srgbClr val="333D4A"/>
                </a:solidFill>
                <a:latin typeface="Calibri"/>
              </a:rPr>
              <a:t>2</a:t>
            </a:r>
          </a:p>
        </p:txBody>
      </p:sp>
      <p:sp>
        <p:nvSpPr>
          <p:cNvPr id="58" name="Rectangle 57"/>
          <p:cNvSpPr/>
          <p:nvPr/>
        </p:nvSpPr>
        <p:spPr>
          <a:xfrm>
            <a:off x="502920" y="6309360"/>
            <a:ext cx="11247120" cy="438912"/>
          </a:xfrm>
          <a:prstGeom prst="rect">
            <a:avLst/>
          </a:prstGeom>
          <a:solidFill>
            <a:srgbClr val="FFF3CD"/>
          </a:solidFill>
          <a:ln w="19050">
            <a:solidFill>
              <a:srgbClr val="E0A8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 y="6309360"/>
            <a:ext cx="11064240" cy="438912"/>
          </a:xfrm>
          <a:prstGeom prst="rect">
            <a:avLst/>
          </a:prstGeom>
          <a:noFill/>
        </p:spPr>
        <p:txBody>
          <a:bodyPr wrap="square" lIns="45720" rIns="45720" tIns="18288" bIns="18288" anchor="ctr">
            <a:spAutoFit/>
          </a:bodyPr>
          <a:lstStyle/>
          <a:p>
            <a:pPr algn="l"/>
            <a:r>
              <a:rPr sz="1300" b="0" i="1">
                <a:solidFill>
                  <a:srgbClr val="333D4A"/>
                </a:solidFill>
                <a:latin typeface="Calibri"/>
              </a:rPr>
              <a:t>Key distinction from Binary Search Trees:  In a heap, there is NO ordering between sibling nodes. A left child is not necessarily smaller than a right child.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Array Representation</a:t>
            </a:r>
          </a:p>
        </p:txBody>
      </p:sp>
      <p:sp>
        <p:nvSpPr>
          <p:cNvPr id="6" name="TextBox 5"/>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Storing the tree in a plain one-dimensional array</a:t>
            </a:r>
          </a:p>
        </p:txBody>
      </p:sp>
      <p:sp>
        <p:nvSpPr>
          <p:cNvPr id="7" name="Rectangle 6"/>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82296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07  ·  Heaps &amp; Priority Queues</a:t>
            </a:r>
          </a:p>
        </p:txBody>
      </p:sp>
      <p:sp>
        <p:nvSpPr>
          <p:cNvPr id="9" name="TextBox 8"/>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5 / 15</a:t>
            </a:r>
          </a:p>
        </p:txBody>
      </p:sp>
      <p:sp>
        <p:nvSpPr>
          <p:cNvPr id="10" name="TextBox 9"/>
          <p:cNvSpPr txBox="1"/>
          <p:nvPr/>
        </p:nvSpPr>
        <p:spPr>
          <a:xfrm>
            <a:off x="548640" y="1417320"/>
            <a:ext cx="5303520" cy="411480"/>
          </a:xfrm>
          <a:prstGeom prst="rect">
            <a:avLst/>
          </a:prstGeom>
          <a:noFill/>
        </p:spPr>
        <p:txBody>
          <a:bodyPr wrap="square" lIns="45720" rIns="45720" tIns="18288" bIns="18288" anchor="t">
            <a:spAutoFit/>
          </a:bodyPr>
          <a:lstStyle/>
          <a:p>
            <a:pPr algn="l"/>
            <a:r>
              <a:rPr sz="1900" b="1" i="0">
                <a:solidFill>
                  <a:srgbClr val="0B2A4A"/>
                </a:solidFill>
                <a:latin typeface="Calibri"/>
              </a:rPr>
              <a:t>Why an Array?</a:t>
            </a:r>
          </a:p>
        </p:txBody>
      </p:sp>
      <p:sp>
        <p:nvSpPr>
          <p:cNvPr id="11" name="Rectangle 10"/>
          <p:cNvSpPr/>
          <p:nvPr/>
        </p:nvSpPr>
        <p:spPr>
          <a:xfrm>
            <a:off x="548640" y="1810512"/>
            <a:ext cx="164592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01952"/>
            <a:ext cx="5303520" cy="1005840"/>
          </a:xfrm>
          <a:prstGeom prst="rect">
            <a:avLst/>
          </a:prstGeom>
          <a:noFill/>
        </p:spPr>
        <p:txBody>
          <a:bodyPr wrap="square" lIns="45720" rIns="45720" tIns="18288" bIns="18288" anchor="t">
            <a:spAutoFit/>
          </a:bodyPr>
          <a:lstStyle/>
          <a:p>
            <a:pPr algn="l"/>
            <a:r>
              <a:rPr sz="1500" b="0" i="0">
                <a:solidFill>
                  <a:srgbClr val="333D4A"/>
                </a:solidFill>
                <a:latin typeface="Calibri"/>
              </a:rPr>
              <a:t>Because a heap is always a complete binary tree, its nodes have no gaps. We can store the entire tree level by level in a standard array — no pointer or node class is required.</a:t>
            </a:r>
          </a:p>
        </p:txBody>
      </p:sp>
      <p:sp>
        <p:nvSpPr>
          <p:cNvPr id="13" name="TextBox 12"/>
          <p:cNvSpPr txBox="1"/>
          <p:nvPr/>
        </p:nvSpPr>
        <p:spPr>
          <a:xfrm>
            <a:off x="548640" y="2971800"/>
            <a:ext cx="5303520" cy="411480"/>
          </a:xfrm>
          <a:prstGeom prst="rect">
            <a:avLst/>
          </a:prstGeom>
          <a:noFill/>
        </p:spPr>
        <p:txBody>
          <a:bodyPr wrap="square" lIns="45720" rIns="45720" tIns="18288" bIns="18288" anchor="t">
            <a:spAutoFit/>
          </a:bodyPr>
          <a:lstStyle/>
          <a:p>
            <a:pPr algn="l"/>
            <a:r>
              <a:rPr sz="1900" b="1" i="0">
                <a:solidFill>
                  <a:srgbClr val="0B2A4A"/>
                </a:solidFill>
                <a:latin typeface="Calibri"/>
              </a:rPr>
              <a:t>Index Formulas  (0-indexed array)</a:t>
            </a:r>
          </a:p>
        </p:txBody>
      </p:sp>
      <p:sp>
        <p:nvSpPr>
          <p:cNvPr id="14" name="Rectangle 13"/>
          <p:cNvSpPr/>
          <p:nvPr/>
        </p:nvSpPr>
        <p:spPr>
          <a:xfrm>
            <a:off x="548640" y="3364992"/>
            <a:ext cx="164592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493008"/>
            <a:ext cx="2560320" cy="384048"/>
          </a:xfrm>
          <a:prstGeom prst="rect">
            <a:avLst/>
          </a:prstGeom>
          <a:noFill/>
        </p:spPr>
        <p:txBody>
          <a:bodyPr wrap="square" lIns="45720" rIns="45720" tIns="18288" bIns="18288" anchor="t">
            <a:spAutoFit/>
          </a:bodyPr>
          <a:lstStyle/>
          <a:p>
            <a:pPr algn="l"/>
            <a:r>
              <a:rPr sz="1400" b="0" i="1">
                <a:solidFill>
                  <a:srgbClr val="333D4A"/>
                </a:solidFill>
                <a:latin typeface="Calibri"/>
              </a:rPr>
              <a:t>Parent of node at index i:</a:t>
            </a:r>
          </a:p>
        </p:txBody>
      </p:sp>
      <p:sp>
        <p:nvSpPr>
          <p:cNvPr id="16" name="Rectangle 15"/>
          <p:cNvSpPr/>
          <p:nvPr/>
        </p:nvSpPr>
        <p:spPr>
          <a:xfrm>
            <a:off x="3154680" y="3511296"/>
            <a:ext cx="2560320" cy="347472"/>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54680" y="3511296"/>
            <a:ext cx="2560320" cy="347472"/>
          </a:xfrm>
          <a:prstGeom prst="rect">
            <a:avLst/>
          </a:prstGeom>
          <a:noFill/>
        </p:spPr>
        <p:txBody>
          <a:bodyPr wrap="square" lIns="45720" rIns="45720" tIns="18288" bIns="18288" anchor="ctr">
            <a:spAutoFit/>
          </a:bodyPr>
          <a:lstStyle/>
          <a:p>
            <a:pPr algn="ctr"/>
            <a:r>
              <a:rPr sz="1500" b="1" i="0">
                <a:solidFill>
                  <a:srgbClr val="FFFFFF"/>
                </a:solidFill>
                <a:latin typeface="Consolas"/>
              </a:rPr>
              <a:t>(i − 1) // 2</a:t>
            </a:r>
          </a:p>
        </p:txBody>
      </p:sp>
      <p:sp>
        <p:nvSpPr>
          <p:cNvPr id="18" name="TextBox 17"/>
          <p:cNvSpPr txBox="1"/>
          <p:nvPr/>
        </p:nvSpPr>
        <p:spPr>
          <a:xfrm>
            <a:off x="548640" y="4023360"/>
            <a:ext cx="2560320" cy="384048"/>
          </a:xfrm>
          <a:prstGeom prst="rect">
            <a:avLst/>
          </a:prstGeom>
          <a:noFill/>
        </p:spPr>
        <p:txBody>
          <a:bodyPr wrap="square" lIns="45720" rIns="45720" tIns="18288" bIns="18288" anchor="t">
            <a:spAutoFit/>
          </a:bodyPr>
          <a:lstStyle/>
          <a:p>
            <a:pPr algn="l"/>
            <a:r>
              <a:rPr sz="1400" b="0" i="1">
                <a:solidFill>
                  <a:srgbClr val="333D4A"/>
                </a:solidFill>
                <a:latin typeface="Calibri"/>
              </a:rPr>
              <a:t>Left child of node at i:</a:t>
            </a:r>
          </a:p>
        </p:txBody>
      </p:sp>
      <p:sp>
        <p:nvSpPr>
          <p:cNvPr id="19" name="Rectangle 18"/>
          <p:cNvSpPr/>
          <p:nvPr/>
        </p:nvSpPr>
        <p:spPr>
          <a:xfrm>
            <a:off x="3154680" y="4041648"/>
            <a:ext cx="2560320" cy="347472"/>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54680" y="4041648"/>
            <a:ext cx="2560320" cy="347472"/>
          </a:xfrm>
          <a:prstGeom prst="rect">
            <a:avLst/>
          </a:prstGeom>
          <a:noFill/>
        </p:spPr>
        <p:txBody>
          <a:bodyPr wrap="square" lIns="45720" rIns="45720" tIns="18288" bIns="18288" anchor="ctr">
            <a:spAutoFit/>
          </a:bodyPr>
          <a:lstStyle/>
          <a:p>
            <a:pPr algn="ctr"/>
            <a:r>
              <a:rPr sz="1500" b="1" i="0">
                <a:solidFill>
                  <a:srgbClr val="FFFFFF"/>
                </a:solidFill>
                <a:latin typeface="Consolas"/>
              </a:rPr>
              <a:t>2 × i + 1</a:t>
            </a:r>
          </a:p>
        </p:txBody>
      </p:sp>
      <p:sp>
        <p:nvSpPr>
          <p:cNvPr id="21" name="TextBox 20"/>
          <p:cNvSpPr txBox="1"/>
          <p:nvPr/>
        </p:nvSpPr>
        <p:spPr>
          <a:xfrm>
            <a:off x="548640" y="4553712"/>
            <a:ext cx="2560320" cy="384048"/>
          </a:xfrm>
          <a:prstGeom prst="rect">
            <a:avLst/>
          </a:prstGeom>
          <a:noFill/>
        </p:spPr>
        <p:txBody>
          <a:bodyPr wrap="square" lIns="45720" rIns="45720" tIns="18288" bIns="18288" anchor="t">
            <a:spAutoFit/>
          </a:bodyPr>
          <a:lstStyle/>
          <a:p>
            <a:pPr algn="l"/>
            <a:r>
              <a:rPr sz="1400" b="0" i="1">
                <a:solidFill>
                  <a:srgbClr val="333D4A"/>
                </a:solidFill>
                <a:latin typeface="Calibri"/>
              </a:rPr>
              <a:t>Right child of node at i:</a:t>
            </a:r>
          </a:p>
        </p:txBody>
      </p:sp>
      <p:sp>
        <p:nvSpPr>
          <p:cNvPr id="22" name="Rectangle 21"/>
          <p:cNvSpPr/>
          <p:nvPr/>
        </p:nvSpPr>
        <p:spPr>
          <a:xfrm>
            <a:off x="3154680" y="4572000"/>
            <a:ext cx="2560320" cy="347472"/>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54680" y="4572000"/>
            <a:ext cx="2560320" cy="347472"/>
          </a:xfrm>
          <a:prstGeom prst="rect">
            <a:avLst/>
          </a:prstGeom>
          <a:noFill/>
        </p:spPr>
        <p:txBody>
          <a:bodyPr wrap="square" lIns="45720" rIns="45720" tIns="18288" bIns="18288" anchor="ctr">
            <a:spAutoFit/>
          </a:bodyPr>
          <a:lstStyle/>
          <a:p>
            <a:pPr algn="ctr"/>
            <a:r>
              <a:rPr sz="1500" b="1" i="0">
                <a:solidFill>
                  <a:srgbClr val="FFFFFF"/>
                </a:solidFill>
                <a:latin typeface="Consolas"/>
              </a:rPr>
              <a:t>2 × i + 2</a:t>
            </a:r>
          </a:p>
        </p:txBody>
      </p:sp>
      <p:sp>
        <p:nvSpPr>
          <p:cNvPr id="24" name="TextBox 23"/>
          <p:cNvSpPr txBox="1"/>
          <p:nvPr/>
        </p:nvSpPr>
        <p:spPr>
          <a:xfrm>
            <a:off x="548640" y="5138928"/>
            <a:ext cx="5303520" cy="347472"/>
          </a:xfrm>
          <a:prstGeom prst="rect">
            <a:avLst/>
          </a:prstGeom>
          <a:noFill/>
        </p:spPr>
        <p:txBody>
          <a:bodyPr wrap="square" lIns="45720" rIns="45720" tIns="18288" bIns="18288" anchor="t">
            <a:spAutoFit/>
          </a:bodyPr>
          <a:lstStyle/>
          <a:p>
            <a:pPr algn="l"/>
            <a:r>
              <a:rPr sz="1400" b="1" i="1">
                <a:solidFill>
                  <a:srgbClr val="127A8A"/>
                </a:solidFill>
                <a:latin typeface="Calibri"/>
              </a:rPr>
              <a:t>The root is always stored at index 0.</a:t>
            </a:r>
          </a:p>
        </p:txBody>
      </p:sp>
      <p:sp>
        <p:nvSpPr>
          <p:cNvPr id="25" name="TextBox 24"/>
          <p:cNvSpPr txBox="1"/>
          <p:nvPr/>
        </p:nvSpPr>
        <p:spPr>
          <a:xfrm>
            <a:off x="6492240" y="1417320"/>
            <a:ext cx="5303520" cy="365760"/>
          </a:xfrm>
          <a:prstGeom prst="rect">
            <a:avLst/>
          </a:prstGeom>
          <a:noFill/>
        </p:spPr>
        <p:txBody>
          <a:bodyPr wrap="square" lIns="45720" rIns="45720" tIns="18288" bIns="18288" anchor="t">
            <a:spAutoFit/>
          </a:bodyPr>
          <a:lstStyle/>
          <a:p>
            <a:pPr algn="l"/>
            <a:r>
              <a:rPr sz="1700" b="1" i="0">
                <a:solidFill>
                  <a:srgbClr val="0B2A4A"/>
                </a:solidFill>
                <a:latin typeface="Calibri"/>
              </a:rPr>
              <a:t>Example:  Min-Heap  [1, 3, 5, 9, 7, 6, 8]</a:t>
            </a:r>
          </a:p>
        </p:txBody>
      </p:sp>
      <p:sp>
        <p:nvSpPr>
          <p:cNvPr id="26" name="Rectangle 25"/>
          <p:cNvSpPr/>
          <p:nvPr/>
        </p:nvSpPr>
        <p:spPr>
          <a:xfrm>
            <a:off x="6492240" y="1764792"/>
            <a:ext cx="182880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H="1">
            <a:off x="8229600" y="2706624"/>
            <a:ext cx="1005840" cy="347472"/>
          </a:xfrm>
          <a:prstGeom prst="line">
            <a:avLst/>
          </a:prstGeom>
          <a:ln w="22225">
            <a:solidFill>
              <a:srgbClr val="127A8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35440" y="2706624"/>
            <a:ext cx="1005840" cy="347472"/>
          </a:xfrm>
          <a:prstGeom prst="line">
            <a:avLst/>
          </a:prstGeom>
          <a:ln w="22225">
            <a:solidFill>
              <a:srgbClr val="127A8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7589520" y="3712464"/>
            <a:ext cx="640080" cy="347472"/>
          </a:xfrm>
          <a:prstGeom prst="line">
            <a:avLst/>
          </a:prstGeom>
          <a:ln w="22225">
            <a:solidFill>
              <a:srgbClr val="127A8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229600" y="3712464"/>
            <a:ext cx="640080" cy="347472"/>
          </a:xfrm>
          <a:prstGeom prst="line">
            <a:avLst/>
          </a:prstGeom>
          <a:ln w="22225">
            <a:solidFill>
              <a:srgbClr val="127A8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9784080" y="3712464"/>
            <a:ext cx="457200" cy="347472"/>
          </a:xfrm>
          <a:prstGeom prst="line">
            <a:avLst/>
          </a:prstGeom>
          <a:ln w="22225">
            <a:solidFill>
              <a:srgbClr val="127A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241280" y="3712464"/>
            <a:ext cx="822960" cy="347472"/>
          </a:xfrm>
          <a:prstGeom prst="line">
            <a:avLst/>
          </a:prstGeom>
          <a:ln w="22225">
            <a:solidFill>
              <a:srgbClr val="127A8A"/>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906256" y="2048256"/>
            <a:ext cx="658368" cy="658368"/>
          </a:xfrm>
          <a:prstGeom prst="ellipse">
            <a:avLst/>
          </a:prstGeom>
          <a:solidFill>
            <a:srgbClr val="127A8A"/>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06256" y="2048256"/>
            <a:ext cx="658368" cy="658368"/>
          </a:xfrm>
          <a:prstGeom prst="rect">
            <a:avLst/>
          </a:prstGeom>
          <a:noFill/>
        </p:spPr>
        <p:txBody>
          <a:bodyPr wrap="square" lIns="45720" rIns="45720" tIns="18288" bIns="18288" anchor="ctr">
            <a:spAutoFit/>
          </a:bodyPr>
          <a:lstStyle/>
          <a:p>
            <a:pPr algn="ctr"/>
            <a:r>
              <a:rPr sz="1500" b="1" i="0">
                <a:solidFill>
                  <a:srgbClr val="FFFFFF"/>
                </a:solidFill>
                <a:latin typeface="Calibri"/>
              </a:rPr>
              <a:t>1</a:t>
            </a:r>
          </a:p>
        </p:txBody>
      </p:sp>
      <p:sp>
        <p:nvSpPr>
          <p:cNvPr id="35" name="TextBox 34"/>
          <p:cNvSpPr txBox="1"/>
          <p:nvPr/>
        </p:nvSpPr>
        <p:spPr>
          <a:xfrm>
            <a:off x="8906256" y="1719072"/>
            <a:ext cx="658368" cy="256032"/>
          </a:xfrm>
          <a:prstGeom prst="rect">
            <a:avLst/>
          </a:prstGeom>
          <a:noFill/>
        </p:spPr>
        <p:txBody>
          <a:bodyPr wrap="square" lIns="45720" rIns="45720" tIns="18288" bIns="18288" anchor="t">
            <a:spAutoFit/>
          </a:bodyPr>
          <a:lstStyle/>
          <a:p>
            <a:pPr algn="ctr"/>
            <a:r>
              <a:rPr sz="1000" b="0" i="0">
                <a:solidFill>
                  <a:srgbClr val="333D4A"/>
                </a:solidFill>
                <a:latin typeface="Calibri"/>
              </a:rPr>
              <a:t>[0]</a:t>
            </a:r>
          </a:p>
        </p:txBody>
      </p:sp>
      <p:sp>
        <p:nvSpPr>
          <p:cNvPr id="36" name="Oval 35"/>
          <p:cNvSpPr/>
          <p:nvPr/>
        </p:nvSpPr>
        <p:spPr>
          <a:xfrm>
            <a:off x="7900416" y="3054096"/>
            <a:ext cx="658368" cy="658368"/>
          </a:xfrm>
          <a:prstGeom prst="ellipse">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00416" y="3054096"/>
            <a:ext cx="658368" cy="658368"/>
          </a:xfrm>
          <a:prstGeom prst="rect">
            <a:avLst/>
          </a:prstGeom>
          <a:noFill/>
        </p:spPr>
        <p:txBody>
          <a:bodyPr wrap="square" lIns="45720" rIns="45720" tIns="18288" bIns="18288" anchor="ctr">
            <a:spAutoFit/>
          </a:bodyPr>
          <a:lstStyle/>
          <a:p>
            <a:pPr algn="ctr"/>
            <a:r>
              <a:rPr sz="1500" b="1" i="0">
                <a:solidFill>
                  <a:srgbClr val="0B2A4A"/>
                </a:solidFill>
                <a:latin typeface="Calibri"/>
              </a:rPr>
              <a:t>3</a:t>
            </a:r>
          </a:p>
        </p:txBody>
      </p:sp>
      <p:sp>
        <p:nvSpPr>
          <p:cNvPr id="38" name="TextBox 37"/>
          <p:cNvSpPr txBox="1"/>
          <p:nvPr/>
        </p:nvSpPr>
        <p:spPr>
          <a:xfrm>
            <a:off x="7900416" y="2724912"/>
            <a:ext cx="658368" cy="256032"/>
          </a:xfrm>
          <a:prstGeom prst="rect">
            <a:avLst/>
          </a:prstGeom>
          <a:noFill/>
        </p:spPr>
        <p:txBody>
          <a:bodyPr wrap="square" lIns="45720" rIns="45720" tIns="18288" bIns="18288" anchor="t">
            <a:spAutoFit/>
          </a:bodyPr>
          <a:lstStyle/>
          <a:p>
            <a:pPr algn="ctr"/>
            <a:r>
              <a:rPr sz="1000" b="0" i="0">
                <a:solidFill>
                  <a:srgbClr val="333D4A"/>
                </a:solidFill>
                <a:latin typeface="Calibri"/>
              </a:rPr>
              <a:t>[1]</a:t>
            </a:r>
          </a:p>
        </p:txBody>
      </p:sp>
      <p:sp>
        <p:nvSpPr>
          <p:cNvPr id="39" name="Oval 38"/>
          <p:cNvSpPr/>
          <p:nvPr/>
        </p:nvSpPr>
        <p:spPr>
          <a:xfrm>
            <a:off x="9912096" y="3054096"/>
            <a:ext cx="658368" cy="658368"/>
          </a:xfrm>
          <a:prstGeom prst="ellipse">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912096" y="3054096"/>
            <a:ext cx="658368" cy="658368"/>
          </a:xfrm>
          <a:prstGeom prst="rect">
            <a:avLst/>
          </a:prstGeom>
          <a:noFill/>
        </p:spPr>
        <p:txBody>
          <a:bodyPr wrap="square" lIns="45720" rIns="45720" tIns="18288" bIns="18288" anchor="ctr">
            <a:spAutoFit/>
          </a:bodyPr>
          <a:lstStyle/>
          <a:p>
            <a:pPr algn="ctr"/>
            <a:r>
              <a:rPr sz="1500" b="1" i="0">
                <a:solidFill>
                  <a:srgbClr val="0B2A4A"/>
                </a:solidFill>
                <a:latin typeface="Calibri"/>
              </a:rPr>
              <a:t>5</a:t>
            </a:r>
          </a:p>
        </p:txBody>
      </p:sp>
      <p:sp>
        <p:nvSpPr>
          <p:cNvPr id="41" name="TextBox 40"/>
          <p:cNvSpPr txBox="1"/>
          <p:nvPr/>
        </p:nvSpPr>
        <p:spPr>
          <a:xfrm>
            <a:off x="9912096" y="2724912"/>
            <a:ext cx="658368" cy="256032"/>
          </a:xfrm>
          <a:prstGeom prst="rect">
            <a:avLst/>
          </a:prstGeom>
          <a:noFill/>
        </p:spPr>
        <p:txBody>
          <a:bodyPr wrap="square" lIns="45720" rIns="45720" tIns="18288" bIns="18288" anchor="t">
            <a:spAutoFit/>
          </a:bodyPr>
          <a:lstStyle/>
          <a:p>
            <a:pPr algn="ctr"/>
            <a:r>
              <a:rPr sz="1000" b="0" i="0">
                <a:solidFill>
                  <a:srgbClr val="333D4A"/>
                </a:solidFill>
                <a:latin typeface="Calibri"/>
              </a:rPr>
              <a:t>[2]</a:t>
            </a:r>
          </a:p>
        </p:txBody>
      </p:sp>
      <p:sp>
        <p:nvSpPr>
          <p:cNvPr id="42" name="Oval 41"/>
          <p:cNvSpPr/>
          <p:nvPr/>
        </p:nvSpPr>
        <p:spPr>
          <a:xfrm>
            <a:off x="7260336" y="4059936"/>
            <a:ext cx="658368" cy="658368"/>
          </a:xfrm>
          <a:prstGeom prst="ellipse">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60336" y="4059936"/>
            <a:ext cx="658368" cy="658368"/>
          </a:xfrm>
          <a:prstGeom prst="rect">
            <a:avLst/>
          </a:prstGeom>
          <a:noFill/>
        </p:spPr>
        <p:txBody>
          <a:bodyPr wrap="square" lIns="45720" rIns="45720" tIns="18288" bIns="18288" anchor="ctr">
            <a:spAutoFit/>
          </a:bodyPr>
          <a:lstStyle/>
          <a:p>
            <a:pPr algn="ctr"/>
            <a:r>
              <a:rPr sz="1500" b="1" i="0">
                <a:solidFill>
                  <a:srgbClr val="0B2A4A"/>
                </a:solidFill>
                <a:latin typeface="Calibri"/>
              </a:rPr>
              <a:t>9</a:t>
            </a:r>
          </a:p>
        </p:txBody>
      </p:sp>
      <p:sp>
        <p:nvSpPr>
          <p:cNvPr id="44" name="TextBox 43"/>
          <p:cNvSpPr txBox="1"/>
          <p:nvPr/>
        </p:nvSpPr>
        <p:spPr>
          <a:xfrm>
            <a:off x="7260336" y="3730752"/>
            <a:ext cx="658368" cy="256032"/>
          </a:xfrm>
          <a:prstGeom prst="rect">
            <a:avLst/>
          </a:prstGeom>
          <a:noFill/>
        </p:spPr>
        <p:txBody>
          <a:bodyPr wrap="square" lIns="45720" rIns="45720" tIns="18288" bIns="18288" anchor="t">
            <a:spAutoFit/>
          </a:bodyPr>
          <a:lstStyle/>
          <a:p>
            <a:pPr algn="ctr"/>
            <a:r>
              <a:rPr sz="1000" b="0" i="0">
                <a:solidFill>
                  <a:srgbClr val="333D4A"/>
                </a:solidFill>
                <a:latin typeface="Calibri"/>
              </a:rPr>
              <a:t>[3]</a:t>
            </a:r>
          </a:p>
        </p:txBody>
      </p:sp>
      <p:sp>
        <p:nvSpPr>
          <p:cNvPr id="45" name="Oval 44"/>
          <p:cNvSpPr/>
          <p:nvPr/>
        </p:nvSpPr>
        <p:spPr>
          <a:xfrm>
            <a:off x="8540496" y="4059936"/>
            <a:ext cx="658368" cy="658368"/>
          </a:xfrm>
          <a:prstGeom prst="ellipse">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40496" y="4059936"/>
            <a:ext cx="658368" cy="658368"/>
          </a:xfrm>
          <a:prstGeom prst="rect">
            <a:avLst/>
          </a:prstGeom>
          <a:noFill/>
        </p:spPr>
        <p:txBody>
          <a:bodyPr wrap="square" lIns="45720" rIns="45720" tIns="18288" bIns="18288" anchor="ctr">
            <a:spAutoFit/>
          </a:bodyPr>
          <a:lstStyle/>
          <a:p>
            <a:pPr algn="ctr"/>
            <a:r>
              <a:rPr sz="1500" b="1" i="0">
                <a:solidFill>
                  <a:srgbClr val="0B2A4A"/>
                </a:solidFill>
                <a:latin typeface="Calibri"/>
              </a:rPr>
              <a:t>7</a:t>
            </a:r>
          </a:p>
        </p:txBody>
      </p:sp>
      <p:sp>
        <p:nvSpPr>
          <p:cNvPr id="47" name="TextBox 46"/>
          <p:cNvSpPr txBox="1"/>
          <p:nvPr/>
        </p:nvSpPr>
        <p:spPr>
          <a:xfrm>
            <a:off x="8540496" y="3730752"/>
            <a:ext cx="658368" cy="256032"/>
          </a:xfrm>
          <a:prstGeom prst="rect">
            <a:avLst/>
          </a:prstGeom>
          <a:noFill/>
        </p:spPr>
        <p:txBody>
          <a:bodyPr wrap="square" lIns="45720" rIns="45720" tIns="18288" bIns="18288" anchor="t">
            <a:spAutoFit/>
          </a:bodyPr>
          <a:lstStyle/>
          <a:p>
            <a:pPr algn="ctr"/>
            <a:r>
              <a:rPr sz="1000" b="0" i="0">
                <a:solidFill>
                  <a:srgbClr val="333D4A"/>
                </a:solidFill>
                <a:latin typeface="Calibri"/>
              </a:rPr>
              <a:t>[4]</a:t>
            </a:r>
          </a:p>
        </p:txBody>
      </p:sp>
      <p:sp>
        <p:nvSpPr>
          <p:cNvPr id="48" name="Oval 47"/>
          <p:cNvSpPr/>
          <p:nvPr/>
        </p:nvSpPr>
        <p:spPr>
          <a:xfrm>
            <a:off x="9454896" y="4059936"/>
            <a:ext cx="658368" cy="658368"/>
          </a:xfrm>
          <a:prstGeom prst="ellipse">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54896" y="4059936"/>
            <a:ext cx="658368" cy="658368"/>
          </a:xfrm>
          <a:prstGeom prst="rect">
            <a:avLst/>
          </a:prstGeom>
          <a:noFill/>
        </p:spPr>
        <p:txBody>
          <a:bodyPr wrap="square" lIns="45720" rIns="45720" tIns="18288" bIns="18288" anchor="ctr">
            <a:spAutoFit/>
          </a:bodyPr>
          <a:lstStyle/>
          <a:p>
            <a:pPr algn="ctr"/>
            <a:r>
              <a:rPr sz="1500" b="1" i="0">
                <a:solidFill>
                  <a:srgbClr val="0B2A4A"/>
                </a:solidFill>
                <a:latin typeface="Calibri"/>
              </a:rPr>
              <a:t>6</a:t>
            </a:r>
          </a:p>
        </p:txBody>
      </p:sp>
      <p:sp>
        <p:nvSpPr>
          <p:cNvPr id="50" name="TextBox 49"/>
          <p:cNvSpPr txBox="1"/>
          <p:nvPr/>
        </p:nvSpPr>
        <p:spPr>
          <a:xfrm>
            <a:off x="9454896" y="3730752"/>
            <a:ext cx="658368" cy="256032"/>
          </a:xfrm>
          <a:prstGeom prst="rect">
            <a:avLst/>
          </a:prstGeom>
          <a:noFill/>
        </p:spPr>
        <p:txBody>
          <a:bodyPr wrap="square" lIns="45720" rIns="45720" tIns="18288" bIns="18288" anchor="t">
            <a:spAutoFit/>
          </a:bodyPr>
          <a:lstStyle/>
          <a:p>
            <a:pPr algn="ctr"/>
            <a:r>
              <a:rPr sz="1000" b="0" i="0">
                <a:solidFill>
                  <a:srgbClr val="333D4A"/>
                </a:solidFill>
                <a:latin typeface="Calibri"/>
              </a:rPr>
              <a:t>[5]</a:t>
            </a:r>
          </a:p>
        </p:txBody>
      </p:sp>
      <p:sp>
        <p:nvSpPr>
          <p:cNvPr id="51" name="Oval 50"/>
          <p:cNvSpPr/>
          <p:nvPr/>
        </p:nvSpPr>
        <p:spPr>
          <a:xfrm>
            <a:off x="10735056" y="4059936"/>
            <a:ext cx="658368" cy="658368"/>
          </a:xfrm>
          <a:prstGeom prst="ellipse">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735056" y="4059936"/>
            <a:ext cx="658368" cy="658368"/>
          </a:xfrm>
          <a:prstGeom prst="rect">
            <a:avLst/>
          </a:prstGeom>
          <a:noFill/>
        </p:spPr>
        <p:txBody>
          <a:bodyPr wrap="square" lIns="45720" rIns="45720" tIns="18288" bIns="18288" anchor="ctr">
            <a:spAutoFit/>
          </a:bodyPr>
          <a:lstStyle/>
          <a:p>
            <a:pPr algn="ctr"/>
            <a:r>
              <a:rPr sz="1500" b="1" i="0">
                <a:solidFill>
                  <a:srgbClr val="0B2A4A"/>
                </a:solidFill>
                <a:latin typeface="Calibri"/>
              </a:rPr>
              <a:t>8</a:t>
            </a:r>
          </a:p>
        </p:txBody>
      </p:sp>
      <p:sp>
        <p:nvSpPr>
          <p:cNvPr id="53" name="TextBox 52"/>
          <p:cNvSpPr txBox="1"/>
          <p:nvPr/>
        </p:nvSpPr>
        <p:spPr>
          <a:xfrm>
            <a:off x="10735056" y="3730752"/>
            <a:ext cx="658368" cy="256032"/>
          </a:xfrm>
          <a:prstGeom prst="rect">
            <a:avLst/>
          </a:prstGeom>
          <a:noFill/>
        </p:spPr>
        <p:txBody>
          <a:bodyPr wrap="square" lIns="45720" rIns="45720" tIns="18288" bIns="18288" anchor="t">
            <a:spAutoFit/>
          </a:bodyPr>
          <a:lstStyle/>
          <a:p>
            <a:pPr algn="ctr"/>
            <a:r>
              <a:rPr sz="1000" b="0" i="0">
                <a:solidFill>
                  <a:srgbClr val="333D4A"/>
                </a:solidFill>
                <a:latin typeface="Calibri"/>
              </a:rPr>
              <a:t>[6]</a:t>
            </a:r>
          </a:p>
        </p:txBody>
      </p:sp>
      <p:sp>
        <p:nvSpPr>
          <p:cNvPr id="54" name="Rectangle 53"/>
          <p:cNvSpPr/>
          <p:nvPr/>
        </p:nvSpPr>
        <p:spPr>
          <a:xfrm>
            <a:off x="6583680" y="5394960"/>
            <a:ext cx="566928" cy="502920"/>
          </a:xfrm>
          <a:prstGeom prst="rect">
            <a:avLst/>
          </a:prstGeom>
          <a:solidFill>
            <a:srgbClr val="127A8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0" y="5394960"/>
            <a:ext cx="566928" cy="502920"/>
          </a:xfrm>
          <a:prstGeom prst="rect">
            <a:avLst/>
          </a:prstGeom>
          <a:noFill/>
        </p:spPr>
        <p:txBody>
          <a:bodyPr wrap="square" lIns="45720" rIns="45720" tIns="18288" bIns="18288" anchor="ctr">
            <a:spAutoFit/>
          </a:bodyPr>
          <a:lstStyle/>
          <a:p>
            <a:pPr algn="ctr"/>
            <a:r>
              <a:rPr sz="1500" b="1" i="0">
                <a:solidFill>
                  <a:srgbClr val="FFFFFF"/>
                </a:solidFill>
                <a:latin typeface="Calibri"/>
              </a:rPr>
              <a:t>1</a:t>
            </a:r>
          </a:p>
        </p:txBody>
      </p:sp>
      <p:sp>
        <p:nvSpPr>
          <p:cNvPr id="56" name="TextBox 55"/>
          <p:cNvSpPr txBox="1"/>
          <p:nvPr/>
        </p:nvSpPr>
        <p:spPr>
          <a:xfrm>
            <a:off x="6583680" y="5934456"/>
            <a:ext cx="566928" cy="228600"/>
          </a:xfrm>
          <a:prstGeom prst="rect">
            <a:avLst/>
          </a:prstGeom>
          <a:noFill/>
        </p:spPr>
        <p:txBody>
          <a:bodyPr wrap="square" lIns="45720" rIns="45720" tIns="18288" bIns="18288" anchor="t">
            <a:spAutoFit/>
          </a:bodyPr>
          <a:lstStyle/>
          <a:p>
            <a:pPr algn="ctr"/>
            <a:r>
              <a:rPr sz="1000" b="0" i="0">
                <a:solidFill>
                  <a:srgbClr val="333D4A"/>
                </a:solidFill>
                <a:latin typeface="Calibri"/>
              </a:rPr>
              <a:t>[0]</a:t>
            </a:r>
          </a:p>
        </p:txBody>
      </p:sp>
      <p:sp>
        <p:nvSpPr>
          <p:cNvPr id="57" name="Rectangle 56"/>
          <p:cNvSpPr/>
          <p:nvPr/>
        </p:nvSpPr>
        <p:spPr>
          <a:xfrm>
            <a:off x="7187184" y="5394960"/>
            <a:ext cx="566928"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187184" y="5394960"/>
            <a:ext cx="566928"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3</a:t>
            </a:r>
          </a:p>
        </p:txBody>
      </p:sp>
      <p:sp>
        <p:nvSpPr>
          <p:cNvPr id="59" name="TextBox 58"/>
          <p:cNvSpPr txBox="1"/>
          <p:nvPr/>
        </p:nvSpPr>
        <p:spPr>
          <a:xfrm>
            <a:off x="7187184" y="5934456"/>
            <a:ext cx="566928" cy="228600"/>
          </a:xfrm>
          <a:prstGeom prst="rect">
            <a:avLst/>
          </a:prstGeom>
          <a:noFill/>
        </p:spPr>
        <p:txBody>
          <a:bodyPr wrap="square" lIns="45720" rIns="45720" tIns="18288" bIns="18288" anchor="t">
            <a:spAutoFit/>
          </a:bodyPr>
          <a:lstStyle/>
          <a:p>
            <a:pPr algn="ctr"/>
            <a:r>
              <a:rPr sz="1000" b="0" i="0">
                <a:solidFill>
                  <a:srgbClr val="333D4A"/>
                </a:solidFill>
                <a:latin typeface="Calibri"/>
              </a:rPr>
              <a:t>[1]</a:t>
            </a:r>
          </a:p>
        </p:txBody>
      </p:sp>
      <p:sp>
        <p:nvSpPr>
          <p:cNvPr id="60" name="Rectangle 59"/>
          <p:cNvSpPr/>
          <p:nvPr/>
        </p:nvSpPr>
        <p:spPr>
          <a:xfrm>
            <a:off x="7790688" y="5394960"/>
            <a:ext cx="566928"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790688" y="5394960"/>
            <a:ext cx="566928"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5</a:t>
            </a:r>
          </a:p>
        </p:txBody>
      </p:sp>
      <p:sp>
        <p:nvSpPr>
          <p:cNvPr id="62" name="TextBox 61"/>
          <p:cNvSpPr txBox="1"/>
          <p:nvPr/>
        </p:nvSpPr>
        <p:spPr>
          <a:xfrm>
            <a:off x="7790688" y="5934456"/>
            <a:ext cx="566928" cy="228600"/>
          </a:xfrm>
          <a:prstGeom prst="rect">
            <a:avLst/>
          </a:prstGeom>
          <a:noFill/>
        </p:spPr>
        <p:txBody>
          <a:bodyPr wrap="square" lIns="45720" rIns="45720" tIns="18288" bIns="18288" anchor="t">
            <a:spAutoFit/>
          </a:bodyPr>
          <a:lstStyle/>
          <a:p>
            <a:pPr algn="ctr"/>
            <a:r>
              <a:rPr sz="1000" b="0" i="0">
                <a:solidFill>
                  <a:srgbClr val="333D4A"/>
                </a:solidFill>
                <a:latin typeface="Calibri"/>
              </a:rPr>
              <a:t>[2]</a:t>
            </a:r>
          </a:p>
        </p:txBody>
      </p:sp>
      <p:sp>
        <p:nvSpPr>
          <p:cNvPr id="63" name="Rectangle 62"/>
          <p:cNvSpPr/>
          <p:nvPr/>
        </p:nvSpPr>
        <p:spPr>
          <a:xfrm>
            <a:off x="8394192" y="5394960"/>
            <a:ext cx="566928"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94192" y="5394960"/>
            <a:ext cx="566928"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9</a:t>
            </a:r>
          </a:p>
        </p:txBody>
      </p:sp>
      <p:sp>
        <p:nvSpPr>
          <p:cNvPr id="65" name="TextBox 64"/>
          <p:cNvSpPr txBox="1"/>
          <p:nvPr/>
        </p:nvSpPr>
        <p:spPr>
          <a:xfrm>
            <a:off x="8394192" y="5934456"/>
            <a:ext cx="566928" cy="228600"/>
          </a:xfrm>
          <a:prstGeom prst="rect">
            <a:avLst/>
          </a:prstGeom>
          <a:noFill/>
        </p:spPr>
        <p:txBody>
          <a:bodyPr wrap="square" lIns="45720" rIns="45720" tIns="18288" bIns="18288" anchor="t">
            <a:spAutoFit/>
          </a:bodyPr>
          <a:lstStyle/>
          <a:p>
            <a:pPr algn="ctr"/>
            <a:r>
              <a:rPr sz="1000" b="0" i="0">
                <a:solidFill>
                  <a:srgbClr val="333D4A"/>
                </a:solidFill>
                <a:latin typeface="Calibri"/>
              </a:rPr>
              <a:t>[3]</a:t>
            </a:r>
          </a:p>
        </p:txBody>
      </p:sp>
      <p:sp>
        <p:nvSpPr>
          <p:cNvPr id="66" name="Rectangle 65"/>
          <p:cNvSpPr/>
          <p:nvPr/>
        </p:nvSpPr>
        <p:spPr>
          <a:xfrm>
            <a:off x="8997696" y="5394960"/>
            <a:ext cx="566928"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997696" y="5394960"/>
            <a:ext cx="566928"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7</a:t>
            </a:r>
          </a:p>
        </p:txBody>
      </p:sp>
      <p:sp>
        <p:nvSpPr>
          <p:cNvPr id="68" name="TextBox 67"/>
          <p:cNvSpPr txBox="1"/>
          <p:nvPr/>
        </p:nvSpPr>
        <p:spPr>
          <a:xfrm>
            <a:off x="8997696" y="5934456"/>
            <a:ext cx="566928" cy="228600"/>
          </a:xfrm>
          <a:prstGeom prst="rect">
            <a:avLst/>
          </a:prstGeom>
          <a:noFill/>
        </p:spPr>
        <p:txBody>
          <a:bodyPr wrap="square" lIns="45720" rIns="45720" tIns="18288" bIns="18288" anchor="t">
            <a:spAutoFit/>
          </a:bodyPr>
          <a:lstStyle/>
          <a:p>
            <a:pPr algn="ctr"/>
            <a:r>
              <a:rPr sz="1000" b="0" i="0">
                <a:solidFill>
                  <a:srgbClr val="333D4A"/>
                </a:solidFill>
                <a:latin typeface="Calibri"/>
              </a:rPr>
              <a:t>[4]</a:t>
            </a:r>
          </a:p>
        </p:txBody>
      </p:sp>
      <p:sp>
        <p:nvSpPr>
          <p:cNvPr id="69" name="Rectangle 68"/>
          <p:cNvSpPr/>
          <p:nvPr/>
        </p:nvSpPr>
        <p:spPr>
          <a:xfrm>
            <a:off x="9601200" y="5394960"/>
            <a:ext cx="566928"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01200" y="5394960"/>
            <a:ext cx="566928"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6</a:t>
            </a:r>
          </a:p>
        </p:txBody>
      </p:sp>
      <p:sp>
        <p:nvSpPr>
          <p:cNvPr id="71" name="TextBox 70"/>
          <p:cNvSpPr txBox="1"/>
          <p:nvPr/>
        </p:nvSpPr>
        <p:spPr>
          <a:xfrm>
            <a:off x="9601200" y="5934456"/>
            <a:ext cx="566928" cy="228600"/>
          </a:xfrm>
          <a:prstGeom prst="rect">
            <a:avLst/>
          </a:prstGeom>
          <a:noFill/>
        </p:spPr>
        <p:txBody>
          <a:bodyPr wrap="square" lIns="45720" rIns="45720" tIns="18288" bIns="18288" anchor="t">
            <a:spAutoFit/>
          </a:bodyPr>
          <a:lstStyle/>
          <a:p>
            <a:pPr algn="ctr"/>
            <a:r>
              <a:rPr sz="1000" b="0" i="0">
                <a:solidFill>
                  <a:srgbClr val="333D4A"/>
                </a:solidFill>
                <a:latin typeface="Calibri"/>
              </a:rPr>
              <a:t>[5]</a:t>
            </a:r>
          </a:p>
        </p:txBody>
      </p:sp>
      <p:sp>
        <p:nvSpPr>
          <p:cNvPr id="72" name="Rectangle 71"/>
          <p:cNvSpPr/>
          <p:nvPr/>
        </p:nvSpPr>
        <p:spPr>
          <a:xfrm>
            <a:off x="10204704" y="5394960"/>
            <a:ext cx="566928"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204704" y="5394960"/>
            <a:ext cx="566928"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8</a:t>
            </a:r>
          </a:p>
        </p:txBody>
      </p:sp>
      <p:sp>
        <p:nvSpPr>
          <p:cNvPr id="74" name="TextBox 73"/>
          <p:cNvSpPr txBox="1"/>
          <p:nvPr/>
        </p:nvSpPr>
        <p:spPr>
          <a:xfrm>
            <a:off x="10204704" y="5934456"/>
            <a:ext cx="566928" cy="228600"/>
          </a:xfrm>
          <a:prstGeom prst="rect">
            <a:avLst/>
          </a:prstGeom>
          <a:noFill/>
        </p:spPr>
        <p:txBody>
          <a:bodyPr wrap="square" lIns="45720" rIns="45720" tIns="18288" bIns="18288" anchor="t">
            <a:spAutoFit/>
          </a:bodyPr>
          <a:lstStyle/>
          <a:p>
            <a:pPr algn="ctr"/>
            <a:r>
              <a:rPr sz="1000" b="0" i="0">
                <a:solidFill>
                  <a:srgbClr val="333D4A"/>
                </a:solidFill>
                <a:latin typeface="Calibri"/>
              </a:rPr>
              <a:t>[6]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Sift-Up (Bubble Up)</a:t>
            </a:r>
          </a:p>
        </p:txBody>
      </p:sp>
      <p:sp>
        <p:nvSpPr>
          <p:cNvPr id="6" name="TextBox 5"/>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Restoring the heap property after inserting a new element</a:t>
            </a:r>
          </a:p>
        </p:txBody>
      </p:sp>
      <p:sp>
        <p:nvSpPr>
          <p:cNvPr id="7" name="Rectangle 6"/>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82296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07  ·  Heaps &amp; Priority Queues</a:t>
            </a:r>
          </a:p>
        </p:txBody>
      </p:sp>
      <p:sp>
        <p:nvSpPr>
          <p:cNvPr id="9" name="TextBox 8"/>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6 / 15</a:t>
            </a:r>
          </a:p>
        </p:txBody>
      </p:sp>
      <p:sp>
        <p:nvSpPr>
          <p:cNvPr id="10" name="TextBox 9"/>
          <p:cNvSpPr txBox="1"/>
          <p:nvPr/>
        </p:nvSpPr>
        <p:spPr>
          <a:xfrm>
            <a:off x="548640" y="1417320"/>
            <a:ext cx="5303520" cy="365760"/>
          </a:xfrm>
          <a:prstGeom prst="rect">
            <a:avLst/>
          </a:prstGeom>
          <a:noFill/>
        </p:spPr>
        <p:txBody>
          <a:bodyPr wrap="square" lIns="45720" rIns="45720" tIns="18288" bIns="18288" anchor="t">
            <a:spAutoFit/>
          </a:bodyPr>
          <a:lstStyle/>
          <a:p>
            <a:pPr algn="l"/>
            <a:r>
              <a:rPr sz="1900" b="1" i="0">
                <a:solidFill>
                  <a:srgbClr val="0B2A4A"/>
                </a:solidFill>
                <a:latin typeface="Calibri"/>
              </a:rPr>
              <a:t>Algorithm</a:t>
            </a:r>
          </a:p>
        </p:txBody>
      </p:sp>
      <p:sp>
        <p:nvSpPr>
          <p:cNvPr id="11" name="Rectangle 10"/>
          <p:cNvSpPr/>
          <p:nvPr/>
        </p:nvSpPr>
        <p:spPr>
          <a:xfrm>
            <a:off x="548640" y="1764792"/>
            <a:ext cx="146304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20240"/>
            <a:ext cx="5303520" cy="3200400"/>
          </a:xfrm>
          <a:prstGeom prst="rect">
            <a:avLst/>
          </a:prstGeom>
          <a:noFill/>
        </p:spPr>
        <p:txBody>
          <a:bodyPr wrap="square">
            <a:spAutoFit/>
          </a:bodyPr>
          <a:lstStyle/>
          <a:p>
            <a:pPr>
              <a:lnSpc>
                <a:spcPct val="130000"/>
              </a:lnSpc>
              <a:spcAft>
                <a:spcPts val="600"/>
              </a:spcAft>
            </a:pPr>
            <a:r>
              <a:rPr sz="1600" b="1">
                <a:solidFill>
                  <a:srgbClr val="127A8A"/>
                </a:solidFill>
                <a:latin typeface="Calibri"/>
              </a:rPr>
              <a:t>▸  </a:t>
            </a:r>
            <a:r>
              <a:rPr sz="1600" b="1">
                <a:solidFill>
                  <a:srgbClr val="0B2A4A"/>
                </a:solidFill>
                <a:latin typeface="Calibri"/>
              </a:rPr>
              <a:t>Step 1: </a:t>
            </a:r>
            <a:r>
              <a:rPr sz="1600">
                <a:solidFill>
                  <a:srgbClr val="333D4A"/>
                </a:solidFill>
                <a:latin typeface="Calibri"/>
              </a:rPr>
              <a:t>Append the new element to the end of the array.</a:t>
            </a:r>
          </a:p>
          <a:p>
            <a:pPr>
              <a:lnSpc>
                <a:spcPct val="130000"/>
              </a:lnSpc>
              <a:spcAft>
                <a:spcPts val="600"/>
              </a:spcAft>
            </a:pPr>
            <a:r>
              <a:rPr sz="1600" b="1">
                <a:solidFill>
                  <a:srgbClr val="127A8A"/>
                </a:solidFill>
                <a:latin typeface="Calibri"/>
              </a:rPr>
              <a:t>▸  </a:t>
            </a:r>
            <a:r>
              <a:rPr sz="1600" b="1">
                <a:solidFill>
                  <a:srgbClr val="0B2A4A"/>
                </a:solidFill>
                <a:latin typeface="Calibri"/>
              </a:rPr>
              <a:t>Step 2: </a:t>
            </a:r>
            <a:r>
              <a:rPr sz="1600">
                <a:solidFill>
                  <a:srgbClr val="333D4A"/>
                </a:solidFill>
                <a:latin typeface="Calibri"/>
              </a:rPr>
              <a:t>Find its parent using index  (i − 1) // 2.</a:t>
            </a:r>
          </a:p>
          <a:p>
            <a:pPr>
              <a:lnSpc>
                <a:spcPct val="130000"/>
              </a:lnSpc>
              <a:spcAft>
                <a:spcPts val="600"/>
              </a:spcAft>
            </a:pPr>
            <a:r>
              <a:rPr sz="1600" b="1">
                <a:solidFill>
                  <a:srgbClr val="127A8A"/>
                </a:solidFill>
                <a:latin typeface="Calibri"/>
              </a:rPr>
              <a:t>▸  </a:t>
            </a:r>
            <a:r>
              <a:rPr sz="1600" b="1">
                <a:solidFill>
                  <a:srgbClr val="0B2A4A"/>
                </a:solidFill>
                <a:latin typeface="Calibri"/>
              </a:rPr>
              <a:t>Step 3: </a:t>
            </a:r>
            <a:r>
              <a:rPr sz="1600">
                <a:solidFill>
                  <a:srgbClr val="333D4A"/>
                </a:solidFill>
                <a:latin typeface="Calibri"/>
              </a:rPr>
              <a:t>If the new element is smaller than its parent (Min-Heap), swap them.</a:t>
            </a:r>
          </a:p>
          <a:p>
            <a:pPr>
              <a:lnSpc>
                <a:spcPct val="130000"/>
              </a:lnSpc>
              <a:spcAft>
                <a:spcPts val="600"/>
              </a:spcAft>
            </a:pPr>
            <a:r>
              <a:rPr sz="1600" b="1">
                <a:solidFill>
                  <a:srgbClr val="127A8A"/>
                </a:solidFill>
                <a:latin typeface="Calibri"/>
              </a:rPr>
              <a:t>▸  </a:t>
            </a:r>
            <a:r>
              <a:rPr sz="1600" b="1">
                <a:solidFill>
                  <a:srgbClr val="0B2A4A"/>
                </a:solidFill>
                <a:latin typeface="Calibri"/>
              </a:rPr>
              <a:t>Step 4: </a:t>
            </a:r>
            <a:r>
              <a:rPr sz="1600">
                <a:solidFill>
                  <a:srgbClr val="333D4A"/>
                </a:solidFill>
                <a:latin typeface="Calibri"/>
              </a:rPr>
              <a:t>Move the focus index up to the parent's position.</a:t>
            </a:r>
          </a:p>
          <a:p>
            <a:pPr>
              <a:lnSpc>
                <a:spcPct val="130000"/>
              </a:lnSpc>
              <a:spcAft>
                <a:spcPts val="600"/>
              </a:spcAft>
            </a:pPr>
            <a:r>
              <a:rPr sz="1600" b="1">
                <a:solidFill>
                  <a:srgbClr val="127A8A"/>
                </a:solidFill>
                <a:latin typeface="Calibri"/>
              </a:rPr>
              <a:t>▸  </a:t>
            </a:r>
            <a:r>
              <a:rPr sz="1600" b="1">
                <a:solidFill>
                  <a:srgbClr val="0B2A4A"/>
                </a:solidFill>
                <a:latin typeface="Calibri"/>
              </a:rPr>
              <a:t>Step 5: </a:t>
            </a:r>
            <a:r>
              <a:rPr sz="1600">
                <a:solidFill>
                  <a:srgbClr val="333D4A"/>
                </a:solidFill>
                <a:latin typeface="Calibri"/>
              </a:rPr>
              <a:t>Repeat Steps 2–4 until the element is larger than its parent, or it reaches the root (index 0).</a:t>
            </a:r>
          </a:p>
        </p:txBody>
      </p:sp>
      <p:sp>
        <p:nvSpPr>
          <p:cNvPr id="13" name="Rectangle 12"/>
          <p:cNvSpPr/>
          <p:nvPr/>
        </p:nvSpPr>
        <p:spPr>
          <a:xfrm>
            <a:off x="548640" y="5212080"/>
            <a:ext cx="5303520" cy="594360"/>
          </a:xfrm>
          <a:prstGeom prst="rect">
            <a:avLst/>
          </a:prstGeom>
          <a:solidFill>
            <a:srgbClr val="FFF3CD"/>
          </a:solidFill>
          <a:ln w="19050">
            <a:solidFill>
              <a:srgbClr val="E0A8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230368"/>
            <a:ext cx="5120640" cy="566928"/>
          </a:xfrm>
          <a:prstGeom prst="rect">
            <a:avLst/>
          </a:prstGeom>
          <a:noFill/>
        </p:spPr>
        <p:txBody>
          <a:bodyPr wrap="square" lIns="45720" rIns="45720" tIns="18288" bIns="18288" anchor="ctr">
            <a:spAutoFit/>
          </a:bodyPr>
          <a:lstStyle/>
          <a:p>
            <a:pPr algn="l"/>
            <a:r>
              <a:rPr sz="1400" b="0" i="0">
                <a:solidFill>
                  <a:srgbClr val="333D4A"/>
                </a:solidFill>
                <a:latin typeface="Calibri"/>
              </a:rPr>
              <a:t>In the worst case, the element travels from the bottom level to the root: at most  log N  swaps.   Time complexity:  O(log N)</a:t>
            </a:r>
          </a:p>
        </p:txBody>
      </p:sp>
      <p:sp>
        <p:nvSpPr>
          <p:cNvPr id="15" name="TextBox 14"/>
          <p:cNvSpPr txBox="1"/>
          <p:nvPr/>
        </p:nvSpPr>
        <p:spPr>
          <a:xfrm>
            <a:off x="6217920" y="1417320"/>
            <a:ext cx="5577840" cy="365760"/>
          </a:xfrm>
          <a:prstGeom prst="rect">
            <a:avLst/>
          </a:prstGeom>
          <a:noFill/>
        </p:spPr>
        <p:txBody>
          <a:bodyPr wrap="square" lIns="45720" rIns="45720" tIns="18288" bIns="18288" anchor="t">
            <a:spAutoFit/>
          </a:bodyPr>
          <a:lstStyle/>
          <a:p>
            <a:pPr algn="l"/>
            <a:r>
              <a:rPr sz="1900" b="1" i="0">
                <a:solidFill>
                  <a:srgbClr val="0B2A4A"/>
                </a:solidFill>
                <a:latin typeface="Calibri"/>
              </a:rPr>
              <a:t>Python Implementation</a:t>
            </a:r>
          </a:p>
        </p:txBody>
      </p:sp>
      <p:sp>
        <p:nvSpPr>
          <p:cNvPr id="16" name="Rectangle 15"/>
          <p:cNvSpPr/>
          <p:nvPr/>
        </p:nvSpPr>
        <p:spPr>
          <a:xfrm>
            <a:off x="6217920" y="1764792"/>
            <a:ext cx="164592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920240"/>
            <a:ext cx="5577840" cy="384048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920240"/>
            <a:ext cx="64008" cy="384048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2011680"/>
            <a:ext cx="5349240" cy="3657600"/>
          </a:xfrm>
          <a:prstGeom prst="rect">
            <a:avLst/>
          </a:prstGeom>
          <a:noFill/>
        </p:spPr>
        <p:txBody>
          <a:bodyPr wrap="none">
            <a:spAutoFit/>
          </a:bodyPr>
          <a:lstStyle/>
          <a:p>
            <a:pPr algn="l">
              <a:lnSpc>
                <a:spcPct val="115000"/>
              </a:lnSpc>
            </a:pPr>
            <a:r>
              <a:rPr sz="1300">
                <a:solidFill>
                  <a:srgbClr val="E6E6E6"/>
                </a:solidFill>
                <a:latin typeface="Consolas"/>
              </a:rPr>
              <a:t>def _sift_up(self, index):</a:t>
            </a:r>
          </a:p>
          <a:p>
            <a:pPr algn="l">
              <a:lnSpc>
                <a:spcPct val="115000"/>
              </a:lnSpc>
            </a:pPr>
            <a:r>
              <a:rPr sz="1300">
                <a:solidFill>
                  <a:srgbClr val="E6E6E6"/>
                </a:solidFill>
                <a:latin typeface="Consolas"/>
              </a:rPr>
              <a:t>    # While we have a parent AND</a:t>
            </a:r>
          </a:p>
          <a:p>
            <a:pPr algn="l">
              <a:lnSpc>
                <a:spcPct val="115000"/>
              </a:lnSpc>
            </a:pPr>
            <a:r>
              <a:rPr sz="1300">
                <a:solidFill>
                  <a:srgbClr val="E6E6E6"/>
                </a:solidFill>
                <a:latin typeface="Consolas"/>
              </a:rPr>
              <a:t>    # the parent is LARGER than the current element:</a:t>
            </a:r>
          </a:p>
          <a:p>
            <a:pPr algn="l">
              <a:lnSpc>
                <a:spcPct val="115000"/>
              </a:lnSpc>
            </a:pPr>
            <a:r>
              <a:rPr sz="1300">
                <a:solidFill>
                  <a:srgbClr val="E6E6E6"/>
                </a:solidFill>
                <a:latin typeface="Consolas"/>
              </a:rPr>
              <a:t>    while self.has_parent(index):</a:t>
            </a:r>
          </a:p>
          <a:p>
            <a:pPr algn="l">
              <a:lnSpc>
                <a:spcPct val="115000"/>
              </a:lnSpc>
            </a:pPr>
            <a:r>
              <a:rPr sz="1300">
                <a:solidFill>
                  <a:srgbClr val="E6E6E6"/>
                </a:solidFill>
                <a:latin typeface="Consolas"/>
              </a:rPr>
              <a:t>        parent_i = self.get_parent_index(index)</a:t>
            </a:r>
          </a:p>
          <a:p>
            <a:pPr algn="l">
              <a:lnSpc>
                <a:spcPct val="115000"/>
              </a:lnSpc>
            </a:pPr>
            <a:r>
              <a:rPr sz="1300">
                <a:solidFill>
                  <a:srgbClr val="E6E6E6"/>
                </a:solidFill>
                <a:latin typeface="Consolas"/>
              </a:rPr>
              <a:t> </a:t>
            </a:r>
          </a:p>
          <a:p>
            <a:pPr algn="l">
              <a:lnSpc>
                <a:spcPct val="115000"/>
              </a:lnSpc>
            </a:pPr>
            <a:r>
              <a:rPr sz="1300">
                <a:solidFill>
                  <a:srgbClr val="E6E6E6"/>
                </a:solidFill>
                <a:latin typeface="Consolas"/>
              </a:rPr>
              <a:t>        if self.heap[parent_i] &gt; self.heap[index]:</a:t>
            </a:r>
          </a:p>
          <a:p>
            <a:pPr algn="l">
              <a:lnSpc>
                <a:spcPct val="115000"/>
              </a:lnSpc>
            </a:pPr>
            <a:r>
              <a:rPr sz="1300">
                <a:solidFill>
                  <a:srgbClr val="E6E6E6"/>
                </a:solidFill>
                <a:latin typeface="Consolas"/>
              </a:rPr>
              <a:t>            # Swap current element with its parent</a:t>
            </a:r>
          </a:p>
          <a:p>
            <a:pPr algn="l">
              <a:lnSpc>
                <a:spcPct val="115000"/>
              </a:lnSpc>
            </a:pPr>
            <a:r>
              <a:rPr sz="1300">
                <a:solidFill>
                  <a:srgbClr val="E6E6E6"/>
                </a:solidFill>
                <a:latin typeface="Consolas"/>
              </a:rPr>
              <a:t>            self.heap[parent_i], self.heap[index] = \</a:t>
            </a:r>
          </a:p>
          <a:p>
            <a:pPr algn="l">
              <a:lnSpc>
                <a:spcPct val="115000"/>
              </a:lnSpc>
            </a:pPr>
            <a:r>
              <a:rPr sz="1300">
                <a:solidFill>
                  <a:srgbClr val="E6E6E6"/>
                </a:solidFill>
                <a:latin typeface="Consolas"/>
              </a:rPr>
              <a:t>                self.heap[index], self.heap[parent_i]</a:t>
            </a:r>
          </a:p>
          <a:p>
            <a:pPr algn="l">
              <a:lnSpc>
                <a:spcPct val="115000"/>
              </a:lnSpc>
            </a:pPr>
            <a:r>
              <a:rPr sz="1300">
                <a:solidFill>
                  <a:srgbClr val="E6E6E6"/>
                </a:solidFill>
                <a:latin typeface="Consolas"/>
              </a:rPr>
              <a:t>            index = parent_i   # move focus upward</a:t>
            </a:r>
          </a:p>
          <a:p>
            <a:pPr algn="l">
              <a:lnSpc>
                <a:spcPct val="115000"/>
              </a:lnSpc>
            </a:pPr>
            <a:r>
              <a:rPr sz="1300">
                <a:solidFill>
                  <a:srgbClr val="E6E6E6"/>
                </a:solidFill>
                <a:latin typeface="Consolas"/>
              </a:rPr>
              <a:t>        else:</a:t>
            </a:r>
          </a:p>
          <a:p>
            <a:pPr algn="l">
              <a:lnSpc>
                <a:spcPct val="115000"/>
              </a:lnSpc>
            </a:pPr>
            <a:r>
              <a:rPr sz="1300">
                <a:solidFill>
                  <a:srgbClr val="E6E6E6"/>
                </a:solidFill>
                <a:latin typeface="Consolas"/>
              </a:rPr>
              <a:t>            break  # heap property is satisfied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Sift-Down (Sink Down)</a:t>
            </a:r>
          </a:p>
        </p:txBody>
      </p:sp>
      <p:sp>
        <p:nvSpPr>
          <p:cNvPr id="6" name="TextBox 5"/>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Restoring the heap property after removing the root element</a:t>
            </a:r>
          </a:p>
        </p:txBody>
      </p:sp>
      <p:sp>
        <p:nvSpPr>
          <p:cNvPr id="7" name="Rectangle 6"/>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82296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07  ·  Heaps &amp; Priority Queues</a:t>
            </a:r>
          </a:p>
        </p:txBody>
      </p:sp>
      <p:sp>
        <p:nvSpPr>
          <p:cNvPr id="9" name="TextBox 8"/>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7 / 15</a:t>
            </a:r>
          </a:p>
        </p:txBody>
      </p:sp>
      <p:sp>
        <p:nvSpPr>
          <p:cNvPr id="10" name="TextBox 9"/>
          <p:cNvSpPr txBox="1"/>
          <p:nvPr/>
        </p:nvSpPr>
        <p:spPr>
          <a:xfrm>
            <a:off x="548640" y="1417320"/>
            <a:ext cx="5303520" cy="365760"/>
          </a:xfrm>
          <a:prstGeom prst="rect">
            <a:avLst/>
          </a:prstGeom>
          <a:noFill/>
        </p:spPr>
        <p:txBody>
          <a:bodyPr wrap="square" lIns="45720" rIns="45720" tIns="18288" bIns="18288" anchor="t">
            <a:spAutoFit/>
          </a:bodyPr>
          <a:lstStyle/>
          <a:p>
            <a:pPr algn="l"/>
            <a:r>
              <a:rPr sz="1900" b="1" i="0">
                <a:solidFill>
                  <a:srgbClr val="0B2A4A"/>
                </a:solidFill>
                <a:latin typeface="Calibri"/>
              </a:rPr>
              <a:t>Algorithm</a:t>
            </a:r>
          </a:p>
        </p:txBody>
      </p:sp>
      <p:sp>
        <p:nvSpPr>
          <p:cNvPr id="11" name="Rectangle 10"/>
          <p:cNvSpPr/>
          <p:nvPr/>
        </p:nvSpPr>
        <p:spPr>
          <a:xfrm>
            <a:off x="548640" y="1764792"/>
            <a:ext cx="146304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20240"/>
            <a:ext cx="5303520" cy="3474720"/>
          </a:xfrm>
          <a:prstGeom prst="rect">
            <a:avLst/>
          </a:prstGeom>
          <a:noFill/>
        </p:spPr>
        <p:txBody>
          <a:bodyPr wrap="square">
            <a:spAutoFit/>
          </a:bodyPr>
          <a:lstStyle/>
          <a:p>
            <a:pPr>
              <a:lnSpc>
                <a:spcPct val="125000"/>
              </a:lnSpc>
              <a:spcAft>
                <a:spcPts val="500"/>
              </a:spcAft>
            </a:pPr>
            <a:r>
              <a:rPr sz="1500" b="1">
                <a:solidFill>
                  <a:srgbClr val="127A8A"/>
                </a:solidFill>
                <a:latin typeface="Calibri"/>
              </a:rPr>
              <a:t>▸  </a:t>
            </a:r>
            <a:r>
              <a:rPr sz="1500" b="1">
                <a:solidFill>
                  <a:srgbClr val="0B2A4A"/>
                </a:solidFill>
                <a:latin typeface="Calibri"/>
              </a:rPr>
              <a:t>Step 1: </a:t>
            </a:r>
            <a:r>
              <a:rPr sz="1500">
                <a:solidFill>
                  <a:srgbClr val="333D4A"/>
                </a:solidFill>
                <a:latin typeface="Calibri"/>
              </a:rPr>
              <a:t>Record the root value — this is the element being returned.</a:t>
            </a:r>
          </a:p>
          <a:p>
            <a:pPr>
              <a:lnSpc>
                <a:spcPct val="125000"/>
              </a:lnSpc>
              <a:spcAft>
                <a:spcPts val="500"/>
              </a:spcAft>
            </a:pPr>
            <a:r>
              <a:rPr sz="1500" b="1">
                <a:solidFill>
                  <a:srgbClr val="127A8A"/>
                </a:solidFill>
                <a:latin typeface="Calibri"/>
              </a:rPr>
              <a:t>▸  </a:t>
            </a:r>
            <a:r>
              <a:rPr sz="1500" b="1">
                <a:solidFill>
                  <a:srgbClr val="0B2A4A"/>
                </a:solidFill>
                <a:latin typeface="Calibri"/>
              </a:rPr>
              <a:t>Step 2: </a:t>
            </a:r>
            <a:r>
              <a:rPr sz="1500">
                <a:solidFill>
                  <a:srgbClr val="333D4A"/>
                </a:solidFill>
                <a:latin typeface="Calibri"/>
              </a:rPr>
              <a:t>Move the last array element to position [0] (the root). Remove the last position.</a:t>
            </a:r>
          </a:p>
          <a:p>
            <a:pPr>
              <a:lnSpc>
                <a:spcPct val="125000"/>
              </a:lnSpc>
              <a:spcAft>
                <a:spcPts val="500"/>
              </a:spcAft>
            </a:pPr>
            <a:r>
              <a:rPr sz="1500" b="1">
                <a:solidFill>
                  <a:srgbClr val="127A8A"/>
                </a:solidFill>
                <a:latin typeface="Calibri"/>
              </a:rPr>
              <a:t>▸  </a:t>
            </a:r>
            <a:r>
              <a:rPr sz="1500" b="1">
                <a:solidFill>
                  <a:srgbClr val="0B2A4A"/>
                </a:solidFill>
                <a:latin typeface="Calibri"/>
              </a:rPr>
              <a:t>Step 3: </a:t>
            </a:r>
            <a:r>
              <a:rPr sz="1500">
                <a:solidFill>
                  <a:srgbClr val="333D4A"/>
                </a:solidFill>
                <a:latin typeface="Calibri"/>
              </a:rPr>
              <a:t>Compare the element with its left and right children.</a:t>
            </a:r>
          </a:p>
          <a:p>
            <a:pPr>
              <a:lnSpc>
                <a:spcPct val="125000"/>
              </a:lnSpc>
              <a:spcAft>
                <a:spcPts val="500"/>
              </a:spcAft>
            </a:pPr>
            <a:r>
              <a:rPr sz="1500" b="1">
                <a:solidFill>
                  <a:srgbClr val="127A8A"/>
                </a:solidFill>
                <a:latin typeface="Calibri"/>
              </a:rPr>
              <a:t>▸  </a:t>
            </a:r>
            <a:r>
              <a:rPr sz="1500" b="1">
                <a:solidFill>
                  <a:srgbClr val="0B2A4A"/>
                </a:solidFill>
                <a:latin typeface="Calibri"/>
              </a:rPr>
              <a:t>Step 4: </a:t>
            </a:r>
            <a:r>
              <a:rPr sz="1500">
                <a:solidFill>
                  <a:srgbClr val="333D4A"/>
                </a:solidFill>
                <a:latin typeface="Calibri"/>
              </a:rPr>
              <a:t>Identify the smaller of the two children (for a Min-Heap).</a:t>
            </a:r>
          </a:p>
          <a:p>
            <a:pPr>
              <a:lnSpc>
                <a:spcPct val="125000"/>
              </a:lnSpc>
              <a:spcAft>
                <a:spcPts val="500"/>
              </a:spcAft>
            </a:pPr>
            <a:r>
              <a:rPr sz="1500" b="1">
                <a:solidFill>
                  <a:srgbClr val="127A8A"/>
                </a:solidFill>
                <a:latin typeface="Calibri"/>
              </a:rPr>
              <a:t>▸  </a:t>
            </a:r>
            <a:r>
              <a:rPr sz="1500" b="1">
                <a:solidFill>
                  <a:srgbClr val="0B2A4A"/>
                </a:solidFill>
                <a:latin typeface="Calibri"/>
              </a:rPr>
              <a:t>Step 5: </a:t>
            </a:r>
            <a:r>
              <a:rPr sz="1500">
                <a:solidFill>
                  <a:srgbClr val="333D4A"/>
                </a:solidFill>
                <a:latin typeface="Calibri"/>
              </a:rPr>
              <a:t>If the element is larger than the smaller child, swap them.</a:t>
            </a:r>
          </a:p>
          <a:p>
            <a:pPr>
              <a:lnSpc>
                <a:spcPct val="125000"/>
              </a:lnSpc>
              <a:spcAft>
                <a:spcPts val="500"/>
              </a:spcAft>
            </a:pPr>
            <a:r>
              <a:rPr sz="1500" b="1">
                <a:solidFill>
                  <a:srgbClr val="127A8A"/>
                </a:solidFill>
                <a:latin typeface="Calibri"/>
              </a:rPr>
              <a:t>▸  </a:t>
            </a:r>
            <a:r>
              <a:rPr sz="1500" b="1">
                <a:solidFill>
                  <a:srgbClr val="0B2A4A"/>
                </a:solidFill>
                <a:latin typeface="Calibri"/>
              </a:rPr>
              <a:t>Step 6: </a:t>
            </a:r>
            <a:r>
              <a:rPr sz="1500">
                <a:solidFill>
                  <a:srgbClr val="333D4A"/>
                </a:solidFill>
                <a:latin typeface="Calibri"/>
              </a:rPr>
              <a:t>Repeat Steps 3–5, moving downward until the element is smaller than both children, or becomes a leaf.</a:t>
            </a:r>
          </a:p>
        </p:txBody>
      </p:sp>
      <p:sp>
        <p:nvSpPr>
          <p:cNvPr id="13" name="Rectangle 12"/>
          <p:cNvSpPr/>
          <p:nvPr/>
        </p:nvSpPr>
        <p:spPr>
          <a:xfrm>
            <a:off x="548640" y="5468112"/>
            <a:ext cx="5303520" cy="502920"/>
          </a:xfrm>
          <a:prstGeom prst="rect">
            <a:avLst/>
          </a:prstGeom>
          <a:solidFill>
            <a:srgbClr val="FFF3CD"/>
          </a:solidFill>
          <a:ln w="19050">
            <a:solidFill>
              <a:srgbClr val="E0A8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486400"/>
            <a:ext cx="5120640" cy="475488"/>
          </a:xfrm>
          <a:prstGeom prst="rect">
            <a:avLst/>
          </a:prstGeom>
          <a:noFill/>
        </p:spPr>
        <p:txBody>
          <a:bodyPr wrap="square" lIns="45720" rIns="45720" tIns="18288" bIns="18288" anchor="ctr">
            <a:spAutoFit/>
          </a:bodyPr>
          <a:lstStyle/>
          <a:p>
            <a:pPr algn="l"/>
            <a:r>
              <a:rPr sz="1400" b="0" i="0">
                <a:solidFill>
                  <a:srgbClr val="333D4A"/>
                </a:solidFill>
                <a:latin typeface="Calibri"/>
              </a:rPr>
              <a:t>At most log N levels to traverse downward.   Time complexity:  O(log N)</a:t>
            </a:r>
          </a:p>
        </p:txBody>
      </p:sp>
      <p:sp>
        <p:nvSpPr>
          <p:cNvPr id="15" name="TextBox 14"/>
          <p:cNvSpPr txBox="1"/>
          <p:nvPr/>
        </p:nvSpPr>
        <p:spPr>
          <a:xfrm>
            <a:off x="6217920" y="1417320"/>
            <a:ext cx="5577840" cy="365760"/>
          </a:xfrm>
          <a:prstGeom prst="rect">
            <a:avLst/>
          </a:prstGeom>
          <a:noFill/>
        </p:spPr>
        <p:txBody>
          <a:bodyPr wrap="square" lIns="45720" rIns="45720" tIns="18288" bIns="18288" anchor="t">
            <a:spAutoFit/>
          </a:bodyPr>
          <a:lstStyle/>
          <a:p>
            <a:pPr algn="l"/>
            <a:r>
              <a:rPr sz="1900" b="1" i="0">
                <a:solidFill>
                  <a:srgbClr val="0B2A4A"/>
                </a:solidFill>
                <a:latin typeface="Calibri"/>
              </a:rPr>
              <a:t>Python Implementation</a:t>
            </a:r>
          </a:p>
        </p:txBody>
      </p:sp>
      <p:sp>
        <p:nvSpPr>
          <p:cNvPr id="16" name="Rectangle 15"/>
          <p:cNvSpPr/>
          <p:nvPr/>
        </p:nvSpPr>
        <p:spPr>
          <a:xfrm>
            <a:off x="6217920" y="1764792"/>
            <a:ext cx="164592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920240"/>
            <a:ext cx="5577840" cy="443484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920240"/>
            <a:ext cx="64008" cy="443484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2011680"/>
            <a:ext cx="5349240" cy="4251960"/>
          </a:xfrm>
          <a:prstGeom prst="rect">
            <a:avLst/>
          </a:prstGeom>
          <a:noFill/>
        </p:spPr>
        <p:txBody>
          <a:bodyPr wrap="none">
            <a:spAutoFit/>
          </a:bodyPr>
          <a:lstStyle/>
          <a:p>
            <a:pPr algn="l">
              <a:lnSpc>
                <a:spcPct val="115000"/>
              </a:lnSpc>
            </a:pPr>
            <a:r>
              <a:rPr sz="1150">
                <a:solidFill>
                  <a:srgbClr val="E6E6E6"/>
                </a:solidFill>
                <a:latin typeface="Consolas"/>
              </a:rPr>
              <a:t>def _sift_down(self, index):</a:t>
            </a:r>
          </a:p>
          <a:p>
            <a:pPr algn="l">
              <a:lnSpc>
                <a:spcPct val="115000"/>
              </a:lnSpc>
            </a:pPr>
            <a:r>
              <a:rPr sz="1150">
                <a:solidFill>
                  <a:srgbClr val="E6E6E6"/>
                </a:solidFill>
                <a:latin typeface="Consolas"/>
              </a:rPr>
              <a:t>    # Continue while there is at least a left child</a:t>
            </a:r>
          </a:p>
          <a:p>
            <a:pPr algn="l">
              <a:lnSpc>
                <a:spcPct val="115000"/>
              </a:lnSpc>
            </a:pPr>
            <a:r>
              <a:rPr sz="1150">
                <a:solidFill>
                  <a:srgbClr val="E6E6E6"/>
                </a:solidFill>
                <a:latin typeface="Consolas"/>
              </a:rPr>
              <a:t>    while self.has_left_child(index):</a:t>
            </a:r>
          </a:p>
          <a:p>
            <a:pPr algn="l">
              <a:lnSpc>
                <a:spcPct val="115000"/>
              </a:lnSpc>
            </a:pPr>
            <a:r>
              <a:rPr sz="1150">
                <a:solidFill>
                  <a:srgbClr val="E6E6E6"/>
                </a:solidFill>
                <a:latin typeface="Consolas"/>
              </a:rPr>
              <a:t>        left  = self.get_left_child_index(index)</a:t>
            </a:r>
          </a:p>
          <a:p>
            <a:pPr algn="l">
              <a:lnSpc>
                <a:spcPct val="115000"/>
              </a:lnSpc>
            </a:pPr>
            <a:r>
              <a:rPr sz="1150">
                <a:solidFill>
                  <a:srgbClr val="E6E6E6"/>
                </a:solidFill>
                <a:latin typeface="Consolas"/>
              </a:rPr>
              <a:t>        right = self.get_right_child_index(index)</a:t>
            </a:r>
          </a:p>
          <a:p>
            <a:pPr algn="l">
              <a:lnSpc>
                <a:spcPct val="115000"/>
              </a:lnSpc>
            </a:pPr>
            <a:r>
              <a:rPr sz="1150">
                <a:solidFill>
                  <a:srgbClr val="E6E6E6"/>
                </a:solidFill>
                <a:latin typeface="Consolas"/>
              </a:rPr>
              <a:t> </a:t>
            </a:r>
          </a:p>
          <a:p>
            <a:pPr algn="l">
              <a:lnSpc>
                <a:spcPct val="115000"/>
              </a:lnSpc>
            </a:pPr>
            <a:r>
              <a:rPr sz="1150">
                <a:solidFill>
                  <a:srgbClr val="E6E6E6"/>
                </a:solidFill>
                <a:latin typeface="Consolas"/>
              </a:rPr>
              <a:t>        # Assume left child is the smaller candidate</a:t>
            </a:r>
          </a:p>
          <a:p>
            <a:pPr algn="l">
              <a:lnSpc>
                <a:spcPct val="115000"/>
              </a:lnSpc>
            </a:pPr>
            <a:r>
              <a:rPr sz="1150">
                <a:solidFill>
                  <a:srgbClr val="E6E6E6"/>
                </a:solidFill>
                <a:latin typeface="Consolas"/>
              </a:rPr>
              <a:t>        smaller = left</a:t>
            </a:r>
          </a:p>
          <a:p>
            <a:pPr algn="l">
              <a:lnSpc>
                <a:spcPct val="115000"/>
              </a:lnSpc>
            </a:pPr>
            <a:r>
              <a:rPr sz="1150">
                <a:solidFill>
                  <a:srgbClr val="E6E6E6"/>
                </a:solidFill>
                <a:latin typeface="Consolas"/>
              </a:rPr>
              <a:t> </a:t>
            </a:r>
          </a:p>
          <a:p>
            <a:pPr algn="l">
              <a:lnSpc>
                <a:spcPct val="115000"/>
              </a:lnSpc>
            </a:pPr>
            <a:r>
              <a:rPr sz="1150">
                <a:solidFill>
                  <a:srgbClr val="E6E6E6"/>
                </a:solidFill>
                <a:latin typeface="Consolas"/>
              </a:rPr>
              <a:t>        # If right child exists and is smaller, use it</a:t>
            </a:r>
          </a:p>
          <a:p>
            <a:pPr algn="l">
              <a:lnSpc>
                <a:spcPct val="115000"/>
              </a:lnSpc>
            </a:pPr>
            <a:r>
              <a:rPr sz="1150">
                <a:solidFill>
                  <a:srgbClr val="E6E6E6"/>
                </a:solidFill>
                <a:latin typeface="Consolas"/>
              </a:rPr>
              <a:t>        if (self.has_right_child(index) and</a:t>
            </a:r>
          </a:p>
          <a:p>
            <a:pPr algn="l">
              <a:lnSpc>
                <a:spcPct val="115000"/>
              </a:lnSpc>
            </a:pPr>
            <a:r>
              <a:rPr sz="1150">
                <a:solidFill>
                  <a:srgbClr val="E6E6E6"/>
                </a:solidFill>
                <a:latin typeface="Consolas"/>
              </a:rPr>
              <a:t>                self.heap[right] &lt; self.heap[left]):</a:t>
            </a:r>
          </a:p>
          <a:p>
            <a:pPr algn="l">
              <a:lnSpc>
                <a:spcPct val="115000"/>
              </a:lnSpc>
            </a:pPr>
            <a:r>
              <a:rPr sz="1150">
                <a:solidFill>
                  <a:srgbClr val="E6E6E6"/>
                </a:solidFill>
                <a:latin typeface="Consolas"/>
              </a:rPr>
              <a:t>            smaller = right</a:t>
            </a:r>
          </a:p>
          <a:p>
            <a:pPr algn="l">
              <a:lnSpc>
                <a:spcPct val="115000"/>
              </a:lnSpc>
            </a:pPr>
            <a:r>
              <a:rPr sz="1150">
                <a:solidFill>
                  <a:srgbClr val="E6E6E6"/>
                </a:solidFill>
                <a:latin typeface="Consolas"/>
              </a:rPr>
              <a:t> </a:t>
            </a:r>
          </a:p>
          <a:p>
            <a:pPr algn="l">
              <a:lnSpc>
                <a:spcPct val="115000"/>
              </a:lnSpc>
            </a:pPr>
            <a:r>
              <a:rPr sz="1150">
                <a:solidFill>
                  <a:srgbClr val="E6E6E6"/>
                </a:solidFill>
                <a:latin typeface="Consolas"/>
              </a:rPr>
              <a:t>        # If current element is already smaller, stop</a:t>
            </a:r>
          </a:p>
          <a:p>
            <a:pPr algn="l">
              <a:lnSpc>
                <a:spcPct val="115000"/>
              </a:lnSpc>
            </a:pPr>
            <a:r>
              <a:rPr sz="1150">
                <a:solidFill>
                  <a:srgbClr val="E6E6E6"/>
                </a:solidFill>
                <a:latin typeface="Consolas"/>
              </a:rPr>
              <a:t>        if self.heap[index] &lt; self.heap[smaller]:</a:t>
            </a:r>
          </a:p>
          <a:p>
            <a:pPr algn="l">
              <a:lnSpc>
                <a:spcPct val="115000"/>
              </a:lnSpc>
            </a:pPr>
            <a:r>
              <a:rPr sz="1150">
                <a:solidFill>
                  <a:srgbClr val="E6E6E6"/>
                </a:solidFill>
                <a:latin typeface="Consolas"/>
              </a:rPr>
              <a:t>            break</a:t>
            </a:r>
          </a:p>
          <a:p>
            <a:pPr algn="l">
              <a:lnSpc>
                <a:spcPct val="115000"/>
              </a:lnSpc>
            </a:pPr>
            <a:r>
              <a:rPr sz="1150">
                <a:solidFill>
                  <a:srgbClr val="E6E6E6"/>
                </a:solidFill>
                <a:latin typeface="Consolas"/>
              </a:rPr>
              <a:t> </a:t>
            </a:r>
          </a:p>
          <a:p>
            <a:pPr algn="l">
              <a:lnSpc>
                <a:spcPct val="115000"/>
              </a:lnSpc>
            </a:pPr>
            <a:r>
              <a:rPr sz="1150">
                <a:solidFill>
                  <a:srgbClr val="E6E6E6"/>
                </a:solidFill>
                <a:latin typeface="Consolas"/>
              </a:rPr>
              <a:t>        # Swap and continue downward</a:t>
            </a:r>
          </a:p>
          <a:p>
            <a:pPr algn="l">
              <a:lnSpc>
                <a:spcPct val="115000"/>
              </a:lnSpc>
            </a:pPr>
            <a:r>
              <a:rPr sz="1150">
                <a:solidFill>
                  <a:srgbClr val="E6E6E6"/>
                </a:solidFill>
                <a:latin typeface="Consolas"/>
              </a:rPr>
              <a:t>        self.heap[index], self.heap[smaller] = (</a:t>
            </a:r>
          </a:p>
          <a:p>
            <a:pPr algn="l">
              <a:lnSpc>
                <a:spcPct val="115000"/>
              </a:lnSpc>
            </a:pPr>
            <a:r>
              <a:rPr sz="1150">
                <a:solidFill>
                  <a:srgbClr val="E6E6E6"/>
                </a:solidFill>
                <a:latin typeface="Consolas"/>
              </a:rPr>
              <a:t>            self.heap[smaller], self.heap[index]</a:t>
            </a:r>
          </a:p>
          <a:p>
            <a:pPr algn="l">
              <a:lnSpc>
                <a:spcPct val="115000"/>
              </a:lnSpc>
            </a:pPr>
            <a:r>
              <a:rPr sz="1150">
                <a:solidFill>
                  <a:srgbClr val="E6E6E6"/>
                </a:solidFill>
                <a:latin typeface="Consolas"/>
              </a:rPr>
              <a:t>        )</a:t>
            </a:r>
          </a:p>
          <a:p>
            <a:pPr algn="l">
              <a:lnSpc>
                <a:spcPct val="115000"/>
              </a:lnSpc>
            </a:pPr>
            <a:r>
              <a:rPr sz="1150">
                <a:solidFill>
                  <a:srgbClr val="E6E6E6"/>
                </a:solidFill>
                <a:latin typeface="Consolas"/>
              </a:rPr>
              <a:t>        index = smaller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Worked Example — Insert</a:t>
            </a:r>
          </a:p>
        </p:txBody>
      </p:sp>
      <p:sp>
        <p:nvSpPr>
          <p:cNvPr id="6" name="TextBox 5"/>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Inserting the value 2 into the Min-Heap  [1, 3, 5, 9, 7, 6, 8]</a:t>
            </a:r>
          </a:p>
        </p:txBody>
      </p:sp>
      <p:sp>
        <p:nvSpPr>
          <p:cNvPr id="7" name="Rectangle 6"/>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82296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07  ·  Heaps &amp; Priority Queues</a:t>
            </a:r>
          </a:p>
        </p:txBody>
      </p:sp>
      <p:sp>
        <p:nvSpPr>
          <p:cNvPr id="9" name="TextBox 8"/>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8 / 15</a:t>
            </a:r>
          </a:p>
        </p:txBody>
      </p:sp>
      <p:sp>
        <p:nvSpPr>
          <p:cNvPr id="10" name="TextBox 9"/>
          <p:cNvSpPr txBox="1"/>
          <p:nvPr/>
        </p:nvSpPr>
        <p:spPr>
          <a:xfrm>
            <a:off x="548640" y="1417320"/>
            <a:ext cx="11247120" cy="347472"/>
          </a:xfrm>
          <a:prstGeom prst="rect">
            <a:avLst/>
          </a:prstGeom>
          <a:noFill/>
        </p:spPr>
        <p:txBody>
          <a:bodyPr wrap="square" lIns="45720" rIns="45720" tIns="18288" bIns="18288" anchor="t">
            <a:spAutoFit/>
          </a:bodyPr>
          <a:lstStyle/>
          <a:p>
            <a:pPr algn="l"/>
            <a:r>
              <a:rPr sz="1600" b="0" i="0">
                <a:solidFill>
                  <a:srgbClr val="333D4A"/>
                </a:solidFill>
                <a:latin typeface="Calibri"/>
              </a:rPr>
              <a:t>Initial heap array:</a:t>
            </a:r>
          </a:p>
        </p:txBody>
      </p:sp>
      <p:sp>
        <p:nvSpPr>
          <p:cNvPr id="11" name="Rectangle 10"/>
          <p:cNvSpPr/>
          <p:nvPr/>
        </p:nvSpPr>
        <p:spPr>
          <a:xfrm>
            <a:off x="548640" y="1755648"/>
            <a:ext cx="548640" cy="502920"/>
          </a:xfrm>
          <a:prstGeom prst="rect">
            <a:avLst/>
          </a:prstGeom>
          <a:solidFill>
            <a:srgbClr val="127A8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755648"/>
            <a:ext cx="548640" cy="502920"/>
          </a:xfrm>
          <a:prstGeom prst="rect">
            <a:avLst/>
          </a:prstGeom>
          <a:noFill/>
        </p:spPr>
        <p:txBody>
          <a:bodyPr wrap="square" lIns="45720" rIns="45720" tIns="18288" bIns="18288" anchor="ctr">
            <a:spAutoFit/>
          </a:bodyPr>
          <a:lstStyle/>
          <a:p>
            <a:pPr algn="ctr"/>
            <a:r>
              <a:rPr sz="1500" b="1" i="0">
                <a:solidFill>
                  <a:srgbClr val="FFFFFF"/>
                </a:solidFill>
                <a:latin typeface="Calibri"/>
              </a:rPr>
              <a:t>1</a:t>
            </a:r>
          </a:p>
        </p:txBody>
      </p:sp>
      <p:sp>
        <p:nvSpPr>
          <p:cNvPr id="13" name="TextBox 12"/>
          <p:cNvSpPr txBox="1"/>
          <p:nvPr/>
        </p:nvSpPr>
        <p:spPr>
          <a:xfrm>
            <a:off x="548640"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[0]</a:t>
            </a:r>
          </a:p>
        </p:txBody>
      </p:sp>
      <p:sp>
        <p:nvSpPr>
          <p:cNvPr id="14" name="Rectangle 13"/>
          <p:cNvSpPr/>
          <p:nvPr/>
        </p:nvSpPr>
        <p:spPr>
          <a:xfrm>
            <a:off x="1133856" y="1755648"/>
            <a:ext cx="548640"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33856" y="1755648"/>
            <a:ext cx="548640"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3</a:t>
            </a:r>
          </a:p>
        </p:txBody>
      </p:sp>
      <p:sp>
        <p:nvSpPr>
          <p:cNvPr id="16" name="TextBox 15"/>
          <p:cNvSpPr txBox="1"/>
          <p:nvPr/>
        </p:nvSpPr>
        <p:spPr>
          <a:xfrm>
            <a:off x="1133856"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[1]</a:t>
            </a:r>
          </a:p>
        </p:txBody>
      </p:sp>
      <p:sp>
        <p:nvSpPr>
          <p:cNvPr id="17" name="Rectangle 16"/>
          <p:cNvSpPr/>
          <p:nvPr/>
        </p:nvSpPr>
        <p:spPr>
          <a:xfrm>
            <a:off x="1719072" y="1755648"/>
            <a:ext cx="548640"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19072" y="1755648"/>
            <a:ext cx="548640"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5</a:t>
            </a:r>
          </a:p>
        </p:txBody>
      </p:sp>
      <p:sp>
        <p:nvSpPr>
          <p:cNvPr id="19" name="TextBox 18"/>
          <p:cNvSpPr txBox="1"/>
          <p:nvPr/>
        </p:nvSpPr>
        <p:spPr>
          <a:xfrm>
            <a:off x="1719072"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[2]</a:t>
            </a:r>
          </a:p>
        </p:txBody>
      </p:sp>
      <p:sp>
        <p:nvSpPr>
          <p:cNvPr id="20" name="Rectangle 19"/>
          <p:cNvSpPr/>
          <p:nvPr/>
        </p:nvSpPr>
        <p:spPr>
          <a:xfrm>
            <a:off x="2304288" y="1755648"/>
            <a:ext cx="548640"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04288" y="1755648"/>
            <a:ext cx="548640"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9</a:t>
            </a:r>
          </a:p>
        </p:txBody>
      </p:sp>
      <p:sp>
        <p:nvSpPr>
          <p:cNvPr id="22" name="TextBox 21"/>
          <p:cNvSpPr txBox="1"/>
          <p:nvPr/>
        </p:nvSpPr>
        <p:spPr>
          <a:xfrm>
            <a:off x="2304288"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[3]</a:t>
            </a:r>
          </a:p>
        </p:txBody>
      </p:sp>
      <p:sp>
        <p:nvSpPr>
          <p:cNvPr id="23" name="Rectangle 22"/>
          <p:cNvSpPr/>
          <p:nvPr/>
        </p:nvSpPr>
        <p:spPr>
          <a:xfrm>
            <a:off x="2889504" y="1755648"/>
            <a:ext cx="548640"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89504" y="1755648"/>
            <a:ext cx="548640"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7</a:t>
            </a:r>
          </a:p>
        </p:txBody>
      </p:sp>
      <p:sp>
        <p:nvSpPr>
          <p:cNvPr id="25" name="TextBox 24"/>
          <p:cNvSpPr txBox="1"/>
          <p:nvPr/>
        </p:nvSpPr>
        <p:spPr>
          <a:xfrm>
            <a:off x="2889504"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[4]</a:t>
            </a:r>
          </a:p>
        </p:txBody>
      </p:sp>
      <p:sp>
        <p:nvSpPr>
          <p:cNvPr id="26" name="Rectangle 25"/>
          <p:cNvSpPr/>
          <p:nvPr/>
        </p:nvSpPr>
        <p:spPr>
          <a:xfrm>
            <a:off x="3474720" y="1755648"/>
            <a:ext cx="548640"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0" y="1755648"/>
            <a:ext cx="548640"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6</a:t>
            </a:r>
          </a:p>
        </p:txBody>
      </p:sp>
      <p:sp>
        <p:nvSpPr>
          <p:cNvPr id="28" name="TextBox 27"/>
          <p:cNvSpPr txBox="1"/>
          <p:nvPr/>
        </p:nvSpPr>
        <p:spPr>
          <a:xfrm>
            <a:off x="3474720"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[5]</a:t>
            </a:r>
          </a:p>
        </p:txBody>
      </p:sp>
      <p:sp>
        <p:nvSpPr>
          <p:cNvPr id="29" name="Rectangle 28"/>
          <p:cNvSpPr/>
          <p:nvPr/>
        </p:nvSpPr>
        <p:spPr>
          <a:xfrm>
            <a:off x="4059936" y="1755648"/>
            <a:ext cx="548640"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59936" y="1755648"/>
            <a:ext cx="548640"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8</a:t>
            </a:r>
          </a:p>
        </p:txBody>
      </p:sp>
      <p:sp>
        <p:nvSpPr>
          <p:cNvPr id="31" name="TextBox 30"/>
          <p:cNvSpPr txBox="1"/>
          <p:nvPr/>
        </p:nvSpPr>
        <p:spPr>
          <a:xfrm>
            <a:off x="4059936"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[6]</a:t>
            </a:r>
          </a:p>
        </p:txBody>
      </p:sp>
      <p:sp>
        <p:nvSpPr>
          <p:cNvPr id="32" name="Rectangle 31"/>
          <p:cNvSpPr/>
          <p:nvPr/>
        </p:nvSpPr>
        <p:spPr>
          <a:xfrm>
            <a:off x="548640" y="2560320"/>
            <a:ext cx="11247120" cy="914400"/>
          </a:xfrm>
          <a:prstGeom prst="rect">
            <a:avLst/>
          </a:prstGeom>
          <a:solidFill>
            <a:srgbClr val="FFFFFF"/>
          </a:solidFill>
          <a:ln w="127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2560320"/>
            <a:ext cx="54864" cy="914400"/>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2615184"/>
            <a:ext cx="5943600" cy="347472"/>
          </a:xfrm>
          <a:prstGeom prst="rect">
            <a:avLst/>
          </a:prstGeom>
          <a:noFill/>
        </p:spPr>
        <p:txBody>
          <a:bodyPr wrap="square" lIns="45720" rIns="45720" tIns="18288" bIns="18288" anchor="t">
            <a:spAutoFit/>
          </a:bodyPr>
          <a:lstStyle/>
          <a:p>
            <a:pPr algn="l"/>
            <a:r>
              <a:rPr sz="1400" b="1" i="0">
                <a:solidFill>
                  <a:srgbClr val="0B2A4A"/>
                </a:solidFill>
                <a:latin typeface="Calibri"/>
              </a:rPr>
              <a:t>Step 1 — Append</a:t>
            </a:r>
          </a:p>
        </p:txBody>
      </p:sp>
      <p:sp>
        <p:nvSpPr>
          <p:cNvPr id="35" name="TextBox 34"/>
          <p:cNvSpPr txBox="1"/>
          <p:nvPr/>
        </p:nvSpPr>
        <p:spPr>
          <a:xfrm>
            <a:off x="731520" y="2953512"/>
            <a:ext cx="5303520" cy="347472"/>
          </a:xfrm>
          <a:prstGeom prst="rect">
            <a:avLst/>
          </a:prstGeom>
          <a:noFill/>
        </p:spPr>
        <p:txBody>
          <a:bodyPr wrap="square" lIns="45720" rIns="45720" tIns="18288" bIns="18288" anchor="t">
            <a:spAutoFit/>
          </a:bodyPr>
          <a:lstStyle/>
          <a:p>
            <a:pPr algn="l"/>
            <a:r>
              <a:rPr sz="1300" b="0" i="0">
                <a:solidFill>
                  <a:srgbClr val="333D4A"/>
                </a:solidFill>
                <a:latin typeface="Calibri"/>
              </a:rPr>
              <a:t>Append 2 at the end (index 7)  →  [1, 3, 5, 9, 7, 6, 8, 2]</a:t>
            </a:r>
          </a:p>
        </p:txBody>
      </p:sp>
      <p:sp>
        <p:nvSpPr>
          <p:cNvPr id="36" name="Rectangle 35"/>
          <p:cNvSpPr/>
          <p:nvPr/>
        </p:nvSpPr>
        <p:spPr>
          <a:xfrm>
            <a:off x="6492240" y="2724912"/>
            <a:ext cx="457200" cy="420624"/>
          </a:xfrm>
          <a:prstGeom prst="rect">
            <a:avLst/>
          </a:prstGeom>
          <a:solidFill>
            <a:srgbClr val="127A8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2724912"/>
            <a:ext cx="457200" cy="420624"/>
          </a:xfrm>
          <a:prstGeom prst="rect">
            <a:avLst/>
          </a:prstGeom>
          <a:noFill/>
        </p:spPr>
        <p:txBody>
          <a:bodyPr wrap="square" lIns="45720" rIns="45720" tIns="18288" bIns="18288" anchor="ctr">
            <a:spAutoFit/>
          </a:bodyPr>
          <a:lstStyle/>
          <a:p>
            <a:pPr algn="ctr"/>
            <a:r>
              <a:rPr sz="1300" b="1" i="0">
                <a:solidFill>
                  <a:srgbClr val="FFFFFF"/>
                </a:solidFill>
                <a:latin typeface="Calibri"/>
              </a:rPr>
              <a:t>1</a:t>
            </a:r>
          </a:p>
        </p:txBody>
      </p:sp>
      <p:sp>
        <p:nvSpPr>
          <p:cNvPr id="38" name="TextBox 37"/>
          <p:cNvSpPr txBox="1"/>
          <p:nvPr/>
        </p:nvSpPr>
        <p:spPr>
          <a:xfrm>
            <a:off x="6492240" y="3182112"/>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[0]</a:t>
            </a:r>
          </a:p>
        </p:txBody>
      </p:sp>
      <p:sp>
        <p:nvSpPr>
          <p:cNvPr id="39" name="Rectangle 38"/>
          <p:cNvSpPr/>
          <p:nvPr/>
        </p:nvSpPr>
        <p:spPr>
          <a:xfrm>
            <a:off x="6986016" y="2724912"/>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86016" y="2724912"/>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3</a:t>
            </a:r>
          </a:p>
        </p:txBody>
      </p:sp>
      <p:sp>
        <p:nvSpPr>
          <p:cNvPr id="41" name="TextBox 40"/>
          <p:cNvSpPr txBox="1"/>
          <p:nvPr/>
        </p:nvSpPr>
        <p:spPr>
          <a:xfrm>
            <a:off x="6986016" y="3182112"/>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[1]</a:t>
            </a:r>
          </a:p>
        </p:txBody>
      </p:sp>
      <p:sp>
        <p:nvSpPr>
          <p:cNvPr id="42" name="Rectangle 41"/>
          <p:cNvSpPr/>
          <p:nvPr/>
        </p:nvSpPr>
        <p:spPr>
          <a:xfrm>
            <a:off x="7479792" y="2724912"/>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79792" y="2724912"/>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5</a:t>
            </a:r>
          </a:p>
        </p:txBody>
      </p:sp>
      <p:sp>
        <p:nvSpPr>
          <p:cNvPr id="44" name="TextBox 43"/>
          <p:cNvSpPr txBox="1"/>
          <p:nvPr/>
        </p:nvSpPr>
        <p:spPr>
          <a:xfrm>
            <a:off x="7479792" y="3182112"/>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[2]</a:t>
            </a:r>
          </a:p>
        </p:txBody>
      </p:sp>
      <p:sp>
        <p:nvSpPr>
          <p:cNvPr id="45" name="Rectangle 44"/>
          <p:cNvSpPr/>
          <p:nvPr/>
        </p:nvSpPr>
        <p:spPr>
          <a:xfrm>
            <a:off x="7973568" y="2724912"/>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73568" y="2724912"/>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9</a:t>
            </a:r>
          </a:p>
        </p:txBody>
      </p:sp>
      <p:sp>
        <p:nvSpPr>
          <p:cNvPr id="47" name="TextBox 46"/>
          <p:cNvSpPr txBox="1"/>
          <p:nvPr/>
        </p:nvSpPr>
        <p:spPr>
          <a:xfrm>
            <a:off x="7973568" y="3182112"/>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[3]</a:t>
            </a:r>
          </a:p>
        </p:txBody>
      </p:sp>
      <p:sp>
        <p:nvSpPr>
          <p:cNvPr id="48" name="Rectangle 47"/>
          <p:cNvSpPr/>
          <p:nvPr/>
        </p:nvSpPr>
        <p:spPr>
          <a:xfrm>
            <a:off x="8467344" y="2724912"/>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67344" y="2724912"/>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7</a:t>
            </a:r>
          </a:p>
        </p:txBody>
      </p:sp>
      <p:sp>
        <p:nvSpPr>
          <p:cNvPr id="50" name="TextBox 49"/>
          <p:cNvSpPr txBox="1"/>
          <p:nvPr/>
        </p:nvSpPr>
        <p:spPr>
          <a:xfrm>
            <a:off x="8467344" y="3182112"/>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[4]</a:t>
            </a:r>
          </a:p>
        </p:txBody>
      </p:sp>
      <p:sp>
        <p:nvSpPr>
          <p:cNvPr id="51" name="Rectangle 50"/>
          <p:cNvSpPr/>
          <p:nvPr/>
        </p:nvSpPr>
        <p:spPr>
          <a:xfrm>
            <a:off x="8961120" y="2724912"/>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61120" y="2724912"/>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6</a:t>
            </a:r>
          </a:p>
        </p:txBody>
      </p:sp>
      <p:sp>
        <p:nvSpPr>
          <p:cNvPr id="53" name="TextBox 52"/>
          <p:cNvSpPr txBox="1"/>
          <p:nvPr/>
        </p:nvSpPr>
        <p:spPr>
          <a:xfrm>
            <a:off x="8961120" y="3182112"/>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[5]</a:t>
            </a:r>
          </a:p>
        </p:txBody>
      </p:sp>
      <p:sp>
        <p:nvSpPr>
          <p:cNvPr id="54" name="Rectangle 53"/>
          <p:cNvSpPr/>
          <p:nvPr/>
        </p:nvSpPr>
        <p:spPr>
          <a:xfrm>
            <a:off x="9454896" y="2724912"/>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54896" y="2724912"/>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8</a:t>
            </a:r>
          </a:p>
        </p:txBody>
      </p:sp>
      <p:sp>
        <p:nvSpPr>
          <p:cNvPr id="56" name="TextBox 55"/>
          <p:cNvSpPr txBox="1"/>
          <p:nvPr/>
        </p:nvSpPr>
        <p:spPr>
          <a:xfrm>
            <a:off x="9454896" y="3182112"/>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[6]</a:t>
            </a:r>
          </a:p>
        </p:txBody>
      </p:sp>
      <p:sp>
        <p:nvSpPr>
          <p:cNvPr id="57" name="Rectangle 56"/>
          <p:cNvSpPr/>
          <p:nvPr/>
        </p:nvSpPr>
        <p:spPr>
          <a:xfrm>
            <a:off x="9948672" y="2724912"/>
            <a:ext cx="457200" cy="420624"/>
          </a:xfrm>
          <a:prstGeom prst="rect">
            <a:avLst/>
          </a:prstGeom>
          <a:solidFill>
            <a:srgbClr val="E0A81F"/>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948672" y="2724912"/>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2</a:t>
            </a:r>
          </a:p>
        </p:txBody>
      </p:sp>
      <p:sp>
        <p:nvSpPr>
          <p:cNvPr id="59" name="TextBox 58"/>
          <p:cNvSpPr txBox="1"/>
          <p:nvPr/>
        </p:nvSpPr>
        <p:spPr>
          <a:xfrm>
            <a:off x="9948672" y="3182112"/>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[7]</a:t>
            </a:r>
          </a:p>
        </p:txBody>
      </p:sp>
      <p:sp>
        <p:nvSpPr>
          <p:cNvPr id="60" name="Rectangle 59"/>
          <p:cNvSpPr/>
          <p:nvPr/>
        </p:nvSpPr>
        <p:spPr>
          <a:xfrm>
            <a:off x="548640" y="3547872"/>
            <a:ext cx="11247120" cy="914400"/>
          </a:xfrm>
          <a:prstGeom prst="rect">
            <a:avLst/>
          </a:prstGeom>
          <a:solidFill>
            <a:srgbClr val="FFFFFF"/>
          </a:solidFill>
          <a:ln w="127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48640" y="3547872"/>
            <a:ext cx="54864" cy="914400"/>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1520" y="3602736"/>
            <a:ext cx="5943600" cy="347472"/>
          </a:xfrm>
          <a:prstGeom prst="rect">
            <a:avLst/>
          </a:prstGeom>
          <a:noFill/>
        </p:spPr>
        <p:txBody>
          <a:bodyPr wrap="square" lIns="45720" rIns="45720" tIns="18288" bIns="18288" anchor="t">
            <a:spAutoFit/>
          </a:bodyPr>
          <a:lstStyle/>
          <a:p>
            <a:pPr algn="l"/>
            <a:r>
              <a:rPr sz="1400" b="1" i="0">
                <a:solidFill>
                  <a:srgbClr val="0B2A4A"/>
                </a:solidFill>
                <a:latin typeface="Calibri"/>
              </a:rPr>
              <a:t>Step 2 — Compare with parent at index 3 (value 9)</a:t>
            </a:r>
          </a:p>
        </p:txBody>
      </p:sp>
      <p:sp>
        <p:nvSpPr>
          <p:cNvPr id="63" name="TextBox 62"/>
          <p:cNvSpPr txBox="1"/>
          <p:nvPr/>
        </p:nvSpPr>
        <p:spPr>
          <a:xfrm>
            <a:off x="731520" y="3941064"/>
            <a:ext cx="5303520" cy="347472"/>
          </a:xfrm>
          <a:prstGeom prst="rect">
            <a:avLst/>
          </a:prstGeom>
          <a:noFill/>
        </p:spPr>
        <p:txBody>
          <a:bodyPr wrap="square" lIns="45720" rIns="45720" tIns="18288" bIns="18288" anchor="t">
            <a:spAutoFit/>
          </a:bodyPr>
          <a:lstStyle/>
          <a:p>
            <a:pPr algn="l"/>
            <a:r>
              <a:rPr sz="1300" b="0" i="0">
                <a:solidFill>
                  <a:srgbClr val="333D4A"/>
                </a:solidFill>
                <a:latin typeface="Calibri"/>
              </a:rPr>
              <a:t>2 &lt; 9  →  Swap indices 7 and 3  →  [1, 3, 5, 2, 7, 6, 8, 9]</a:t>
            </a:r>
          </a:p>
        </p:txBody>
      </p:sp>
      <p:sp>
        <p:nvSpPr>
          <p:cNvPr id="64" name="Rectangle 63"/>
          <p:cNvSpPr/>
          <p:nvPr/>
        </p:nvSpPr>
        <p:spPr>
          <a:xfrm>
            <a:off x="6492240" y="3712464"/>
            <a:ext cx="457200" cy="420624"/>
          </a:xfrm>
          <a:prstGeom prst="rect">
            <a:avLst/>
          </a:prstGeom>
          <a:solidFill>
            <a:srgbClr val="127A8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92240" y="3712464"/>
            <a:ext cx="457200" cy="420624"/>
          </a:xfrm>
          <a:prstGeom prst="rect">
            <a:avLst/>
          </a:prstGeom>
          <a:noFill/>
        </p:spPr>
        <p:txBody>
          <a:bodyPr wrap="square" lIns="45720" rIns="45720" tIns="18288" bIns="18288" anchor="ctr">
            <a:spAutoFit/>
          </a:bodyPr>
          <a:lstStyle/>
          <a:p>
            <a:pPr algn="ctr"/>
            <a:r>
              <a:rPr sz="1300" b="1" i="0">
                <a:solidFill>
                  <a:srgbClr val="FFFFFF"/>
                </a:solidFill>
                <a:latin typeface="Calibri"/>
              </a:rPr>
              <a:t>1</a:t>
            </a:r>
          </a:p>
        </p:txBody>
      </p:sp>
      <p:sp>
        <p:nvSpPr>
          <p:cNvPr id="66" name="TextBox 65"/>
          <p:cNvSpPr txBox="1"/>
          <p:nvPr/>
        </p:nvSpPr>
        <p:spPr>
          <a:xfrm>
            <a:off x="6492240" y="4169664"/>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[0]</a:t>
            </a:r>
          </a:p>
        </p:txBody>
      </p:sp>
      <p:sp>
        <p:nvSpPr>
          <p:cNvPr id="67" name="Rectangle 66"/>
          <p:cNvSpPr/>
          <p:nvPr/>
        </p:nvSpPr>
        <p:spPr>
          <a:xfrm>
            <a:off x="6986016" y="3712464"/>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986016" y="3712464"/>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3</a:t>
            </a:r>
          </a:p>
        </p:txBody>
      </p:sp>
      <p:sp>
        <p:nvSpPr>
          <p:cNvPr id="69" name="TextBox 68"/>
          <p:cNvSpPr txBox="1"/>
          <p:nvPr/>
        </p:nvSpPr>
        <p:spPr>
          <a:xfrm>
            <a:off x="6986016" y="4169664"/>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[1]</a:t>
            </a:r>
          </a:p>
        </p:txBody>
      </p:sp>
      <p:sp>
        <p:nvSpPr>
          <p:cNvPr id="70" name="Rectangle 69"/>
          <p:cNvSpPr/>
          <p:nvPr/>
        </p:nvSpPr>
        <p:spPr>
          <a:xfrm>
            <a:off x="7479792" y="3712464"/>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79792" y="3712464"/>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5</a:t>
            </a:r>
          </a:p>
        </p:txBody>
      </p:sp>
      <p:sp>
        <p:nvSpPr>
          <p:cNvPr id="72" name="TextBox 71"/>
          <p:cNvSpPr txBox="1"/>
          <p:nvPr/>
        </p:nvSpPr>
        <p:spPr>
          <a:xfrm>
            <a:off x="7479792" y="4169664"/>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[2]</a:t>
            </a:r>
          </a:p>
        </p:txBody>
      </p:sp>
      <p:sp>
        <p:nvSpPr>
          <p:cNvPr id="73" name="Rectangle 72"/>
          <p:cNvSpPr/>
          <p:nvPr/>
        </p:nvSpPr>
        <p:spPr>
          <a:xfrm>
            <a:off x="7973568" y="3712464"/>
            <a:ext cx="457200" cy="420624"/>
          </a:xfrm>
          <a:prstGeom prst="rect">
            <a:avLst/>
          </a:prstGeom>
          <a:solidFill>
            <a:srgbClr val="E0A81F"/>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973568" y="3712464"/>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2</a:t>
            </a:r>
          </a:p>
        </p:txBody>
      </p:sp>
      <p:sp>
        <p:nvSpPr>
          <p:cNvPr id="75" name="TextBox 74"/>
          <p:cNvSpPr txBox="1"/>
          <p:nvPr/>
        </p:nvSpPr>
        <p:spPr>
          <a:xfrm>
            <a:off x="7973568" y="4169664"/>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[3]</a:t>
            </a:r>
          </a:p>
        </p:txBody>
      </p:sp>
      <p:sp>
        <p:nvSpPr>
          <p:cNvPr id="76" name="Rectangle 75"/>
          <p:cNvSpPr/>
          <p:nvPr/>
        </p:nvSpPr>
        <p:spPr>
          <a:xfrm>
            <a:off x="8467344" y="3712464"/>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467344" y="3712464"/>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7</a:t>
            </a:r>
          </a:p>
        </p:txBody>
      </p:sp>
      <p:sp>
        <p:nvSpPr>
          <p:cNvPr id="78" name="TextBox 77"/>
          <p:cNvSpPr txBox="1"/>
          <p:nvPr/>
        </p:nvSpPr>
        <p:spPr>
          <a:xfrm>
            <a:off x="8467344" y="4169664"/>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[4]</a:t>
            </a:r>
          </a:p>
        </p:txBody>
      </p:sp>
      <p:sp>
        <p:nvSpPr>
          <p:cNvPr id="79" name="Rectangle 78"/>
          <p:cNvSpPr/>
          <p:nvPr/>
        </p:nvSpPr>
        <p:spPr>
          <a:xfrm>
            <a:off x="8961120" y="3712464"/>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961120" y="3712464"/>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6</a:t>
            </a:r>
          </a:p>
        </p:txBody>
      </p:sp>
      <p:sp>
        <p:nvSpPr>
          <p:cNvPr id="81" name="TextBox 80"/>
          <p:cNvSpPr txBox="1"/>
          <p:nvPr/>
        </p:nvSpPr>
        <p:spPr>
          <a:xfrm>
            <a:off x="8961120" y="4169664"/>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[5]</a:t>
            </a:r>
          </a:p>
        </p:txBody>
      </p:sp>
      <p:sp>
        <p:nvSpPr>
          <p:cNvPr id="82" name="Rectangle 81"/>
          <p:cNvSpPr/>
          <p:nvPr/>
        </p:nvSpPr>
        <p:spPr>
          <a:xfrm>
            <a:off x="9454896" y="3712464"/>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454896" y="3712464"/>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8</a:t>
            </a:r>
          </a:p>
        </p:txBody>
      </p:sp>
      <p:sp>
        <p:nvSpPr>
          <p:cNvPr id="84" name="TextBox 83"/>
          <p:cNvSpPr txBox="1"/>
          <p:nvPr/>
        </p:nvSpPr>
        <p:spPr>
          <a:xfrm>
            <a:off x="9454896" y="4169664"/>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[6]</a:t>
            </a:r>
          </a:p>
        </p:txBody>
      </p:sp>
      <p:sp>
        <p:nvSpPr>
          <p:cNvPr id="85" name="Rectangle 84"/>
          <p:cNvSpPr/>
          <p:nvPr/>
        </p:nvSpPr>
        <p:spPr>
          <a:xfrm>
            <a:off x="9948672" y="3712464"/>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948672" y="3712464"/>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9</a:t>
            </a:r>
          </a:p>
        </p:txBody>
      </p:sp>
      <p:sp>
        <p:nvSpPr>
          <p:cNvPr id="87" name="TextBox 86"/>
          <p:cNvSpPr txBox="1"/>
          <p:nvPr/>
        </p:nvSpPr>
        <p:spPr>
          <a:xfrm>
            <a:off x="9948672" y="4169664"/>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[7]</a:t>
            </a:r>
          </a:p>
        </p:txBody>
      </p:sp>
      <p:sp>
        <p:nvSpPr>
          <p:cNvPr id="88" name="Rectangle 87"/>
          <p:cNvSpPr/>
          <p:nvPr/>
        </p:nvSpPr>
        <p:spPr>
          <a:xfrm>
            <a:off x="548640" y="4535424"/>
            <a:ext cx="11247120" cy="914400"/>
          </a:xfrm>
          <a:prstGeom prst="rect">
            <a:avLst/>
          </a:prstGeom>
          <a:solidFill>
            <a:srgbClr val="FFFFFF"/>
          </a:solidFill>
          <a:ln w="127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548640" y="4535424"/>
            <a:ext cx="54864" cy="914400"/>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31520" y="4590288"/>
            <a:ext cx="5943600" cy="347472"/>
          </a:xfrm>
          <a:prstGeom prst="rect">
            <a:avLst/>
          </a:prstGeom>
          <a:noFill/>
        </p:spPr>
        <p:txBody>
          <a:bodyPr wrap="square" lIns="45720" rIns="45720" tIns="18288" bIns="18288" anchor="t">
            <a:spAutoFit/>
          </a:bodyPr>
          <a:lstStyle/>
          <a:p>
            <a:pPr algn="l"/>
            <a:r>
              <a:rPr sz="1400" b="1" i="0">
                <a:solidFill>
                  <a:srgbClr val="0B2A4A"/>
                </a:solidFill>
                <a:latin typeface="Calibri"/>
              </a:rPr>
              <a:t>Step 3 — Compare with parent at index 1 (value 3)</a:t>
            </a:r>
          </a:p>
        </p:txBody>
      </p:sp>
      <p:sp>
        <p:nvSpPr>
          <p:cNvPr id="91" name="TextBox 90"/>
          <p:cNvSpPr txBox="1"/>
          <p:nvPr/>
        </p:nvSpPr>
        <p:spPr>
          <a:xfrm>
            <a:off x="731520" y="4928616"/>
            <a:ext cx="5303520" cy="347472"/>
          </a:xfrm>
          <a:prstGeom prst="rect">
            <a:avLst/>
          </a:prstGeom>
          <a:noFill/>
        </p:spPr>
        <p:txBody>
          <a:bodyPr wrap="square" lIns="45720" rIns="45720" tIns="18288" bIns="18288" anchor="t">
            <a:spAutoFit/>
          </a:bodyPr>
          <a:lstStyle/>
          <a:p>
            <a:pPr algn="l"/>
            <a:r>
              <a:rPr sz="1300" b="0" i="0">
                <a:solidFill>
                  <a:srgbClr val="333D4A"/>
                </a:solidFill>
                <a:latin typeface="Calibri"/>
              </a:rPr>
              <a:t>2 &lt; 3  →  Swap indices 3 and 1  →  [1, 2, 5, 3, 7, 6, 8, 9]</a:t>
            </a:r>
          </a:p>
        </p:txBody>
      </p:sp>
      <p:sp>
        <p:nvSpPr>
          <p:cNvPr id="92" name="Rectangle 91"/>
          <p:cNvSpPr/>
          <p:nvPr/>
        </p:nvSpPr>
        <p:spPr>
          <a:xfrm>
            <a:off x="6492240" y="4700016"/>
            <a:ext cx="457200" cy="420624"/>
          </a:xfrm>
          <a:prstGeom prst="rect">
            <a:avLst/>
          </a:prstGeom>
          <a:solidFill>
            <a:srgbClr val="127A8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492240" y="4700016"/>
            <a:ext cx="457200" cy="420624"/>
          </a:xfrm>
          <a:prstGeom prst="rect">
            <a:avLst/>
          </a:prstGeom>
          <a:noFill/>
        </p:spPr>
        <p:txBody>
          <a:bodyPr wrap="square" lIns="45720" rIns="45720" tIns="18288" bIns="18288" anchor="ctr">
            <a:spAutoFit/>
          </a:bodyPr>
          <a:lstStyle/>
          <a:p>
            <a:pPr algn="ctr"/>
            <a:r>
              <a:rPr sz="1300" b="1" i="0">
                <a:solidFill>
                  <a:srgbClr val="FFFFFF"/>
                </a:solidFill>
                <a:latin typeface="Calibri"/>
              </a:rPr>
              <a:t>1</a:t>
            </a:r>
          </a:p>
        </p:txBody>
      </p:sp>
      <p:sp>
        <p:nvSpPr>
          <p:cNvPr id="94" name="TextBox 93"/>
          <p:cNvSpPr txBox="1"/>
          <p:nvPr/>
        </p:nvSpPr>
        <p:spPr>
          <a:xfrm>
            <a:off x="6492240" y="5157216"/>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[0]</a:t>
            </a:r>
          </a:p>
        </p:txBody>
      </p:sp>
      <p:sp>
        <p:nvSpPr>
          <p:cNvPr id="95" name="Rectangle 94"/>
          <p:cNvSpPr/>
          <p:nvPr/>
        </p:nvSpPr>
        <p:spPr>
          <a:xfrm>
            <a:off x="6986016" y="4700016"/>
            <a:ext cx="457200" cy="420624"/>
          </a:xfrm>
          <a:prstGeom prst="rect">
            <a:avLst/>
          </a:prstGeom>
          <a:solidFill>
            <a:srgbClr val="E0A81F"/>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986016" y="4700016"/>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2</a:t>
            </a:r>
          </a:p>
        </p:txBody>
      </p:sp>
      <p:sp>
        <p:nvSpPr>
          <p:cNvPr id="97" name="TextBox 96"/>
          <p:cNvSpPr txBox="1"/>
          <p:nvPr/>
        </p:nvSpPr>
        <p:spPr>
          <a:xfrm>
            <a:off x="6986016" y="5157216"/>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[1]</a:t>
            </a:r>
          </a:p>
        </p:txBody>
      </p:sp>
      <p:sp>
        <p:nvSpPr>
          <p:cNvPr id="98" name="Rectangle 97"/>
          <p:cNvSpPr/>
          <p:nvPr/>
        </p:nvSpPr>
        <p:spPr>
          <a:xfrm>
            <a:off x="7479792" y="4700016"/>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479792" y="4700016"/>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5</a:t>
            </a:r>
          </a:p>
        </p:txBody>
      </p:sp>
      <p:sp>
        <p:nvSpPr>
          <p:cNvPr id="100" name="TextBox 99"/>
          <p:cNvSpPr txBox="1"/>
          <p:nvPr/>
        </p:nvSpPr>
        <p:spPr>
          <a:xfrm>
            <a:off x="7479792" y="5157216"/>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[2]</a:t>
            </a:r>
          </a:p>
        </p:txBody>
      </p:sp>
      <p:sp>
        <p:nvSpPr>
          <p:cNvPr id="101" name="Rectangle 100"/>
          <p:cNvSpPr/>
          <p:nvPr/>
        </p:nvSpPr>
        <p:spPr>
          <a:xfrm>
            <a:off x="7973568" y="4700016"/>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973568" y="4700016"/>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3</a:t>
            </a:r>
          </a:p>
        </p:txBody>
      </p:sp>
      <p:sp>
        <p:nvSpPr>
          <p:cNvPr id="103" name="TextBox 102"/>
          <p:cNvSpPr txBox="1"/>
          <p:nvPr/>
        </p:nvSpPr>
        <p:spPr>
          <a:xfrm>
            <a:off x="7973568" y="5157216"/>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[3]</a:t>
            </a:r>
          </a:p>
        </p:txBody>
      </p:sp>
      <p:sp>
        <p:nvSpPr>
          <p:cNvPr id="104" name="Rectangle 103"/>
          <p:cNvSpPr/>
          <p:nvPr/>
        </p:nvSpPr>
        <p:spPr>
          <a:xfrm>
            <a:off x="8467344" y="4700016"/>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467344" y="4700016"/>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7</a:t>
            </a:r>
          </a:p>
        </p:txBody>
      </p:sp>
      <p:sp>
        <p:nvSpPr>
          <p:cNvPr id="106" name="TextBox 105"/>
          <p:cNvSpPr txBox="1"/>
          <p:nvPr/>
        </p:nvSpPr>
        <p:spPr>
          <a:xfrm>
            <a:off x="8467344" y="5157216"/>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[4]</a:t>
            </a:r>
          </a:p>
        </p:txBody>
      </p:sp>
      <p:sp>
        <p:nvSpPr>
          <p:cNvPr id="107" name="Rectangle 106"/>
          <p:cNvSpPr/>
          <p:nvPr/>
        </p:nvSpPr>
        <p:spPr>
          <a:xfrm>
            <a:off x="8961120" y="4700016"/>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961120" y="4700016"/>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6</a:t>
            </a:r>
          </a:p>
        </p:txBody>
      </p:sp>
      <p:sp>
        <p:nvSpPr>
          <p:cNvPr id="109" name="TextBox 108"/>
          <p:cNvSpPr txBox="1"/>
          <p:nvPr/>
        </p:nvSpPr>
        <p:spPr>
          <a:xfrm>
            <a:off x="8961120" y="5157216"/>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[5]</a:t>
            </a:r>
          </a:p>
        </p:txBody>
      </p:sp>
      <p:sp>
        <p:nvSpPr>
          <p:cNvPr id="110" name="Rectangle 109"/>
          <p:cNvSpPr/>
          <p:nvPr/>
        </p:nvSpPr>
        <p:spPr>
          <a:xfrm>
            <a:off x="9454896" y="4700016"/>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454896" y="4700016"/>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8</a:t>
            </a:r>
          </a:p>
        </p:txBody>
      </p:sp>
      <p:sp>
        <p:nvSpPr>
          <p:cNvPr id="112" name="TextBox 111"/>
          <p:cNvSpPr txBox="1"/>
          <p:nvPr/>
        </p:nvSpPr>
        <p:spPr>
          <a:xfrm>
            <a:off x="9454896" y="5157216"/>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[6]</a:t>
            </a:r>
          </a:p>
        </p:txBody>
      </p:sp>
      <p:sp>
        <p:nvSpPr>
          <p:cNvPr id="113" name="Rectangle 112"/>
          <p:cNvSpPr/>
          <p:nvPr/>
        </p:nvSpPr>
        <p:spPr>
          <a:xfrm>
            <a:off x="9948672" y="4700016"/>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9948672" y="4700016"/>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9</a:t>
            </a:r>
          </a:p>
        </p:txBody>
      </p:sp>
      <p:sp>
        <p:nvSpPr>
          <p:cNvPr id="115" name="TextBox 114"/>
          <p:cNvSpPr txBox="1"/>
          <p:nvPr/>
        </p:nvSpPr>
        <p:spPr>
          <a:xfrm>
            <a:off x="9948672" y="5157216"/>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[7]</a:t>
            </a:r>
          </a:p>
        </p:txBody>
      </p:sp>
      <p:sp>
        <p:nvSpPr>
          <p:cNvPr id="116" name="Rectangle 115"/>
          <p:cNvSpPr/>
          <p:nvPr/>
        </p:nvSpPr>
        <p:spPr>
          <a:xfrm>
            <a:off x="548640" y="5522976"/>
            <a:ext cx="11247120" cy="914400"/>
          </a:xfrm>
          <a:prstGeom prst="rect">
            <a:avLst/>
          </a:prstGeom>
          <a:solidFill>
            <a:srgbClr val="FFFFFF"/>
          </a:solidFill>
          <a:ln w="127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548640" y="5522976"/>
            <a:ext cx="54864" cy="914400"/>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31520" y="5577840"/>
            <a:ext cx="5943600" cy="347472"/>
          </a:xfrm>
          <a:prstGeom prst="rect">
            <a:avLst/>
          </a:prstGeom>
          <a:noFill/>
        </p:spPr>
        <p:txBody>
          <a:bodyPr wrap="square" lIns="45720" rIns="45720" tIns="18288" bIns="18288" anchor="t">
            <a:spAutoFit/>
          </a:bodyPr>
          <a:lstStyle/>
          <a:p>
            <a:pPr algn="l"/>
            <a:r>
              <a:rPr sz="1400" b="1" i="0">
                <a:solidFill>
                  <a:srgbClr val="0B2A4A"/>
                </a:solidFill>
                <a:latin typeface="Calibri"/>
              </a:rPr>
              <a:t>Step 4 — Compare with parent at index 0 (value 1)</a:t>
            </a:r>
          </a:p>
        </p:txBody>
      </p:sp>
      <p:sp>
        <p:nvSpPr>
          <p:cNvPr id="119" name="TextBox 118"/>
          <p:cNvSpPr txBox="1"/>
          <p:nvPr/>
        </p:nvSpPr>
        <p:spPr>
          <a:xfrm>
            <a:off x="731520" y="5916168"/>
            <a:ext cx="5303520" cy="347472"/>
          </a:xfrm>
          <a:prstGeom prst="rect">
            <a:avLst/>
          </a:prstGeom>
          <a:noFill/>
        </p:spPr>
        <p:txBody>
          <a:bodyPr wrap="square" lIns="45720" rIns="45720" tIns="18288" bIns="18288" anchor="t">
            <a:spAutoFit/>
          </a:bodyPr>
          <a:lstStyle/>
          <a:p>
            <a:pPr algn="l"/>
            <a:r>
              <a:rPr sz="1300" b="0" i="0">
                <a:solidFill>
                  <a:srgbClr val="333D4A"/>
                </a:solidFill>
                <a:latin typeface="Calibri"/>
              </a:rPr>
              <a:t>2 &gt; 1  →  Stop. The heap property is satisfied. ✓</a:t>
            </a:r>
          </a:p>
        </p:txBody>
      </p:sp>
      <p:sp>
        <p:nvSpPr>
          <p:cNvPr id="120" name="Rectangle 119"/>
          <p:cNvSpPr/>
          <p:nvPr/>
        </p:nvSpPr>
        <p:spPr>
          <a:xfrm>
            <a:off x="6492240" y="5687568"/>
            <a:ext cx="457200" cy="420624"/>
          </a:xfrm>
          <a:prstGeom prst="rect">
            <a:avLst/>
          </a:prstGeom>
          <a:solidFill>
            <a:srgbClr val="127A8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492240" y="5687568"/>
            <a:ext cx="457200" cy="420624"/>
          </a:xfrm>
          <a:prstGeom prst="rect">
            <a:avLst/>
          </a:prstGeom>
          <a:noFill/>
        </p:spPr>
        <p:txBody>
          <a:bodyPr wrap="square" lIns="45720" rIns="45720" tIns="18288" bIns="18288" anchor="ctr">
            <a:spAutoFit/>
          </a:bodyPr>
          <a:lstStyle/>
          <a:p>
            <a:pPr algn="ctr"/>
            <a:r>
              <a:rPr sz="1300" b="1" i="0">
                <a:solidFill>
                  <a:srgbClr val="FFFFFF"/>
                </a:solidFill>
                <a:latin typeface="Calibri"/>
              </a:rPr>
              <a:t>1</a:t>
            </a:r>
          </a:p>
        </p:txBody>
      </p:sp>
      <p:sp>
        <p:nvSpPr>
          <p:cNvPr id="122" name="TextBox 121"/>
          <p:cNvSpPr txBox="1"/>
          <p:nvPr/>
        </p:nvSpPr>
        <p:spPr>
          <a:xfrm>
            <a:off x="6492240" y="6144768"/>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[0]</a:t>
            </a:r>
          </a:p>
        </p:txBody>
      </p:sp>
      <p:sp>
        <p:nvSpPr>
          <p:cNvPr id="123" name="Rectangle 122"/>
          <p:cNvSpPr/>
          <p:nvPr/>
        </p:nvSpPr>
        <p:spPr>
          <a:xfrm>
            <a:off x="6986016" y="5687568"/>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986016" y="5687568"/>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2</a:t>
            </a:r>
          </a:p>
        </p:txBody>
      </p:sp>
      <p:sp>
        <p:nvSpPr>
          <p:cNvPr id="125" name="TextBox 124"/>
          <p:cNvSpPr txBox="1"/>
          <p:nvPr/>
        </p:nvSpPr>
        <p:spPr>
          <a:xfrm>
            <a:off x="6986016" y="6144768"/>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[1]</a:t>
            </a:r>
          </a:p>
        </p:txBody>
      </p:sp>
      <p:sp>
        <p:nvSpPr>
          <p:cNvPr id="126" name="Rectangle 125"/>
          <p:cNvSpPr/>
          <p:nvPr/>
        </p:nvSpPr>
        <p:spPr>
          <a:xfrm>
            <a:off x="7479792" y="5687568"/>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479792" y="5687568"/>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5</a:t>
            </a:r>
          </a:p>
        </p:txBody>
      </p:sp>
      <p:sp>
        <p:nvSpPr>
          <p:cNvPr id="128" name="TextBox 127"/>
          <p:cNvSpPr txBox="1"/>
          <p:nvPr/>
        </p:nvSpPr>
        <p:spPr>
          <a:xfrm>
            <a:off x="7479792" y="6144768"/>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[2]</a:t>
            </a:r>
          </a:p>
        </p:txBody>
      </p:sp>
      <p:sp>
        <p:nvSpPr>
          <p:cNvPr id="129" name="Rectangle 128"/>
          <p:cNvSpPr/>
          <p:nvPr/>
        </p:nvSpPr>
        <p:spPr>
          <a:xfrm>
            <a:off x="7973568" y="5687568"/>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973568" y="5687568"/>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3</a:t>
            </a:r>
          </a:p>
        </p:txBody>
      </p:sp>
      <p:sp>
        <p:nvSpPr>
          <p:cNvPr id="131" name="TextBox 130"/>
          <p:cNvSpPr txBox="1"/>
          <p:nvPr/>
        </p:nvSpPr>
        <p:spPr>
          <a:xfrm>
            <a:off x="7973568" y="6144768"/>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[3]</a:t>
            </a:r>
          </a:p>
        </p:txBody>
      </p:sp>
      <p:sp>
        <p:nvSpPr>
          <p:cNvPr id="132" name="Rectangle 131"/>
          <p:cNvSpPr/>
          <p:nvPr/>
        </p:nvSpPr>
        <p:spPr>
          <a:xfrm>
            <a:off x="8467344" y="5687568"/>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8467344" y="5687568"/>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7</a:t>
            </a:r>
          </a:p>
        </p:txBody>
      </p:sp>
      <p:sp>
        <p:nvSpPr>
          <p:cNvPr id="134" name="TextBox 133"/>
          <p:cNvSpPr txBox="1"/>
          <p:nvPr/>
        </p:nvSpPr>
        <p:spPr>
          <a:xfrm>
            <a:off x="8467344" y="6144768"/>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[4]</a:t>
            </a:r>
          </a:p>
        </p:txBody>
      </p:sp>
      <p:sp>
        <p:nvSpPr>
          <p:cNvPr id="135" name="Rectangle 134"/>
          <p:cNvSpPr/>
          <p:nvPr/>
        </p:nvSpPr>
        <p:spPr>
          <a:xfrm>
            <a:off x="8961120" y="5687568"/>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8961120" y="5687568"/>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6</a:t>
            </a:r>
          </a:p>
        </p:txBody>
      </p:sp>
      <p:sp>
        <p:nvSpPr>
          <p:cNvPr id="137" name="TextBox 136"/>
          <p:cNvSpPr txBox="1"/>
          <p:nvPr/>
        </p:nvSpPr>
        <p:spPr>
          <a:xfrm>
            <a:off x="8961120" y="6144768"/>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[5]</a:t>
            </a:r>
          </a:p>
        </p:txBody>
      </p:sp>
      <p:sp>
        <p:nvSpPr>
          <p:cNvPr id="138" name="Rectangle 137"/>
          <p:cNvSpPr/>
          <p:nvPr/>
        </p:nvSpPr>
        <p:spPr>
          <a:xfrm>
            <a:off x="9454896" y="5687568"/>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9454896" y="5687568"/>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8</a:t>
            </a:r>
          </a:p>
        </p:txBody>
      </p:sp>
      <p:sp>
        <p:nvSpPr>
          <p:cNvPr id="140" name="TextBox 139"/>
          <p:cNvSpPr txBox="1"/>
          <p:nvPr/>
        </p:nvSpPr>
        <p:spPr>
          <a:xfrm>
            <a:off x="9454896" y="6144768"/>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[6]</a:t>
            </a:r>
          </a:p>
        </p:txBody>
      </p:sp>
      <p:sp>
        <p:nvSpPr>
          <p:cNvPr id="141" name="Rectangle 140"/>
          <p:cNvSpPr/>
          <p:nvPr/>
        </p:nvSpPr>
        <p:spPr>
          <a:xfrm>
            <a:off x="9948672" y="5687568"/>
            <a:ext cx="457200"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9948672" y="5687568"/>
            <a:ext cx="457200"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9</a:t>
            </a:r>
          </a:p>
        </p:txBody>
      </p:sp>
      <p:sp>
        <p:nvSpPr>
          <p:cNvPr id="143" name="TextBox 142"/>
          <p:cNvSpPr txBox="1"/>
          <p:nvPr/>
        </p:nvSpPr>
        <p:spPr>
          <a:xfrm>
            <a:off x="9948672" y="6144768"/>
            <a:ext cx="457200" cy="228600"/>
          </a:xfrm>
          <a:prstGeom prst="rect">
            <a:avLst/>
          </a:prstGeom>
          <a:noFill/>
        </p:spPr>
        <p:txBody>
          <a:bodyPr wrap="square" lIns="45720" rIns="45720" tIns="18288" bIns="18288" anchor="t">
            <a:spAutoFit/>
          </a:bodyPr>
          <a:lstStyle/>
          <a:p>
            <a:pPr algn="ctr"/>
            <a:r>
              <a:rPr sz="1000" b="0" i="0">
                <a:solidFill>
                  <a:srgbClr val="333D4A"/>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Worked Example — Extract Minimum</a:t>
            </a:r>
          </a:p>
        </p:txBody>
      </p:sp>
      <p:sp>
        <p:nvSpPr>
          <p:cNvPr id="6" name="TextBox 5"/>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Removing the minimum (root) from  [1, 3, 5, 9, 7, 6, 8]</a:t>
            </a:r>
          </a:p>
        </p:txBody>
      </p:sp>
      <p:sp>
        <p:nvSpPr>
          <p:cNvPr id="7" name="Rectangle 6"/>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82296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07  ·  Heaps &amp; Priority Queues</a:t>
            </a:r>
          </a:p>
        </p:txBody>
      </p:sp>
      <p:sp>
        <p:nvSpPr>
          <p:cNvPr id="9" name="TextBox 8"/>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9 / 15</a:t>
            </a:r>
          </a:p>
        </p:txBody>
      </p:sp>
      <p:sp>
        <p:nvSpPr>
          <p:cNvPr id="10" name="TextBox 9"/>
          <p:cNvSpPr txBox="1"/>
          <p:nvPr/>
        </p:nvSpPr>
        <p:spPr>
          <a:xfrm>
            <a:off x="548640" y="1417320"/>
            <a:ext cx="11247120" cy="347472"/>
          </a:xfrm>
          <a:prstGeom prst="rect">
            <a:avLst/>
          </a:prstGeom>
          <a:noFill/>
        </p:spPr>
        <p:txBody>
          <a:bodyPr wrap="square" lIns="45720" rIns="45720" tIns="18288" bIns="18288" anchor="t">
            <a:spAutoFit/>
          </a:bodyPr>
          <a:lstStyle/>
          <a:p>
            <a:pPr algn="l"/>
            <a:r>
              <a:rPr sz="1600" b="0" i="0">
                <a:solidFill>
                  <a:srgbClr val="333D4A"/>
                </a:solidFill>
                <a:latin typeface="Calibri"/>
              </a:rPr>
              <a:t>Initial heap array:</a:t>
            </a:r>
          </a:p>
        </p:txBody>
      </p:sp>
      <p:sp>
        <p:nvSpPr>
          <p:cNvPr id="11" name="Rectangle 10"/>
          <p:cNvSpPr/>
          <p:nvPr/>
        </p:nvSpPr>
        <p:spPr>
          <a:xfrm>
            <a:off x="548640" y="1755648"/>
            <a:ext cx="548640" cy="502920"/>
          </a:xfrm>
          <a:prstGeom prst="rect">
            <a:avLst/>
          </a:prstGeom>
          <a:solidFill>
            <a:srgbClr val="127A8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755648"/>
            <a:ext cx="548640" cy="502920"/>
          </a:xfrm>
          <a:prstGeom prst="rect">
            <a:avLst/>
          </a:prstGeom>
          <a:noFill/>
        </p:spPr>
        <p:txBody>
          <a:bodyPr wrap="square" lIns="45720" rIns="45720" tIns="18288" bIns="18288" anchor="ctr">
            <a:spAutoFit/>
          </a:bodyPr>
          <a:lstStyle/>
          <a:p>
            <a:pPr algn="ctr"/>
            <a:r>
              <a:rPr sz="1500" b="1" i="0">
                <a:solidFill>
                  <a:srgbClr val="FFFFFF"/>
                </a:solidFill>
                <a:latin typeface="Calibri"/>
              </a:rPr>
              <a:t>1</a:t>
            </a:r>
          </a:p>
        </p:txBody>
      </p:sp>
      <p:sp>
        <p:nvSpPr>
          <p:cNvPr id="13" name="TextBox 12"/>
          <p:cNvSpPr txBox="1"/>
          <p:nvPr/>
        </p:nvSpPr>
        <p:spPr>
          <a:xfrm>
            <a:off x="548640"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[0]</a:t>
            </a:r>
          </a:p>
        </p:txBody>
      </p:sp>
      <p:sp>
        <p:nvSpPr>
          <p:cNvPr id="14" name="Rectangle 13"/>
          <p:cNvSpPr/>
          <p:nvPr/>
        </p:nvSpPr>
        <p:spPr>
          <a:xfrm>
            <a:off x="1133856" y="1755648"/>
            <a:ext cx="548640"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33856" y="1755648"/>
            <a:ext cx="548640"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3</a:t>
            </a:r>
          </a:p>
        </p:txBody>
      </p:sp>
      <p:sp>
        <p:nvSpPr>
          <p:cNvPr id="16" name="TextBox 15"/>
          <p:cNvSpPr txBox="1"/>
          <p:nvPr/>
        </p:nvSpPr>
        <p:spPr>
          <a:xfrm>
            <a:off x="1133856"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[1]</a:t>
            </a:r>
          </a:p>
        </p:txBody>
      </p:sp>
      <p:sp>
        <p:nvSpPr>
          <p:cNvPr id="17" name="Rectangle 16"/>
          <p:cNvSpPr/>
          <p:nvPr/>
        </p:nvSpPr>
        <p:spPr>
          <a:xfrm>
            <a:off x="1719072" y="1755648"/>
            <a:ext cx="548640"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19072" y="1755648"/>
            <a:ext cx="548640"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5</a:t>
            </a:r>
          </a:p>
        </p:txBody>
      </p:sp>
      <p:sp>
        <p:nvSpPr>
          <p:cNvPr id="19" name="TextBox 18"/>
          <p:cNvSpPr txBox="1"/>
          <p:nvPr/>
        </p:nvSpPr>
        <p:spPr>
          <a:xfrm>
            <a:off x="1719072"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[2]</a:t>
            </a:r>
          </a:p>
        </p:txBody>
      </p:sp>
      <p:sp>
        <p:nvSpPr>
          <p:cNvPr id="20" name="Rectangle 19"/>
          <p:cNvSpPr/>
          <p:nvPr/>
        </p:nvSpPr>
        <p:spPr>
          <a:xfrm>
            <a:off x="2304288" y="1755648"/>
            <a:ext cx="548640"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04288" y="1755648"/>
            <a:ext cx="548640"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9</a:t>
            </a:r>
          </a:p>
        </p:txBody>
      </p:sp>
      <p:sp>
        <p:nvSpPr>
          <p:cNvPr id="22" name="TextBox 21"/>
          <p:cNvSpPr txBox="1"/>
          <p:nvPr/>
        </p:nvSpPr>
        <p:spPr>
          <a:xfrm>
            <a:off x="2304288"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[3]</a:t>
            </a:r>
          </a:p>
        </p:txBody>
      </p:sp>
      <p:sp>
        <p:nvSpPr>
          <p:cNvPr id="23" name="Rectangle 22"/>
          <p:cNvSpPr/>
          <p:nvPr/>
        </p:nvSpPr>
        <p:spPr>
          <a:xfrm>
            <a:off x="2889504" y="1755648"/>
            <a:ext cx="548640"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89504" y="1755648"/>
            <a:ext cx="548640"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7</a:t>
            </a:r>
          </a:p>
        </p:txBody>
      </p:sp>
      <p:sp>
        <p:nvSpPr>
          <p:cNvPr id="25" name="TextBox 24"/>
          <p:cNvSpPr txBox="1"/>
          <p:nvPr/>
        </p:nvSpPr>
        <p:spPr>
          <a:xfrm>
            <a:off x="2889504"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[4]</a:t>
            </a:r>
          </a:p>
        </p:txBody>
      </p:sp>
      <p:sp>
        <p:nvSpPr>
          <p:cNvPr id="26" name="Rectangle 25"/>
          <p:cNvSpPr/>
          <p:nvPr/>
        </p:nvSpPr>
        <p:spPr>
          <a:xfrm>
            <a:off x="3474720" y="1755648"/>
            <a:ext cx="548640"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0" y="1755648"/>
            <a:ext cx="548640"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6</a:t>
            </a:r>
          </a:p>
        </p:txBody>
      </p:sp>
      <p:sp>
        <p:nvSpPr>
          <p:cNvPr id="28" name="TextBox 27"/>
          <p:cNvSpPr txBox="1"/>
          <p:nvPr/>
        </p:nvSpPr>
        <p:spPr>
          <a:xfrm>
            <a:off x="3474720"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[5]</a:t>
            </a:r>
          </a:p>
        </p:txBody>
      </p:sp>
      <p:sp>
        <p:nvSpPr>
          <p:cNvPr id="29" name="Rectangle 28"/>
          <p:cNvSpPr/>
          <p:nvPr/>
        </p:nvSpPr>
        <p:spPr>
          <a:xfrm>
            <a:off x="4059936" y="1755648"/>
            <a:ext cx="548640" cy="502920"/>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59936" y="1755648"/>
            <a:ext cx="548640" cy="502920"/>
          </a:xfrm>
          <a:prstGeom prst="rect">
            <a:avLst/>
          </a:prstGeom>
          <a:noFill/>
        </p:spPr>
        <p:txBody>
          <a:bodyPr wrap="square" lIns="45720" rIns="45720" tIns="18288" bIns="18288" anchor="ctr">
            <a:spAutoFit/>
          </a:bodyPr>
          <a:lstStyle/>
          <a:p>
            <a:pPr algn="ctr"/>
            <a:r>
              <a:rPr sz="1500" b="1" i="0">
                <a:solidFill>
                  <a:srgbClr val="0B2A4A"/>
                </a:solidFill>
                <a:latin typeface="Calibri"/>
              </a:rPr>
              <a:t>8</a:t>
            </a:r>
          </a:p>
        </p:txBody>
      </p:sp>
      <p:sp>
        <p:nvSpPr>
          <p:cNvPr id="31" name="TextBox 30"/>
          <p:cNvSpPr txBox="1"/>
          <p:nvPr/>
        </p:nvSpPr>
        <p:spPr>
          <a:xfrm>
            <a:off x="4059936" y="2295144"/>
            <a:ext cx="548640" cy="228600"/>
          </a:xfrm>
          <a:prstGeom prst="rect">
            <a:avLst/>
          </a:prstGeom>
          <a:noFill/>
        </p:spPr>
        <p:txBody>
          <a:bodyPr wrap="square" lIns="45720" rIns="45720" tIns="18288" bIns="18288" anchor="t">
            <a:spAutoFit/>
          </a:bodyPr>
          <a:lstStyle/>
          <a:p>
            <a:pPr algn="ctr"/>
            <a:r>
              <a:rPr sz="1000" b="0" i="0">
                <a:solidFill>
                  <a:srgbClr val="333D4A"/>
                </a:solidFill>
                <a:latin typeface="Calibri"/>
              </a:rPr>
              <a:t>[6]</a:t>
            </a:r>
          </a:p>
        </p:txBody>
      </p:sp>
      <p:sp>
        <p:nvSpPr>
          <p:cNvPr id="32" name="Rectangle 31"/>
          <p:cNvSpPr/>
          <p:nvPr/>
        </p:nvSpPr>
        <p:spPr>
          <a:xfrm>
            <a:off x="548640" y="2560320"/>
            <a:ext cx="11247120" cy="91440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2560320"/>
            <a:ext cx="54864" cy="914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2615184"/>
            <a:ext cx="5943600" cy="347472"/>
          </a:xfrm>
          <a:prstGeom prst="rect">
            <a:avLst/>
          </a:prstGeom>
          <a:noFill/>
        </p:spPr>
        <p:txBody>
          <a:bodyPr wrap="square" lIns="45720" rIns="45720" tIns="18288" bIns="18288" anchor="t">
            <a:spAutoFit/>
          </a:bodyPr>
          <a:lstStyle/>
          <a:p>
            <a:pPr algn="l"/>
            <a:r>
              <a:rPr sz="1400" b="1" i="0">
                <a:solidFill>
                  <a:srgbClr val="0B2A4A"/>
                </a:solidFill>
                <a:latin typeface="Calibri"/>
              </a:rPr>
              <a:t>Step 1 — Record and Replace</a:t>
            </a:r>
          </a:p>
        </p:txBody>
      </p:sp>
      <p:sp>
        <p:nvSpPr>
          <p:cNvPr id="35" name="TextBox 34"/>
          <p:cNvSpPr txBox="1"/>
          <p:nvPr/>
        </p:nvSpPr>
        <p:spPr>
          <a:xfrm>
            <a:off x="731520" y="2953512"/>
            <a:ext cx="5303520" cy="347472"/>
          </a:xfrm>
          <a:prstGeom prst="rect">
            <a:avLst/>
          </a:prstGeom>
          <a:noFill/>
        </p:spPr>
        <p:txBody>
          <a:bodyPr wrap="square" lIns="45720" rIns="45720" tIns="18288" bIns="18288" anchor="t">
            <a:spAutoFit/>
          </a:bodyPr>
          <a:lstStyle/>
          <a:p>
            <a:pPr algn="l"/>
            <a:r>
              <a:rPr sz="1300" b="0" i="0">
                <a:solidFill>
                  <a:srgbClr val="333D4A"/>
                </a:solidFill>
                <a:latin typeface="Calibri"/>
              </a:rPr>
              <a:t>Record root value 1 (the result). Move last element (8) to root.</a:t>
            </a:r>
          </a:p>
        </p:txBody>
      </p:sp>
      <p:sp>
        <p:nvSpPr>
          <p:cNvPr id="36" name="Rectangle 35"/>
          <p:cNvSpPr/>
          <p:nvPr/>
        </p:nvSpPr>
        <p:spPr>
          <a:xfrm>
            <a:off x="6492240" y="2724912"/>
            <a:ext cx="512064" cy="420624"/>
          </a:xfrm>
          <a:prstGeom prst="rect">
            <a:avLst/>
          </a:prstGeom>
          <a:solidFill>
            <a:srgbClr val="127A8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2724912"/>
            <a:ext cx="512064" cy="420624"/>
          </a:xfrm>
          <a:prstGeom prst="rect">
            <a:avLst/>
          </a:prstGeom>
          <a:noFill/>
        </p:spPr>
        <p:txBody>
          <a:bodyPr wrap="square" lIns="45720" rIns="45720" tIns="18288" bIns="18288" anchor="ctr">
            <a:spAutoFit/>
          </a:bodyPr>
          <a:lstStyle/>
          <a:p>
            <a:pPr algn="ctr"/>
            <a:r>
              <a:rPr sz="1300" b="1" i="0">
                <a:solidFill>
                  <a:srgbClr val="FFFFFF"/>
                </a:solidFill>
                <a:latin typeface="Calibri"/>
              </a:rPr>
              <a:t>8</a:t>
            </a:r>
          </a:p>
        </p:txBody>
      </p:sp>
      <p:sp>
        <p:nvSpPr>
          <p:cNvPr id="38" name="TextBox 37"/>
          <p:cNvSpPr txBox="1"/>
          <p:nvPr/>
        </p:nvSpPr>
        <p:spPr>
          <a:xfrm>
            <a:off x="6492240" y="3182112"/>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[0]</a:t>
            </a:r>
          </a:p>
        </p:txBody>
      </p:sp>
      <p:sp>
        <p:nvSpPr>
          <p:cNvPr id="39" name="Rectangle 38"/>
          <p:cNvSpPr/>
          <p:nvPr/>
        </p:nvSpPr>
        <p:spPr>
          <a:xfrm>
            <a:off x="7040880" y="2724912"/>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0" y="2724912"/>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3</a:t>
            </a:r>
          </a:p>
        </p:txBody>
      </p:sp>
      <p:sp>
        <p:nvSpPr>
          <p:cNvPr id="41" name="TextBox 40"/>
          <p:cNvSpPr txBox="1"/>
          <p:nvPr/>
        </p:nvSpPr>
        <p:spPr>
          <a:xfrm>
            <a:off x="7040880" y="3182112"/>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[1]</a:t>
            </a:r>
          </a:p>
        </p:txBody>
      </p:sp>
      <p:sp>
        <p:nvSpPr>
          <p:cNvPr id="42" name="Rectangle 41"/>
          <p:cNvSpPr/>
          <p:nvPr/>
        </p:nvSpPr>
        <p:spPr>
          <a:xfrm>
            <a:off x="7589520" y="2724912"/>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89520" y="2724912"/>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5</a:t>
            </a:r>
          </a:p>
        </p:txBody>
      </p:sp>
      <p:sp>
        <p:nvSpPr>
          <p:cNvPr id="44" name="TextBox 43"/>
          <p:cNvSpPr txBox="1"/>
          <p:nvPr/>
        </p:nvSpPr>
        <p:spPr>
          <a:xfrm>
            <a:off x="7589520" y="3182112"/>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[2]</a:t>
            </a:r>
          </a:p>
        </p:txBody>
      </p:sp>
      <p:sp>
        <p:nvSpPr>
          <p:cNvPr id="45" name="Rectangle 44"/>
          <p:cNvSpPr/>
          <p:nvPr/>
        </p:nvSpPr>
        <p:spPr>
          <a:xfrm>
            <a:off x="8138160" y="2724912"/>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38160" y="2724912"/>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9</a:t>
            </a:r>
          </a:p>
        </p:txBody>
      </p:sp>
      <p:sp>
        <p:nvSpPr>
          <p:cNvPr id="47" name="TextBox 46"/>
          <p:cNvSpPr txBox="1"/>
          <p:nvPr/>
        </p:nvSpPr>
        <p:spPr>
          <a:xfrm>
            <a:off x="8138160" y="3182112"/>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[3]</a:t>
            </a:r>
          </a:p>
        </p:txBody>
      </p:sp>
      <p:sp>
        <p:nvSpPr>
          <p:cNvPr id="48" name="Rectangle 47"/>
          <p:cNvSpPr/>
          <p:nvPr/>
        </p:nvSpPr>
        <p:spPr>
          <a:xfrm>
            <a:off x="8686800" y="2724912"/>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0" y="2724912"/>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7</a:t>
            </a:r>
          </a:p>
        </p:txBody>
      </p:sp>
      <p:sp>
        <p:nvSpPr>
          <p:cNvPr id="50" name="TextBox 49"/>
          <p:cNvSpPr txBox="1"/>
          <p:nvPr/>
        </p:nvSpPr>
        <p:spPr>
          <a:xfrm>
            <a:off x="8686800" y="3182112"/>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[4]</a:t>
            </a:r>
          </a:p>
        </p:txBody>
      </p:sp>
      <p:sp>
        <p:nvSpPr>
          <p:cNvPr id="51" name="Rectangle 50"/>
          <p:cNvSpPr/>
          <p:nvPr/>
        </p:nvSpPr>
        <p:spPr>
          <a:xfrm>
            <a:off x="9235440" y="2724912"/>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35440" y="2724912"/>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6</a:t>
            </a:r>
          </a:p>
        </p:txBody>
      </p:sp>
      <p:sp>
        <p:nvSpPr>
          <p:cNvPr id="53" name="TextBox 52"/>
          <p:cNvSpPr txBox="1"/>
          <p:nvPr/>
        </p:nvSpPr>
        <p:spPr>
          <a:xfrm>
            <a:off x="9235440" y="3182112"/>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[5]</a:t>
            </a:r>
          </a:p>
        </p:txBody>
      </p:sp>
      <p:sp>
        <p:nvSpPr>
          <p:cNvPr id="54" name="Rectangle 53"/>
          <p:cNvSpPr/>
          <p:nvPr/>
        </p:nvSpPr>
        <p:spPr>
          <a:xfrm>
            <a:off x="548640" y="3547872"/>
            <a:ext cx="11247120" cy="91440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48640" y="3547872"/>
            <a:ext cx="54864" cy="914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3602736"/>
            <a:ext cx="5943600" cy="347472"/>
          </a:xfrm>
          <a:prstGeom prst="rect">
            <a:avLst/>
          </a:prstGeom>
          <a:noFill/>
        </p:spPr>
        <p:txBody>
          <a:bodyPr wrap="square" lIns="45720" rIns="45720" tIns="18288" bIns="18288" anchor="t">
            <a:spAutoFit/>
          </a:bodyPr>
          <a:lstStyle/>
          <a:p>
            <a:pPr algn="l"/>
            <a:r>
              <a:rPr sz="1400" b="1" i="0">
                <a:solidFill>
                  <a:srgbClr val="0B2A4A"/>
                </a:solidFill>
                <a:latin typeface="Calibri"/>
              </a:rPr>
              <a:t>Step 2 — Smaller child of 8 is 3 (left, index 1)</a:t>
            </a:r>
          </a:p>
        </p:txBody>
      </p:sp>
      <p:sp>
        <p:nvSpPr>
          <p:cNvPr id="57" name="TextBox 56"/>
          <p:cNvSpPr txBox="1"/>
          <p:nvPr/>
        </p:nvSpPr>
        <p:spPr>
          <a:xfrm>
            <a:off x="731520" y="3941064"/>
            <a:ext cx="5303520" cy="347472"/>
          </a:xfrm>
          <a:prstGeom prst="rect">
            <a:avLst/>
          </a:prstGeom>
          <a:noFill/>
        </p:spPr>
        <p:txBody>
          <a:bodyPr wrap="square" lIns="45720" rIns="45720" tIns="18288" bIns="18288" anchor="t">
            <a:spAutoFit/>
          </a:bodyPr>
          <a:lstStyle/>
          <a:p>
            <a:pPr algn="l"/>
            <a:r>
              <a:rPr sz="1300" b="0" i="0">
                <a:solidFill>
                  <a:srgbClr val="333D4A"/>
                </a:solidFill>
                <a:latin typeface="Calibri"/>
              </a:rPr>
              <a:t>8 &gt; 3  →  Swap indices 0 and 1  →  [3, 8, 5, 9, 7, 6]</a:t>
            </a:r>
          </a:p>
        </p:txBody>
      </p:sp>
      <p:sp>
        <p:nvSpPr>
          <p:cNvPr id="58" name="Rectangle 57"/>
          <p:cNvSpPr/>
          <p:nvPr/>
        </p:nvSpPr>
        <p:spPr>
          <a:xfrm>
            <a:off x="6492240" y="3712464"/>
            <a:ext cx="512064" cy="420624"/>
          </a:xfrm>
          <a:prstGeom prst="rect">
            <a:avLst/>
          </a:prstGeom>
          <a:solidFill>
            <a:srgbClr val="127A8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92240" y="3712464"/>
            <a:ext cx="512064" cy="420624"/>
          </a:xfrm>
          <a:prstGeom prst="rect">
            <a:avLst/>
          </a:prstGeom>
          <a:noFill/>
        </p:spPr>
        <p:txBody>
          <a:bodyPr wrap="square" lIns="45720" rIns="45720" tIns="18288" bIns="18288" anchor="ctr">
            <a:spAutoFit/>
          </a:bodyPr>
          <a:lstStyle/>
          <a:p>
            <a:pPr algn="ctr"/>
            <a:r>
              <a:rPr sz="1300" b="1" i="0">
                <a:solidFill>
                  <a:srgbClr val="FFFFFF"/>
                </a:solidFill>
                <a:latin typeface="Calibri"/>
              </a:rPr>
              <a:t>3</a:t>
            </a:r>
          </a:p>
        </p:txBody>
      </p:sp>
      <p:sp>
        <p:nvSpPr>
          <p:cNvPr id="60" name="TextBox 59"/>
          <p:cNvSpPr txBox="1"/>
          <p:nvPr/>
        </p:nvSpPr>
        <p:spPr>
          <a:xfrm>
            <a:off x="6492240" y="4169664"/>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[0]</a:t>
            </a:r>
          </a:p>
        </p:txBody>
      </p:sp>
      <p:sp>
        <p:nvSpPr>
          <p:cNvPr id="61" name="Rectangle 60"/>
          <p:cNvSpPr/>
          <p:nvPr/>
        </p:nvSpPr>
        <p:spPr>
          <a:xfrm>
            <a:off x="7040880" y="3712464"/>
            <a:ext cx="512064" cy="420624"/>
          </a:xfrm>
          <a:prstGeom prst="rect">
            <a:avLst/>
          </a:prstGeom>
          <a:solidFill>
            <a:srgbClr val="E0A81F"/>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40880" y="3712464"/>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8</a:t>
            </a:r>
          </a:p>
        </p:txBody>
      </p:sp>
      <p:sp>
        <p:nvSpPr>
          <p:cNvPr id="63" name="TextBox 62"/>
          <p:cNvSpPr txBox="1"/>
          <p:nvPr/>
        </p:nvSpPr>
        <p:spPr>
          <a:xfrm>
            <a:off x="7040880" y="4169664"/>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[1]</a:t>
            </a:r>
          </a:p>
        </p:txBody>
      </p:sp>
      <p:sp>
        <p:nvSpPr>
          <p:cNvPr id="64" name="Rectangle 63"/>
          <p:cNvSpPr/>
          <p:nvPr/>
        </p:nvSpPr>
        <p:spPr>
          <a:xfrm>
            <a:off x="7589520" y="3712464"/>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589520" y="3712464"/>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5</a:t>
            </a:r>
          </a:p>
        </p:txBody>
      </p:sp>
      <p:sp>
        <p:nvSpPr>
          <p:cNvPr id="66" name="TextBox 65"/>
          <p:cNvSpPr txBox="1"/>
          <p:nvPr/>
        </p:nvSpPr>
        <p:spPr>
          <a:xfrm>
            <a:off x="7589520" y="4169664"/>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[2]</a:t>
            </a:r>
          </a:p>
        </p:txBody>
      </p:sp>
      <p:sp>
        <p:nvSpPr>
          <p:cNvPr id="67" name="Rectangle 66"/>
          <p:cNvSpPr/>
          <p:nvPr/>
        </p:nvSpPr>
        <p:spPr>
          <a:xfrm>
            <a:off x="8138160" y="3712464"/>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138160" y="3712464"/>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9</a:t>
            </a:r>
          </a:p>
        </p:txBody>
      </p:sp>
      <p:sp>
        <p:nvSpPr>
          <p:cNvPr id="69" name="TextBox 68"/>
          <p:cNvSpPr txBox="1"/>
          <p:nvPr/>
        </p:nvSpPr>
        <p:spPr>
          <a:xfrm>
            <a:off x="8138160" y="4169664"/>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[3]</a:t>
            </a:r>
          </a:p>
        </p:txBody>
      </p:sp>
      <p:sp>
        <p:nvSpPr>
          <p:cNvPr id="70" name="Rectangle 69"/>
          <p:cNvSpPr/>
          <p:nvPr/>
        </p:nvSpPr>
        <p:spPr>
          <a:xfrm>
            <a:off x="8686800" y="3712464"/>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686800" y="3712464"/>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7</a:t>
            </a:r>
          </a:p>
        </p:txBody>
      </p:sp>
      <p:sp>
        <p:nvSpPr>
          <p:cNvPr id="72" name="TextBox 71"/>
          <p:cNvSpPr txBox="1"/>
          <p:nvPr/>
        </p:nvSpPr>
        <p:spPr>
          <a:xfrm>
            <a:off x="8686800" y="4169664"/>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[4]</a:t>
            </a:r>
          </a:p>
        </p:txBody>
      </p:sp>
      <p:sp>
        <p:nvSpPr>
          <p:cNvPr id="73" name="Rectangle 72"/>
          <p:cNvSpPr/>
          <p:nvPr/>
        </p:nvSpPr>
        <p:spPr>
          <a:xfrm>
            <a:off x="9235440" y="3712464"/>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235440" y="3712464"/>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6</a:t>
            </a:r>
          </a:p>
        </p:txBody>
      </p:sp>
      <p:sp>
        <p:nvSpPr>
          <p:cNvPr id="75" name="TextBox 74"/>
          <p:cNvSpPr txBox="1"/>
          <p:nvPr/>
        </p:nvSpPr>
        <p:spPr>
          <a:xfrm>
            <a:off x="9235440" y="4169664"/>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[5]</a:t>
            </a:r>
          </a:p>
        </p:txBody>
      </p:sp>
      <p:sp>
        <p:nvSpPr>
          <p:cNvPr id="76" name="Rectangle 75"/>
          <p:cNvSpPr/>
          <p:nvPr/>
        </p:nvSpPr>
        <p:spPr>
          <a:xfrm>
            <a:off x="548640" y="4535424"/>
            <a:ext cx="11247120" cy="91440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48640" y="4535424"/>
            <a:ext cx="54864" cy="914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1520" y="4590288"/>
            <a:ext cx="5943600" cy="347472"/>
          </a:xfrm>
          <a:prstGeom prst="rect">
            <a:avLst/>
          </a:prstGeom>
          <a:noFill/>
        </p:spPr>
        <p:txBody>
          <a:bodyPr wrap="square" lIns="45720" rIns="45720" tIns="18288" bIns="18288" anchor="t">
            <a:spAutoFit/>
          </a:bodyPr>
          <a:lstStyle/>
          <a:p>
            <a:pPr algn="l"/>
            <a:r>
              <a:rPr sz="1400" b="1" i="0">
                <a:solidFill>
                  <a:srgbClr val="0B2A4A"/>
                </a:solidFill>
                <a:latin typeface="Calibri"/>
              </a:rPr>
              <a:t>Step 3 — Smaller child of 8 is 7 (right, index 4)</a:t>
            </a:r>
          </a:p>
        </p:txBody>
      </p:sp>
      <p:sp>
        <p:nvSpPr>
          <p:cNvPr id="79" name="TextBox 78"/>
          <p:cNvSpPr txBox="1"/>
          <p:nvPr/>
        </p:nvSpPr>
        <p:spPr>
          <a:xfrm>
            <a:off x="731520" y="4928616"/>
            <a:ext cx="5303520" cy="347472"/>
          </a:xfrm>
          <a:prstGeom prst="rect">
            <a:avLst/>
          </a:prstGeom>
          <a:noFill/>
        </p:spPr>
        <p:txBody>
          <a:bodyPr wrap="square" lIns="45720" rIns="45720" tIns="18288" bIns="18288" anchor="t">
            <a:spAutoFit/>
          </a:bodyPr>
          <a:lstStyle/>
          <a:p>
            <a:pPr algn="l"/>
            <a:r>
              <a:rPr sz="1300" b="0" i="0">
                <a:solidFill>
                  <a:srgbClr val="333D4A"/>
                </a:solidFill>
                <a:latin typeface="Calibri"/>
              </a:rPr>
              <a:t>8 &gt; 7  →  Swap indices 1 and 4  →  [3, 7, 5, 9, 8, 6]</a:t>
            </a:r>
          </a:p>
        </p:txBody>
      </p:sp>
      <p:sp>
        <p:nvSpPr>
          <p:cNvPr id="80" name="Rectangle 79"/>
          <p:cNvSpPr/>
          <p:nvPr/>
        </p:nvSpPr>
        <p:spPr>
          <a:xfrm>
            <a:off x="6492240" y="4700016"/>
            <a:ext cx="512064" cy="420624"/>
          </a:xfrm>
          <a:prstGeom prst="rect">
            <a:avLst/>
          </a:prstGeom>
          <a:solidFill>
            <a:srgbClr val="127A8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492240" y="4700016"/>
            <a:ext cx="512064" cy="420624"/>
          </a:xfrm>
          <a:prstGeom prst="rect">
            <a:avLst/>
          </a:prstGeom>
          <a:noFill/>
        </p:spPr>
        <p:txBody>
          <a:bodyPr wrap="square" lIns="45720" rIns="45720" tIns="18288" bIns="18288" anchor="ctr">
            <a:spAutoFit/>
          </a:bodyPr>
          <a:lstStyle/>
          <a:p>
            <a:pPr algn="ctr"/>
            <a:r>
              <a:rPr sz="1300" b="1" i="0">
                <a:solidFill>
                  <a:srgbClr val="FFFFFF"/>
                </a:solidFill>
                <a:latin typeface="Calibri"/>
              </a:rPr>
              <a:t>3</a:t>
            </a:r>
          </a:p>
        </p:txBody>
      </p:sp>
      <p:sp>
        <p:nvSpPr>
          <p:cNvPr id="82" name="TextBox 81"/>
          <p:cNvSpPr txBox="1"/>
          <p:nvPr/>
        </p:nvSpPr>
        <p:spPr>
          <a:xfrm>
            <a:off x="6492240" y="5157216"/>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[0]</a:t>
            </a:r>
          </a:p>
        </p:txBody>
      </p:sp>
      <p:sp>
        <p:nvSpPr>
          <p:cNvPr id="83" name="Rectangle 82"/>
          <p:cNvSpPr/>
          <p:nvPr/>
        </p:nvSpPr>
        <p:spPr>
          <a:xfrm>
            <a:off x="7040880" y="4700016"/>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040880" y="4700016"/>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7</a:t>
            </a:r>
          </a:p>
        </p:txBody>
      </p:sp>
      <p:sp>
        <p:nvSpPr>
          <p:cNvPr id="85" name="TextBox 84"/>
          <p:cNvSpPr txBox="1"/>
          <p:nvPr/>
        </p:nvSpPr>
        <p:spPr>
          <a:xfrm>
            <a:off x="7040880" y="5157216"/>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[1]</a:t>
            </a:r>
          </a:p>
        </p:txBody>
      </p:sp>
      <p:sp>
        <p:nvSpPr>
          <p:cNvPr id="86" name="Rectangle 85"/>
          <p:cNvSpPr/>
          <p:nvPr/>
        </p:nvSpPr>
        <p:spPr>
          <a:xfrm>
            <a:off x="7589520" y="4700016"/>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589520" y="4700016"/>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5</a:t>
            </a:r>
          </a:p>
        </p:txBody>
      </p:sp>
      <p:sp>
        <p:nvSpPr>
          <p:cNvPr id="88" name="TextBox 87"/>
          <p:cNvSpPr txBox="1"/>
          <p:nvPr/>
        </p:nvSpPr>
        <p:spPr>
          <a:xfrm>
            <a:off x="7589520" y="5157216"/>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[2]</a:t>
            </a:r>
          </a:p>
        </p:txBody>
      </p:sp>
      <p:sp>
        <p:nvSpPr>
          <p:cNvPr id="89" name="Rectangle 88"/>
          <p:cNvSpPr/>
          <p:nvPr/>
        </p:nvSpPr>
        <p:spPr>
          <a:xfrm>
            <a:off x="8138160" y="4700016"/>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138160" y="4700016"/>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9</a:t>
            </a:r>
          </a:p>
        </p:txBody>
      </p:sp>
      <p:sp>
        <p:nvSpPr>
          <p:cNvPr id="91" name="TextBox 90"/>
          <p:cNvSpPr txBox="1"/>
          <p:nvPr/>
        </p:nvSpPr>
        <p:spPr>
          <a:xfrm>
            <a:off x="8138160" y="5157216"/>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[3]</a:t>
            </a:r>
          </a:p>
        </p:txBody>
      </p:sp>
      <p:sp>
        <p:nvSpPr>
          <p:cNvPr id="92" name="Rectangle 91"/>
          <p:cNvSpPr/>
          <p:nvPr/>
        </p:nvSpPr>
        <p:spPr>
          <a:xfrm>
            <a:off x="8686800" y="4700016"/>
            <a:ext cx="512064" cy="420624"/>
          </a:xfrm>
          <a:prstGeom prst="rect">
            <a:avLst/>
          </a:prstGeom>
          <a:solidFill>
            <a:srgbClr val="E0A81F"/>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686800" y="4700016"/>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8</a:t>
            </a:r>
          </a:p>
        </p:txBody>
      </p:sp>
      <p:sp>
        <p:nvSpPr>
          <p:cNvPr id="94" name="TextBox 93"/>
          <p:cNvSpPr txBox="1"/>
          <p:nvPr/>
        </p:nvSpPr>
        <p:spPr>
          <a:xfrm>
            <a:off x="8686800" y="5157216"/>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[4]</a:t>
            </a:r>
          </a:p>
        </p:txBody>
      </p:sp>
      <p:sp>
        <p:nvSpPr>
          <p:cNvPr id="95" name="Rectangle 94"/>
          <p:cNvSpPr/>
          <p:nvPr/>
        </p:nvSpPr>
        <p:spPr>
          <a:xfrm>
            <a:off x="9235440" y="4700016"/>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235440" y="4700016"/>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6</a:t>
            </a:r>
          </a:p>
        </p:txBody>
      </p:sp>
      <p:sp>
        <p:nvSpPr>
          <p:cNvPr id="97" name="TextBox 96"/>
          <p:cNvSpPr txBox="1"/>
          <p:nvPr/>
        </p:nvSpPr>
        <p:spPr>
          <a:xfrm>
            <a:off x="9235440" y="5157216"/>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[5]</a:t>
            </a:r>
          </a:p>
        </p:txBody>
      </p:sp>
      <p:sp>
        <p:nvSpPr>
          <p:cNvPr id="98" name="Rectangle 97"/>
          <p:cNvSpPr/>
          <p:nvPr/>
        </p:nvSpPr>
        <p:spPr>
          <a:xfrm>
            <a:off x="548640" y="5522976"/>
            <a:ext cx="11247120" cy="91440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548640" y="5522976"/>
            <a:ext cx="54864" cy="914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31520" y="5577840"/>
            <a:ext cx="5943600" cy="347472"/>
          </a:xfrm>
          <a:prstGeom prst="rect">
            <a:avLst/>
          </a:prstGeom>
          <a:noFill/>
        </p:spPr>
        <p:txBody>
          <a:bodyPr wrap="square" lIns="45720" rIns="45720" tIns="18288" bIns="18288" anchor="t">
            <a:spAutoFit/>
          </a:bodyPr>
          <a:lstStyle/>
          <a:p>
            <a:pPr algn="l"/>
            <a:r>
              <a:rPr sz="1400" b="1" i="0">
                <a:solidFill>
                  <a:srgbClr val="0B2A4A"/>
                </a:solidFill>
                <a:latin typeface="Calibri"/>
              </a:rPr>
              <a:t>Step 4 — Node 8 has no children</a:t>
            </a:r>
          </a:p>
        </p:txBody>
      </p:sp>
      <p:sp>
        <p:nvSpPr>
          <p:cNvPr id="101" name="TextBox 100"/>
          <p:cNvSpPr txBox="1"/>
          <p:nvPr/>
        </p:nvSpPr>
        <p:spPr>
          <a:xfrm>
            <a:off x="731520" y="5916168"/>
            <a:ext cx="5303520" cy="347472"/>
          </a:xfrm>
          <a:prstGeom prst="rect">
            <a:avLst/>
          </a:prstGeom>
          <a:noFill/>
        </p:spPr>
        <p:txBody>
          <a:bodyPr wrap="square" lIns="45720" rIns="45720" tIns="18288" bIns="18288" anchor="t">
            <a:spAutoFit/>
          </a:bodyPr>
          <a:lstStyle/>
          <a:p>
            <a:pPr algn="l"/>
            <a:r>
              <a:rPr sz="1300" b="0" i="0">
                <a:solidFill>
                  <a:srgbClr val="333D4A"/>
                </a:solidFill>
                <a:latin typeface="Calibri"/>
              </a:rPr>
              <a:t>Stop. Min-Heap property is fully restored. Minimum returned: 1  ✓</a:t>
            </a:r>
          </a:p>
        </p:txBody>
      </p:sp>
      <p:sp>
        <p:nvSpPr>
          <p:cNvPr id="102" name="Rectangle 101"/>
          <p:cNvSpPr/>
          <p:nvPr/>
        </p:nvSpPr>
        <p:spPr>
          <a:xfrm>
            <a:off x="6492240" y="5687568"/>
            <a:ext cx="512064" cy="420624"/>
          </a:xfrm>
          <a:prstGeom prst="rect">
            <a:avLst/>
          </a:prstGeom>
          <a:solidFill>
            <a:srgbClr val="127A8A"/>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492240" y="5687568"/>
            <a:ext cx="512064" cy="420624"/>
          </a:xfrm>
          <a:prstGeom prst="rect">
            <a:avLst/>
          </a:prstGeom>
          <a:noFill/>
        </p:spPr>
        <p:txBody>
          <a:bodyPr wrap="square" lIns="45720" rIns="45720" tIns="18288" bIns="18288" anchor="ctr">
            <a:spAutoFit/>
          </a:bodyPr>
          <a:lstStyle/>
          <a:p>
            <a:pPr algn="ctr"/>
            <a:r>
              <a:rPr sz="1300" b="1" i="0">
                <a:solidFill>
                  <a:srgbClr val="FFFFFF"/>
                </a:solidFill>
                <a:latin typeface="Calibri"/>
              </a:rPr>
              <a:t>3</a:t>
            </a:r>
          </a:p>
        </p:txBody>
      </p:sp>
      <p:sp>
        <p:nvSpPr>
          <p:cNvPr id="104" name="TextBox 103"/>
          <p:cNvSpPr txBox="1"/>
          <p:nvPr/>
        </p:nvSpPr>
        <p:spPr>
          <a:xfrm>
            <a:off x="6492240" y="6144768"/>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[0]</a:t>
            </a:r>
          </a:p>
        </p:txBody>
      </p:sp>
      <p:sp>
        <p:nvSpPr>
          <p:cNvPr id="105" name="Rectangle 104"/>
          <p:cNvSpPr/>
          <p:nvPr/>
        </p:nvSpPr>
        <p:spPr>
          <a:xfrm>
            <a:off x="7040880" y="5687568"/>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7040880" y="5687568"/>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7</a:t>
            </a:r>
          </a:p>
        </p:txBody>
      </p:sp>
      <p:sp>
        <p:nvSpPr>
          <p:cNvPr id="107" name="TextBox 106"/>
          <p:cNvSpPr txBox="1"/>
          <p:nvPr/>
        </p:nvSpPr>
        <p:spPr>
          <a:xfrm>
            <a:off x="7040880" y="6144768"/>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[1]</a:t>
            </a:r>
          </a:p>
        </p:txBody>
      </p:sp>
      <p:sp>
        <p:nvSpPr>
          <p:cNvPr id="108" name="Rectangle 107"/>
          <p:cNvSpPr/>
          <p:nvPr/>
        </p:nvSpPr>
        <p:spPr>
          <a:xfrm>
            <a:off x="7589520" y="5687568"/>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589520" y="5687568"/>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5</a:t>
            </a:r>
          </a:p>
        </p:txBody>
      </p:sp>
      <p:sp>
        <p:nvSpPr>
          <p:cNvPr id="110" name="TextBox 109"/>
          <p:cNvSpPr txBox="1"/>
          <p:nvPr/>
        </p:nvSpPr>
        <p:spPr>
          <a:xfrm>
            <a:off x="7589520" y="6144768"/>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[2]</a:t>
            </a:r>
          </a:p>
        </p:txBody>
      </p:sp>
      <p:sp>
        <p:nvSpPr>
          <p:cNvPr id="111" name="Rectangle 110"/>
          <p:cNvSpPr/>
          <p:nvPr/>
        </p:nvSpPr>
        <p:spPr>
          <a:xfrm>
            <a:off x="8138160" y="5687568"/>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138160" y="5687568"/>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9</a:t>
            </a:r>
          </a:p>
        </p:txBody>
      </p:sp>
      <p:sp>
        <p:nvSpPr>
          <p:cNvPr id="113" name="TextBox 112"/>
          <p:cNvSpPr txBox="1"/>
          <p:nvPr/>
        </p:nvSpPr>
        <p:spPr>
          <a:xfrm>
            <a:off x="8138160" y="6144768"/>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[3]</a:t>
            </a:r>
          </a:p>
        </p:txBody>
      </p:sp>
      <p:sp>
        <p:nvSpPr>
          <p:cNvPr id="114" name="Rectangle 113"/>
          <p:cNvSpPr/>
          <p:nvPr/>
        </p:nvSpPr>
        <p:spPr>
          <a:xfrm>
            <a:off x="8686800" y="5687568"/>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686800" y="5687568"/>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8</a:t>
            </a:r>
          </a:p>
        </p:txBody>
      </p:sp>
      <p:sp>
        <p:nvSpPr>
          <p:cNvPr id="116" name="TextBox 115"/>
          <p:cNvSpPr txBox="1"/>
          <p:nvPr/>
        </p:nvSpPr>
        <p:spPr>
          <a:xfrm>
            <a:off x="8686800" y="6144768"/>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[4]</a:t>
            </a:r>
          </a:p>
        </p:txBody>
      </p:sp>
      <p:sp>
        <p:nvSpPr>
          <p:cNvPr id="117" name="Rectangle 116"/>
          <p:cNvSpPr/>
          <p:nvPr/>
        </p:nvSpPr>
        <p:spPr>
          <a:xfrm>
            <a:off x="9235440" y="5687568"/>
            <a:ext cx="512064" cy="420624"/>
          </a:xfrm>
          <a:prstGeom prst="rect">
            <a:avLst/>
          </a:prstGeom>
          <a:solidFill>
            <a:srgbClr val="F2F4F7"/>
          </a:solidFill>
          <a:ln w="127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235440" y="5687568"/>
            <a:ext cx="512064" cy="420624"/>
          </a:xfrm>
          <a:prstGeom prst="rect">
            <a:avLst/>
          </a:prstGeom>
          <a:noFill/>
        </p:spPr>
        <p:txBody>
          <a:bodyPr wrap="square" lIns="45720" rIns="45720" tIns="18288" bIns="18288" anchor="ctr">
            <a:spAutoFit/>
          </a:bodyPr>
          <a:lstStyle/>
          <a:p>
            <a:pPr algn="ctr"/>
            <a:r>
              <a:rPr sz="1300" b="1" i="0">
                <a:solidFill>
                  <a:srgbClr val="0B2A4A"/>
                </a:solidFill>
                <a:latin typeface="Calibri"/>
              </a:rPr>
              <a:t>6</a:t>
            </a:r>
          </a:p>
        </p:txBody>
      </p:sp>
      <p:sp>
        <p:nvSpPr>
          <p:cNvPr id="119" name="TextBox 118"/>
          <p:cNvSpPr txBox="1"/>
          <p:nvPr/>
        </p:nvSpPr>
        <p:spPr>
          <a:xfrm>
            <a:off x="9235440" y="6144768"/>
            <a:ext cx="512064" cy="228600"/>
          </a:xfrm>
          <a:prstGeom prst="rect">
            <a:avLst/>
          </a:prstGeom>
          <a:noFill/>
        </p:spPr>
        <p:txBody>
          <a:bodyPr wrap="square" lIns="45720" rIns="45720" tIns="18288" bIns="18288" anchor="t">
            <a:spAutoFit/>
          </a:bodyPr>
          <a:lstStyle/>
          <a:p>
            <a:pPr algn="ctr"/>
            <a:r>
              <a:rPr sz="1000" b="0" i="0">
                <a:solidFill>
                  <a:srgbClr val="333D4A"/>
                </a:solidFill>
                <a:latin typeface="Calibri"/>
              </a:rPr>
              <a:t>[5]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Priority Queues</a:t>
            </a:r>
          </a:p>
        </p:txBody>
      </p:sp>
      <p:sp>
        <p:nvSpPr>
          <p:cNvPr id="6" name="TextBox 5"/>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The abstract data structure that a heap implements</a:t>
            </a:r>
          </a:p>
        </p:txBody>
      </p:sp>
      <p:sp>
        <p:nvSpPr>
          <p:cNvPr id="7" name="Rectangle 6"/>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82296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07  ·  Heaps &amp; Priority Queues</a:t>
            </a:r>
          </a:p>
        </p:txBody>
      </p:sp>
      <p:sp>
        <p:nvSpPr>
          <p:cNvPr id="9" name="TextBox 8"/>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10 / 15</a:t>
            </a:r>
          </a:p>
        </p:txBody>
      </p:sp>
      <p:sp>
        <p:nvSpPr>
          <p:cNvPr id="10" name="TextBox 9"/>
          <p:cNvSpPr txBox="1"/>
          <p:nvPr/>
        </p:nvSpPr>
        <p:spPr>
          <a:xfrm>
            <a:off x="548640" y="1417320"/>
            <a:ext cx="11247120" cy="411480"/>
          </a:xfrm>
          <a:prstGeom prst="rect">
            <a:avLst/>
          </a:prstGeom>
          <a:noFill/>
        </p:spPr>
        <p:txBody>
          <a:bodyPr wrap="square" lIns="45720" rIns="45720" tIns="18288" bIns="18288" anchor="t">
            <a:spAutoFit/>
          </a:bodyPr>
          <a:lstStyle/>
          <a:p>
            <a:pPr algn="l"/>
            <a:r>
              <a:rPr sz="1600" b="0" i="0">
                <a:solidFill>
                  <a:srgbClr val="333D4A"/>
                </a:solidFill>
                <a:latin typeface="Calibri"/>
              </a:rPr>
              <a:t>A Priority Queue is an abstract data structure: elements leave in order of priority, not in order of arrival. A Binary Heap is the standard implementation.</a:t>
            </a:r>
          </a:p>
        </p:txBody>
      </p:sp>
      <p:sp>
        <p:nvSpPr>
          <p:cNvPr id="11" name="TextBox 10"/>
          <p:cNvSpPr txBox="1"/>
          <p:nvPr/>
        </p:nvSpPr>
        <p:spPr>
          <a:xfrm>
            <a:off x="548640" y="2011680"/>
            <a:ext cx="5303520" cy="365760"/>
          </a:xfrm>
          <a:prstGeom prst="rect">
            <a:avLst/>
          </a:prstGeom>
          <a:noFill/>
        </p:spPr>
        <p:txBody>
          <a:bodyPr wrap="square" lIns="45720" rIns="45720" tIns="18288" bIns="18288" anchor="t">
            <a:spAutoFit/>
          </a:bodyPr>
          <a:lstStyle/>
          <a:p>
            <a:pPr algn="l"/>
            <a:r>
              <a:rPr sz="1900" b="1" i="0">
                <a:solidFill>
                  <a:srgbClr val="0B2A4A"/>
                </a:solidFill>
                <a:latin typeface="Calibri"/>
              </a:rPr>
              <a:t>Regular Queue vs. Priority Queue</a:t>
            </a:r>
          </a:p>
        </p:txBody>
      </p:sp>
      <p:sp>
        <p:nvSpPr>
          <p:cNvPr id="12" name="Rectangle 11"/>
          <p:cNvSpPr/>
          <p:nvPr/>
        </p:nvSpPr>
        <p:spPr>
          <a:xfrm>
            <a:off x="548640" y="2359152"/>
            <a:ext cx="164592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468880"/>
            <a:ext cx="2606040" cy="5486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54680" y="2468880"/>
            <a:ext cx="2606040" cy="5486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542032"/>
            <a:ext cx="2423160" cy="402336"/>
          </a:xfrm>
          <a:prstGeom prst="rect">
            <a:avLst/>
          </a:prstGeom>
          <a:noFill/>
        </p:spPr>
        <p:txBody>
          <a:bodyPr wrap="square" lIns="45720" rIns="45720" tIns="18288" bIns="18288" anchor="ctr">
            <a:spAutoFit/>
          </a:bodyPr>
          <a:lstStyle/>
          <a:p>
            <a:pPr algn="l"/>
            <a:r>
              <a:rPr sz="1400" b="1" i="0">
                <a:solidFill>
                  <a:srgbClr val="FFFFFF"/>
                </a:solidFill>
                <a:latin typeface="Calibri"/>
              </a:rPr>
              <a:t>Regular Queue (FIFO)</a:t>
            </a:r>
          </a:p>
        </p:txBody>
      </p:sp>
      <p:sp>
        <p:nvSpPr>
          <p:cNvPr id="16" name="TextBox 15"/>
          <p:cNvSpPr txBox="1"/>
          <p:nvPr/>
        </p:nvSpPr>
        <p:spPr>
          <a:xfrm>
            <a:off x="3246120" y="2542032"/>
            <a:ext cx="2423160" cy="402336"/>
          </a:xfrm>
          <a:prstGeom prst="rect">
            <a:avLst/>
          </a:prstGeom>
          <a:noFill/>
        </p:spPr>
        <p:txBody>
          <a:bodyPr wrap="square" lIns="45720" rIns="45720" tIns="18288" bIns="18288" anchor="ctr">
            <a:spAutoFit/>
          </a:bodyPr>
          <a:lstStyle/>
          <a:p>
            <a:pPr algn="l"/>
            <a:r>
              <a:rPr sz="1400" b="1" i="0">
                <a:solidFill>
                  <a:srgbClr val="FFFFFF"/>
                </a:solidFill>
                <a:latin typeface="Calibri"/>
              </a:rPr>
              <a:t>Priority Queue</a:t>
            </a:r>
          </a:p>
        </p:txBody>
      </p:sp>
      <p:sp>
        <p:nvSpPr>
          <p:cNvPr id="17" name="Rectangle 16"/>
          <p:cNvSpPr/>
          <p:nvPr/>
        </p:nvSpPr>
        <p:spPr>
          <a:xfrm>
            <a:off x="548640" y="3017520"/>
            <a:ext cx="2606040" cy="548640"/>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54680" y="3017520"/>
            <a:ext cx="2606040" cy="548640"/>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090672"/>
            <a:ext cx="2423160" cy="402336"/>
          </a:xfrm>
          <a:prstGeom prst="rect">
            <a:avLst/>
          </a:prstGeom>
          <a:noFill/>
        </p:spPr>
        <p:txBody>
          <a:bodyPr wrap="square" lIns="45720" rIns="45720" tIns="18288" bIns="18288" anchor="ctr">
            <a:spAutoFit/>
          </a:bodyPr>
          <a:lstStyle/>
          <a:p>
            <a:pPr algn="l"/>
            <a:r>
              <a:rPr sz="1300" b="0" i="0">
                <a:solidFill>
                  <a:srgbClr val="333D4A"/>
                </a:solidFill>
                <a:latin typeface="Calibri"/>
              </a:rPr>
              <a:t>First inserted leaves first.</a:t>
            </a:r>
          </a:p>
        </p:txBody>
      </p:sp>
      <p:sp>
        <p:nvSpPr>
          <p:cNvPr id="20" name="TextBox 19"/>
          <p:cNvSpPr txBox="1"/>
          <p:nvPr/>
        </p:nvSpPr>
        <p:spPr>
          <a:xfrm>
            <a:off x="3246120" y="3090672"/>
            <a:ext cx="2423160" cy="402336"/>
          </a:xfrm>
          <a:prstGeom prst="rect">
            <a:avLst/>
          </a:prstGeom>
          <a:noFill/>
        </p:spPr>
        <p:txBody>
          <a:bodyPr wrap="square" lIns="45720" rIns="45720" tIns="18288" bIns="18288" anchor="ctr">
            <a:spAutoFit/>
          </a:bodyPr>
          <a:lstStyle/>
          <a:p>
            <a:pPr algn="l"/>
            <a:r>
              <a:rPr sz="1300" b="0" i="0">
                <a:solidFill>
                  <a:srgbClr val="333D4A"/>
                </a:solidFill>
                <a:latin typeface="Calibri"/>
              </a:rPr>
              <a:t>Highest-priority element leaves first.</a:t>
            </a:r>
          </a:p>
        </p:txBody>
      </p:sp>
      <p:sp>
        <p:nvSpPr>
          <p:cNvPr id="21" name="Rectangle 20"/>
          <p:cNvSpPr/>
          <p:nvPr/>
        </p:nvSpPr>
        <p:spPr>
          <a:xfrm>
            <a:off x="548640" y="3566160"/>
            <a:ext cx="2606040" cy="548640"/>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154680" y="3566160"/>
            <a:ext cx="2606040" cy="548640"/>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639312"/>
            <a:ext cx="2423160" cy="402336"/>
          </a:xfrm>
          <a:prstGeom prst="rect">
            <a:avLst/>
          </a:prstGeom>
          <a:noFill/>
        </p:spPr>
        <p:txBody>
          <a:bodyPr wrap="square" lIns="45720" rIns="45720" tIns="18288" bIns="18288" anchor="ctr">
            <a:spAutoFit/>
          </a:bodyPr>
          <a:lstStyle/>
          <a:p>
            <a:pPr algn="l"/>
            <a:r>
              <a:rPr sz="1300" b="0" i="0">
                <a:solidFill>
                  <a:srgbClr val="333D4A"/>
                </a:solidFill>
                <a:latin typeface="Calibri"/>
              </a:rPr>
              <a:t>No concept of priority.</a:t>
            </a:r>
          </a:p>
        </p:txBody>
      </p:sp>
      <p:sp>
        <p:nvSpPr>
          <p:cNvPr id="24" name="TextBox 23"/>
          <p:cNvSpPr txBox="1"/>
          <p:nvPr/>
        </p:nvSpPr>
        <p:spPr>
          <a:xfrm>
            <a:off x="3246120" y="3639312"/>
            <a:ext cx="2423160" cy="402336"/>
          </a:xfrm>
          <a:prstGeom prst="rect">
            <a:avLst/>
          </a:prstGeom>
          <a:noFill/>
        </p:spPr>
        <p:txBody>
          <a:bodyPr wrap="square" lIns="45720" rIns="45720" tIns="18288" bIns="18288" anchor="ctr">
            <a:spAutoFit/>
          </a:bodyPr>
          <a:lstStyle/>
          <a:p>
            <a:pPr algn="l"/>
            <a:r>
              <a:rPr sz="1300" b="0" i="0">
                <a:solidFill>
                  <a:srgbClr val="333D4A"/>
                </a:solidFill>
                <a:latin typeface="Calibri"/>
              </a:rPr>
              <a:t>Each element carries a priority value.</a:t>
            </a:r>
          </a:p>
        </p:txBody>
      </p:sp>
      <p:sp>
        <p:nvSpPr>
          <p:cNvPr id="25" name="Rectangle 24"/>
          <p:cNvSpPr/>
          <p:nvPr/>
        </p:nvSpPr>
        <p:spPr>
          <a:xfrm>
            <a:off x="548640" y="4114800"/>
            <a:ext cx="2606040" cy="548640"/>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154680" y="4114800"/>
            <a:ext cx="2606040" cy="548640"/>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187952"/>
            <a:ext cx="2423160" cy="402336"/>
          </a:xfrm>
          <a:prstGeom prst="rect">
            <a:avLst/>
          </a:prstGeom>
          <a:noFill/>
        </p:spPr>
        <p:txBody>
          <a:bodyPr wrap="square" lIns="45720" rIns="45720" tIns="18288" bIns="18288" anchor="ctr">
            <a:spAutoFit/>
          </a:bodyPr>
          <a:lstStyle/>
          <a:p>
            <a:pPr algn="l"/>
            <a:r>
              <a:rPr sz="1300" b="0" i="0">
                <a:solidFill>
                  <a:srgbClr val="333D4A"/>
                </a:solidFill>
                <a:latin typeface="Calibri"/>
              </a:rPr>
              <a:t>Dequeue:  O(1)</a:t>
            </a:r>
          </a:p>
        </p:txBody>
      </p:sp>
      <p:sp>
        <p:nvSpPr>
          <p:cNvPr id="28" name="TextBox 27"/>
          <p:cNvSpPr txBox="1"/>
          <p:nvPr/>
        </p:nvSpPr>
        <p:spPr>
          <a:xfrm>
            <a:off x="3246120" y="4187952"/>
            <a:ext cx="2423160" cy="402336"/>
          </a:xfrm>
          <a:prstGeom prst="rect">
            <a:avLst/>
          </a:prstGeom>
          <a:noFill/>
        </p:spPr>
        <p:txBody>
          <a:bodyPr wrap="square" lIns="45720" rIns="45720" tIns="18288" bIns="18288" anchor="ctr">
            <a:spAutoFit/>
          </a:bodyPr>
          <a:lstStyle/>
          <a:p>
            <a:pPr algn="l"/>
            <a:r>
              <a:rPr sz="1300" b="0" i="0">
                <a:solidFill>
                  <a:srgbClr val="333D4A"/>
                </a:solidFill>
                <a:latin typeface="Calibri"/>
              </a:rPr>
              <a:t>Dequeue:  O(log N)</a:t>
            </a:r>
          </a:p>
        </p:txBody>
      </p:sp>
      <p:sp>
        <p:nvSpPr>
          <p:cNvPr id="29" name="Rectangle 28"/>
          <p:cNvSpPr/>
          <p:nvPr/>
        </p:nvSpPr>
        <p:spPr>
          <a:xfrm>
            <a:off x="548640" y="4663440"/>
            <a:ext cx="2606040" cy="548640"/>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54680" y="4663440"/>
            <a:ext cx="2606040" cy="548640"/>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736592"/>
            <a:ext cx="2423160" cy="402336"/>
          </a:xfrm>
          <a:prstGeom prst="rect">
            <a:avLst/>
          </a:prstGeom>
          <a:noFill/>
        </p:spPr>
        <p:txBody>
          <a:bodyPr wrap="square" lIns="45720" rIns="45720" tIns="18288" bIns="18288" anchor="ctr">
            <a:spAutoFit/>
          </a:bodyPr>
          <a:lstStyle/>
          <a:p>
            <a:pPr algn="l"/>
            <a:r>
              <a:rPr sz="1300" b="0" i="0">
                <a:solidFill>
                  <a:srgbClr val="333D4A"/>
                </a:solidFill>
                <a:latin typeface="Calibri"/>
              </a:rPr>
              <a:t>Implemented with array/list.</a:t>
            </a:r>
          </a:p>
        </p:txBody>
      </p:sp>
      <p:sp>
        <p:nvSpPr>
          <p:cNvPr id="32" name="TextBox 31"/>
          <p:cNvSpPr txBox="1"/>
          <p:nvPr/>
        </p:nvSpPr>
        <p:spPr>
          <a:xfrm>
            <a:off x="3246120" y="4736592"/>
            <a:ext cx="2423160" cy="402336"/>
          </a:xfrm>
          <a:prstGeom prst="rect">
            <a:avLst/>
          </a:prstGeom>
          <a:noFill/>
        </p:spPr>
        <p:txBody>
          <a:bodyPr wrap="square" lIns="45720" rIns="45720" tIns="18288" bIns="18288" anchor="ctr">
            <a:spAutoFit/>
          </a:bodyPr>
          <a:lstStyle/>
          <a:p>
            <a:pPr algn="l"/>
            <a:r>
              <a:rPr sz="1300" b="0" i="0">
                <a:solidFill>
                  <a:srgbClr val="333D4A"/>
                </a:solidFill>
                <a:latin typeface="Calibri"/>
              </a:rPr>
              <a:t>Implemented with a Binary Heap.</a:t>
            </a:r>
          </a:p>
        </p:txBody>
      </p:sp>
      <p:sp>
        <p:nvSpPr>
          <p:cNvPr id="33" name="TextBox 32"/>
          <p:cNvSpPr txBox="1"/>
          <p:nvPr/>
        </p:nvSpPr>
        <p:spPr>
          <a:xfrm>
            <a:off x="6583680" y="2011680"/>
            <a:ext cx="5303520" cy="365760"/>
          </a:xfrm>
          <a:prstGeom prst="rect">
            <a:avLst/>
          </a:prstGeom>
          <a:noFill/>
        </p:spPr>
        <p:txBody>
          <a:bodyPr wrap="square" lIns="45720" rIns="45720" tIns="18288" bIns="18288" anchor="t">
            <a:spAutoFit/>
          </a:bodyPr>
          <a:lstStyle/>
          <a:p>
            <a:pPr algn="l"/>
            <a:r>
              <a:rPr sz="1900" b="1" i="0">
                <a:solidFill>
                  <a:srgbClr val="0B2A4A"/>
                </a:solidFill>
                <a:latin typeface="Calibri"/>
              </a:rPr>
              <a:t>Real-World Applications</a:t>
            </a:r>
          </a:p>
        </p:txBody>
      </p:sp>
      <p:sp>
        <p:nvSpPr>
          <p:cNvPr id="34" name="Rectangle 33"/>
          <p:cNvSpPr/>
          <p:nvPr/>
        </p:nvSpPr>
        <p:spPr>
          <a:xfrm>
            <a:off x="6583680" y="2359152"/>
            <a:ext cx="164592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0" y="2514600"/>
            <a:ext cx="5303520" cy="1234440"/>
          </a:xfrm>
          <a:prstGeom prst="rect">
            <a:avLst/>
          </a:prstGeom>
          <a:solidFill>
            <a:srgbClr val="FFFFFF"/>
          </a:solidFill>
          <a:ln w="254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583680" y="2514600"/>
            <a:ext cx="73152" cy="1234440"/>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0" y="2606040"/>
            <a:ext cx="4937760" cy="384048"/>
          </a:xfrm>
          <a:prstGeom prst="rect">
            <a:avLst/>
          </a:prstGeom>
          <a:noFill/>
        </p:spPr>
        <p:txBody>
          <a:bodyPr wrap="square" lIns="45720" rIns="45720" tIns="18288" bIns="18288" anchor="t">
            <a:spAutoFit/>
          </a:bodyPr>
          <a:lstStyle/>
          <a:p>
            <a:pPr algn="l"/>
            <a:r>
              <a:rPr sz="1600" b="1" i="0">
                <a:solidFill>
                  <a:srgbClr val="127A8A"/>
                </a:solidFill>
                <a:latin typeface="Calibri"/>
              </a:rPr>
              <a:t>OS Process Scheduling</a:t>
            </a:r>
          </a:p>
        </p:txBody>
      </p:sp>
      <p:sp>
        <p:nvSpPr>
          <p:cNvPr id="38" name="TextBox 37"/>
          <p:cNvSpPr txBox="1"/>
          <p:nvPr/>
        </p:nvSpPr>
        <p:spPr>
          <a:xfrm>
            <a:off x="6766560" y="2990088"/>
            <a:ext cx="4937760" cy="658368"/>
          </a:xfrm>
          <a:prstGeom prst="rect">
            <a:avLst/>
          </a:prstGeom>
          <a:noFill/>
        </p:spPr>
        <p:txBody>
          <a:bodyPr wrap="square" lIns="45720" rIns="45720" tIns="18288" bIns="18288" anchor="t">
            <a:spAutoFit/>
          </a:bodyPr>
          <a:lstStyle/>
          <a:p>
            <a:pPr algn="l"/>
            <a:r>
              <a:rPr sz="1300" b="0" i="0">
                <a:solidFill>
                  <a:srgbClr val="333D4A"/>
                </a:solidFill>
                <a:latin typeface="Calibri"/>
              </a:rPr>
              <a:t>The CPU runs the highest-priority process first. High-priority processes can pre-empt lower-priority ones.</a:t>
            </a:r>
          </a:p>
        </p:txBody>
      </p:sp>
      <p:sp>
        <p:nvSpPr>
          <p:cNvPr id="39" name="Rectangle 38"/>
          <p:cNvSpPr/>
          <p:nvPr/>
        </p:nvSpPr>
        <p:spPr>
          <a:xfrm>
            <a:off x="6583680" y="3886200"/>
            <a:ext cx="5303520" cy="1234440"/>
          </a:xfrm>
          <a:prstGeom prst="rect">
            <a:avLst/>
          </a:prstGeom>
          <a:solidFill>
            <a:srgbClr val="FFFFFF"/>
          </a:solidFill>
          <a:ln w="25400">
            <a:solidFill>
              <a:srgbClr val="277B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0" y="3886200"/>
            <a:ext cx="73152" cy="1234440"/>
          </a:xfrm>
          <a:prstGeom prst="rect">
            <a:avLst/>
          </a:prstGeom>
          <a:solidFill>
            <a:srgbClr val="277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0" y="3977640"/>
            <a:ext cx="4937760" cy="384048"/>
          </a:xfrm>
          <a:prstGeom prst="rect">
            <a:avLst/>
          </a:prstGeom>
          <a:noFill/>
        </p:spPr>
        <p:txBody>
          <a:bodyPr wrap="square" lIns="45720" rIns="45720" tIns="18288" bIns="18288" anchor="t">
            <a:spAutoFit/>
          </a:bodyPr>
          <a:lstStyle/>
          <a:p>
            <a:pPr algn="l"/>
            <a:r>
              <a:rPr sz="1600" b="1" i="0">
                <a:solidFill>
                  <a:srgbClr val="277B3E"/>
                </a:solidFill>
                <a:latin typeface="Calibri"/>
              </a:rPr>
              <a:t>Network Packet Routing</a:t>
            </a:r>
          </a:p>
        </p:txBody>
      </p:sp>
      <p:sp>
        <p:nvSpPr>
          <p:cNvPr id="42" name="TextBox 41"/>
          <p:cNvSpPr txBox="1"/>
          <p:nvPr/>
        </p:nvSpPr>
        <p:spPr>
          <a:xfrm>
            <a:off x="6766560" y="4361688"/>
            <a:ext cx="4937760" cy="658368"/>
          </a:xfrm>
          <a:prstGeom prst="rect">
            <a:avLst/>
          </a:prstGeom>
          <a:noFill/>
        </p:spPr>
        <p:txBody>
          <a:bodyPr wrap="square" lIns="45720" rIns="45720" tIns="18288" bIns="18288" anchor="t">
            <a:spAutoFit/>
          </a:bodyPr>
          <a:lstStyle/>
          <a:p>
            <a:pPr algn="l"/>
            <a:r>
              <a:rPr sz="1300" b="0" i="0">
                <a:solidFill>
                  <a:srgbClr val="333D4A"/>
                </a:solidFill>
                <a:latin typeface="Calibri"/>
              </a:rPr>
              <a:t>Routers prioritise urgent packets (voice calls, video streams) over bulk data transfers using a priority queue.</a:t>
            </a:r>
          </a:p>
        </p:txBody>
      </p:sp>
      <p:sp>
        <p:nvSpPr>
          <p:cNvPr id="43" name="Rectangle 42"/>
          <p:cNvSpPr/>
          <p:nvPr/>
        </p:nvSpPr>
        <p:spPr>
          <a:xfrm>
            <a:off x="6583680" y="5257800"/>
            <a:ext cx="5303520" cy="1234440"/>
          </a:xfrm>
          <a:prstGeom prst="rect">
            <a:avLst/>
          </a:prstGeom>
          <a:solidFill>
            <a:srgbClr val="FFFFFF"/>
          </a:solidFill>
          <a:ln w="25400">
            <a:solidFill>
              <a:srgbClr val="6A1B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3680" y="5257800"/>
            <a:ext cx="73152" cy="1234440"/>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66560" y="5349240"/>
            <a:ext cx="4937760" cy="384048"/>
          </a:xfrm>
          <a:prstGeom prst="rect">
            <a:avLst/>
          </a:prstGeom>
          <a:noFill/>
        </p:spPr>
        <p:txBody>
          <a:bodyPr wrap="square" lIns="45720" rIns="45720" tIns="18288" bIns="18288" anchor="t">
            <a:spAutoFit/>
          </a:bodyPr>
          <a:lstStyle/>
          <a:p>
            <a:pPr algn="l"/>
            <a:r>
              <a:rPr sz="1600" b="1" i="0">
                <a:solidFill>
                  <a:srgbClr val="6A1B9A"/>
                </a:solidFill>
                <a:latin typeface="Calibri"/>
              </a:rPr>
              <a:t>Dijkstra's Shortest Path</a:t>
            </a:r>
          </a:p>
        </p:txBody>
      </p:sp>
      <p:sp>
        <p:nvSpPr>
          <p:cNvPr id="46" name="TextBox 45"/>
          <p:cNvSpPr txBox="1"/>
          <p:nvPr/>
        </p:nvSpPr>
        <p:spPr>
          <a:xfrm>
            <a:off x="6766560" y="5733288"/>
            <a:ext cx="4937760" cy="658368"/>
          </a:xfrm>
          <a:prstGeom prst="rect">
            <a:avLst/>
          </a:prstGeom>
          <a:noFill/>
        </p:spPr>
        <p:txBody>
          <a:bodyPr wrap="square" lIns="45720" rIns="45720" tIns="18288" bIns="18288" anchor="t">
            <a:spAutoFit/>
          </a:bodyPr>
          <a:lstStyle/>
          <a:p>
            <a:pPr algn="l"/>
            <a:r>
              <a:rPr sz="1300" b="0" i="0">
                <a:solidFill>
                  <a:srgbClr val="333D4A"/>
                </a:solidFill>
                <a:latin typeface="Calibri"/>
              </a:rPr>
              <a:t>A Min-Heap always selects the nearest unvisited node first — core to GPS navigation and routing software.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Python's heapq Module</a:t>
            </a:r>
          </a:p>
        </p:txBody>
      </p:sp>
      <p:sp>
        <p:nvSpPr>
          <p:cNvPr id="6" name="TextBox 5"/>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The built-in Min-Heap operating on a plain Python list</a:t>
            </a:r>
          </a:p>
        </p:txBody>
      </p:sp>
      <p:sp>
        <p:nvSpPr>
          <p:cNvPr id="7" name="Rectangle 6"/>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82296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07  ·  Heaps &amp; Priority Queues</a:t>
            </a:r>
          </a:p>
        </p:txBody>
      </p:sp>
      <p:sp>
        <p:nvSpPr>
          <p:cNvPr id="9" name="TextBox 8"/>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11 / 15</a:t>
            </a:r>
          </a:p>
        </p:txBody>
      </p:sp>
      <p:sp>
        <p:nvSpPr>
          <p:cNvPr id="10" name="TextBox 9"/>
          <p:cNvSpPr txBox="1"/>
          <p:nvPr/>
        </p:nvSpPr>
        <p:spPr>
          <a:xfrm>
            <a:off x="548640" y="1417320"/>
            <a:ext cx="5303520" cy="365760"/>
          </a:xfrm>
          <a:prstGeom prst="rect">
            <a:avLst/>
          </a:prstGeom>
          <a:noFill/>
        </p:spPr>
        <p:txBody>
          <a:bodyPr wrap="square" lIns="45720" rIns="45720" tIns="18288" bIns="18288" anchor="t">
            <a:spAutoFit/>
          </a:bodyPr>
          <a:lstStyle/>
          <a:p>
            <a:pPr algn="l"/>
            <a:r>
              <a:rPr sz="1900" b="1" i="0">
                <a:solidFill>
                  <a:srgbClr val="0B2A4A"/>
                </a:solidFill>
                <a:latin typeface="Calibri"/>
              </a:rPr>
              <a:t>Core Functions</a:t>
            </a:r>
          </a:p>
        </p:txBody>
      </p:sp>
      <p:sp>
        <p:nvSpPr>
          <p:cNvPr id="11" name="Rectangle 10"/>
          <p:cNvSpPr/>
          <p:nvPr/>
        </p:nvSpPr>
        <p:spPr>
          <a:xfrm>
            <a:off x="548640" y="1764792"/>
            <a:ext cx="164592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92807"/>
            <a:ext cx="1645920" cy="56692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94560" y="1892807"/>
            <a:ext cx="2743200" cy="56692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37760" y="1892807"/>
            <a:ext cx="1097280" cy="56692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1965959"/>
            <a:ext cx="1536192" cy="420624"/>
          </a:xfrm>
          <a:prstGeom prst="rect">
            <a:avLst/>
          </a:prstGeom>
          <a:noFill/>
        </p:spPr>
        <p:txBody>
          <a:bodyPr wrap="square" lIns="45720" rIns="45720" tIns="18288" bIns="18288" anchor="ctr">
            <a:spAutoFit/>
          </a:bodyPr>
          <a:lstStyle/>
          <a:p>
            <a:pPr algn="l"/>
            <a:r>
              <a:rPr sz="1300" b="1" i="0">
                <a:solidFill>
                  <a:srgbClr val="FFFFFF"/>
                </a:solidFill>
                <a:latin typeface="Calibri"/>
              </a:rPr>
              <a:t>Function</a:t>
            </a:r>
          </a:p>
        </p:txBody>
      </p:sp>
      <p:sp>
        <p:nvSpPr>
          <p:cNvPr id="16" name="TextBox 15"/>
          <p:cNvSpPr txBox="1"/>
          <p:nvPr/>
        </p:nvSpPr>
        <p:spPr>
          <a:xfrm>
            <a:off x="2249424" y="1965959"/>
            <a:ext cx="2633472" cy="420624"/>
          </a:xfrm>
          <a:prstGeom prst="rect">
            <a:avLst/>
          </a:prstGeom>
          <a:noFill/>
        </p:spPr>
        <p:txBody>
          <a:bodyPr wrap="square" lIns="45720" rIns="45720" tIns="18288" bIns="18288" anchor="ctr">
            <a:spAutoFit/>
          </a:bodyPr>
          <a:lstStyle/>
          <a:p>
            <a:pPr algn="l"/>
            <a:r>
              <a:rPr sz="1300" b="1" i="0">
                <a:solidFill>
                  <a:srgbClr val="FFFFFF"/>
                </a:solidFill>
                <a:latin typeface="Calibri"/>
              </a:rPr>
              <a:t>Description</a:t>
            </a:r>
          </a:p>
        </p:txBody>
      </p:sp>
      <p:sp>
        <p:nvSpPr>
          <p:cNvPr id="17" name="TextBox 16"/>
          <p:cNvSpPr txBox="1"/>
          <p:nvPr/>
        </p:nvSpPr>
        <p:spPr>
          <a:xfrm>
            <a:off x="4992624" y="1965959"/>
            <a:ext cx="987552" cy="420624"/>
          </a:xfrm>
          <a:prstGeom prst="rect">
            <a:avLst/>
          </a:prstGeom>
          <a:noFill/>
        </p:spPr>
        <p:txBody>
          <a:bodyPr wrap="square" lIns="45720" rIns="45720" tIns="18288" bIns="18288" anchor="ctr">
            <a:spAutoFit/>
          </a:bodyPr>
          <a:lstStyle/>
          <a:p>
            <a:pPr algn="ctr"/>
            <a:r>
              <a:rPr sz="1300" b="1" i="0">
                <a:solidFill>
                  <a:srgbClr val="FFFFFF"/>
                </a:solidFill>
                <a:latin typeface="Calibri"/>
              </a:rPr>
              <a:t>Time</a:t>
            </a:r>
          </a:p>
        </p:txBody>
      </p:sp>
      <p:sp>
        <p:nvSpPr>
          <p:cNvPr id="18" name="Rectangle 17"/>
          <p:cNvSpPr/>
          <p:nvPr/>
        </p:nvSpPr>
        <p:spPr>
          <a:xfrm>
            <a:off x="548640" y="2459735"/>
            <a:ext cx="1645920" cy="566928"/>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94560" y="2459735"/>
            <a:ext cx="2743200" cy="566928"/>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37760" y="2459735"/>
            <a:ext cx="1097280" cy="566928"/>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 y="2532887"/>
            <a:ext cx="1536192" cy="420624"/>
          </a:xfrm>
          <a:prstGeom prst="rect">
            <a:avLst/>
          </a:prstGeom>
          <a:noFill/>
        </p:spPr>
        <p:txBody>
          <a:bodyPr wrap="square" lIns="45720" rIns="45720" tIns="18288" bIns="18288" anchor="ctr">
            <a:spAutoFit/>
          </a:bodyPr>
          <a:lstStyle/>
          <a:p>
            <a:pPr algn="l"/>
            <a:r>
              <a:rPr sz="1300" b="0" i="0">
                <a:solidFill>
                  <a:srgbClr val="333D4A"/>
                </a:solidFill>
                <a:latin typeface="Consolas"/>
              </a:rPr>
              <a:t>heappush(h, x)</a:t>
            </a:r>
          </a:p>
        </p:txBody>
      </p:sp>
      <p:sp>
        <p:nvSpPr>
          <p:cNvPr id="22" name="TextBox 21"/>
          <p:cNvSpPr txBox="1"/>
          <p:nvPr/>
        </p:nvSpPr>
        <p:spPr>
          <a:xfrm>
            <a:off x="2249424" y="2532887"/>
            <a:ext cx="2633472" cy="420624"/>
          </a:xfrm>
          <a:prstGeom prst="rect">
            <a:avLst/>
          </a:prstGeom>
          <a:noFill/>
        </p:spPr>
        <p:txBody>
          <a:bodyPr wrap="square" lIns="45720" rIns="45720" tIns="18288" bIns="18288" anchor="ctr">
            <a:spAutoFit/>
          </a:bodyPr>
          <a:lstStyle/>
          <a:p>
            <a:pPr algn="l"/>
            <a:r>
              <a:rPr sz="1300" b="0" i="0">
                <a:solidFill>
                  <a:srgbClr val="333D4A"/>
                </a:solidFill>
                <a:latin typeface="Calibri"/>
              </a:rPr>
              <a:t>Insert x and restore heap property</a:t>
            </a:r>
          </a:p>
        </p:txBody>
      </p:sp>
      <p:sp>
        <p:nvSpPr>
          <p:cNvPr id="23" name="TextBox 22"/>
          <p:cNvSpPr txBox="1"/>
          <p:nvPr/>
        </p:nvSpPr>
        <p:spPr>
          <a:xfrm>
            <a:off x="4992624" y="2532887"/>
            <a:ext cx="987552" cy="420624"/>
          </a:xfrm>
          <a:prstGeom prst="rect">
            <a:avLst/>
          </a:prstGeom>
          <a:noFill/>
        </p:spPr>
        <p:txBody>
          <a:bodyPr wrap="square" lIns="45720" rIns="45720" tIns="18288" bIns="18288" anchor="ctr">
            <a:spAutoFit/>
          </a:bodyPr>
          <a:lstStyle/>
          <a:p>
            <a:pPr algn="ctr"/>
            <a:r>
              <a:rPr sz="1300" b="0" i="0">
                <a:solidFill>
                  <a:srgbClr val="333D4A"/>
                </a:solidFill>
                <a:latin typeface="Calibri"/>
              </a:rPr>
              <a:t>O(log N)</a:t>
            </a:r>
          </a:p>
        </p:txBody>
      </p:sp>
      <p:sp>
        <p:nvSpPr>
          <p:cNvPr id="24" name="Rectangle 23"/>
          <p:cNvSpPr/>
          <p:nvPr/>
        </p:nvSpPr>
        <p:spPr>
          <a:xfrm>
            <a:off x="548640" y="3026663"/>
            <a:ext cx="1645920" cy="566928"/>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94560" y="3026663"/>
            <a:ext cx="2743200" cy="566928"/>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37760" y="3026663"/>
            <a:ext cx="1097280" cy="566928"/>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 y="3099815"/>
            <a:ext cx="1536192" cy="420624"/>
          </a:xfrm>
          <a:prstGeom prst="rect">
            <a:avLst/>
          </a:prstGeom>
          <a:noFill/>
        </p:spPr>
        <p:txBody>
          <a:bodyPr wrap="square" lIns="45720" rIns="45720" tIns="18288" bIns="18288" anchor="ctr">
            <a:spAutoFit/>
          </a:bodyPr>
          <a:lstStyle/>
          <a:p>
            <a:pPr algn="l"/>
            <a:r>
              <a:rPr sz="1300" b="0" i="0">
                <a:solidFill>
                  <a:srgbClr val="333D4A"/>
                </a:solidFill>
                <a:latin typeface="Consolas"/>
              </a:rPr>
              <a:t>heappop(h)</a:t>
            </a:r>
          </a:p>
        </p:txBody>
      </p:sp>
      <p:sp>
        <p:nvSpPr>
          <p:cNvPr id="28" name="TextBox 27"/>
          <p:cNvSpPr txBox="1"/>
          <p:nvPr/>
        </p:nvSpPr>
        <p:spPr>
          <a:xfrm>
            <a:off x="2249424" y="3099815"/>
            <a:ext cx="2633472" cy="420624"/>
          </a:xfrm>
          <a:prstGeom prst="rect">
            <a:avLst/>
          </a:prstGeom>
          <a:noFill/>
        </p:spPr>
        <p:txBody>
          <a:bodyPr wrap="square" lIns="45720" rIns="45720" tIns="18288" bIns="18288" anchor="ctr">
            <a:spAutoFit/>
          </a:bodyPr>
          <a:lstStyle/>
          <a:p>
            <a:pPr algn="l"/>
            <a:r>
              <a:rPr sz="1300" b="0" i="0">
                <a:solidFill>
                  <a:srgbClr val="333D4A"/>
                </a:solidFill>
                <a:latin typeface="Calibri"/>
              </a:rPr>
              <a:t>Remove and return the smallest element</a:t>
            </a:r>
          </a:p>
        </p:txBody>
      </p:sp>
      <p:sp>
        <p:nvSpPr>
          <p:cNvPr id="29" name="TextBox 28"/>
          <p:cNvSpPr txBox="1"/>
          <p:nvPr/>
        </p:nvSpPr>
        <p:spPr>
          <a:xfrm>
            <a:off x="4992624" y="3099815"/>
            <a:ext cx="987552" cy="420624"/>
          </a:xfrm>
          <a:prstGeom prst="rect">
            <a:avLst/>
          </a:prstGeom>
          <a:noFill/>
        </p:spPr>
        <p:txBody>
          <a:bodyPr wrap="square" lIns="45720" rIns="45720" tIns="18288" bIns="18288" anchor="ctr">
            <a:spAutoFit/>
          </a:bodyPr>
          <a:lstStyle/>
          <a:p>
            <a:pPr algn="ctr"/>
            <a:r>
              <a:rPr sz="1300" b="0" i="0">
                <a:solidFill>
                  <a:srgbClr val="333D4A"/>
                </a:solidFill>
                <a:latin typeface="Calibri"/>
              </a:rPr>
              <a:t>O(log N)</a:t>
            </a:r>
          </a:p>
        </p:txBody>
      </p:sp>
      <p:sp>
        <p:nvSpPr>
          <p:cNvPr id="30" name="Rectangle 29"/>
          <p:cNvSpPr/>
          <p:nvPr/>
        </p:nvSpPr>
        <p:spPr>
          <a:xfrm>
            <a:off x="548640" y="3593591"/>
            <a:ext cx="1645920" cy="566928"/>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194560" y="3593591"/>
            <a:ext cx="2743200" cy="566928"/>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37760" y="3593591"/>
            <a:ext cx="1097280" cy="566928"/>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504" y="3666743"/>
            <a:ext cx="1536192" cy="420624"/>
          </a:xfrm>
          <a:prstGeom prst="rect">
            <a:avLst/>
          </a:prstGeom>
          <a:noFill/>
        </p:spPr>
        <p:txBody>
          <a:bodyPr wrap="square" lIns="45720" rIns="45720" tIns="18288" bIns="18288" anchor="ctr">
            <a:spAutoFit/>
          </a:bodyPr>
          <a:lstStyle/>
          <a:p>
            <a:pPr algn="l"/>
            <a:r>
              <a:rPr sz="1300" b="0" i="0">
                <a:solidFill>
                  <a:srgbClr val="333D4A"/>
                </a:solidFill>
                <a:latin typeface="Consolas"/>
              </a:rPr>
              <a:t>heapify(h)</a:t>
            </a:r>
          </a:p>
        </p:txBody>
      </p:sp>
      <p:sp>
        <p:nvSpPr>
          <p:cNvPr id="34" name="TextBox 33"/>
          <p:cNvSpPr txBox="1"/>
          <p:nvPr/>
        </p:nvSpPr>
        <p:spPr>
          <a:xfrm>
            <a:off x="2249424" y="3666743"/>
            <a:ext cx="2633472" cy="420624"/>
          </a:xfrm>
          <a:prstGeom prst="rect">
            <a:avLst/>
          </a:prstGeom>
          <a:noFill/>
        </p:spPr>
        <p:txBody>
          <a:bodyPr wrap="square" lIns="45720" rIns="45720" tIns="18288" bIns="18288" anchor="ctr">
            <a:spAutoFit/>
          </a:bodyPr>
          <a:lstStyle/>
          <a:p>
            <a:pPr algn="l"/>
            <a:r>
              <a:rPr sz="1300" b="0" i="0">
                <a:solidFill>
                  <a:srgbClr val="333D4A"/>
                </a:solidFill>
                <a:latin typeface="Calibri"/>
              </a:rPr>
              <a:t>Convert a list into a heap in-place</a:t>
            </a:r>
          </a:p>
        </p:txBody>
      </p:sp>
      <p:sp>
        <p:nvSpPr>
          <p:cNvPr id="35" name="TextBox 34"/>
          <p:cNvSpPr txBox="1"/>
          <p:nvPr/>
        </p:nvSpPr>
        <p:spPr>
          <a:xfrm>
            <a:off x="4992624" y="3666743"/>
            <a:ext cx="987552" cy="420624"/>
          </a:xfrm>
          <a:prstGeom prst="rect">
            <a:avLst/>
          </a:prstGeom>
          <a:noFill/>
        </p:spPr>
        <p:txBody>
          <a:bodyPr wrap="square" lIns="45720" rIns="45720" tIns="18288" bIns="18288" anchor="ctr">
            <a:spAutoFit/>
          </a:bodyPr>
          <a:lstStyle/>
          <a:p>
            <a:pPr algn="ctr"/>
            <a:r>
              <a:rPr sz="1300" b="0" i="0">
                <a:solidFill>
                  <a:srgbClr val="333D4A"/>
                </a:solidFill>
                <a:latin typeface="Calibri"/>
              </a:rPr>
              <a:t>O(N)</a:t>
            </a:r>
          </a:p>
        </p:txBody>
      </p:sp>
      <p:sp>
        <p:nvSpPr>
          <p:cNvPr id="36" name="Rectangle 35"/>
          <p:cNvSpPr/>
          <p:nvPr/>
        </p:nvSpPr>
        <p:spPr>
          <a:xfrm>
            <a:off x="548640" y="4160519"/>
            <a:ext cx="1645920" cy="566928"/>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194560" y="4160519"/>
            <a:ext cx="2743200" cy="566928"/>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937760" y="4160519"/>
            <a:ext cx="1097280" cy="566928"/>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4" y="4233671"/>
            <a:ext cx="1536192" cy="420624"/>
          </a:xfrm>
          <a:prstGeom prst="rect">
            <a:avLst/>
          </a:prstGeom>
          <a:noFill/>
        </p:spPr>
        <p:txBody>
          <a:bodyPr wrap="square" lIns="45720" rIns="45720" tIns="18288" bIns="18288" anchor="ctr">
            <a:spAutoFit/>
          </a:bodyPr>
          <a:lstStyle/>
          <a:p>
            <a:pPr algn="l"/>
            <a:r>
              <a:rPr sz="1300" b="0" i="0">
                <a:solidFill>
                  <a:srgbClr val="333D4A"/>
                </a:solidFill>
                <a:latin typeface="Consolas"/>
              </a:rPr>
              <a:t>h[0]</a:t>
            </a:r>
          </a:p>
        </p:txBody>
      </p:sp>
      <p:sp>
        <p:nvSpPr>
          <p:cNvPr id="40" name="TextBox 39"/>
          <p:cNvSpPr txBox="1"/>
          <p:nvPr/>
        </p:nvSpPr>
        <p:spPr>
          <a:xfrm>
            <a:off x="2249424" y="4233671"/>
            <a:ext cx="2633472" cy="420624"/>
          </a:xfrm>
          <a:prstGeom prst="rect">
            <a:avLst/>
          </a:prstGeom>
          <a:noFill/>
        </p:spPr>
        <p:txBody>
          <a:bodyPr wrap="square" lIns="45720" rIns="45720" tIns="18288" bIns="18288" anchor="ctr">
            <a:spAutoFit/>
          </a:bodyPr>
          <a:lstStyle/>
          <a:p>
            <a:pPr algn="l"/>
            <a:r>
              <a:rPr sz="1300" b="0" i="0">
                <a:solidFill>
                  <a:srgbClr val="333D4A"/>
                </a:solidFill>
                <a:latin typeface="Calibri"/>
              </a:rPr>
              <a:t>Read smallest element without removing</a:t>
            </a:r>
          </a:p>
        </p:txBody>
      </p:sp>
      <p:sp>
        <p:nvSpPr>
          <p:cNvPr id="41" name="TextBox 40"/>
          <p:cNvSpPr txBox="1"/>
          <p:nvPr/>
        </p:nvSpPr>
        <p:spPr>
          <a:xfrm>
            <a:off x="4992624" y="4233671"/>
            <a:ext cx="987552" cy="420624"/>
          </a:xfrm>
          <a:prstGeom prst="rect">
            <a:avLst/>
          </a:prstGeom>
          <a:noFill/>
        </p:spPr>
        <p:txBody>
          <a:bodyPr wrap="square" lIns="45720" rIns="45720" tIns="18288" bIns="18288" anchor="ctr">
            <a:spAutoFit/>
          </a:bodyPr>
          <a:lstStyle/>
          <a:p>
            <a:pPr algn="ctr"/>
            <a:r>
              <a:rPr sz="1300" b="0" i="0">
                <a:solidFill>
                  <a:srgbClr val="333D4A"/>
                </a:solidFill>
                <a:latin typeface="Calibri"/>
              </a:rPr>
              <a:t>O(1)</a:t>
            </a:r>
          </a:p>
        </p:txBody>
      </p:sp>
      <p:sp>
        <p:nvSpPr>
          <p:cNvPr id="42" name="Rectangle 41"/>
          <p:cNvSpPr/>
          <p:nvPr/>
        </p:nvSpPr>
        <p:spPr>
          <a:xfrm>
            <a:off x="548640" y="4727447"/>
            <a:ext cx="1645920" cy="566928"/>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194560" y="4727447"/>
            <a:ext cx="2743200" cy="566928"/>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937760" y="4727447"/>
            <a:ext cx="1097280" cy="566928"/>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3504" y="4800599"/>
            <a:ext cx="1536192" cy="420624"/>
          </a:xfrm>
          <a:prstGeom prst="rect">
            <a:avLst/>
          </a:prstGeom>
          <a:noFill/>
        </p:spPr>
        <p:txBody>
          <a:bodyPr wrap="square" lIns="45720" rIns="45720" tIns="18288" bIns="18288" anchor="ctr">
            <a:spAutoFit/>
          </a:bodyPr>
          <a:lstStyle/>
          <a:p>
            <a:pPr algn="l"/>
            <a:r>
              <a:rPr sz="1300" b="0" i="0">
                <a:solidFill>
                  <a:srgbClr val="333D4A"/>
                </a:solidFill>
                <a:latin typeface="Consolas"/>
              </a:rPr>
              <a:t>heappushpop(h, x)</a:t>
            </a:r>
          </a:p>
        </p:txBody>
      </p:sp>
      <p:sp>
        <p:nvSpPr>
          <p:cNvPr id="46" name="TextBox 45"/>
          <p:cNvSpPr txBox="1"/>
          <p:nvPr/>
        </p:nvSpPr>
        <p:spPr>
          <a:xfrm>
            <a:off x="2249424" y="4800599"/>
            <a:ext cx="2633472" cy="420624"/>
          </a:xfrm>
          <a:prstGeom prst="rect">
            <a:avLst/>
          </a:prstGeom>
          <a:noFill/>
        </p:spPr>
        <p:txBody>
          <a:bodyPr wrap="square" lIns="45720" rIns="45720" tIns="18288" bIns="18288" anchor="ctr">
            <a:spAutoFit/>
          </a:bodyPr>
          <a:lstStyle/>
          <a:p>
            <a:pPr algn="l"/>
            <a:r>
              <a:rPr sz="1300" b="0" i="0">
                <a:solidFill>
                  <a:srgbClr val="333D4A"/>
                </a:solidFill>
                <a:latin typeface="Calibri"/>
              </a:rPr>
              <a:t>Push then pop in one efficient step</a:t>
            </a:r>
          </a:p>
        </p:txBody>
      </p:sp>
      <p:sp>
        <p:nvSpPr>
          <p:cNvPr id="47" name="TextBox 46"/>
          <p:cNvSpPr txBox="1"/>
          <p:nvPr/>
        </p:nvSpPr>
        <p:spPr>
          <a:xfrm>
            <a:off x="4992624" y="4800599"/>
            <a:ext cx="987552" cy="420624"/>
          </a:xfrm>
          <a:prstGeom prst="rect">
            <a:avLst/>
          </a:prstGeom>
          <a:noFill/>
        </p:spPr>
        <p:txBody>
          <a:bodyPr wrap="square" lIns="45720" rIns="45720" tIns="18288" bIns="18288" anchor="ctr">
            <a:spAutoFit/>
          </a:bodyPr>
          <a:lstStyle/>
          <a:p>
            <a:pPr algn="ctr"/>
            <a:r>
              <a:rPr sz="1300" b="0" i="0">
                <a:solidFill>
                  <a:srgbClr val="333D4A"/>
                </a:solidFill>
                <a:latin typeface="Calibri"/>
              </a:rPr>
              <a:t>O(log N)</a:t>
            </a:r>
          </a:p>
        </p:txBody>
      </p:sp>
      <p:sp>
        <p:nvSpPr>
          <p:cNvPr id="48" name="Rectangle 47"/>
          <p:cNvSpPr/>
          <p:nvPr/>
        </p:nvSpPr>
        <p:spPr>
          <a:xfrm>
            <a:off x="548640" y="5440680"/>
            <a:ext cx="5440680" cy="640080"/>
          </a:xfrm>
          <a:prstGeom prst="rect">
            <a:avLst/>
          </a:prstGeom>
          <a:solidFill>
            <a:srgbClr val="FFF3CD"/>
          </a:solidFill>
          <a:ln w="19050">
            <a:solidFill>
              <a:srgbClr val="E0A8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8368" y="5440680"/>
            <a:ext cx="5221224" cy="640080"/>
          </a:xfrm>
          <a:prstGeom prst="rect">
            <a:avLst/>
          </a:prstGeom>
          <a:noFill/>
        </p:spPr>
        <p:txBody>
          <a:bodyPr wrap="square" lIns="45720" rIns="45720" tIns="18288" bIns="18288" anchor="ctr">
            <a:spAutoFit/>
          </a:bodyPr>
          <a:lstStyle/>
          <a:p>
            <a:pPr algn="l"/>
            <a:r>
              <a:rPr sz="1300" b="0" i="1">
                <a:solidFill>
                  <a:srgbClr val="333D4A"/>
                </a:solidFill>
                <a:latin typeface="Calibri"/>
              </a:rPr>
              <a:t>Important: Python's heapq only provides a Min-Heap. To simulate a Max-Heap, insert negated values (−x) and negate the result on extraction.</a:t>
            </a:r>
          </a:p>
        </p:txBody>
      </p:sp>
      <p:sp>
        <p:nvSpPr>
          <p:cNvPr id="50" name="TextBox 49"/>
          <p:cNvSpPr txBox="1"/>
          <p:nvPr/>
        </p:nvSpPr>
        <p:spPr>
          <a:xfrm>
            <a:off x="6492240" y="1417320"/>
            <a:ext cx="5303520" cy="365760"/>
          </a:xfrm>
          <a:prstGeom prst="rect">
            <a:avLst/>
          </a:prstGeom>
          <a:noFill/>
        </p:spPr>
        <p:txBody>
          <a:bodyPr wrap="square" lIns="45720" rIns="45720" tIns="18288" bIns="18288" anchor="t">
            <a:spAutoFit/>
          </a:bodyPr>
          <a:lstStyle/>
          <a:p>
            <a:pPr algn="l"/>
            <a:r>
              <a:rPr sz="1900" b="1" i="0">
                <a:solidFill>
                  <a:srgbClr val="0B2A4A"/>
                </a:solidFill>
                <a:latin typeface="Calibri"/>
              </a:rPr>
              <a:t>Usage Example</a:t>
            </a:r>
          </a:p>
        </p:txBody>
      </p:sp>
      <p:sp>
        <p:nvSpPr>
          <p:cNvPr id="51" name="Rectangle 50"/>
          <p:cNvSpPr/>
          <p:nvPr/>
        </p:nvSpPr>
        <p:spPr>
          <a:xfrm>
            <a:off x="6492240" y="1764792"/>
            <a:ext cx="164592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92240" y="1920240"/>
            <a:ext cx="5394960" cy="50292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92240" y="1920240"/>
            <a:ext cx="64008" cy="502920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629400" y="2011680"/>
            <a:ext cx="5166360" cy="4846320"/>
          </a:xfrm>
          <a:prstGeom prst="rect">
            <a:avLst/>
          </a:prstGeom>
          <a:noFill/>
        </p:spPr>
        <p:txBody>
          <a:bodyPr wrap="none">
            <a:spAutoFit/>
          </a:bodyPr>
          <a:lstStyle/>
          <a:p>
            <a:pPr algn="l">
              <a:lnSpc>
                <a:spcPct val="115000"/>
              </a:lnSpc>
            </a:pPr>
            <a:r>
              <a:rPr sz="1200">
                <a:solidFill>
                  <a:srgbClr val="E6E6E6"/>
                </a:solidFill>
                <a:latin typeface="Consolas"/>
              </a:rPr>
              <a:t>import heapq</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numbers = [5, 1, 9, 3, 2]</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Build a Min-Heap in place — O(N)</a:t>
            </a:r>
          </a:p>
          <a:p>
            <a:pPr algn="l">
              <a:lnSpc>
                <a:spcPct val="115000"/>
              </a:lnSpc>
            </a:pPr>
            <a:r>
              <a:rPr sz="1200">
                <a:solidFill>
                  <a:srgbClr val="E6E6E6"/>
                </a:solidFill>
                <a:latin typeface="Consolas"/>
              </a:rPr>
              <a:t>heapq.heapify(numbers)</a:t>
            </a:r>
          </a:p>
          <a:p>
            <a:pPr algn="l">
              <a:lnSpc>
                <a:spcPct val="115000"/>
              </a:lnSpc>
            </a:pPr>
            <a:r>
              <a:rPr sz="1200">
                <a:solidFill>
                  <a:srgbClr val="E6E6E6"/>
                </a:solidFill>
                <a:latin typeface="Consolas"/>
              </a:rPr>
              <a:t># numbers is now: [1, 2, 9, 3, 5]</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Read the minimum without removing it</a:t>
            </a:r>
          </a:p>
          <a:p>
            <a:pPr algn="l">
              <a:lnSpc>
                <a:spcPct val="115000"/>
              </a:lnSpc>
            </a:pPr>
            <a:r>
              <a:rPr sz="1200">
                <a:solidFill>
                  <a:srgbClr val="E6E6E6"/>
                </a:solidFill>
                <a:latin typeface="Consolas"/>
              </a:rPr>
              <a:t>minimum = numbers[0]        # -&gt; 1</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Remove and return the minimum — O(log N)</a:t>
            </a:r>
          </a:p>
          <a:p>
            <a:pPr algn="l">
              <a:lnSpc>
                <a:spcPct val="115000"/>
              </a:lnSpc>
            </a:pPr>
            <a:r>
              <a:rPr sz="1200">
                <a:solidFill>
                  <a:srgbClr val="E6E6E6"/>
                </a:solidFill>
                <a:latin typeface="Consolas"/>
              </a:rPr>
              <a:t>val = heapq.heappop(numbers)   # -&gt; 1</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Insert a new element — O(log N)</a:t>
            </a:r>
          </a:p>
          <a:p>
            <a:pPr algn="l">
              <a:lnSpc>
                <a:spcPct val="115000"/>
              </a:lnSpc>
            </a:pPr>
            <a:r>
              <a:rPr sz="1200">
                <a:solidFill>
                  <a:srgbClr val="E6E6E6"/>
                </a:solidFill>
                <a:latin typeface="Consolas"/>
              </a:rPr>
              <a:t>heapq.heappush(numbers, 4)</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 Simulating a Max-Heap ----</a:t>
            </a:r>
          </a:p>
          <a:p>
            <a:pPr algn="l">
              <a:lnSpc>
                <a:spcPct val="115000"/>
              </a:lnSpc>
            </a:pPr>
            <a:r>
              <a:rPr sz="1200">
                <a:solidFill>
                  <a:srgbClr val="E6E6E6"/>
                </a:solidFill>
                <a:latin typeface="Consolas"/>
              </a:rPr>
              <a:t>max_heap = []</a:t>
            </a:r>
          </a:p>
          <a:p>
            <a:pPr algn="l">
              <a:lnSpc>
                <a:spcPct val="115000"/>
              </a:lnSpc>
            </a:pPr>
            <a:r>
              <a:rPr sz="1200">
                <a:solidFill>
                  <a:srgbClr val="E6E6E6"/>
                </a:solidFill>
                <a:latin typeface="Consolas"/>
              </a:rPr>
              <a:t>for x in [5, 1, 9]:</a:t>
            </a:r>
          </a:p>
          <a:p>
            <a:pPr algn="l">
              <a:lnSpc>
                <a:spcPct val="115000"/>
              </a:lnSpc>
            </a:pPr>
            <a:r>
              <a:rPr sz="1200">
                <a:solidFill>
                  <a:srgbClr val="E6E6E6"/>
                </a:solidFill>
                <a:latin typeface="Consolas"/>
              </a:rPr>
              <a:t>    heapq.heappush(max_heap, -x)</a:t>
            </a:r>
          </a:p>
          <a:p>
            <a:pPr algn="l">
              <a:lnSpc>
                <a:spcPct val="115000"/>
              </a:lnSpc>
            </a:pPr>
            <a:r>
              <a:rPr sz="1200">
                <a:solidFill>
                  <a:srgbClr val="E6E6E6"/>
                </a:solidFill>
                <a:latin typeface="Consolas"/>
              </a:rPr>
              <a:t>largest = -heapq.heappop(max_heap)   # -&gt; 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K-th Largest Element</a:t>
            </a:r>
          </a:p>
        </p:txBody>
      </p:sp>
      <p:sp>
        <p:nvSpPr>
          <p:cNvPr id="6" name="TextBox 5"/>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A classic problem solved efficiently using a Min-Heap</a:t>
            </a:r>
          </a:p>
        </p:txBody>
      </p:sp>
      <p:sp>
        <p:nvSpPr>
          <p:cNvPr id="7" name="Rectangle 6"/>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82296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07  ·  Heaps &amp; Priority Queues</a:t>
            </a:r>
          </a:p>
        </p:txBody>
      </p:sp>
      <p:sp>
        <p:nvSpPr>
          <p:cNvPr id="9" name="TextBox 8"/>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12 / 15</a:t>
            </a:r>
          </a:p>
        </p:txBody>
      </p:sp>
      <p:sp>
        <p:nvSpPr>
          <p:cNvPr id="10" name="Rectangle 9"/>
          <p:cNvSpPr/>
          <p:nvPr/>
        </p:nvSpPr>
        <p:spPr>
          <a:xfrm>
            <a:off x="548640" y="1417320"/>
            <a:ext cx="11247120" cy="685800"/>
          </a:xfrm>
          <a:prstGeom prst="rect">
            <a:avLst/>
          </a:prstGeom>
          <a:solidFill>
            <a:srgbClr val="E8F4FD"/>
          </a:solidFill>
          <a:ln w="1905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463040"/>
            <a:ext cx="10972800" cy="594360"/>
          </a:xfrm>
          <a:prstGeom prst="rect">
            <a:avLst/>
          </a:prstGeom>
          <a:noFill/>
        </p:spPr>
        <p:txBody>
          <a:bodyPr wrap="square" lIns="45720" rIns="45720" tIns="18288" bIns="18288" anchor="ctr">
            <a:spAutoFit/>
          </a:bodyPr>
          <a:lstStyle/>
          <a:p>
            <a:pPr algn="l"/>
            <a:r>
              <a:rPr sz="1500" b="1" i="0">
                <a:solidFill>
                  <a:srgbClr val="0B2A4A"/>
                </a:solidFill>
                <a:latin typeface="Calibri"/>
              </a:rPr>
              <a:t>Problem:  Given an unsorted list of N numbers, find the K-th largest element.   Constraint: the solution must run in O(N log K) time, not O(N log N).</a:t>
            </a:r>
          </a:p>
        </p:txBody>
      </p:sp>
      <p:sp>
        <p:nvSpPr>
          <p:cNvPr id="12" name="TextBox 11"/>
          <p:cNvSpPr txBox="1"/>
          <p:nvPr/>
        </p:nvSpPr>
        <p:spPr>
          <a:xfrm>
            <a:off x="548640" y="2286000"/>
            <a:ext cx="5303520" cy="365760"/>
          </a:xfrm>
          <a:prstGeom prst="rect">
            <a:avLst/>
          </a:prstGeom>
          <a:noFill/>
        </p:spPr>
        <p:txBody>
          <a:bodyPr wrap="square" lIns="45720" rIns="45720" tIns="18288" bIns="18288" anchor="t">
            <a:spAutoFit/>
          </a:bodyPr>
          <a:lstStyle/>
          <a:p>
            <a:pPr algn="l"/>
            <a:r>
              <a:rPr sz="1800" b="1" i="0">
                <a:solidFill>
                  <a:srgbClr val="0B2A4A"/>
                </a:solidFill>
                <a:latin typeface="Calibri"/>
              </a:rPr>
              <a:t>Strategy: Min-Heap Capped at Size K</a:t>
            </a:r>
          </a:p>
        </p:txBody>
      </p:sp>
      <p:sp>
        <p:nvSpPr>
          <p:cNvPr id="13" name="Rectangle 12"/>
          <p:cNvSpPr/>
          <p:nvPr/>
        </p:nvSpPr>
        <p:spPr>
          <a:xfrm>
            <a:off x="548640" y="2633472"/>
            <a:ext cx="182880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79776"/>
            <a:ext cx="5303520" cy="2377440"/>
          </a:xfrm>
          <a:prstGeom prst="rect">
            <a:avLst/>
          </a:prstGeom>
          <a:noFill/>
        </p:spPr>
        <p:txBody>
          <a:bodyPr wrap="square">
            <a:spAutoFit/>
          </a:bodyPr>
          <a:lstStyle/>
          <a:p>
            <a:pPr>
              <a:lnSpc>
                <a:spcPct val="130000"/>
              </a:lnSpc>
              <a:spcAft>
                <a:spcPts val="600"/>
              </a:spcAft>
            </a:pPr>
            <a:r>
              <a:rPr sz="1500" b="1">
                <a:solidFill>
                  <a:srgbClr val="127A8A"/>
                </a:solidFill>
                <a:latin typeface="Calibri"/>
              </a:rPr>
              <a:t>▸  </a:t>
            </a:r>
            <a:r>
              <a:rPr sz="1500" b="1">
                <a:solidFill>
                  <a:srgbClr val="0B2A4A"/>
                </a:solidFill>
                <a:latin typeface="Calibri"/>
              </a:rPr>
              <a:t>Step 1: </a:t>
            </a:r>
            <a:r>
              <a:rPr sz="1500">
                <a:solidFill>
                  <a:srgbClr val="333D4A"/>
                </a:solidFill>
                <a:latin typeface="Calibri"/>
              </a:rPr>
              <a:t>Maintain a Min-Heap of at most K elements.</a:t>
            </a:r>
          </a:p>
          <a:p>
            <a:pPr>
              <a:lnSpc>
                <a:spcPct val="130000"/>
              </a:lnSpc>
              <a:spcAft>
                <a:spcPts val="600"/>
              </a:spcAft>
            </a:pPr>
            <a:r>
              <a:rPr sz="1500" b="1">
                <a:solidFill>
                  <a:srgbClr val="127A8A"/>
                </a:solidFill>
                <a:latin typeface="Calibri"/>
              </a:rPr>
              <a:t>▸  </a:t>
            </a:r>
            <a:r>
              <a:rPr sz="1500" b="1">
                <a:solidFill>
                  <a:srgbClr val="0B2A4A"/>
                </a:solidFill>
                <a:latin typeface="Calibri"/>
              </a:rPr>
              <a:t>Step 2: </a:t>
            </a:r>
            <a:r>
              <a:rPr sz="1500">
                <a:solidFill>
                  <a:srgbClr val="333D4A"/>
                </a:solidFill>
                <a:latin typeface="Calibri"/>
              </a:rPr>
              <a:t>For each element in the list, push it onto the heap.</a:t>
            </a:r>
          </a:p>
          <a:p>
            <a:pPr>
              <a:lnSpc>
                <a:spcPct val="130000"/>
              </a:lnSpc>
              <a:spcAft>
                <a:spcPts val="600"/>
              </a:spcAft>
            </a:pPr>
            <a:r>
              <a:rPr sz="1500" b="1">
                <a:solidFill>
                  <a:srgbClr val="127A8A"/>
                </a:solidFill>
                <a:latin typeface="Calibri"/>
              </a:rPr>
              <a:t>▸  </a:t>
            </a:r>
            <a:r>
              <a:rPr sz="1500" b="1">
                <a:solidFill>
                  <a:srgbClr val="0B2A4A"/>
                </a:solidFill>
                <a:latin typeface="Calibri"/>
              </a:rPr>
              <a:t>Step 3: </a:t>
            </a:r>
            <a:r>
              <a:rPr sz="1500">
                <a:solidFill>
                  <a:srgbClr val="333D4A"/>
                </a:solidFill>
                <a:latin typeface="Calibri"/>
              </a:rPr>
              <a:t>If the heap grows beyond size K, remove the smallest element (the root).</a:t>
            </a:r>
          </a:p>
          <a:p>
            <a:pPr>
              <a:lnSpc>
                <a:spcPct val="130000"/>
              </a:lnSpc>
              <a:spcAft>
                <a:spcPts val="600"/>
              </a:spcAft>
            </a:pPr>
            <a:r>
              <a:rPr sz="1500" b="1">
                <a:solidFill>
                  <a:srgbClr val="127A8A"/>
                </a:solidFill>
                <a:latin typeface="Calibri"/>
              </a:rPr>
              <a:t>▸  </a:t>
            </a:r>
            <a:r>
              <a:rPr sz="1500" b="1">
                <a:solidFill>
                  <a:srgbClr val="0B2A4A"/>
                </a:solidFill>
                <a:latin typeface="Calibri"/>
              </a:rPr>
              <a:t>Step 4: </a:t>
            </a:r>
            <a:r>
              <a:rPr sz="1500">
                <a:solidFill>
                  <a:srgbClr val="333D4A"/>
                </a:solidFill>
                <a:latin typeface="Calibri"/>
              </a:rPr>
              <a:t>After all elements are processed, the root of the heap is the K-th largest element overall.</a:t>
            </a:r>
          </a:p>
        </p:txBody>
      </p:sp>
      <p:sp>
        <p:nvSpPr>
          <p:cNvPr id="15" name="Rectangle 14"/>
          <p:cNvSpPr/>
          <p:nvPr/>
        </p:nvSpPr>
        <p:spPr>
          <a:xfrm>
            <a:off x="548640" y="5285232"/>
            <a:ext cx="5303520" cy="777240"/>
          </a:xfrm>
          <a:prstGeom prst="rect">
            <a:avLst/>
          </a:prstGeom>
          <a:solidFill>
            <a:srgbClr val="FFF3CD"/>
          </a:solidFill>
          <a:ln w="19050">
            <a:solidFill>
              <a:srgbClr val="E0A8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321808"/>
            <a:ext cx="5084064" cy="713232"/>
          </a:xfrm>
          <a:prstGeom prst="rect">
            <a:avLst/>
          </a:prstGeom>
          <a:noFill/>
        </p:spPr>
        <p:txBody>
          <a:bodyPr wrap="square" lIns="45720" rIns="45720" tIns="18288" bIns="18288" anchor="ctr">
            <a:spAutoFit/>
          </a:bodyPr>
          <a:lstStyle/>
          <a:p>
            <a:pPr algn="l"/>
            <a:r>
              <a:rPr sz="1300" b="0" i="0">
                <a:solidFill>
                  <a:srgbClr val="333D4A"/>
                </a:solidFill>
                <a:latin typeface="Calibri"/>
              </a:rPr>
              <a:t>Why not sort the array?  Sorting takes O(N log N) and loads all N elements into memory. The heap approach uses only O(K) space and runs in O(N log K) — significantly faster when K is much smaller than N.</a:t>
            </a:r>
          </a:p>
        </p:txBody>
      </p:sp>
      <p:sp>
        <p:nvSpPr>
          <p:cNvPr id="17" name="TextBox 16"/>
          <p:cNvSpPr txBox="1"/>
          <p:nvPr/>
        </p:nvSpPr>
        <p:spPr>
          <a:xfrm>
            <a:off x="6400800" y="2286000"/>
            <a:ext cx="5394960" cy="365760"/>
          </a:xfrm>
          <a:prstGeom prst="rect">
            <a:avLst/>
          </a:prstGeom>
          <a:noFill/>
        </p:spPr>
        <p:txBody>
          <a:bodyPr wrap="square" lIns="45720" rIns="45720" tIns="18288" bIns="18288" anchor="t">
            <a:spAutoFit/>
          </a:bodyPr>
          <a:lstStyle/>
          <a:p>
            <a:pPr algn="l"/>
            <a:r>
              <a:rPr sz="1800" b="1" i="0">
                <a:solidFill>
                  <a:srgbClr val="0B2A4A"/>
                </a:solidFill>
                <a:latin typeface="Calibri"/>
              </a:rPr>
              <a:t>Python Solution</a:t>
            </a:r>
          </a:p>
        </p:txBody>
      </p:sp>
      <p:sp>
        <p:nvSpPr>
          <p:cNvPr id="18" name="Rectangle 17"/>
          <p:cNvSpPr/>
          <p:nvPr/>
        </p:nvSpPr>
        <p:spPr>
          <a:xfrm>
            <a:off x="6400800" y="2633472"/>
            <a:ext cx="1645920"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2779776"/>
            <a:ext cx="5394960" cy="3493008"/>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2779776"/>
            <a:ext cx="64008" cy="3493008"/>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2871216"/>
            <a:ext cx="5166360" cy="3310128"/>
          </a:xfrm>
          <a:prstGeom prst="rect">
            <a:avLst/>
          </a:prstGeom>
          <a:noFill/>
        </p:spPr>
        <p:txBody>
          <a:bodyPr wrap="none">
            <a:spAutoFit/>
          </a:bodyPr>
          <a:lstStyle/>
          <a:p>
            <a:pPr algn="l">
              <a:lnSpc>
                <a:spcPct val="115000"/>
              </a:lnSpc>
            </a:pPr>
            <a:r>
              <a:rPr sz="1200">
                <a:solidFill>
                  <a:srgbClr val="E6E6E6"/>
                </a:solidFill>
                <a:latin typeface="Consolas"/>
              </a:rPr>
              <a:t>import heapq</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def find_kth_largest(nums: list, k: int) -&gt; int:</a:t>
            </a:r>
          </a:p>
          <a:p>
            <a:pPr algn="l">
              <a:lnSpc>
                <a:spcPct val="115000"/>
              </a:lnSpc>
            </a:pPr>
            <a:r>
              <a:rPr sz="1200">
                <a:solidFill>
                  <a:srgbClr val="E6E6E6"/>
                </a:solidFill>
                <a:latin typeface="Consolas"/>
              </a:rPr>
              <a:t>    min_heap = []</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for num in nums:</a:t>
            </a:r>
          </a:p>
          <a:p>
            <a:pPr algn="l">
              <a:lnSpc>
                <a:spcPct val="115000"/>
              </a:lnSpc>
            </a:pPr>
            <a:r>
              <a:rPr sz="1200">
                <a:solidFill>
                  <a:srgbClr val="E6E6E6"/>
                </a:solidFill>
                <a:latin typeface="Consolas"/>
              </a:rPr>
              <a:t>        heapq.heappush(min_heap, num)</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 If heap exceeds K elements,</a:t>
            </a:r>
          </a:p>
          <a:p>
            <a:pPr algn="l">
              <a:lnSpc>
                <a:spcPct val="115000"/>
              </a:lnSpc>
            </a:pPr>
            <a:r>
              <a:rPr sz="1200">
                <a:solidFill>
                  <a:srgbClr val="E6E6E6"/>
                </a:solidFill>
                <a:latin typeface="Consolas"/>
              </a:rPr>
              <a:t>        # discard the smallest one.</a:t>
            </a:r>
          </a:p>
          <a:p>
            <a:pPr algn="l">
              <a:lnSpc>
                <a:spcPct val="115000"/>
              </a:lnSpc>
            </a:pPr>
            <a:r>
              <a:rPr sz="1200">
                <a:solidFill>
                  <a:srgbClr val="E6E6E6"/>
                </a:solidFill>
                <a:latin typeface="Consolas"/>
              </a:rPr>
              <a:t>        # This keeps only the K largest seen so far.</a:t>
            </a:r>
          </a:p>
          <a:p>
            <a:pPr algn="l">
              <a:lnSpc>
                <a:spcPct val="115000"/>
              </a:lnSpc>
            </a:pPr>
            <a:r>
              <a:rPr sz="1200">
                <a:solidFill>
                  <a:srgbClr val="E6E6E6"/>
                </a:solidFill>
                <a:latin typeface="Consolas"/>
              </a:rPr>
              <a:t>        if len(min_heap) &gt; k:</a:t>
            </a:r>
          </a:p>
          <a:p>
            <a:pPr algn="l">
              <a:lnSpc>
                <a:spcPct val="115000"/>
              </a:lnSpc>
            </a:pPr>
            <a:r>
              <a:rPr sz="1200">
                <a:solidFill>
                  <a:srgbClr val="E6E6E6"/>
                </a:solidFill>
                <a:latin typeface="Consolas"/>
              </a:rPr>
              <a:t>            heapq.heappop(min_heap)</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 The root is the K-th largest overall.</a:t>
            </a:r>
          </a:p>
          <a:p>
            <a:pPr algn="l">
              <a:lnSpc>
                <a:spcPct val="115000"/>
              </a:lnSpc>
            </a:pPr>
            <a:r>
              <a:rPr sz="1200">
                <a:solidFill>
                  <a:srgbClr val="E6E6E6"/>
                </a:solidFill>
                <a:latin typeface="Consolas"/>
              </a:rPr>
              <a:t>    return min_heap[0]</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Example</a:t>
            </a:r>
          </a:p>
          <a:p>
            <a:pPr algn="l">
              <a:lnSpc>
                <a:spcPct val="115000"/>
              </a:lnSpc>
            </a:pPr>
            <a:r>
              <a:rPr sz="1200">
                <a:solidFill>
                  <a:srgbClr val="E6E6E6"/>
                </a:solidFill>
                <a:latin typeface="Consolas"/>
              </a:rPr>
              <a:t>nums = [3, 2, 1, 5, 6, 4]</a:t>
            </a:r>
          </a:p>
          <a:p>
            <a:pPr algn="l">
              <a:lnSpc>
                <a:spcPct val="115000"/>
              </a:lnSpc>
            </a:pPr>
            <a:r>
              <a:rPr sz="1200">
                <a:solidFill>
                  <a:srgbClr val="E6E6E6"/>
                </a:solidFill>
                <a:latin typeface="Consolas"/>
              </a:rPr>
              <a:t>k = 2</a:t>
            </a:r>
          </a:p>
          <a:p>
            <a:pPr algn="l">
              <a:lnSpc>
                <a:spcPct val="115000"/>
              </a:lnSpc>
            </a:pPr>
            <a:r>
              <a:rPr sz="1200">
                <a:solidFill>
                  <a:srgbClr val="E6E6E6"/>
                </a:solidFill>
                <a:latin typeface="Consolas"/>
              </a:rPr>
              <a:t>print(find_kth_largest(nums, k))   # -&gt; 5</a:t>
            </a:r>
          </a:p>
        </p:txBody>
      </p:sp>
      <p:sp>
        <p:nvSpPr>
          <p:cNvPr id="22" name="Rectangle 21"/>
          <p:cNvSpPr/>
          <p:nvPr/>
        </p:nvSpPr>
        <p:spPr>
          <a:xfrm>
            <a:off x="6400800" y="6400800"/>
            <a:ext cx="5394960" cy="182880"/>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0" y="6419088"/>
            <a:ext cx="2377440" cy="347472"/>
          </a:xfrm>
          <a:prstGeom prst="rect">
            <a:avLst/>
          </a:prstGeom>
          <a:solidFill>
            <a:srgbClr val="FFFFFF"/>
          </a:solidFill>
          <a:ln w="127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2" y="6419088"/>
            <a:ext cx="914400" cy="347472"/>
          </a:xfrm>
          <a:prstGeom prst="rect">
            <a:avLst/>
          </a:prstGeom>
          <a:noFill/>
        </p:spPr>
        <p:txBody>
          <a:bodyPr wrap="square" lIns="45720" rIns="45720" tIns="18288" bIns="18288" anchor="ctr">
            <a:spAutoFit/>
          </a:bodyPr>
          <a:lstStyle/>
          <a:p>
            <a:pPr algn="l"/>
            <a:r>
              <a:rPr sz="1300" b="1" i="0">
                <a:solidFill>
                  <a:srgbClr val="127A8A"/>
                </a:solidFill>
                <a:latin typeface="Calibri"/>
              </a:rPr>
              <a:t>Time: </a:t>
            </a:r>
          </a:p>
        </p:txBody>
      </p:sp>
      <p:sp>
        <p:nvSpPr>
          <p:cNvPr id="25" name="TextBox 24"/>
          <p:cNvSpPr txBox="1"/>
          <p:nvPr/>
        </p:nvSpPr>
        <p:spPr>
          <a:xfrm>
            <a:off x="7315200" y="6419088"/>
            <a:ext cx="1371600" cy="347472"/>
          </a:xfrm>
          <a:prstGeom prst="rect">
            <a:avLst/>
          </a:prstGeom>
          <a:noFill/>
        </p:spPr>
        <p:txBody>
          <a:bodyPr wrap="square" lIns="45720" rIns="45720" tIns="18288" bIns="18288" anchor="ctr">
            <a:spAutoFit/>
          </a:bodyPr>
          <a:lstStyle/>
          <a:p>
            <a:pPr algn="l"/>
            <a:r>
              <a:rPr sz="1300" b="1" i="0">
                <a:solidFill>
                  <a:srgbClr val="0B2A4A"/>
                </a:solidFill>
                <a:latin typeface="Consolas"/>
              </a:rPr>
              <a:t>O(N log K)</a:t>
            </a:r>
          </a:p>
        </p:txBody>
      </p:sp>
      <p:sp>
        <p:nvSpPr>
          <p:cNvPr id="26" name="Rectangle 25"/>
          <p:cNvSpPr/>
          <p:nvPr/>
        </p:nvSpPr>
        <p:spPr>
          <a:xfrm>
            <a:off x="9052560" y="6419088"/>
            <a:ext cx="2377440" cy="347472"/>
          </a:xfrm>
          <a:prstGeom prst="rect">
            <a:avLst/>
          </a:prstGeom>
          <a:solidFill>
            <a:srgbClr val="FFFFFF"/>
          </a:solidFill>
          <a:ln w="12700">
            <a:solidFill>
              <a:srgbClr val="127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5712" y="6419088"/>
            <a:ext cx="914400" cy="347472"/>
          </a:xfrm>
          <a:prstGeom prst="rect">
            <a:avLst/>
          </a:prstGeom>
          <a:noFill/>
        </p:spPr>
        <p:txBody>
          <a:bodyPr wrap="square" lIns="45720" rIns="45720" tIns="18288" bIns="18288" anchor="ctr">
            <a:spAutoFit/>
          </a:bodyPr>
          <a:lstStyle/>
          <a:p>
            <a:pPr algn="l"/>
            <a:r>
              <a:rPr sz="1300" b="1" i="0">
                <a:solidFill>
                  <a:srgbClr val="127A8A"/>
                </a:solidFill>
                <a:latin typeface="Calibri"/>
              </a:rPr>
              <a:t>Space: </a:t>
            </a:r>
          </a:p>
        </p:txBody>
      </p:sp>
      <p:sp>
        <p:nvSpPr>
          <p:cNvPr id="28" name="TextBox 27"/>
          <p:cNvSpPr txBox="1"/>
          <p:nvPr/>
        </p:nvSpPr>
        <p:spPr>
          <a:xfrm>
            <a:off x="9966960" y="6419088"/>
            <a:ext cx="1371600" cy="347472"/>
          </a:xfrm>
          <a:prstGeom prst="rect">
            <a:avLst/>
          </a:prstGeom>
          <a:noFill/>
        </p:spPr>
        <p:txBody>
          <a:bodyPr wrap="square" lIns="45720" rIns="45720" tIns="18288" bIns="18288" anchor="ctr">
            <a:spAutoFit/>
          </a:bodyPr>
          <a:lstStyle/>
          <a:p>
            <a:pPr algn="l"/>
            <a:r>
              <a:rPr sz="1300" b="1" i="0">
                <a:solidFill>
                  <a:srgbClr val="0B2A4A"/>
                </a:solidFill>
                <a:latin typeface="Consolas"/>
              </a:rPr>
              <a:t>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Floyd's O(N) Heap Construction</a:t>
            </a:r>
          </a:p>
        </p:txBody>
      </p:sp>
      <p:sp>
        <p:nvSpPr>
          <p:cNvPr id="6" name="TextBox 5"/>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Building a valid heap from an unsorted array in linear time</a:t>
            </a:r>
          </a:p>
        </p:txBody>
      </p:sp>
      <p:sp>
        <p:nvSpPr>
          <p:cNvPr id="7" name="Rectangle 6"/>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82296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07  ·  Heaps &amp; Priority Queues</a:t>
            </a:r>
          </a:p>
        </p:txBody>
      </p:sp>
      <p:sp>
        <p:nvSpPr>
          <p:cNvPr id="9" name="TextBox 8"/>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13 / 15</a:t>
            </a:r>
          </a:p>
        </p:txBody>
      </p:sp>
      <p:sp>
        <p:nvSpPr>
          <p:cNvPr id="10" name="TextBox 9"/>
          <p:cNvSpPr txBox="1"/>
          <p:nvPr/>
        </p:nvSpPr>
        <p:spPr>
          <a:xfrm>
            <a:off x="548640" y="1417320"/>
            <a:ext cx="11247120" cy="347472"/>
          </a:xfrm>
          <a:prstGeom prst="rect">
            <a:avLst/>
          </a:prstGeom>
          <a:noFill/>
        </p:spPr>
        <p:txBody>
          <a:bodyPr wrap="square" lIns="45720" rIns="45720" tIns="18288" bIns="18288" anchor="t">
            <a:spAutoFit/>
          </a:bodyPr>
          <a:lstStyle/>
          <a:p>
            <a:pPr algn="l"/>
            <a:r>
              <a:rPr sz="1600" b="0" i="0">
                <a:solidFill>
                  <a:srgbClr val="333D4A"/>
                </a:solidFill>
                <a:latin typeface="Calibri"/>
              </a:rPr>
              <a:t>There are two approaches to building a heap from an unsorted array of N elements:</a:t>
            </a:r>
          </a:p>
        </p:txBody>
      </p:sp>
      <p:sp>
        <p:nvSpPr>
          <p:cNvPr id="11" name="Rectangle 10"/>
          <p:cNvSpPr/>
          <p:nvPr/>
        </p:nvSpPr>
        <p:spPr>
          <a:xfrm>
            <a:off x="548640" y="1874519"/>
            <a:ext cx="5349240" cy="2606040"/>
          </a:xfrm>
          <a:prstGeom prst="rect">
            <a:avLst/>
          </a:prstGeom>
          <a:solidFill>
            <a:srgbClr val="FFFFFF"/>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74519"/>
            <a:ext cx="5349240"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874519"/>
            <a:ext cx="5349240" cy="502920"/>
          </a:xfrm>
          <a:prstGeom prst="rect">
            <a:avLst/>
          </a:prstGeom>
          <a:noFill/>
        </p:spPr>
        <p:txBody>
          <a:bodyPr wrap="square" lIns="45720" rIns="45720" tIns="18288" bIns="18288" anchor="ctr">
            <a:spAutoFit/>
          </a:bodyPr>
          <a:lstStyle/>
          <a:p>
            <a:pPr algn="ctr"/>
            <a:r>
              <a:rPr sz="1700" b="1" i="0">
                <a:solidFill>
                  <a:srgbClr val="FFFFFF"/>
                </a:solidFill>
                <a:latin typeface="Calibri"/>
              </a:rPr>
              <a:t>Approach 1  —  Insert One by One</a:t>
            </a:r>
          </a:p>
        </p:txBody>
      </p:sp>
      <p:sp>
        <p:nvSpPr>
          <p:cNvPr id="14" name="TextBox 13"/>
          <p:cNvSpPr txBox="1"/>
          <p:nvPr/>
        </p:nvSpPr>
        <p:spPr>
          <a:xfrm>
            <a:off x="685800" y="2468880"/>
            <a:ext cx="5074920" cy="1463040"/>
          </a:xfrm>
          <a:prstGeom prst="rect">
            <a:avLst/>
          </a:prstGeom>
          <a:noFill/>
        </p:spPr>
        <p:txBody>
          <a:bodyPr wrap="square" lIns="45720" rIns="45720" tIns="18288" bIns="18288" anchor="t">
            <a:spAutoFit/>
          </a:bodyPr>
          <a:lstStyle/>
          <a:p>
            <a:pPr algn="l"/>
            <a:r>
              <a:rPr sz="1500" b="0" i="0">
                <a:solidFill>
                  <a:srgbClr val="333D4A"/>
                </a:solidFill>
                <a:latin typeface="Calibri"/>
              </a:rPr>
              <a:t>Call push() (Sift-Up) N times, once per element.
Each insertion costs O(log N).
Total cost for N elements:  O(N log N)
This is the straightforward but slower approach.</a:t>
            </a:r>
          </a:p>
        </p:txBody>
      </p:sp>
      <p:sp>
        <p:nvSpPr>
          <p:cNvPr id="15" name="Rectangle 14"/>
          <p:cNvSpPr/>
          <p:nvPr/>
        </p:nvSpPr>
        <p:spPr>
          <a:xfrm>
            <a:off x="6400800" y="1874519"/>
            <a:ext cx="5349240" cy="2606040"/>
          </a:xfrm>
          <a:prstGeom prst="rect">
            <a:avLst/>
          </a:prstGeom>
          <a:solidFill>
            <a:srgbClr val="FFFFFF"/>
          </a:solidFill>
          <a:ln w="25400">
            <a:solidFill>
              <a:srgbClr val="277B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0" y="1874519"/>
            <a:ext cx="5349240" cy="502920"/>
          </a:xfrm>
          <a:prstGeom prst="rect">
            <a:avLst/>
          </a:prstGeom>
          <a:solidFill>
            <a:srgbClr val="277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874519"/>
            <a:ext cx="5349240" cy="502920"/>
          </a:xfrm>
          <a:prstGeom prst="rect">
            <a:avLst/>
          </a:prstGeom>
          <a:noFill/>
        </p:spPr>
        <p:txBody>
          <a:bodyPr wrap="square" lIns="45720" rIns="45720" tIns="18288" bIns="18288" anchor="ctr">
            <a:spAutoFit/>
          </a:bodyPr>
          <a:lstStyle/>
          <a:p>
            <a:pPr algn="ctr"/>
            <a:r>
              <a:rPr sz="1700" b="1" i="0">
                <a:solidFill>
                  <a:srgbClr val="FFFFFF"/>
                </a:solidFill>
                <a:latin typeface="Calibri"/>
              </a:rPr>
              <a:t>Approach 2  —  Floyd's Bottom-Up Method</a:t>
            </a:r>
          </a:p>
        </p:txBody>
      </p:sp>
      <p:sp>
        <p:nvSpPr>
          <p:cNvPr id="18" name="TextBox 17"/>
          <p:cNvSpPr txBox="1"/>
          <p:nvPr/>
        </p:nvSpPr>
        <p:spPr>
          <a:xfrm>
            <a:off x="6537960" y="2468880"/>
            <a:ext cx="5074920" cy="731520"/>
          </a:xfrm>
          <a:prstGeom prst="rect">
            <a:avLst/>
          </a:prstGeom>
          <a:noFill/>
        </p:spPr>
        <p:txBody>
          <a:bodyPr wrap="square" lIns="45720" rIns="45720" tIns="18288" bIns="18288" anchor="t">
            <a:spAutoFit/>
          </a:bodyPr>
          <a:lstStyle/>
          <a:p>
            <a:pPr algn="l"/>
            <a:r>
              <a:rPr sz="1500" b="0" i="0">
                <a:solidFill>
                  <a:srgbClr val="333D4A"/>
                </a:solidFill>
                <a:latin typeface="Calibri"/>
              </a:rPr>
              <a:t>Start from the last non-leaf node at index (N // 2) − 1 and call Sift-Down on every node, moving up toward the root.</a:t>
            </a:r>
          </a:p>
        </p:txBody>
      </p:sp>
      <p:sp>
        <p:nvSpPr>
          <p:cNvPr id="19" name="Rectangle 18"/>
          <p:cNvSpPr/>
          <p:nvPr/>
        </p:nvSpPr>
        <p:spPr>
          <a:xfrm>
            <a:off x="6537960" y="3291840"/>
            <a:ext cx="5074920" cy="100584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37960" y="3291840"/>
            <a:ext cx="64008" cy="100584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3383280"/>
            <a:ext cx="4846320" cy="822960"/>
          </a:xfrm>
          <a:prstGeom prst="rect">
            <a:avLst/>
          </a:prstGeom>
          <a:noFill/>
        </p:spPr>
        <p:txBody>
          <a:bodyPr wrap="none">
            <a:spAutoFit/>
          </a:bodyPr>
          <a:lstStyle/>
          <a:p>
            <a:pPr algn="l">
              <a:lnSpc>
                <a:spcPct val="115000"/>
              </a:lnSpc>
            </a:pPr>
            <a:r>
              <a:rPr sz="1300">
                <a:solidFill>
                  <a:srgbClr val="E6E6E6"/>
                </a:solidFill>
                <a:latin typeface="Consolas"/>
              </a:rPr>
              <a:t>n = len(arr)</a:t>
            </a:r>
          </a:p>
          <a:p>
            <a:pPr algn="l">
              <a:lnSpc>
                <a:spcPct val="115000"/>
              </a:lnSpc>
            </a:pPr>
            <a:r>
              <a:rPr sz="1300">
                <a:solidFill>
                  <a:srgbClr val="E6E6E6"/>
                </a:solidFill>
                <a:latin typeface="Consolas"/>
              </a:rPr>
              <a:t># From last non-leaf to root:</a:t>
            </a:r>
          </a:p>
          <a:p>
            <a:pPr algn="l">
              <a:lnSpc>
                <a:spcPct val="115000"/>
              </a:lnSpc>
            </a:pPr>
            <a:r>
              <a:rPr sz="1300">
                <a:solidFill>
                  <a:srgbClr val="E6E6E6"/>
                </a:solidFill>
                <a:latin typeface="Consolas"/>
              </a:rPr>
              <a:t>for i in range(n // 2 - 1, -1, -1):</a:t>
            </a:r>
          </a:p>
          <a:p>
            <a:pPr algn="l">
              <a:lnSpc>
                <a:spcPct val="115000"/>
              </a:lnSpc>
            </a:pPr>
            <a:r>
              <a:rPr sz="1300">
                <a:solidFill>
                  <a:srgbClr val="E6E6E6"/>
                </a:solidFill>
                <a:latin typeface="Consolas"/>
              </a:rPr>
              <a:t>    sift_down(arr, i, n)</a:t>
            </a:r>
          </a:p>
        </p:txBody>
      </p:sp>
      <p:sp>
        <p:nvSpPr>
          <p:cNvPr id="22" name="TextBox 21"/>
          <p:cNvSpPr txBox="1"/>
          <p:nvPr/>
        </p:nvSpPr>
        <p:spPr>
          <a:xfrm>
            <a:off x="6537960" y="4370832"/>
            <a:ext cx="5074920" cy="347472"/>
          </a:xfrm>
          <a:prstGeom prst="rect">
            <a:avLst/>
          </a:prstGeom>
          <a:noFill/>
        </p:spPr>
        <p:txBody>
          <a:bodyPr wrap="square" lIns="45720" rIns="45720" tIns="18288" bIns="18288" anchor="t">
            <a:spAutoFit/>
          </a:bodyPr>
          <a:lstStyle/>
          <a:p>
            <a:pPr algn="l"/>
            <a:r>
              <a:rPr sz="1400" b="1" i="0">
                <a:solidFill>
                  <a:srgbClr val="277B3E"/>
                </a:solidFill>
                <a:latin typeface="Calibri"/>
              </a:rPr>
              <a:t>Total cost:  O(N)  — Python's heapq.heapify() uses this method.</a:t>
            </a:r>
          </a:p>
        </p:txBody>
      </p:sp>
      <p:sp>
        <p:nvSpPr>
          <p:cNvPr id="23" name="Rectangle 22"/>
          <p:cNvSpPr/>
          <p:nvPr/>
        </p:nvSpPr>
        <p:spPr>
          <a:xfrm>
            <a:off x="548640" y="4617720"/>
            <a:ext cx="11247120" cy="1097280"/>
          </a:xfrm>
          <a:prstGeom prst="rect">
            <a:avLst/>
          </a:prstGeom>
          <a:solidFill>
            <a:srgbClr val="E8F8F1"/>
          </a:solidFill>
          <a:ln w="19050">
            <a:solidFill>
              <a:srgbClr val="277B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617720"/>
            <a:ext cx="1188720" cy="1097280"/>
          </a:xfrm>
          <a:prstGeom prst="rect">
            <a:avLst/>
          </a:prstGeom>
          <a:noFill/>
        </p:spPr>
        <p:txBody>
          <a:bodyPr wrap="square" lIns="45720" rIns="45720" tIns="18288" bIns="18288" anchor="ctr">
            <a:spAutoFit/>
          </a:bodyPr>
          <a:lstStyle/>
          <a:p>
            <a:pPr algn="ctr"/>
            <a:r>
              <a:rPr sz="1500" b="1" i="0">
                <a:solidFill>
                  <a:srgbClr val="277B3E"/>
                </a:solidFill>
                <a:latin typeface="Calibri"/>
              </a:rPr>
              <a:t>Why O(N)?</a:t>
            </a:r>
          </a:p>
        </p:txBody>
      </p:sp>
      <p:sp>
        <p:nvSpPr>
          <p:cNvPr id="25" name="Rectangle 24"/>
          <p:cNvSpPr/>
          <p:nvPr/>
        </p:nvSpPr>
        <p:spPr>
          <a:xfrm>
            <a:off x="1737360" y="4709160"/>
            <a:ext cx="36576" cy="914400"/>
          </a:xfrm>
          <a:prstGeom prst="rect">
            <a:avLst/>
          </a:prstGeom>
          <a:solidFill>
            <a:srgbClr val="277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74519" y="4663440"/>
            <a:ext cx="9784080" cy="1005840"/>
          </a:xfrm>
          <a:prstGeom prst="rect">
            <a:avLst/>
          </a:prstGeom>
          <a:noFill/>
        </p:spPr>
        <p:txBody>
          <a:bodyPr wrap="square" lIns="45720" rIns="45720" tIns="18288" bIns="18288" anchor="t">
            <a:spAutoFit/>
          </a:bodyPr>
          <a:lstStyle/>
          <a:p>
            <a:pPr algn="l"/>
            <a:r>
              <a:rPr sz="1400" b="0" i="0">
                <a:solidFill>
                  <a:srgbClr val="333D4A"/>
                </a:solidFill>
                <a:latin typeface="Calibri"/>
              </a:rPr>
              <a:t>Approximately half of all nodes in a complete binary tree are leaf nodes that require no sifting at all. Only a small number of nodes exist near the root where the most work is performed. When the total work across all levels is summed, it converges to O(N) — proven rigorously using geometric series analysis.</a:t>
            </a:r>
          </a:p>
        </p:txBody>
      </p:sp>
      <p:sp>
        <p:nvSpPr>
          <p:cNvPr id="27" name="Rectangle 26"/>
          <p:cNvSpPr/>
          <p:nvPr/>
        </p:nvSpPr>
        <p:spPr>
          <a:xfrm>
            <a:off x="548640" y="5852160"/>
            <a:ext cx="11247120" cy="5029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852160"/>
            <a:ext cx="3749039" cy="493776"/>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897880"/>
            <a:ext cx="3566160" cy="402336"/>
          </a:xfrm>
          <a:prstGeom prst="rect">
            <a:avLst/>
          </a:prstGeom>
          <a:noFill/>
        </p:spPr>
        <p:txBody>
          <a:bodyPr wrap="square" lIns="45720" rIns="45720" tIns="18288" bIns="18288" anchor="ctr">
            <a:spAutoFit/>
          </a:bodyPr>
          <a:lstStyle/>
          <a:p>
            <a:pPr algn="l"/>
            <a:r>
              <a:rPr sz="1400" b="1" i="0">
                <a:solidFill>
                  <a:srgbClr val="FFFFFF"/>
                </a:solidFill>
                <a:latin typeface="Calibri"/>
              </a:rPr>
              <a:t>Approach</a:t>
            </a:r>
          </a:p>
        </p:txBody>
      </p:sp>
      <p:sp>
        <p:nvSpPr>
          <p:cNvPr id="30" name="Rectangle 29"/>
          <p:cNvSpPr/>
          <p:nvPr/>
        </p:nvSpPr>
        <p:spPr>
          <a:xfrm>
            <a:off x="4297679" y="5852160"/>
            <a:ext cx="3749039" cy="493776"/>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19" y="5897880"/>
            <a:ext cx="3566160" cy="402336"/>
          </a:xfrm>
          <a:prstGeom prst="rect">
            <a:avLst/>
          </a:prstGeom>
          <a:noFill/>
        </p:spPr>
        <p:txBody>
          <a:bodyPr wrap="square" lIns="45720" rIns="45720" tIns="18288" bIns="18288" anchor="ctr">
            <a:spAutoFit/>
          </a:bodyPr>
          <a:lstStyle/>
          <a:p>
            <a:pPr algn="l"/>
            <a:r>
              <a:rPr sz="1400" b="1" i="0">
                <a:solidFill>
                  <a:srgbClr val="FFFFFF"/>
                </a:solidFill>
                <a:latin typeface="Calibri"/>
              </a:rPr>
              <a:t>Build Time</a:t>
            </a:r>
          </a:p>
        </p:txBody>
      </p:sp>
      <p:sp>
        <p:nvSpPr>
          <p:cNvPr id="32" name="Rectangle 31"/>
          <p:cNvSpPr/>
          <p:nvPr/>
        </p:nvSpPr>
        <p:spPr>
          <a:xfrm>
            <a:off x="8046718" y="5852160"/>
            <a:ext cx="3749039" cy="493776"/>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58" y="5897880"/>
            <a:ext cx="3566160" cy="402336"/>
          </a:xfrm>
          <a:prstGeom prst="rect">
            <a:avLst/>
          </a:prstGeom>
          <a:noFill/>
        </p:spPr>
        <p:txBody>
          <a:bodyPr wrap="square" lIns="45720" rIns="45720" tIns="18288" bIns="18288" anchor="ctr">
            <a:spAutoFit/>
          </a:bodyPr>
          <a:lstStyle/>
          <a:p>
            <a:pPr algn="l"/>
            <a:r>
              <a:rPr sz="1400" b="1" i="0">
                <a:solidFill>
                  <a:srgbClr val="FFFFFF"/>
                </a:solidFill>
                <a:latin typeface="Calibri"/>
              </a:rPr>
              <a:t>Extra Space</a:t>
            </a:r>
          </a:p>
        </p:txBody>
      </p:sp>
      <p:sp>
        <p:nvSpPr>
          <p:cNvPr id="34" name="Rectangle 33"/>
          <p:cNvSpPr/>
          <p:nvPr/>
        </p:nvSpPr>
        <p:spPr>
          <a:xfrm>
            <a:off x="548640" y="6345936"/>
            <a:ext cx="3749039" cy="493776"/>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6391656"/>
            <a:ext cx="3566160" cy="402336"/>
          </a:xfrm>
          <a:prstGeom prst="rect">
            <a:avLst/>
          </a:prstGeom>
          <a:noFill/>
        </p:spPr>
        <p:txBody>
          <a:bodyPr wrap="square" lIns="45720" rIns="45720" tIns="18288" bIns="18288" anchor="ctr">
            <a:spAutoFit/>
          </a:bodyPr>
          <a:lstStyle/>
          <a:p>
            <a:pPr algn="l"/>
            <a:r>
              <a:rPr sz="1400" b="0" i="0">
                <a:solidFill>
                  <a:srgbClr val="333D4A"/>
                </a:solidFill>
                <a:latin typeface="Calibri"/>
              </a:rPr>
              <a:t>Insert one by one</a:t>
            </a:r>
          </a:p>
        </p:txBody>
      </p:sp>
      <p:sp>
        <p:nvSpPr>
          <p:cNvPr id="36" name="Rectangle 35"/>
          <p:cNvSpPr/>
          <p:nvPr/>
        </p:nvSpPr>
        <p:spPr>
          <a:xfrm>
            <a:off x="4297679" y="6345936"/>
            <a:ext cx="3749039" cy="493776"/>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19" y="6391656"/>
            <a:ext cx="3566160" cy="402336"/>
          </a:xfrm>
          <a:prstGeom prst="rect">
            <a:avLst/>
          </a:prstGeom>
          <a:noFill/>
        </p:spPr>
        <p:txBody>
          <a:bodyPr wrap="square" lIns="45720" rIns="45720" tIns="18288" bIns="18288" anchor="ctr">
            <a:spAutoFit/>
          </a:bodyPr>
          <a:lstStyle/>
          <a:p>
            <a:pPr algn="l"/>
            <a:r>
              <a:rPr sz="1400" b="0" i="0">
                <a:solidFill>
                  <a:srgbClr val="333D4A"/>
                </a:solidFill>
                <a:latin typeface="Calibri"/>
              </a:rPr>
              <a:t>O(N log N)</a:t>
            </a:r>
          </a:p>
        </p:txBody>
      </p:sp>
      <p:sp>
        <p:nvSpPr>
          <p:cNvPr id="38" name="Rectangle 37"/>
          <p:cNvSpPr/>
          <p:nvPr/>
        </p:nvSpPr>
        <p:spPr>
          <a:xfrm>
            <a:off x="8046718" y="6345936"/>
            <a:ext cx="3749039" cy="493776"/>
          </a:xfrm>
          <a:prstGeom prst="rect">
            <a:avLst/>
          </a:prstGeom>
          <a:solidFill>
            <a:srgbClr val="F2F4F7"/>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38158" y="6391656"/>
            <a:ext cx="3566160" cy="402336"/>
          </a:xfrm>
          <a:prstGeom prst="rect">
            <a:avLst/>
          </a:prstGeom>
          <a:noFill/>
        </p:spPr>
        <p:txBody>
          <a:bodyPr wrap="square" lIns="45720" rIns="45720" tIns="18288" bIns="18288" anchor="ctr">
            <a:spAutoFit/>
          </a:bodyPr>
          <a:lstStyle/>
          <a:p>
            <a:pPr algn="l"/>
            <a:r>
              <a:rPr sz="1400" b="0" i="0">
                <a:solidFill>
                  <a:srgbClr val="333D4A"/>
                </a:solidFill>
                <a:latin typeface="Calibri"/>
              </a:rPr>
              <a:t>O(1)</a:t>
            </a:r>
          </a:p>
        </p:txBody>
      </p:sp>
      <p:sp>
        <p:nvSpPr>
          <p:cNvPr id="40" name="Rectangle 39"/>
          <p:cNvSpPr/>
          <p:nvPr/>
        </p:nvSpPr>
        <p:spPr>
          <a:xfrm>
            <a:off x="548640" y="6839712"/>
            <a:ext cx="3749039" cy="493776"/>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6885432"/>
            <a:ext cx="3566160" cy="402336"/>
          </a:xfrm>
          <a:prstGeom prst="rect">
            <a:avLst/>
          </a:prstGeom>
          <a:noFill/>
        </p:spPr>
        <p:txBody>
          <a:bodyPr wrap="square" lIns="45720" rIns="45720" tIns="18288" bIns="18288" anchor="ctr">
            <a:spAutoFit/>
          </a:bodyPr>
          <a:lstStyle/>
          <a:p>
            <a:pPr algn="l"/>
            <a:r>
              <a:rPr sz="1400" b="0" i="0">
                <a:solidFill>
                  <a:srgbClr val="333D4A"/>
                </a:solidFill>
                <a:latin typeface="Calibri"/>
              </a:rPr>
              <a:t>Floyd's bottom-up</a:t>
            </a:r>
          </a:p>
        </p:txBody>
      </p:sp>
      <p:sp>
        <p:nvSpPr>
          <p:cNvPr id="42" name="Rectangle 41"/>
          <p:cNvSpPr/>
          <p:nvPr/>
        </p:nvSpPr>
        <p:spPr>
          <a:xfrm>
            <a:off x="4297679" y="6839712"/>
            <a:ext cx="3749039" cy="493776"/>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89119" y="6885432"/>
            <a:ext cx="3566160" cy="402336"/>
          </a:xfrm>
          <a:prstGeom prst="rect">
            <a:avLst/>
          </a:prstGeom>
          <a:noFill/>
        </p:spPr>
        <p:txBody>
          <a:bodyPr wrap="square" lIns="45720" rIns="45720" tIns="18288" bIns="18288" anchor="ctr">
            <a:spAutoFit/>
          </a:bodyPr>
          <a:lstStyle/>
          <a:p>
            <a:pPr algn="l"/>
            <a:r>
              <a:rPr sz="1400" b="0" i="0">
                <a:solidFill>
                  <a:srgbClr val="333D4A"/>
                </a:solidFill>
                <a:latin typeface="Calibri"/>
              </a:rPr>
              <a:t>O(N)</a:t>
            </a:r>
          </a:p>
        </p:txBody>
      </p:sp>
      <p:sp>
        <p:nvSpPr>
          <p:cNvPr id="44" name="Rectangle 43"/>
          <p:cNvSpPr/>
          <p:nvPr/>
        </p:nvSpPr>
        <p:spPr>
          <a:xfrm>
            <a:off x="8046718" y="6839712"/>
            <a:ext cx="3749039" cy="493776"/>
          </a:xfrm>
          <a:prstGeom prst="rect">
            <a:avLst/>
          </a:prstGeom>
          <a:solidFill>
            <a:srgbClr val="FFFFFF"/>
          </a:solidFill>
          <a:ln w="635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38158" y="6885432"/>
            <a:ext cx="3566160" cy="402336"/>
          </a:xfrm>
          <a:prstGeom prst="rect">
            <a:avLst/>
          </a:prstGeom>
          <a:noFill/>
        </p:spPr>
        <p:txBody>
          <a:bodyPr wrap="square" lIns="45720" rIns="45720" tIns="18288" bIns="18288" anchor="ctr">
            <a:spAutoFit/>
          </a:bodyPr>
          <a:lstStyle/>
          <a:p>
            <a:pPr algn="l"/>
            <a:r>
              <a:rPr sz="1400" b="0" i="0">
                <a:solidFill>
                  <a:srgbClr val="333D4A"/>
                </a:solidFill>
                <a:latin typeface="Calibri"/>
              </a:rPr>
              <a:t>O(1)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66560"/>
            <a:ext cx="12191695" cy="9144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10515600" cy="594360"/>
          </a:xfrm>
          <a:prstGeom prst="rect">
            <a:avLst/>
          </a:prstGeom>
          <a:noFill/>
        </p:spPr>
        <p:txBody>
          <a:bodyPr wrap="square" lIns="45720" rIns="45720" tIns="18288" bIns="18288" anchor="t">
            <a:spAutoFit/>
          </a:bodyPr>
          <a:lstStyle/>
          <a:p>
            <a:pPr algn="l"/>
            <a:r>
              <a:rPr sz="3600" b="1" i="0">
                <a:solidFill>
                  <a:srgbClr val="FFFFFF"/>
                </a:solidFill>
                <a:latin typeface="Calibri"/>
              </a:rPr>
              <a:t>Week 07 Summary</a:t>
            </a:r>
          </a:p>
        </p:txBody>
      </p:sp>
      <p:sp>
        <p:nvSpPr>
          <p:cNvPr id="6" name="Rectangle 5"/>
          <p:cNvSpPr/>
          <p:nvPr/>
        </p:nvSpPr>
        <p:spPr>
          <a:xfrm>
            <a:off x="731520" y="1143000"/>
            <a:ext cx="3657600" cy="54864"/>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25880"/>
            <a:ext cx="10972800" cy="5120640"/>
          </a:xfrm>
          <a:prstGeom prst="rect">
            <a:avLst/>
          </a:prstGeom>
          <a:noFill/>
        </p:spPr>
        <p:txBody>
          <a:bodyPr wrap="square">
            <a:spAutoFit/>
          </a:bodyPr>
          <a:lstStyle/>
          <a:p>
            <a:pPr>
              <a:lnSpc>
                <a:spcPct val="130000"/>
              </a:lnSpc>
              <a:spcAft>
                <a:spcPts val="500"/>
              </a:spcAft>
            </a:pPr>
            <a:r>
              <a:rPr sz="1600" b="1">
                <a:solidFill>
                  <a:srgbClr val="E0A81F"/>
                </a:solidFill>
                <a:latin typeface="Calibri"/>
              </a:rPr>
              <a:t>▸  </a:t>
            </a:r>
            <a:r>
              <a:rPr sz="1600" b="1">
                <a:solidFill>
                  <a:srgbClr val="E0A81F"/>
                </a:solidFill>
                <a:latin typeface="Calibri"/>
              </a:rPr>
              <a:t>Binary Heap:  </a:t>
            </a:r>
            <a:r>
              <a:rPr sz="1600">
                <a:solidFill>
                  <a:srgbClr val="F2F4F7"/>
                </a:solidFill>
                <a:latin typeface="Calibri"/>
              </a:rPr>
              <a:t>A complete binary tree specialised for fast retrieval of the minimum or maximum.</a:t>
            </a:r>
          </a:p>
          <a:p>
            <a:pPr>
              <a:lnSpc>
                <a:spcPct val="130000"/>
              </a:lnSpc>
              <a:spcAft>
                <a:spcPts val="500"/>
              </a:spcAft>
            </a:pPr>
            <a:r>
              <a:rPr sz="1600" b="1">
                <a:solidFill>
                  <a:srgbClr val="E0A81F"/>
                </a:solidFill>
                <a:latin typeface="Calibri"/>
              </a:rPr>
              <a:t>▸  </a:t>
            </a:r>
            <a:r>
              <a:rPr sz="1600" b="1">
                <a:solidFill>
                  <a:srgbClr val="E0A81F"/>
                </a:solidFill>
                <a:latin typeface="Calibri"/>
              </a:rPr>
              <a:t>Heap Property:  </a:t>
            </a:r>
            <a:r>
              <a:rPr sz="1600">
                <a:solidFill>
                  <a:srgbClr val="F2F4F7"/>
                </a:solidFill>
                <a:latin typeface="Calibri"/>
              </a:rPr>
              <a:t>Every parent is ≤ both children (Min-Heap) or ≥ both children (Max-Heap).</a:t>
            </a:r>
          </a:p>
          <a:p>
            <a:pPr>
              <a:lnSpc>
                <a:spcPct val="130000"/>
              </a:lnSpc>
              <a:spcAft>
                <a:spcPts val="500"/>
              </a:spcAft>
            </a:pPr>
            <a:r>
              <a:rPr sz="1600" b="1">
                <a:solidFill>
                  <a:srgbClr val="E0A81F"/>
                </a:solidFill>
                <a:latin typeface="Calibri"/>
              </a:rPr>
              <a:t>▸  </a:t>
            </a:r>
            <a:r>
              <a:rPr sz="1600" b="1">
                <a:solidFill>
                  <a:srgbClr val="E0A81F"/>
                </a:solidFill>
                <a:latin typeface="Calibri"/>
              </a:rPr>
              <a:t>Array Storage:  </a:t>
            </a:r>
            <a:r>
              <a:rPr sz="1600">
                <a:solidFill>
                  <a:srgbClr val="F2F4F7"/>
                </a:solidFill>
                <a:latin typeface="Calibri"/>
              </a:rPr>
              <a:t>Because the tree is complete, it maps directly to a 1-D array — no pointers needed.</a:t>
            </a:r>
          </a:p>
          <a:p>
            <a:pPr>
              <a:lnSpc>
                <a:spcPct val="130000"/>
              </a:lnSpc>
              <a:spcAft>
                <a:spcPts val="500"/>
              </a:spcAft>
            </a:pPr>
            <a:r>
              <a:rPr sz="1600" b="1">
                <a:solidFill>
                  <a:srgbClr val="E0A81F"/>
                </a:solidFill>
                <a:latin typeface="Calibri"/>
              </a:rPr>
              <a:t>▸  </a:t>
            </a:r>
            <a:r>
              <a:rPr sz="1600" b="1">
                <a:solidFill>
                  <a:srgbClr val="E0A81F"/>
                </a:solidFill>
                <a:latin typeface="Calibri"/>
              </a:rPr>
              <a:t>Sift-Up:  </a:t>
            </a:r>
            <a:r>
              <a:rPr sz="1600">
                <a:solidFill>
                  <a:srgbClr val="F2F4F7"/>
                </a:solidFill>
                <a:latin typeface="Calibri"/>
              </a:rPr>
              <a:t>Called after insertion. Moves the new element upward until the property is restored.  O(log N)</a:t>
            </a:r>
          </a:p>
          <a:p>
            <a:pPr>
              <a:lnSpc>
                <a:spcPct val="130000"/>
              </a:lnSpc>
              <a:spcAft>
                <a:spcPts val="500"/>
              </a:spcAft>
            </a:pPr>
            <a:r>
              <a:rPr sz="1600" b="1">
                <a:solidFill>
                  <a:srgbClr val="E0A81F"/>
                </a:solidFill>
                <a:latin typeface="Calibri"/>
              </a:rPr>
              <a:t>▸  </a:t>
            </a:r>
            <a:r>
              <a:rPr sz="1600" b="1">
                <a:solidFill>
                  <a:srgbClr val="E0A81F"/>
                </a:solidFill>
                <a:latin typeface="Calibri"/>
              </a:rPr>
              <a:t>Sift-Down:  </a:t>
            </a:r>
            <a:r>
              <a:rPr sz="1600">
                <a:solidFill>
                  <a:srgbClr val="F2F4F7"/>
                </a:solidFill>
                <a:latin typeface="Calibri"/>
              </a:rPr>
              <a:t>Called after extraction. Moves the displaced element downward until the property is restored.  O(log N)</a:t>
            </a:r>
          </a:p>
          <a:p>
            <a:pPr>
              <a:lnSpc>
                <a:spcPct val="130000"/>
              </a:lnSpc>
              <a:spcAft>
                <a:spcPts val="500"/>
              </a:spcAft>
            </a:pPr>
            <a:r>
              <a:rPr sz="1600" b="1">
                <a:solidFill>
                  <a:srgbClr val="E0A81F"/>
                </a:solidFill>
                <a:latin typeface="Calibri"/>
              </a:rPr>
              <a:t>▸  </a:t>
            </a:r>
            <a:r>
              <a:rPr sz="1600" b="1">
                <a:solidFill>
                  <a:srgbClr val="E0A81F"/>
                </a:solidFill>
                <a:latin typeface="Calibri"/>
              </a:rPr>
              <a:t>Priority Queue:  </a:t>
            </a:r>
            <a:r>
              <a:rPr sz="1600">
                <a:solidFill>
                  <a:srgbClr val="F2F4F7"/>
                </a:solidFill>
                <a:latin typeface="Calibri"/>
              </a:rPr>
              <a:t>Abstract structure using a heap — elements leave in priority order, not arrival order.</a:t>
            </a:r>
          </a:p>
          <a:p>
            <a:pPr>
              <a:lnSpc>
                <a:spcPct val="130000"/>
              </a:lnSpc>
              <a:spcAft>
                <a:spcPts val="500"/>
              </a:spcAft>
            </a:pPr>
            <a:r>
              <a:rPr sz="1600" b="1">
                <a:solidFill>
                  <a:srgbClr val="E0A81F"/>
                </a:solidFill>
                <a:latin typeface="Calibri"/>
              </a:rPr>
              <a:t>▸  </a:t>
            </a:r>
            <a:r>
              <a:rPr sz="1600" b="1">
                <a:solidFill>
                  <a:srgbClr val="E0A81F"/>
                </a:solidFill>
                <a:latin typeface="Calibri"/>
              </a:rPr>
              <a:t>heapq Module:  </a:t>
            </a:r>
            <a:r>
              <a:rPr sz="1600">
                <a:solidFill>
                  <a:srgbClr val="F2F4F7"/>
                </a:solidFill>
                <a:latin typeface="Calibri"/>
              </a:rPr>
              <a:t>Python's built-in Min-Heap on a list: heappush, heappop, heapify.</a:t>
            </a:r>
          </a:p>
          <a:p>
            <a:pPr>
              <a:lnSpc>
                <a:spcPct val="130000"/>
              </a:lnSpc>
              <a:spcAft>
                <a:spcPts val="500"/>
              </a:spcAft>
            </a:pPr>
            <a:r>
              <a:rPr sz="1600" b="1">
                <a:solidFill>
                  <a:srgbClr val="E0A81F"/>
                </a:solidFill>
                <a:latin typeface="Calibri"/>
              </a:rPr>
              <a:t>▸  </a:t>
            </a:r>
            <a:r>
              <a:rPr sz="1600" b="1">
                <a:solidFill>
                  <a:srgbClr val="E0A81F"/>
                </a:solidFill>
                <a:latin typeface="Calibri"/>
              </a:rPr>
              <a:t>K-th Largest:  </a:t>
            </a:r>
            <a:r>
              <a:rPr sz="1600">
                <a:solidFill>
                  <a:srgbClr val="F2F4F7"/>
                </a:solidFill>
                <a:latin typeface="Calibri"/>
              </a:rPr>
              <a:t>Maintain a Min-Heap of size K while scanning N elements.  Time: O(N log K),  Space: O(K)</a:t>
            </a:r>
          </a:p>
          <a:p>
            <a:pPr>
              <a:lnSpc>
                <a:spcPct val="130000"/>
              </a:lnSpc>
              <a:spcAft>
                <a:spcPts val="500"/>
              </a:spcAft>
            </a:pPr>
            <a:r>
              <a:rPr sz="1600" b="1">
                <a:solidFill>
                  <a:srgbClr val="E0A81F"/>
                </a:solidFill>
                <a:latin typeface="Calibri"/>
              </a:rPr>
              <a:t>▸  </a:t>
            </a:r>
            <a:r>
              <a:rPr sz="1600" b="1">
                <a:solidFill>
                  <a:srgbClr val="E0A81F"/>
                </a:solidFill>
                <a:latin typeface="Calibri"/>
              </a:rPr>
              <a:t>Floyd's Method:  </a:t>
            </a:r>
            <a:r>
              <a:rPr sz="1600">
                <a:solidFill>
                  <a:srgbClr val="F2F4F7"/>
                </a:solidFill>
                <a:latin typeface="Calibri"/>
              </a:rPr>
              <a:t>Build a heap bottom-up by calling Sift-Down from the last non-leaf to the root.  O(N)</a:t>
            </a:r>
          </a:p>
        </p:txBody>
      </p:sp>
      <p:sp>
        <p:nvSpPr>
          <p:cNvPr id="8" name="TextBox 7"/>
          <p:cNvSpPr txBox="1"/>
          <p:nvPr/>
        </p:nvSpPr>
        <p:spPr>
          <a:xfrm>
            <a:off x="731520" y="6263640"/>
            <a:ext cx="10515600" cy="347472"/>
          </a:xfrm>
          <a:prstGeom prst="rect">
            <a:avLst/>
          </a:prstGeom>
          <a:noFill/>
        </p:spPr>
        <p:txBody>
          <a:bodyPr wrap="square" lIns="45720" rIns="45720" tIns="18288" bIns="18288" anchor="t">
            <a:spAutoFit/>
          </a:bodyPr>
          <a:lstStyle/>
          <a:p>
            <a:pPr algn="l"/>
            <a:r>
              <a:rPr sz="1200" b="0" i="1">
                <a:solidFill>
                  <a:srgbClr val="A0B0C0"/>
                </a:solidFill>
                <a:latin typeface="Calibri"/>
              </a:rPr>
              <a:t>Data Structures &amp; Algorithms  ·  Week 07  ·  ATU Computer Science  ·  2024 – 2025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66560"/>
            <a:ext cx="12191695" cy="9144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377440"/>
            <a:ext cx="9144000" cy="1280160"/>
          </a:xfrm>
          <a:prstGeom prst="rect">
            <a:avLst/>
          </a:prstGeom>
          <a:noFill/>
        </p:spPr>
        <p:txBody>
          <a:bodyPr wrap="square" lIns="45720" rIns="45720" tIns="18288" bIns="18288" anchor="t">
            <a:spAutoFit/>
          </a:bodyPr>
          <a:lstStyle/>
          <a:p>
            <a:pPr algn="ctr"/>
            <a:r>
              <a:rPr sz="7200" b="1" i="0">
                <a:solidFill>
                  <a:srgbClr val="FFFFFF"/>
                </a:solidFill>
                <a:latin typeface="Calibri"/>
              </a:rPr>
              <a:t>Questions?</a:t>
            </a:r>
          </a:p>
        </p:txBody>
      </p:sp>
      <p:sp>
        <p:nvSpPr>
          <p:cNvPr id="6" name="TextBox 5"/>
          <p:cNvSpPr txBox="1"/>
          <p:nvPr/>
        </p:nvSpPr>
        <p:spPr>
          <a:xfrm>
            <a:off x="1371600" y="3931920"/>
            <a:ext cx="9144000" cy="548640"/>
          </a:xfrm>
          <a:prstGeom prst="rect">
            <a:avLst/>
          </a:prstGeom>
          <a:noFill/>
        </p:spPr>
        <p:txBody>
          <a:bodyPr wrap="square" lIns="45720" rIns="45720" tIns="18288" bIns="18288" anchor="t">
            <a:spAutoFit/>
          </a:bodyPr>
          <a:lstStyle/>
          <a:p>
            <a:pPr algn="ctr"/>
            <a:r>
              <a:rPr sz="1800" b="0" i="1">
                <a:solidFill>
                  <a:srgbClr val="F2F4F7"/>
                </a:solidFill>
                <a:latin typeface="Calibri"/>
              </a:rPr>
              <a:t>Data Structures &amp; Algorithms  ·  Week 07  ·  Heaps &amp; Priority Queues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