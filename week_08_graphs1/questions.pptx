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09728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91695" cy="36576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2560320" cy="502920"/>
          </a:xfrm>
          <a:prstGeom prst="round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WEEK 08 -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Graphs I: Practice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E0A81F"/>
                </a:solidFill>
                <a:latin typeface="Calibri"/>
              </a:rPr>
              <a:t>Self-Study Questions, Visual Exercises, and Modeling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2F4F7"/>
                </a:solidFill>
                <a:latin typeface="Calibri"/>
              </a:rPr>
              <a:t>A Supplementary Workbook for Data Structures &amp; Algorithms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Topic    ·   Graph Fundamentals &amp; Traversals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1: Conceptual Questions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Space complexity trade-offs in representations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Scenario: A social network has 10 million users (V = 10 million). On average, each user has 150 friends (E = 1.5 billion edges total).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105156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1. Adjacency Matrix Space: </a:t>
            </a:r>
            <a:r>
              <a:rPr sz="1500">
                <a:solidFill>
                  <a:srgbClr val="333D4A"/>
                </a:solidFill>
                <a:latin typeface="Calibri"/>
              </a:rPr>
              <a:t>If you use a V x V boolean grid (using 1 byte per cell), how much RAM is required? (Hint: V x V bytes = 10^14 bytes). What is this in Terabytes?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2. Adjacency List Space: </a:t>
            </a:r>
            <a:r>
              <a:rPr sz="1500">
                <a:solidFill>
                  <a:srgbClr val="333D4A"/>
                </a:solidFill>
                <a:latin typeface="Calibri"/>
              </a:rPr>
              <a:t>If you store it as an Adjacency List (where each user ID and list reference node pointer takes 8 bytes), how much memory will it require? (Hint: Space complexity is O(V + E)).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3. Representation Choice: </a:t>
            </a:r>
            <a:r>
              <a:rPr sz="1500">
                <a:solidFill>
                  <a:srgbClr val="333D4A"/>
                </a:solidFill>
                <a:latin typeface="Calibri"/>
              </a:rPr>
              <a:t>Based on your calculations above, which data structure is appropriate for this real-world application? Explain the practical engineering implications.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1: Conceptual Questions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Understanding traversal algorithms &amp;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2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1. BFS vs DFS Shortest Path: </a:t>
            </a:r>
            <a:r>
              <a:rPr sz="1500">
                <a:solidFill>
                  <a:srgbClr val="333D4A"/>
                </a:solidFill>
                <a:latin typeface="Calibri"/>
              </a:rPr>
              <a:t>Explain why BFS is guaranteed to find the shortest path (minimum edge count) between two vertices in an unweighted graph, whereas DFS is not. Can you sketch a simple 4-node graph where DFS finds a sub-optimal path?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2. The Visited Set Failure: </a:t>
            </a:r>
            <a:r>
              <a:rPr sz="1500">
                <a:solidFill>
                  <a:srgbClr val="333D4A"/>
                </a:solidFill>
                <a:latin typeface="Calibri"/>
              </a:rPr>
              <a:t>Describe exactly what happens if you run a BFS or DFS on a cyclic graph but forget to track visited nodes. Which one will fail with a 'Stack Overflow' error first, and which one will consume all system memory?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3. Recursion vs Iteration: </a:t>
            </a:r>
            <a:r>
              <a:rPr sz="1500">
                <a:solidFill>
                  <a:srgbClr val="333D4A"/>
                </a:solidFill>
                <a:latin typeface="Calibri"/>
              </a:rPr>
              <a:t>Recursive DFS uses the Call Stack. If a graph is structured as a single long line of V vertices, what is the maximum recursion depth, and what problem does this present in languages like Python?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2: Tracing Breadth-First Search (BFS)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Hand-trace the queue execution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3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33D4A"/>
                </a:solidFill>
                <a:latin typeface="Calibri"/>
              </a:rPr>
              <a:t>Exercise: Trace BFS starting at node 'A'.
Assume neighbors are processed in alphabetical order.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03120"/>
            <a:ext cx="5486400" cy="4114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488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4884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Queue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Visited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5146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060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0 (Start)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6060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60604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['A']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0604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{'A'}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971800"/>
            <a:ext cx="548640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0632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4290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204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86200"/>
            <a:ext cx="548640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776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3434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348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800600"/>
            <a:ext cx="548640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2578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492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Target Graph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772400" y="2103120"/>
            <a:ext cx="1371600" cy="118872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2103120"/>
            <a:ext cx="1371600" cy="118872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72400" y="3291840"/>
            <a:ext cx="0" cy="13716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72400" y="3291840"/>
            <a:ext cx="2743200" cy="13716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9144000" y="3291840"/>
            <a:ext cx="1371600" cy="64008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9144000" y="3931920"/>
            <a:ext cx="1371600" cy="73152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0" y="3931920"/>
            <a:ext cx="0" cy="1371600"/>
          </a:xfrm>
          <a:prstGeom prst="line">
            <a:avLst/>
          </a:prstGeom>
          <a:ln w="25400">
            <a:solidFill>
              <a:srgbClr val="127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778240" y="173736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7373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43" name="Oval 42"/>
          <p:cNvSpPr/>
          <p:nvPr/>
        </p:nvSpPr>
        <p:spPr>
          <a:xfrm>
            <a:off x="7406640" y="292608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29260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45" name="Oval 44"/>
          <p:cNvSpPr/>
          <p:nvPr/>
        </p:nvSpPr>
        <p:spPr>
          <a:xfrm>
            <a:off x="10149840" y="292608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40" y="29260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47" name="Oval 46"/>
          <p:cNvSpPr/>
          <p:nvPr/>
        </p:nvSpPr>
        <p:spPr>
          <a:xfrm>
            <a:off x="7406640" y="429768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42976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D</a:t>
            </a:r>
          </a:p>
        </p:txBody>
      </p:sp>
      <p:sp>
        <p:nvSpPr>
          <p:cNvPr id="49" name="Oval 48"/>
          <p:cNvSpPr/>
          <p:nvPr/>
        </p:nvSpPr>
        <p:spPr>
          <a:xfrm>
            <a:off x="10149840" y="429768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49840" y="42976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E</a:t>
            </a:r>
          </a:p>
        </p:txBody>
      </p:sp>
      <p:sp>
        <p:nvSpPr>
          <p:cNvPr id="51" name="Oval 50"/>
          <p:cNvSpPr/>
          <p:nvPr/>
        </p:nvSpPr>
        <p:spPr>
          <a:xfrm>
            <a:off x="8778240" y="356616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35661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F</a:t>
            </a:r>
          </a:p>
        </p:txBody>
      </p:sp>
      <p:sp>
        <p:nvSpPr>
          <p:cNvPr id="53" name="Oval 52"/>
          <p:cNvSpPr/>
          <p:nvPr/>
        </p:nvSpPr>
        <p:spPr>
          <a:xfrm>
            <a:off x="8778240" y="493776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49377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2: Tracing Depth-First Search (DFS)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Hand-trace the recursion call stack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4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33D4A"/>
                </a:solidFill>
                <a:latin typeface="Calibri"/>
              </a:rPr>
              <a:t>Exercise: Trace DFS starting at node 'A'.
Assume neighbors are visited in alphabetical order.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03120"/>
            <a:ext cx="5486400" cy="4114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488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4884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Call Stack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Visited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5146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060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0 (Start)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6060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Call dfs(A)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60604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[dfs(A)]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0604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{'A'}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971800"/>
            <a:ext cx="548640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0632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4290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204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86200"/>
            <a:ext cx="548640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776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3434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348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800600"/>
            <a:ext cx="548640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2578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492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333D4A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Target Graph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772400" y="2103120"/>
            <a:ext cx="1371600" cy="118872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2103120"/>
            <a:ext cx="1371600" cy="118872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72400" y="3291840"/>
            <a:ext cx="0" cy="137160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72400" y="3291840"/>
            <a:ext cx="2743200" cy="137160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9144000" y="3291840"/>
            <a:ext cx="1371600" cy="64008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9144000" y="3931920"/>
            <a:ext cx="1371600" cy="73152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0" y="3931920"/>
            <a:ext cx="0" cy="1371600"/>
          </a:xfrm>
          <a:prstGeom prst="line">
            <a:avLst/>
          </a:prstGeom>
          <a:ln w="2540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778240" y="173736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7373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43" name="Oval 42"/>
          <p:cNvSpPr/>
          <p:nvPr/>
        </p:nvSpPr>
        <p:spPr>
          <a:xfrm>
            <a:off x="7406640" y="292608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29260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45" name="Oval 44"/>
          <p:cNvSpPr/>
          <p:nvPr/>
        </p:nvSpPr>
        <p:spPr>
          <a:xfrm>
            <a:off x="10149840" y="292608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40" y="29260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47" name="Oval 46"/>
          <p:cNvSpPr/>
          <p:nvPr/>
        </p:nvSpPr>
        <p:spPr>
          <a:xfrm>
            <a:off x="7406640" y="429768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42976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D</a:t>
            </a:r>
          </a:p>
        </p:txBody>
      </p:sp>
      <p:sp>
        <p:nvSpPr>
          <p:cNvPr id="49" name="Oval 48"/>
          <p:cNvSpPr/>
          <p:nvPr/>
        </p:nvSpPr>
        <p:spPr>
          <a:xfrm>
            <a:off x="10149840" y="429768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49840" y="42976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E</a:t>
            </a:r>
          </a:p>
        </p:txBody>
      </p:sp>
      <p:sp>
        <p:nvSpPr>
          <p:cNvPr id="51" name="Oval 50"/>
          <p:cNvSpPr/>
          <p:nvPr/>
        </p:nvSpPr>
        <p:spPr>
          <a:xfrm>
            <a:off x="8778240" y="356616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35661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F</a:t>
            </a:r>
          </a:p>
        </p:txBody>
      </p:sp>
      <p:sp>
        <p:nvSpPr>
          <p:cNvPr id="53" name="Oval 52"/>
          <p:cNvSpPr/>
          <p:nvPr/>
        </p:nvSpPr>
        <p:spPr>
          <a:xfrm>
            <a:off x="8778240" y="493776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49377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3: Real-World Modeling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How do we represent system logic as a graph schema?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5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333D4A"/>
                </a:solidFill>
                <a:latin typeface="Calibri"/>
              </a:rPr>
              <a:t>Exercise: For each scenario, specify: (a) Vertices, (b) Edges, (c) Directed/Undirected, (d) Weighted/Unweighted.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1. Google Maps Navigation: </a:t>
            </a:r>
            <a:r>
              <a:rPr sz="1400">
                <a:solidFill>
                  <a:srgbClr val="333D4A"/>
                </a:solidFill>
                <a:latin typeface="Calibri"/>
              </a:rPr>
              <a:t>Finding the fastest route between two cities.
(Vertices = Cities/Intersections, Edges = Highways/Roads, Directed, Weighted by travel time/distance)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2. LinkedIn Connections: </a:t>
            </a:r>
            <a:r>
              <a:rPr sz="1400">
                <a:solidFill>
                  <a:srgbClr val="333D4A"/>
                </a:solidFill>
                <a:latin typeface="Calibri"/>
              </a:rPr>
              <a:t>Finding mutual connections and suggesting new friends.
(Vertices = Users, Edges = Connections, Undirected, Unweighted)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3. Academic Prerequisites: </a:t>
            </a:r>
            <a:r>
              <a:rPr sz="1400">
                <a:solidFill>
                  <a:srgbClr val="333D4A"/>
                </a:solidFill>
                <a:latin typeface="Calibri"/>
              </a:rPr>
              <a:t>Determining which classes a student must take in order.
(Vertices = Courses, Edges = Prerequisites, Directed (one-way prerequisite), Unweighted)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4. Web Search Crawler: </a:t>
            </a:r>
            <a:r>
              <a:rPr sz="1400">
                <a:solidFill>
                  <a:srgbClr val="333D4A"/>
                </a:solidFill>
                <a:latin typeface="Calibri"/>
              </a:rPr>
              <a:t>Finding and index-ranking pages by traversing links.
(Vertices = Webpages, Edges = Hyperlinks on pages, Directed, Unweighted)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4: Coding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Extend the code in practice.py to master traversals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08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6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1. Full Path Reconstruction: </a:t>
            </a:r>
            <a:r>
              <a:rPr sz="1400">
                <a:solidFill>
                  <a:srgbClr val="333D4A"/>
                </a:solidFill>
                <a:latin typeface="Calibri"/>
              </a:rPr>
              <a:t>Modify shortest_path(graph, start, target) so that instead of just returning the distance integer, it returns the actual list of nodes visited along the optimal path (e.g., ['A', 'C', 'F', 'G']).
Hint: Maintain a parent dictionary {child: parent} during traversal.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2. Cycle Detection (DFS): </a:t>
            </a:r>
            <a:r>
              <a:rPr sz="1400">
                <a:solidFill>
                  <a:srgbClr val="333D4A"/>
                </a:solidFill>
                <a:latin typeface="Calibri"/>
              </a:rPr>
              <a:t>Write a function has_cycle(graph) that returns True if an undirected graph contains a loop, and False otherwise.
Hint: During DFS, if you visit a node that is already marked as visited and is not the immediate parent of the current node, you have found a cycle.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3. Connected Components Count: </a:t>
            </a:r>
            <a:r>
              <a:rPr sz="1400">
                <a:solidFill>
                  <a:srgbClr val="333D4A"/>
                </a:solidFill>
                <a:latin typeface="Calibri"/>
              </a:rPr>
              <a:t>Write a function count_components(graph) that returns the total count of isolated graph networks.
Hint: Loop through all vertices and trigger a DFS/BFS whenever you hit an unvisited node, incrementing the component count each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