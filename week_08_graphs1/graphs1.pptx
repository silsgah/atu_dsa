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09728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12080"/>
            <a:ext cx="12191695" cy="36576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2194560" cy="502920"/>
          </a:xfrm>
          <a:prstGeom prst="round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21945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WEEK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Graphs I: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E0A81F"/>
                </a:solidFill>
                <a:latin typeface="Calibri"/>
              </a:rPr>
              <a:t>Representation, Traversal, and Network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F2F4F7"/>
                </a:solidFill>
                <a:latin typeface="Calibri"/>
              </a:rPr>
              <a:t>A University-Grade Lecture in Data Structures &amp; Algorithms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8640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Course   ·   CSC: Data Structures &amp; Algorithms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Module   ·   Week 08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Lecture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foundation of modern networks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1. What is a Graph?  </a:t>
            </a:r>
            <a:r>
              <a:rPr sz="1800">
                <a:solidFill>
                  <a:srgbClr val="333D4A"/>
                </a:solidFill>
                <a:latin typeface="Calibri"/>
              </a:rPr>
              <a:t>From Trees to free-form networks.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2. Graph Terminology.  </a:t>
            </a:r>
            <a:r>
              <a:rPr sz="1800">
                <a:solidFill>
                  <a:srgbClr val="333D4A"/>
                </a:solidFill>
                <a:latin typeface="Calibri"/>
              </a:rPr>
              <a:t>Vertices, Edges, Directed vs Undirected, Cycles.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3. Representing Graphs in Code.  </a:t>
            </a:r>
            <a:r>
              <a:rPr sz="1800">
                <a:solidFill>
                  <a:srgbClr val="333D4A"/>
                </a:solidFill>
                <a:latin typeface="Calibri"/>
              </a:rPr>
              <a:t>Adjacency Lists vs Adjacency Matrices.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4. Breadth-First Search (BFS).  </a:t>
            </a:r>
            <a:r>
              <a:rPr sz="1800">
                <a:solidFill>
                  <a:srgbClr val="333D4A"/>
                </a:solidFill>
                <a:latin typeface="Calibri"/>
              </a:rPr>
              <a:t>Concept, pseudocode, and execution tracing.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5. Depth-First Search (DFS).  </a:t>
            </a:r>
            <a:r>
              <a:rPr sz="1800">
                <a:solidFill>
                  <a:srgbClr val="333D4A"/>
                </a:solidFill>
                <a:latin typeface="Calibri"/>
              </a:rPr>
              <a:t>Concept, recursion, and call stack simulation.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1. What is a Graph?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generalization of Trees and Linked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48640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333D4A"/>
                </a:solidFill>
                <a:latin typeface="Calibri"/>
              </a:rPr>
              <a:t>A Tree is just a highly restricted, directed, acyclic Graph!
When we remove the strict hierarchical parent-child rules, we get a Graph:
• Any node can connect to any other node.
• There can be loops/cycles.
• There is no inherent 'Root' node.
Mathematically: G = (V, E) where V is a set of Vertices and E is a set of Edges.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371600"/>
            <a:ext cx="4572000" cy="41148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286000"/>
            <a:ext cx="2286000" cy="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2286000"/>
            <a:ext cx="0" cy="182880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8915400" y="2286000"/>
            <a:ext cx="1143000" cy="91440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72400" y="3200400"/>
            <a:ext cx="1143000" cy="91440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72400" y="4114800"/>
            <a:ext cx="2286000" cy="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915400" y="3200400"/>
            <a:ext cx="1143000" cy="91440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400" y="2286000"/>
            <a:ext cx="0" cy="182880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406640" y="192024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92024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20" name="Oval 19"/>
          <p:cNvSpPr/>
          <p:nvPr/>
        </p:nvSpPr>
        <p:spPr>
          <a:xfrm>
            <a:off x="9692640" y="192024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192024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0" y="374904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374904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24" name="Oval 23"/>
          <p:cNvSpPr/>
          <p:nvPr/>
        </p:nvSpPr>
        <p:spPr>
          <a:xfrm>
            <a:off x="9692640" y="374904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374904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D</a:t>
            </a:r>
          </a:p>
        </p:txBody>
      </p:sp>
      <p:sp>
        <p:nvSpPr>
          <p:cNvPr id="26" name="Oval 25"/>
          <p:cNvSpPr/>
          <p:nvPr/>
        </p:nvSpPr>
        <p:spPr>
          <a:xfrm>
            <a:off x="8549640" y="283464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283464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2. Graph Terminology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vocabulary of network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3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Vertex (Node): </a:t>
            </a:r>
            <a:r>
              <a:rPr sz="1600">
                <a:solidFill>
                  <a:srgbClr val="333D4A"/>
                </a:solidFill>
                <a:latin typeface="Calibri"/>
              </a:rPr>
              <a:t>The entities in the network (e.g., a person, a city, a webpage).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Edge (Link): </a:t>
            </a:r>
            <a:r>
              <a:rPr sz="1600">
                <a:solidFill>
                  <a:srgbClr val="333D4A"/>
                </a:solidFill>
                <a:latin typeface="Calibri"/>
              </a:rPr>
              <a:t>The connection between two vertices.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Directed Graph: </a:t>
            </a:r>
            <a:r>
              <a:rPr sz="1600">
                <a:solidFill>
                  <a:srgbClr val="333D4A"/>
                </a:solidFill>
                <a:latin typeface="Calibri"/>
              </a:rPr>
              <a:t>Edges are one-way streets (e.g., following someone on Twitter).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Undirected Graph: </a:t>
            </a:r>
            <a:r>
              <a:rPr sz="1600">
                <a:solidFill>
                  <a:srgbClr val="333D4A"/>
                </a:solidFill>
                <a:latin typeface="Calibri"/>
              </a:rPr>
              <a:t>Edges are two-way roads (e.g., mutual friends on Facebook).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Weighted Graph: </a:t>
            </a:r>
            <a:r>
              <a:rPr sz="1600">
                <a:solidFill>
                  <a:srgbClr val="333D4A"/>
                </a:solidFill>
                <a:latin typeface="Calibri"/>
              </a:rPr>
              <a:t>Edges have a cost or distance associated with them (e.g., Google Maps travel time).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Cyclic Graph: </a:t>
            </a:r>
            <a:r>
              <a:rPr sz="1600">
                <a:solidFill>
                  <a:srgbClr val="333D4A"/>
                </a:solidFill>
                <a:latin typeface="Calibri"/>
              </a:rPr>
              <a:t>Contains at least one path that loops back to the same vertex.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Acyclic Graph: </a:t>
            </a:r>
            <a:r>
              <a:rPr sz="1600">
                <a:solidFill>
                  <a:srgbClr val="333D4A"/>
                </a:solidFill>
                <a:latin typeface="Calibri"/>
              </a:rPr>
              <a:t>Impossible to walk in a continuous loop.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3. Representing Graphs in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How do we store this complex structure?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4 / 9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71600"/>
            <a:ext cx="5029200" cy="41148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Adjacency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66344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A Hash Map (dictionary) where Key = Vertex, Value = List of Neighbors.
• Space: O(V + E)
• Ideal for sparse graphs (most real-world graphs).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200400"/>
            <a:ext cx="4663440" cy="18288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" y="3200400"/>
            <a:ext cx="73152" cy="182880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291840"/>
            <a:ext cx="443484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adj_list = {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'A': ['B', 'C'],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'B': ['A', 'D', 'E'],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'C': ['A', 'F']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371600"/>
            <a:ext cx="5029200" cy="41148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46304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Adjacency Matrix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11680"/>
            <a:ext cx="466344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A 2D array of size V x V where matrix[i][j] = 1 if an edge exists, else 0.
• Space: O(V²)
• Fast edge lookups O(1), but wastes massive RAM for sparse networks.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200400"/>
            <a:ext cx="4663440" cy="18288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3200400"/>
            <a:ext cx="73152" cy="182880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291840"/>
            <a:ext cx="443484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# A  B  C  D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[[0, 1, 1, 0], # A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[1, 0, 0, 1], # B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[1, 0, 0, 1], # C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[0, 1, 1, 0]] # 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4. Breadth-First Search (BFS):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Exploring level by level like a ripple in a pond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5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4864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The Level-Order Approach: </a:t>
            </a:r>
            <a:r>
              <a:rPr sz="1500">
                <a:solidFill>
                  <a:srgbClr val="333D4A"/>
                </a:solidFill>
                <a:latin typeface="Calibri"/>
              </a:rPr>
              <a:t>BFS starts at a source node and visits all of its direct neighbors first (Level 1), then all of their neighbors (Level 2), and so on.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FIFO Queue Mechanism: </a:t>
            </a:r>
            <a:r>
              <a:rPr sz="1500">
                <a:solidFill>
                  <a:srgbClr val="333D4A"/>
                </a:solidFill>
                <a:latin typeface="Calibri"/>
              </a:rPr>
              <a:t>It uses a Queue to keep track of nodes to explore next. First In, First Out ensures we explore closer nodes before further ones.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Shortest Path Guarantee: </a:t>
            </a:r>
            <a:r>
              <a:rPr sz="1500">
                <a:solidFill>
                  <a:srgbClr val="333D4A"/>
                </a:solidFill>
                <a:latin typeface="Calibri"/>
              </a:rPr>
              <a:t>In an unweighted graph, the first time BFS reaches a node, it has found the shortest path (minimum edge count) to that node.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Visited Set: </a:t>
            </a:r>
            <a:r>
              <a:rPr sz="1500">
                <a:solidFill>
                  <a:srgbClr val="333D4A"/>
                </a:solidFill>
                <a:latin typeface="Calibri"/>
              </a:rPr>
              <a:t>Crucial to keep track of visited vertices to avoid infinite loops and re-processing nodes in cyclic graphs.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Complexity: </a:t>
            </a:r>
            <a:r>
              <a:rPr sz="1500">
                <a:solidFill>
                  <a:srgbClr val="333D4A"/>
                </a:solidFill>
                <a:latin typeface="Calibri"/>
              </a:rPr>
              <a:t>Time: O(V + E) as every vertex is visited and every edge is checked. Space: O(V) for the queue and visited set.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46304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BFS Layer Traversal Visual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7772400" y="2103120"/>
            <a:ext cx="1371600" cy="118872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2103120"/>
            <a:ext cx="1371600" cy="118872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72400" y="3291840"/>
            <a:ext cx="0" cy="137160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515600" y="3291840"/>
            <a:ext cx="0" cy="1371600"/>
          </a:xfrm>
          <a:prstGeom prst="line">
            <a:avLst/>
          </a:prstGeom>
          <a:ln w="25400">
            <a:solidFill>
              <a:srgbClr val="127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8778240" y="1737360"/>
            <a:ext cx="731520" cy="731520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73736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0" y="2926080"/>
            <a:ext cx="731520" cy="731520"/>
          </a:xfrm>
          <a:prstGeom prst="ellipse">
            <a:avLst/>
          </a:prstGeom>
          <a:solidFill>
            <a:srgbClr val="127A8A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29260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20" name="Oval 19"/>
          <p:cNvSpPr/>
          <p:nvPr/>
        </p:nvSpPr>
        <p:spPr>
          <a:xfrm>
            <a:off x="10149840" y="2926080"/>
            <a:ext cx="731520" cy="731520"/>
          </a:xfrm>
          <a:prstGeom prst="ellipse">
            <a:avLst/>
          </a:prstGeom>
          <a:solidFill>
            <a:srgbClr val="127A8A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29260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0" y="429768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42976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D</a:t>
            </a:r>
          </a:p>
        </p:txBody>
      </p:sp>
      <p:sp>
        <p:nvSpPr>
          <p:cNvPr id="24" name="Oval 23"/>
          <p:cNvSpPr/>
          <p:nvPr/>
        </p:nvSpPr>
        <p:spPr>
          <a:xfrm>
            <a:off x="10149840" y="429768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0" y="42976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30352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333D4A"/>
                </a:solidFill>
                <a:latin typeface="Calibri"/>
              </a:rPr>
              <a:t>Level 0 (Gold)  ➔  Level 1 (Teal)  ➔  Level 2 (White)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4. Breadth-First Search (BFS): Code &amp;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Implementing and executing the BFS algorithm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6 / 9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71600"/>
            <a:ext cx="5486400" cy="4572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71600"/>
            <a:ext cx="73152" cy="457200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40"/>
            <a:ext cx="52578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from collections import deque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def bfs(graph, start):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visited = {start}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q = deque([start])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while q: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node = q.popleft()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print(node)  # Process node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for neighbor in graph[node]: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if neighbor not in visited: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visited.add(neighbor)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q.append(neighbor)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46304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Calibri"/>
              </a:rPr>
              <a:t>Step-by-Step Execution Trace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011680"/>
            <a:ext cx="42062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33D4A"/>
                </a:solidFill>
                <a:latin typeface="Calibri"/>
              </a:rPr>
              <a:t>Graph: A-B, A-C, B-D, C-E (Start at 'A')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651760"/>
            <a:ext cx="4206240" cy="3657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26974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Pop Node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6974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Queue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6974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Visited Set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108960"/>
            <a:ext cx="4206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31546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Initial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1546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['A']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1546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20440"/>
            <a:ext cx="420624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5661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56616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['B', 'C']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56616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'C'}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3931920"/>
            <a:ext cx="4206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3977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397764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['C', 'D']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97764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'C', 'D'}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4343400"/>
            <a:ext cx="420624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0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38912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['D', 'E']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38912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'C', 'D', 'E'}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4754880"/>
            <a:ext cx="4206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48006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480060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['E']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480060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'C', 'D', 'E'}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80" y="5166360"/>
            <a:ext cx="420624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0" y="52120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52120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52120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'C', 'D', 'E'}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5. Depth-First Search (DFS):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Plunging deep down a path until hitting a dead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7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4864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The Depth-First Approach: </a:t>
            </a:r>
            <a:r>
              <a:rPr sz="1500">
                <a:solidFill>
                  <a:srgbClr val="333D4A"/>
                </a:solidFill>
                <a:latin typeface="Calibri"/>
              </a:rPr>
              <a:t>DFS starts at a source node and follows a branch as far as possible before backtracking. It prioritizes depth over breadth.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LIFO Stack / Recursion: </a:t>
            </a:r>
            <a:r>
              <a:rPr sz="1500">
                <a:solidFill>
                  <a:srgbClr val="333D4A"/>
                </a:solidFill>
                <a:latin typeface="Calibri"/>
              </a:rPr>
              <a:t>DFS uses a Stack structure. This is naturally implemented via Recursion (the Call Stack), but can also be done iteratively with a custom Stack.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Cycle Detection: </a:t>
            </a:r>
            <a:r>
              <a:rPr sz="1500">
                <a:solidFill>
                  <a:srgbClr val="333D4A"/>
                </a:solidFill>
                <a:latin typeface="Calibri"/>
              </a:rPr>
              <a:t>Excellent for detecting cycles (loops) in graphs by tracking the path of the current recursive call.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Topological Sorting: </a:t>
            </a:r>
            <a:r>
              <a:rPr sz="1500">
                <a:solidFill>
                  <a:srgbClr val="333D4A"/>
                </a:solidFill>
                <a:latin typeface="Calibri"/>
              </a:rPr>
              <a:t>Crucial for ordering tasks with dependencies (e.g. build systems, class prerequisites) using finish times.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Complexity: </a:t>
            </a:r>
            <a:r>
              <a:rPr sz="1500">
                <a:solidFill>
                  <a:srgbClr val="333D4A"/>
                </a:solidFill>
                <a:latin typeface="Calibri"/>
              </a:rPr>
              <a:t>Time: O(V + E) as every vertex is visited and every edge is checked. Space: O(V) for the recursion call stack in the worst case.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46304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DFS Traversal Order Visual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7772400" y="2103120"/>
            <a:ext cx="1371600" cy="1188720"/>
          </a:xfrm>
          <a:prstGeom prst="line">
            <a:avLst/>
          </a:prstGeom>
          <a:ln w="25400">
            <a:solidFill>
              <a:srgbClr val="E0A8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291840"/>
            <a:ext cx="0" cy="1371600"/>
          </a:xfrm>
          <a:prstGeom prst="line">
            <a:avLst/>
          </a:prstGeom>
          <a:ln w="25400">
            <a:solidFill>
              <a:srgbClr val="E0A8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2103120"/>
            <a:ext cx="1371600" cy="1188720"/>
          </a:xfrm>
          <a:prstGeom prst="line">
            <a:avLst/>
          </a:prstGeom>
          <a:ln w="25400">
            <a:solidFill>
              <a:srgbClr val="E0A8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515600" y="3291840"/>
            <a:ext cx="0" cy="1371600"/>
          </a:xfrm>
          <a:prstGeom prst="line">
            <a:avLst/>
          </a:prstGeom>
          <a:ln w="25400">
            <a:solidFill>
              <a:srgbClr val="E0A8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8778240" y="1737360"/>
            <a:ext cx="731520" cy="731520"/>
          </a:xfrm>
          <a:prstGeom prst="ellipse">
            <a:avLst/>
          </a:prstGeom>
          <a:solidFill>
            <a:srgbClr val="6A1B9A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73736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0" y="2926080"/>
            <a:ext cx="731520" cy="731520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29260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20" name="Oval 19"/>
          <p:cNvSpPr/>
          <p:nvPr/>
        </p:nvSpPr>
        <p:spPr>
          <a:xfrm>
            <a:off x="10149840" y="292608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29260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0" y="4297680"/>
            <a:ext cx="731520" cy="731520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42976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D</a:t>
            </a:r>
          </a:p>
        </p:txBody>
      </p:sp>
      <p:sp>
        <p:nvSpPr>
          <p:cNvPr id="24" name="Oval 23"/>
          <p:cNvSpPr/>
          <p:nvPr/>
        </p:nvSpPr>
        <p:spPr>
          <a:xfrm>
            <a:off x="10149840" y="429768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0" y="42976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B2A4A"/>
                </a:solidFill>
                <a:latin typeface="Calibri"/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30352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333D4A"/>
                </a:solidFill>
                <a:latin typeface="Calibri"/>
              </a:rPr>
              <a:t>First Branch (Purple ➔ Gold)  ➔  Second Branch (White)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5. Depth-First Search (DFS): Code &amp;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Implementing and executing the recursive DFS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8 / 9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71600"/>
            <a:ext cx="5486400" cy="4572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71600"/>
            <a:ext cx="73152" cy="457200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63040"/>
            <a:ext cx="52578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def dfs(graph, node, visited=None):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if visited is None: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visited = set()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if node not in visited: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visited.add(node)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print(node)  # Process node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for neighbor in graph[node]: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if neighbor not in visited: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dfs(graph, neighbor, visited)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return visited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46304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6A1B9A"/>
                </a:solidFill>
                <a:latin typeface="Calibri"/>
              </a:rPr>
              <a:t>Recursion Call Stack Trace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011680"/>
            <a:ext cx="42062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33D4A"/>
                </a:solidFill>
                <a:latin typeface="Calibri"/>
              </a:rPr>
              <a:t>Graph: A-B, B-D, A-C, C-E (Start at 'A')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651760"/>
            <a:ext cx="4206240" cy="3657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26974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6974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Call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6974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Visited Set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108960"/>
            <a:ext cx="4206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31546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Call dfs(A)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1546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[dfs(A)]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1546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20440"/>
            <a:ext cx="420624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5661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Call dfs(B)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56616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[dfs(A), dfs(B)]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56616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3931920"/>
            <a:ext cx="4206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397764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Call dfs(D)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397764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[dfs(A), dfs(B), dfs(D)]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97764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'D'}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4343400"/>
            <a:ext cx="420624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0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Pop dfs(D)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38912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[dfs(A), dfs(B)]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38912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'D'}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4754880"/>
            <a:ext cx="4206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480060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Pop dfs(B)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480060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[dfs(A)]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480060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'D'}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80" y="5166360"/>
            <a:ext cx="4206240" cy="365760"/>
          </a:xfrm>
          <a:prstGeom prst="rect">
            <a:avLst/>
          </a:prstGeom>
          <a:solidFill>
            <a:srgbClr val="F2F4F7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0" y="521208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Call dfs(C)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52120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[dfs(A), dfs(C)]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521208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'D', 'C'}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5577840"/>
            <a:ext cx="4206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D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0" y="56235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333D4A"/>
                </a:solidFill>
                <a:latin typeface="Calibri"/>
              </a:rPr>
              <a:t>Call dfs(E)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562356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[dfs(A), dfs(C), dfs(E)]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5623560"/>
            <a:ext cx="1645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333D4A"/>
                </a:solidFill>
                <a:latin typeface="Calibri"/>
              </a:rPr>
              <a:t>{'A', 'B', 'D', 'C', 'E'}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Graphs open up the rest of Computer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08 · Graphs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9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Graphs are the most versatile data structure. Mastering BFS and DFS is mandatory for complex problem solving.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1051560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>
                <a:solidFill>
                  <a:srgbClr val="333D4A"/>
                </a:solidFill>
                <a:latin typeface="Calibri"/>
              </a:rPr>
              <a:t>Use Adjacency Lists almost always, unless the graph is extremely dense.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>
                <a:solidFill>
                  <a:srgbClr val="333D4A"/>
                </a:solidFill>
                <a:latin typeface="Calibri"/>
              </a:rPr>
              <a:t>Need the Shortest Path in an unweighted graph? Use BFS.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>
                <a:solidFill>
                  <a:srgbClr val="333D4A"/>
                </a:solidFill>
                <a:latin typeface="Calibri"/>
              </a:rPr>
              <a:t>Need to check if a path exists, or find cycles? DFS is usually cleaner to implement recursively.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>
                <a:solidFill>
                  <a:srgbClr val="333D4A"/>
                </a:solidFill>
                <a:latin typeface="Calibri"/>
              </a:rPr>
              <a:t>Always remember to track Visited nodes, otherwise cycles will cause infinite loops (Stack Overflow or Memory Exceeded).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2064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Next Week (Graphs II): We will introduce edge weights and explore Dijkstra's Algorithm for finding the shortest paths on real-world maps.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