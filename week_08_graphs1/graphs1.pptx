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09728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12191695" cy="36576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2194560" cy="502920"/>
          </a:xfrm>
          <a:prstGeom prst="round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Calibri"/>
              </a:rPr>
              <a:t>WEEK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Graphs I: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E0A81F"/>
                </a:solidFill>
                <a:latin typeface="Calibri"/>
              </a:rPr>
              <a:t>Representation, Traversal, and Network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F2F4F7"/>
                </a:solidFill>
                <a:latin typeface="Calibri"/>
              </a:rPr>
              <a:t>A University-Grade Lecture in Data Structures &amp;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Course   ·   CSC: Data Structures &amp;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Module   ·   Week 08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Lecture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The foundation of modern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08 · Graphs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972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1. Introduction to Graphs.  </a:t>
            </a:r>
            <a:r>
              <a:rPr sz="1800">
                <a:solidFill>
                  <a:srgbClr val="333D4A"/>
                </a:solidFill>
                <a:latin typeface="Calibri"/>
              </a:rPr>
              <a:t>From Trees to free-form networks.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2. Real-World Graph Applications.  </a:t>
            </a:r>
            <a:r>
              <a:rPr sz="1800">
                <a:solidFill>
                  <a:srgbClr val="333D4A"/>
                </a:solidFill>
                <a:latin typeface="Calibri"/>
              </a:rPr>
              <a:t>Social networks, Maps, and the Web.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3. Graph Terminology.  </a:t>
            </a:r>
            <a:r>
              <a:rPr sz="1800">
                <a:solidFill>
                  <a:srgbClr val="333D4A"/>
                </a:solidFill>
                <a:latin typeface="Calibri"/>
              </a:rPr>
              <a:t>Vertices, Edges, Directed vs Undirected, Cycles.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4. Representing Graphs in Code.  </a:t>
            </a:r>
            <a:r>
              <a:rPr sz="1800">
                <a:solidFill>
                  <a:srgbClr val="333D4A"/>
                </a:solidFill>
                <a:latin typeface="Calibri"/>
              </a:rPr>
              <a:t>Adjacency Lists vs Adjacency Matrices.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5. Breadth-First Search (BFS).  </a:t>
            </a:r>
            <a:r>
              <a:rPr sz="1800">
                <a:solidFill>
                  <a:srgbClr val="333D4A"/>
                </a:solidFill>
                <a:latin typeface="Calibri"/>
              </a:rPr>
              <a:t>Exploring level by level to find shortest paths.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6. Depth-First Search (DFS).  </a:t>
            </a:r>
            <a:r>
              <a:rPr sz="1800">
                <a:solidFill>
                  <a:srgbClr val="333D4A"/>
                </a:solidFill>
                <a:latin typeface="Calibri"/>
              </a:rPr>
              <a:t>Plunging deep to map connectivity and cycles.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1. What is a Graph?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The generalization of Trees and Linked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08 · Graphs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2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48640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333D4A"/>
                </a:solidFill>
                <a:latin typeface="Calibri"/>
              </a:rPr>
              <a:t>A Tree is just a highly restricted, directed, acyclic Graph!
When we remove the strict hierarchical parent-child rules, we get a Graph:
• Any node can connect to any other node.
• There can be loops/cycles.
• There is no inherent 'Root' node.
Mathematically: G = (V, E) where V is a set of Vertices and E is a set of Edges.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371600"/>
            <a:ext cx="4572000" cy="4114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772400" y="2286000"/>
            <a:ext cx="2286000" cy="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0" y="2286000"/>
            <a:ext cx="0" cy="182880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915400" y="2286000"/>
            <a:ext cx="1143000" cy="91440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772400" y="3200400"/>
            <a:ext cx="1143000" cy="91440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4114800"/>
            <a:ext cx="2286000" cy="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15400" y="3200400"/>
            <a:ext cx="1143000" cy="91440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2286000"/>
            <a:ext cx="0" cy="182880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406640" y="19202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9202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9692640" y="19202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9202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7406640" y="37490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37490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9692640" y="37490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37490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D</a:t>
            </a:r>
          </a:p>
        </p:txBody>
      </p:sp>
      <p:sp>
        <p:nvSpPr>
          <p:cNvPr id="26" name="Oval 25"/>
          <p:cNvSpPr/>
          <p:nvPr/>
        </p:nvSpPr>
        <p:spPr>
          <a:xfrm>
            <a:off x="8549640" y="28346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8346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2. Graph Terminology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The vocabulary of network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08 · Graphs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3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Vertex (Node): </a:t>
            </a:r>
            <a:r>
              <a:rPr sz="1600">
                <a:solidFill>
                  <a:srgbClr val="333D4A"/>
                </a:solidFill>
                <a:latin typeface="Calibri"/>
              </a:rPr>
              <a:t>The entities in the network (e.g., a person, a city, a webpage).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Edge (Link): </a:t>
            </a:r>
            <a:r>
              <a:rPr sz="1600">
                <a:solidFill>
                  <a:srgbClr val="333D4A"/>
                </a:solidFill>
                <a:latin typeface="Calibri"/>
              </a:rPr>
              <a:t>The connection between two vertices.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Directed Graph: </a:t>
            </a:r>
            <a:r>
              <a:rPr sz="1600">
                <a:solidFill>
                  <a:srgbClr val="333D4A"/>
                </a:solidFill>
                <a:latin typeface="Calibri"/>
              </a:rPr>
              <a:t>Edges are one-way streets (e.g., following someone on Twitter).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Undirected Graph: </a:t>
            </a:r>
            <a:r>
              <a:rPr sz="1600">
                <a:solidFill>
                  <a:srgbClr val="333D4A"/>
                </a:solidFill>
                <a:latin typeface="Calibri"/>
              </a:rPr>
              <a:t>Edges are two-way roads (e.g., mutual friends on Facebook).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Weighted Graph: </a:t>
            </a:r>
            <a:r>
              <a:rPr sz="1600">
                <a:solidFill>
                  <a:srgbClr val="333D4A"/>
                </a:solidFill>
                <a:latin typeface="Calibri"/>
              </a:rPr>
              <a:t>Edges have a cost or distance associated with them (e.g., Google Maps travel time).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Cyclic Graph: </a:t>
            </a:r>
            <a:r>
              <a:rPr sz="1600">
                <a:solidFill>
                  <a:srgbClr val="333D4A"/>
                </a:solidFill>
                <a:latin typeface="Calibri"/>
              </a:rPr>
              <a:t>Contains at least one path that loops back to the same vertex.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Acyclic Graph: </a:t>
            </a:r>
            <a:r>
              <a:rPr sz="1600">
                <a:solidFill>
                  <a:srgbClr val="333D4A"/>
                </a:solidFill>
                <a:latin typeface="Calibri"/>
              </a:rPr>
              <a:t>Impossible to walk in a continuous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3. Representing Graphs in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How do we store this complex structure?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08 · Graphs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4 / 7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5029200" cy="4114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Calibri"/>
              </a:rPr>
              <a:t>Adjacency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6634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A Hash Map (dictionary) where Key = Vertex, Value = List of Neighbors.
• Space: O(V + E)
• Ideal for sparse graphs (most real-world graphs).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200400"/>
            <a:ext cx="466344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3200400"/>
            <a:ext cx="73152" cy="182880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291840"/>
            <a:ext cx="4434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adj_list = {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'A': ['B', 'C'],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'B': ['A', 'D', 'E'],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'C': ['A', 'F']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029200" cy="4114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Calibri"/>
              </a:rPr>
              <a:t>Adjacency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11680"/>
            <a:ext cx="46634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A 2D array of size V x V where matrix[i][j] = 1 if an edge exists, else 0.
• Space: O(V²)
• Fast edge lookups O(1), but wastes massive RAM for sparse networks.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200400"/>
            <a:ext cx="466344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200400"/>
            <a:ext cx="73152" cy="182880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291840"/>
            <a:ext cx="4434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# A  B  C  D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[[0, 1, 1, 0], # A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[1, 0, 0, 1], # B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[1, 0, 0, 1], # C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[0, 1, 1, 0]] # 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4. Breadth-First Search (BFS)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Expanding like a ripple in a pond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08 · Graphs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5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486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333D4A"/>
                </a:solidFill>
                <a:latin typeface="Calibri"/>
              </a:rPr>
              <a:t>Breadth-First Search explores all immediate neighbors first, before moving to neighbors of neighbors.
Key Characteristics:
• Data Structure: Uses a Queue (FIFO).
• Unweighted Shortest Path: BFS is guaranteed to find the shortest path from start to target in an unweighted graph.
• Must track 'Visited' nodes to prevent infinite loops.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57600"/>
            <a:ext cx="5486400" cy="2286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73152" cy="228600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49040"/>
            <a:ext cx="5257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from collections import deque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def bfs(graph, start):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visited = set([start])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q = deque([start])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while q: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node = q.popleft()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print(node)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for neighbor in graph[node]: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    if neighbor not in visited: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        visited.add(neighbor)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        q.append(neighbor)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371600"/>
            <a:ext cx="4572000" cy="4572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7772400" y="2286000"/>
            <a:ext cx="1371600" cy="137160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44000" y="2286000"/>
            <a:ext cx="1371600" cy="137160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72400" y="3657600"/>
            <a:ext cx="0" cy="137160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515600" y="3657600"/>
            <a:ext cx="0" cy="137160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778240" y="19202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19202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7406640" y="32918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32918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10149840" y="32918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32918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7406640" y="4663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46634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D</a:t>
            </a:r>
          </a:p>
        </p:txBody>
      </p:sp>
      <p:sp>
        <p:nvSpPr>
          <p:cNvPr id="26" name="Oval 25"/>
          <p:cNvSpPr/>
          <p:nvPr/>
        </p:nvSpPr>
        <p:spPr>
          <a:xfrm>
            <a:off x="10149840" y="4663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46634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Order: A -&gt; B, C -&gt; D, 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5. Depth-First Search (DFS)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Plunging deep until hitting a dead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08 · Graphs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6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486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333D4A"/>
                </a:solidFill>
                <a:latin typeface="Calibri"/>
              </a:rPr>
              <a:t>Depth-First Search picks a path and follows it as deeply as possible before backtracking.
Key Characteristics:
• Data Structure: Uses a Stack (LIFO) or Recursion (Call Stack).
• Ideal for: Cycle detection, Path finding (e.g. maze solving), Topological sorting.
• Can yield wildly different paths compared to BFS.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57600"/>
            <a:ext cx="5486400" cy="2286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73152" cy="228600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49040"/>
            <a:ext cx="5257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def dfs(graph, node, visited=None):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if visited is None: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visited = set()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if node not in visited: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visited.add(node)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print(node)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for neighbor in graph[node]: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dfs(graph, neighbor, visited)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371600"/>
            <a:ext cx="4572000" cy="4572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7772400" y="2286000"/>
            <a:ext cx="1371600" cy="1371600"/>
          </a:xfrm>
          <a:prstGeom prst="line">
            <a:avLst/>
          </a:prstGeom>
          <a:ln w="2540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3657600"/>
            <a:ext cx="0" cy="1371600"/>
          </a:xfrm>
          <a:prstGeom prst="line">
            <a:avLst/>
          </a:prstGeom>
          <a:ln w="2540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2286000"/>
            <a:ext cx="1371600" cy="1371600"/>
          </a:xfrm>
          <a:prstGeom prst="line">
            <a:avLst/>
          </a:prstGeom>
          <a:ln w="2540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515600" y="3657600"/>
            <a:ext cx="0" cy="1371600"/>
          </a:xfrm>
          <a:prstGeom prst="line">
            <a:avLst/>
          </a:prstGeom>
          <a:ln w="2540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778240" y="19202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19202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7406640" y="32918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32918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10149840" y="32918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32918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7406640" y="4663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46634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D</a:t>
            </a:r>
          </a:p>
        </p:txBody>
      </p:sp>
      <p:sp>
        <p:nvSpPr>
          <p:cNvPr id="26" name="Oval 25"/>
          <p:cNvSpPr/>
          <p:nvPr/>
        </p:nvSpPr>
        <p:spPr>
          <a:xfrm>
            <a:off x="10149840" y="46634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46634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6A1B9A"/>
                </a:solidFill>
                <a:latin typeface="Calibri"/>
              </a:rPr>
              <a:t>Order: A -&gt; B -&gt; D -&gt; C -&gt; 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Graphs open up the rest of Computer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08 · Graphs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7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Graphs are the most versatile data structure. Mastering BFS and DFS is mandatory for complex problem solving.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105156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>
                <a:solidFill>
                  <a:srgbClr val="333D4A"/>
                </a:solidFill>
                <a:latin typeface="Calibri"/>
              </a:rPr>
              <a:t>Use Adjacency Lists almost always, unless the graph is extremely dense.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>
                <a:solidFill>
                  <a:srgbClr val="333D4A"/>
                </a:solidFill>
                <a:latin typeface="Calibri"/>
              </a:rPr>
              <a:t>Need the Shortest Path in an unweighted graph? Use BFS.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>
                <a:solidFill>
                  <a:srgbClr val="333D4A"/>
                </a:solidFill>
                <a:latin typeface="Calibri"/>
              </a:rPr>
              <a:t>Need to check if a path exists, or find cycles? DFS is usually cleaner to implement recursively.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>
                <a:solidFill>
                  <a:srgbClr val="333D4A"/>
                </a:solidFill>
                <a:latin typeface="Calibri"/>
              </a:rPr>
              <a:t>Always remember to track Visited nodes, otherwise cycles will cause infinite loops (Stack Overflow or Memory Exceeded).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Next Week (Graphs II): We will introduce edge weights and explore Dijkstra's Algorithm for finding the shortest paths on real-world maps.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