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84" r:id="rId19"/>
    <p:sldId id="285" r:id="rId20"/>
    <p:sldId id="286" r:id="rId21"/>
    <p:sldId id="287" r:id="rId22"/>
    <p:sldId id="288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716414-7F29-A164-1F6A-4EBAB616DD5B}" v="55" dt="2026-06-01T21:48:20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06640" y="338328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-1097280"/>
            <a:ext cx="4572000" cy="4572000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Graph Data Structures
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3C5FD"/>
                </a:solidFill>
                <a:latin typeface="Calibri"/>
              </a:rPr>
              <a:t>3-Hour University Session  •  Python Implementations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Representations  •  BFS  •  DFS  •  Shortest Paths  •  MST  •  Topological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Session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850392"/>
            <a:ext cx="246888" cy="1170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Part 1 —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Graph Basics &amp; Representations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21992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221992"/>
            <a:ext cx="246888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Part 2 — 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163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BFS, DFS &amp; Connected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93592"/>
            <a:ext cx="84124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593592"/>
            <a:ext cx="246888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Part 3 —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Shortest Paths, MST &amp; Topological 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822960"/>
            <a:ext cx="3657600" cy="3657600"/>
          </a:xfrm>
          <a:prstGeom prst="ellipse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411480"/>
            <a:ext cx="1508760" cy="1508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PART 1 — GRAPH BASICS &amp; REPRESENTATIONS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7355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  <a:latin typeface="Calibri"/>
              </a:rPr>
              <a:t>Adjacency Matrix  •  Adjacency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What Is a Graph?  —  G = (V, 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4663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20116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 — Vertices (Nodes)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Individual entities.
E.g. cities, users, web pages.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46634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20116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E — Edges (Links)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23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Relationships between vertex pairs.
Directed (→) or undirected (—).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17520"/>
            <a:ext cx="466344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Real-World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Social networks — users &amp; friendships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Road maps — cities &amp; roads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Internet — routers &amp; cables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Compilers — code &amp; dependencies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144768" y="1069848"/>
            <a:ext cx="1554480" cy="13716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99248" y="1069848"/>
            <a:ext cx="777240" cy="128016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104888" y="2350008"/>
            <a:ext cx="1371600" cy="91440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5779007" y="2487168"/>
            <a:ext cx="1325881" cy="77724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79007" y="1207008"/>
            <a:ext cx="365761" cy="128016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44768" y="1207008"/>
            <a:ext cx="2331720" cy="1143000"/>
          </a:xfrm>
          <a:prstGeom prst="line">
            <a:avLst/>
          </a:prstGeom>
          <a:ln w="279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43600" y="1005840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1005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7498079" y="868680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8686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8275320" y="2148840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148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6903720" y="3063240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3063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5577840" y="2286000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0" y="2286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840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|V| = 5   |E| =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Graph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7889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832103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Undirected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125272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Edges have no direction.
Friendships, roads.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7724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777240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832103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Directed (DAG)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25272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Edges have direction →.
Web pages,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77724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77724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832103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25272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Edges carry a cost.
Maps, distances.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2788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980944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Unweighted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340156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Edges treated equally.
Simple traversal.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2608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0" y="2926080"/>
            <a:ext cx="2788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Cyclic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340156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Contains at least one cycle.
General graphs.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926080"/>
            <a:ext cx="2788920" cy="1993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2926080"/>
            <a:ext cx="2788920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2980944"/>
            <a:ext cx="2560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Acyclic (DAG)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401568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No cycles — directed.
Build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Adjacency Matrix  vs  Adjacency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41148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869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Adjacency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Space:  O(V²)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Edge check:  O(1)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Iterate neighbors:  O(V)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Best for:  dense graphs (E ≈ V²)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6148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848" y="276148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76148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1055" y="276148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91055" y="276148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12264" y="276148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12264" y="276148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76148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33472" y="276148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3580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03580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" y="303580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303580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91055" y="303580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91055" y="303580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12264" y="303580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12264" y="303580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2" y="303580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33472" y="303580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1012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31012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848" y="331012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331012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055" y="331012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91055" y="331012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12264" y="331012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12264" y="331012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331012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33472" y="331012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58444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58444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" y="358444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358444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91055" y="358444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91055" y="358444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12264" y="358444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112264" y="358444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33472" y="358444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33472" y="358444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858768"/>
            <a:ext cx="502919" cy="256031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385876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" y="385876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9848" y="385876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91055" y="385876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591055" y="385876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12264" y="385876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112264" y="385876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33472" y="3858768"/>
            <a:ext cx="502919" cy="256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33472" y="3858768"/>
            <a:ext cx="5029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777240"/>
            <a:ext cx="41605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92040" y="886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Adjacency List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13533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Space:  O(V + 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1719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Edge check:  O(degree)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20848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Iterate neighbors:  O(degree)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24505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alibri"/>
              </a:rPr>
              <a:t>•  Best for:  sparse graphs (most cases)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36592" y="2761488"/>
            <a:ext cx="125272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82312" y="276148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53328" y="2761488"/>
            <a:ext cx="11612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99048" y="2761488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Matrix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78624" y="2761488"/>
            <a:ext cx="106984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24344" y="2761488"/>
            <a:ext cx="10241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36592" y="3035808"/>
            <a:ext cx="125272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82312" y="303580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Space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53328" y="3035808"/>
            <a:ext cx="11612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99048" y="3035808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O(V²)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78624" y="3035808"/>
            <a:ext cx="106984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24344" y="3035808"/>
            <a:ext cx="10241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O(V+E)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36592" y="3310128"/>
            <a:ext cx="125272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82312" y="331012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Edge check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53328" y="3310128"/>
            <a:ext cx="11612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99048" y="3310128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O(1)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78624" y="3310128"/>
            <a:ext cx="106984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324344" y="3310128"/>
            <a:ext cx="10241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O(degree)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36592" y="3584448"/>
            <a:ext cx="125272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782312" y="358444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Neighbors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53328" y="3584448"/>
            <a:ext cx="11612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99048" y="3584448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78624" y="3584448"/>
            <a:ext cx="106984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324344" y="3584448"/>
            <a:ext cx="10241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O(degree)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736592" y="3858768"/>
            <a:ext cx="125272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782312" y="3858768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Best for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53328" y="3858768"/>
            <a:ext cx="11612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099048" y="3858768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Dense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78624" y="3858768"/>
            <a:ext cx="106984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324344" y="3858768"/>
            <a:ext cx="10241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Sparse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4041648"/>
            <a:ext cx="8503920" cy="84124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3087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Use Adjacency List for most problems — less memory, faster neighbor iteration.  Use Matrix only when frequent O(1) edge-existence checks matter on dense 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005"/>
            <a:ext cx="9144000" cy="5223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354"/>
            <a:ext cx="9144000" cy="549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822960"/>
            <a:ext cx="3657600" cy="3657600"/>
          </a:xfrm>
          <a:prstGeom prst="ellipse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411480"/>
            <a:ext cx="1508760" cy="1508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PART 2 — BFS, DFS &amp; CONNECTED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7355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  <a:latin typeface="Calibri"/>
              </a:rPr>
              <a:t>Breadth-First Search  •  Depth-First Search  •  Components &amp;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Breadth-First Search (BFS)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Explores all neighbors at the current depth level before going deeper.  Uses a Queue (FIFO).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O(V + 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Space: O(V) — the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973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Guarantees shortest path (unweighted)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98063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Level-order 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6391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Detects bipartite graphs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Shortest path in unweighted graphs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2140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Web crawlers &amp; link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5973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Social network separation degrees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798063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GPS — nearest location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36391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Network broadcasting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22191"/>
            <a:ext cx="85039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1. Mark start visited  →  2. Enqueue start  →  3. While queue not empty: dequeue node, visit it, enqueue all unvisited neighbors and mark visited.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19"/>
            <a:ext cx="9144000" cy="4823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Depth-First Search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Explores as far as possible along each branch before backtracking.  Uses a Stack (or recursion).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O(V + 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Space: O(V) — stack/recursion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973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Does NOT find shortest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98063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Detects cycles (back edges)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6391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Finds connected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BFS  vs  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83080"/>
            <a:ext cx="416052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783080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783080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075688"/>
            <a:ext cx="4160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2075688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7568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075688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368296"/>
            <a:ext cx="41605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2368296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Shortest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6829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✓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368296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✗ 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60904"/>
            <a:ext cx="4160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2660904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Wide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6090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More mem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660904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Less mem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953512"/>
            <a:ext cx="41605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2953512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Cycle detect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5351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953512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246120"/>
            <a:ext cx="41605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09160" y="3246120"/>
            <a:ext cx="14630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Topo 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✓ Kahn's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46120"/>
            <a:ext cx="12344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✓ Post-order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822191"/>
            <a:ext cx="8503920" cy="102412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Recursive vs Iterative: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1879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Recursive — clean and concise, limited by Python's ~1000 frame depth.  Iterative — explicit stack handles arbitrarily deep graphs safely.  Both visit nodes in identical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395"/>
            <a:ext cx="9144000" cy="41567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3404"/>
            <a:ext cx="9144000" cy="62903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822960"/>
            <a:ext cx="3657600" cy="3657600"/>
          </a:xfrm>
          <a:prstGeom prst="ellipse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411480"/>
            <a:ext cx="1508760" cy="1508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508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PART 3 — SHORTEST PATHS, MST &amp; TOPOLOGICAL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7355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  <a:latin typeface="Calibri"/>
              </a:rPr>
              <a:t>Dijkstra  •  Bellman-Ford  •  Floyd-Warshall  •  Prim's  •  Kruskal's  •  Topo Sort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Greedy algorithm: once a vertex is popped from the min-heap its distance is finalised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1.  dist[start] = 0,  all others = 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2.  Push (0, start) into min-heap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86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3.  Pop vertex u with smallest dist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4.  For each neighbor v:  if dist[u]+w &lt; dist[v]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0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       update dist[v], push (dist[v], 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5.  Repeat until heap is empty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7830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•  Time: O((V+E) log V) with min-heap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848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•  Space: O(V)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865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•  Fast in practice for road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8833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alibri"/>
              </a:rPr>
              <a:t>•  ⚠  Fails with negative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9900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alibri"/>
              </a:rPr>
              <a:t>•  ⚠  Use Bellman-Ford for negatives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91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•  ✓  Full path reconstructable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22191"/>
            <a:ext cx="85039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Comparison: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Dijkstra O((V+E)logV) — non-neg only, fastest in practice.   Bellman-Ford O(V×E) — handles negative weights, detects negative cycles.   Floyd-Warshall O(V³) — all-pairs shortest paths.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9EEFE-8212-A1D3-25FD-256A8618A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795B42-B6A4-D5EC-2BA0-AC6383D87008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E4222-FB8C-803C-7D19-A482C12C982F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CC2C1-7DBD-4E4C-84BE-95FA30940EC3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2E582-5CA4-4F03-AB2F-A8E4AE1A55CE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D26BF1-3B5D-2D6C-6264-AF6EEE5219FA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3E568-E5D1-4DBE-2B2B-E79B47354449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CC2E5E-16BD-DC73-5A49-5E780D91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9" y="1098486"/>
            <a:ext cx="8880928" cy="379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9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C26A9-699E-97F5-3C4C-6E1EEFE4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28AB7D-712D-8D7A-1027-1E7B8DB02E79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0C05D-C11C-AFEA-8D81-6EF7A9E8F201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2372F-B937-D5C2-4E5A-CB12FD402563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DA2E2-C1B0-1069-EB7D-23C848E76882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547AD3-1BC7-C877-20D0-0860BA88BAB6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E96A87-CBCB-4AFB-D2E2-F5DA039299BB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D573A2-9CE5-D755-8E79-745B9E02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149"/>
            <a:ext cx="9144000" cy="40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56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FEE70-2A62-0D2A-A1BF-5704BB41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BFAD0-1BC3-DC41-14E5-ABFA61723F0C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632A7-DFE3-3C41-53C8-9C695FC68291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F817A-858B-50A0-6F8A-389F4BE9FD39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BBB7D-45B7-85A8-FA09-1B7B0F5BD05E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83552-82CB-C8A2-11B2-B82A65D68787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F159B-7242-74FA-0C99-894530C696B0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C9BEAB-F2D5-0808-5A4F-06B0CCCA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7319"/>
            <a:ext cx="9144000" cy="40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40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CB57D-9D98-81E3-EDCE-E4F768FB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86867-34B0-2A83-20B7-14AD190466EE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691A5-846F-417F-FF57-721BFD3F352C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E6C0E-09CF-78E1-BF17-9C7C642370B6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417CF-BF23-073C-6B15-CDD429B3418E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05138-DC69-4611-F911-E947AD75CF4E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6AB68-D1E1-A435-14D0-4DF7F3617877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80A2E-E062-35C0-1A15-8C9DF426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244"/>
            <a:ext cx="9144000" cy="419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71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8FB3F-D776-0CF0-9F0B-5C6E70FE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84AAFB-E6CA-3E11-02EB-5C2F72526CC4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381AF-50F3-090D-F684-28F5707184BA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28326-5D17-F45C-1DC5-FDB9DB79DD30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37174-CC81-94B8-298C-C203AADBBD42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8AED56-8C04-B7D3-A4E3-2E7C772A37BC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A35ACE-3717-3D7E-E7D5-E65FA254215B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B2FDA9-75C0-0B9C-D69D-28876B3A7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902"/>
            <a:ext cx="9144000" cy="44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61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B9117-8A6D-1488-3044-94C83E1E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C593C-E3E8-30BD-2E84-08A19B70A041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492EB-AAE4-B67F-3F4E-95929D80B3A7}"/>
              </a:ext>
            </a:extLst>
          </p:cNvPr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Dijkstra's Shortest Path  —  Non-negative weights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B85F2-58A7-A15B-6374-FD825E0014F7}"/>
              </a:ext>
            </a:extLst>
          </p:cNvPr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D8246-3552-5BDF-1F66-A90F7DEFFF6E}"/>
              </a:ext>
            </a:extLst>
          </p:cNvPr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D94A6-098F-961E-6AA8-330150E328BE}"/>
              </a:ext>
            </a:extLst>
          </p:cNvPr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3BC9A-65B8-0379-A05E-5396389C142A}"/>
              </a:ext>
            </a:extLst>
          </p:cNvPr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Complexity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7F8AC1-B3F5-D28C-99B1-0EDD28523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903"/>
            <a:ext cx="9144000" cy="43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34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0030"/>
            <a:ext cx="914400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695"/>
            <a:ext cx="9144000" cy="4690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695"/>
            <a:ext cx="9144000" cy="46901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Minimum Spanning Tree (MST)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A spanning tree of all V vertices with minimum total edge weight — exactly V-1 edges, no cycles.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Prim's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Vertex-centric — grow MST from a start vertex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Add cheapest edge crossing the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78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Uses a min-heap (priority queue)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O((V+E) log 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Best for: dense graphs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Kruskal's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Edge-centric — sort edges by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30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Add edge if it doesn't create a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7802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Uses Union-Find (Disjoint Set Union)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82549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O(E log 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729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Best for: sparse graphs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22191"/>
            <a:ext cx="8503920" cy="102412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Applications: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Network cable layout (minimum cost wiring)  •  Cluster analysis  •  Image segmentation  •  Approximation for NP-hard problems (TSP).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"/>
            <a:ext cx="9144000" cy="50901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005"/>
            <a:ext cx="9144000" cy="52235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Topological Sort  —  DAGs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Linear ordering of vertices so that for every directed edge u→v, u appears before v.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16152"/>
            <a:ext cx="41148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DFS Post-order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Run DFS on all unvisited vertices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Append node AFTER all descendants visited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78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Reverse the resulting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25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O(V + 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Naturally propagates through recursion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216152"/>
            <a:ext cx="41605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325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Kahn's Algorithm (BFS)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Compute in-degree for all vertices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30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Enqueue all zero in-degree vertices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7802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Dequeue → output → reduce neighbors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82549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Time: O(V + 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729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•  Output length ≠ V  →  cycle exists!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22191"/>
            <a:ext cx="850392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Applications: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Build &amp; compile order (Makefiles, npm)  •  Course prerequisite scheduling  •  Task scheduling with dependencies  •  Symbol resolution in linkers.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3404"/>
            <a:ext cx="9144000" cy="62903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503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Algorithm Complexity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49808"/>
            <a:ext cx="1545336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80467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749808"/>
            <a:ext cx="16002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92807" y="804671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Time Complexity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4" y="749808"/>
            <a:ext cx="658368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804671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749808"/>
            <a:ext cx="16002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61104" y="804671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Data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749808"/>
            <a:ext cx="3511296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16168" y="80467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234440"/>
            <a:ext cx="15453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12893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BFS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234440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92807" y="1289304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 + 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3864" y="1234440"/>
            <a:ext cx="6583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128930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7096" y="1234440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61104" y="1289304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234440"/>
            <a:ext cx="351129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16168" y="128930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Shortest path (unweighted)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719072"/>
            <a:ext cx="154533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17739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DFS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1719072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92807" y="1773936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 + 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3864" y="1719072"/>
            <a:ext cx="658368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47872" y="1773936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7096" y="1719072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1773936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Stack / Recursion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719072"/>
            <a:ext cx="351129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16168" y="177393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Cycle detection, components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203704"/>
            <a:ext cx="15453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2608" y="22585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Dijkstra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203704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92807" y="2258568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O((V+E) log 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83864" y="2203704"/>
            <a:ext cx="6583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47872" y="2258568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7096" y="2203704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61104" y="2258568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Min-Heap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2203704"/>
            <a:ext cx="351129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16168" y="225856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Shortest path (pos weights)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688336"/>
            <a:ext cx="154533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2608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Bellman-Ford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2688336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92807" y="274320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 × 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83864" y="2688336"/>
            <a:ext cx="658368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47872" y="2743200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97096" y="2688336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61104" y="2743200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Array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2688336"/>
            <a:ext cx="351129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16168" y="2743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Shortest path (neg weights)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3172968"/>
            <a:ext cx="15453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2608" y="32278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Floyd-Warshall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72968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92807" y="3227832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O(V³)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83864" y="3172968"/>
            <a:ext cx="6583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47872" y="3227832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O(V²)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7096" y="3172968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104" y="3227832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2D Matrix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3172968"/>
            <a:ext cx="351129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16168" y="322783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All-pairs shortest paths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657600"/>
            <a:ext cx="154533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2608" y="371246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Prim's MST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0" y="3657600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892807" y="3712463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O((V+E) log V)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83864" y="3657600"/>
            <a:ext cx="658368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547872" y="3712463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97096" y="3657600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61104" y="3712463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Priority Queue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52160" y="3657600"/>
            <a:ext cx="351129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16168" y="3712463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MST — dense graphs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142232"/>
            <a:ext cx="154533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92608" y="41970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Kruskal's MST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42232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892807" y="4197096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O(E log 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83864" y="4142232"/>
            <a:ext cx="6583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47872" y="4197096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97096" y="4142232"/>
            <a:ext cx="1600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61104" y="4197096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Union-Find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4142232"/>
            <a:ext cx="351129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16168" y="41970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MST — sparse graphs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4626864"/>
            <a:ext cx="154533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92608" y="4681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Topological Sort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0" y="4626864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892807" y="4681728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 + E)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83864" y="4626864"/>
            <a:ext cx="658368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547872" y="4681728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O(V)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97096" y="4626864"/>
            <a:ext cx="16002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61104" y="4681728"/>
            <a:ext cx="151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Stack / Queue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52160" y="4626864"/>
            <a:ext cx="3511296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16168" y="46817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0F172A"/>
                </a:solidFill>
                <a:latin typeface="Calibri"/>
              </a:rPr>
              <a:t>Task ordering (DAGs)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097280"/>
            <a:ext cx="5029200" cy="5029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92240" y="2468880"/>
            <a:ext cx="4114800" cy="4114800"/>
          </a:xfrm>
          <a:prstGeom prst="ellipse">
            <a:avLst/>
          </a:prstGeom>
          <a:solidFill>
            <a:srgbClr val="1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84831"/>
            <a:ext cx="9144000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Session Complete!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5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923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•  Graphs = Vertices + Edges — adjacency list for sparse, matrix for 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381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•  BFS → shortest path (unweighted)   •   DFS → cycle detection,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7705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•  Dijkstra (non-neg)  •  Bellman-Ford (neg weights)  •  Floyd-Warshall (all-pairs)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  <a:latin typeface="Calibri"/>
              </a:rPr>
              <a:t>•  Prim's &amp; Kruskal's build MSTs   •   Topological Sort orders DAG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39</cp:revision>
  <dcterms:created xsi:type="dcterms:W3CDTF">2013-01-27T09:14:16Z</dcterms:created>
  <dcterms:modified xsi:type="dcterms:W3CDTF">2026-06-01T21:50:20Z</dcterms:modified>
  <cp:category/>
</cp:coreProperties>
</file>