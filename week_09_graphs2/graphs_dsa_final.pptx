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0" y="2560320"/>
            <a:ext cx="4572000" cy="45720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06640" y="3383280"/>
            <a:ext cx="2560320" cy="25603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-1097280"/>
            <a:ext cx="4572000" cy="4572000"/>
          </a:xfrm>
          <a:prstGeom prst="ellipse">
            <a:avLst/>
          </a:prstGeom>
          <a:solidFill>
            <a:srgbClr val="16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777240"/>
            <a:ext cx="7772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Graph Data Structures
&amp; Algorithms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7180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93C5FD"/>
                </a:solidFill>
                <a:latin typeface="Calibri"/>
              </a:rPr>
              <a:t>3-Hour University Session  •  Python Implementations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49039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Representations  •  BFS  •  DFS  •  Shortest Paths  •  MST  •  Topological Sort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Session 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50392"/>
            <a:ext cx="8412480" cy="1170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850392"/>
            <a:ext cx="246888" cy="117043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Part 1 — 60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44752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F172A"/>
                </a:solidFill>
                <a:latin typeface="Calibri"/>
              </a:rPr>
              <a:t>Graph Basics &amp; Representations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221992"/>
            <a:ext cx="8412480" cy="1170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221992"/>
            <a:ext cx="246888" cy="11704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Part 2 — 60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16352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F172A"/>
                </a:solidFill>
                <a:latin typeface="Calibri"/>
              </a:rPr>
              <a:t>BFS, DFS &amp; Connected Components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593592"/>
            <a:ext cx="8412480" cy="1170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3593592"/>
            <a:ext cx="246888" cy="11704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703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Part 3 — 60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187952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F172A"/>
                </a:solidFill>
                <a:latin typeface="Calibri"/>
              </a:rPr>
              <a:t>Shortest Paths, MST &amp; Topological Sort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132320" y="-822960"/>
            <a:ext cx="3657600" cy="3657600"/>
          </a:xfrm>
          <a:prstGeom prst="ellipse">
            <a:avLst/>
          </a:prstGeom>
          <a:solidFill>
            <a:srgbClr val="1E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822960" y="2926080"/>
            <a:ext cx="3200400" cy="3200400"/>
          </a:xfrm>
          <a:prstGeom prst="ellipse">
            <a:avLst/>
          </a:prstGeom>
          <a:solidFill>
            <a:srgbClr val="16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5760" y="411480"/>
            <a:ext cx="1508760" cy="1508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411480"/>
            <a:ext cx="15087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33172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PART 1 — GRAPH BASICS &amp; REPRESENTATIONS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273552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3C5FD"/>
                </a:solidFill>
                <a:latin typeface="Calibri"/>
              </a:rPr>
              <a:t>Adjacency Matrix  •  Adjacency List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82296"/>
            <a:ext cx="85039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What Is a Graph?  —  G = (V, E)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77240"/>
            <a:ext cx="466344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777240"/>
            <a:ext cx="201168" cy="10058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868680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V — Vertices (Nodes)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28016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Individual entities.
E.g. cities, users, web pages.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920240"/>
            <a:ext cx="466344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920240"/>
            <a:ext cx="201168" cy="1005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11680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E — Edges (Links)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42316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Relationships between vertex pairs.
Directed (→) or undirected (—).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3017520"/>
            <a:ext cx="4663440" cy="18288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127248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Real-World Examples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20440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Social networks — users &amp; friendships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840480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Road maps — cities &amp; roads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60520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Internet — routers &amp; cables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80560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Compilers — code &amp; dependencies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144768" y="1069848"/>
            <a:ext cx="1554480" cy="137160"/>
          </a:xfrm>
          <a:prstGeom prst="line">
            <a:avLst/>
          </a:prstGeom>
          <a:ln w="2794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699248" y="1069848"/>
            <a:ext cx="777240" cy="1280160"/>
          </a:xfrm>
          <a:prstGeom prst="line">
            <a:avLst/>
          </a:prstGeom>
          <a:ln w="2794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7104888" y="2350008"/>
            <a:ext cx="1371600" cy="914400"/>
          </a:xfrm>
          <a:prstGeom prst="line">
            <a:avLst/>
          </a:prstGeom>
          <a:ln w="2794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 flipV="1">
            <a:off x="5779007" y="2487168"/>
            <a:ext cx="1325881" cy="777240"/>
          </a:xfrm>
          <a:prstGeom prst="line">
            <a:avLst/>
          </a:prstGeom>
          <a:ln w="2794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779007" y="1207008"/>
            <a:ext cx="365761" cy="1280160"/>
          </a:xfrm>
          <a:prstGeom prst="line">
            <a:avLst/>
          </a:prstGeom>
          <a:ln w="2794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44768" y="1207008"/>
            <a:ext cx="2331720" cy="1143000"/>
          </a:xfrm>
          <a:prstGeom prst="line">
            <a:avLst/>
          </a:prstGeom>
          <a:ln w="2794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5943600" y="1005840"/>
            <a:ext cx="402336" cy="402336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0" y="1005840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6" name="Oval 25"/>
          <p:cNvSpPr/>
          <p:nvPr/>
        </p:nvSpPr>
        <p:spPr>
          <a:xfrm>
            <a:off x="7498079" y="868680"/>
            <a:ext cx="402336" cy="402336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79" y="868680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8" name="Oval 27"/>
          <p:cNvSpPr/>
          <p:nvPr/>
        </p:nvSpPr>
        <p:spPr>
          <a:xfrm>
            <a:off x="8275320" y="2148840"/>
            <a:ext cx="402336" cy="402336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148840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0" name="Oval 29"/>
          <p:cNvSpPr/>
          <p:nvPr/>
        </p:nvSpPr>
        <p:spPr>
          <a:xfrm>
            <a:off x="6903720" y="3063240"/>
            <a:ext cx="402336" cy="402336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3720" y="3063240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2" name="Oval 31"/>
          <p:cNvSpPr/>
          <p:nvPr/>
        </p:nvSpPr>
        <p:spPr>
          <a:xfrm>
            <a:off x="5577840" y="2286000"/>
            <a:ext cx="402336" cy="402336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0" y="2286000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000" y="3840480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|V| = 5   |E| =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82296"/>
            <a:ext cx="85039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Graph Types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77240"/>
            <a:ext cx="2788920" cy="19933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777240"/>
            <a:ext cx="2788920" cy="3474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832103"/>
            <a:ext cx="256032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Undirected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1252728"/>
            <a:ext cx="251460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Edges have no direction.
Friendships, roads.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777240"/>
            <a:ext cx="2788920" cy="19933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777240"/>
            <a:ext cx="2788920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32103"/>
            <a:ext cx="256032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Directed (DAG)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28416" y="1252728"/>
            <a:ext cx="251460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Edges have direction →.
Web pages, tasks.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777240"/>
            <a:ext cx="2788920" cy="19933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777240"/>
            <a:ext cx="2788920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6208" y="832103"/>
            <a:ext cx="256032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Weighted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4496" y="1252728"/>
            <a:ext cx="251460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Edges carry a cost.
Maps, distances.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926080"/>
            <a:ext cx="2788920" cy="19933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2926080"/>
            <a:ext cx="278892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2980944"/>
            <a:ext cx="256032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Unweighted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" y="3401568"/>
            <a:ext cx="251460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Edges treated equally.
Simple traversal.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2926080"/>
            <a:ext cx="2788920" cy="19933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0" y="2926080"/>
            <a:ext cx="2788920" cy="3474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980944"/>
            <a:ext cx="256032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Cyclic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28416" y="3401568"/>
            <a:ext cx="251460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Contains at least one cycle.
General graphs.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2926080"/>
            <a:ext cx="2788920" cy="19933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2926080"/>
            <a:ext cx="2788920" cy="34747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36208" y="2980944"/>
            <a:ext cx="256032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Acyclic (DAG)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3401568"/>
            <a:ext cx="251460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No cycles — directed.
Build systems.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82296"/>
            <a:ext cx="85039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Adjacency Matrix  vs  Adjacency 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77240"/>
            <a:ext cx="411480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8696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Adjacency 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F172A"/>
                </a:solidFill>
                <a:latin typeface="Calibri"/>
              </a:rPr>
              <a:t>•  Space:  O(V²)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190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F172A"/>
                </a:solidFill>
                <a:latin typeface="Calibri"/>
              </a:rPr>
              <a:t>•  Edge check:  O(1)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F172A"/>
                </a:solidFill>
                <a:latin typeface="Calibri"/>
              </a:rPr>
              <a:t>•  Iterate neighbors:  O(V)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5059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F172A"/>
                </a:solidFill>
                <a:latin typeface="Calibri"/>
              </a:rPr>
              <a:t>•  Best for:  dense graphs (E ≈ V²)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61488"/>
            <a:ext cx="502919" cy="256031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61488"/>
            <a:ext cx="50291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72A"/>
                </a:solidFill>
                <a:latin typeface="Calibri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069848" y="2761488"/>
            <a:ext cx="502919" cy="256031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2761488"/>
            <a:ext cx="50291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72A"/>
                </a:solidFill>
                <a:latin typeface="Calibri"/>
              </a:rPr>
              <a:t>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91055" y="2761488"/>
            <a:ext cx="502919" cy="256031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91055" y="2761488"/>
            <a:ext cx="50291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12264" y="2761488"/>
            <a:ext cx="502919" cy="256031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12264" y="2761488"/>
            <a:ext cx="50291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472" y="2761488"/>
            <a:ext cx="502919" cy="256031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33472" y="2761488"/>
            <a:ext cx="50291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035808"/>
            <a:ext cx="502919" cy="256031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035808"/>
            <a:ext cx="50291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72A"/>
                </a:solidFill>
                <a:latin typeface="Calibri"/>
              </a:rPr>
              <a:t>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9848" y="3035808"/>
            <a:ext cx="50291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9848" y="3035808"/>
            <a:ext cx="50291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F172A"/>
                </a:solidFill>
                <a:latin typeface="Calibri"/>
              </a:rPr>
              <a:t>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91055" y="3035808"/>
            <a:ext cx="50291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91055" y="3035808"/>
            <a:ext cx="50291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B82F6"/>
                </a:solidFill>
                <a:latin typeface="Calibri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12264" y="3035808"/>
            <a:ext cx="50291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12264" y="3035808"/>
            <a:ext cx="50291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B82F6"/>
                </a:solidFill>
                <a:latin typeface="Calibri"/>
              </a:rPr>
              <a:t>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33472" y="3035808"/>
            <a:ext cx="50291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33472" y="3035808"/>
            <a:ext cx="50291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F172A"/>
                </a:solidFill>
                <a:latin typeface="Calibri"/>
              </a:rPr>
              <a:t>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10128"/>
            <a:ext cx="502919" cy="256031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310128"/>
            <a:ext cx="50291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9848" y="3310128"/>
            <a:ext cx="50291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9848" y="3310128"/>
            <a:ext cx="50291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B82F6"/>
                </a:solidFill>
                <a:latin typeface="Calibri"/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91055" y="3310128"/>
            <a:ext cx="50291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91055" y="3310128"/>
            <a:ext cx="50291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F172A"/>
                </a:solidFill>
                <a:latin typeface="Calibri"/>
              </a:rPr>
              <a:t>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12264" y="3310128"/>
            <a:ext cx="50291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12264" y="3310128"/>
            <a:ext cx="50291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F172A"/>
                </a:solidFill>
                <a:latin typeface="Calibri"/>
              </a:rPr>
              <a:t>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33472" y="3310128"/>
            <a:ext cx="50291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33472" y="3310128"/>
            <a:ext cx="50291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B82F6"/>
                </a:solidFill>
                <a:latin typeface="Calibri"/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3584448"/>
            <a:ext cx="502919" cy="256031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3584448"/>
            <a:ext cx="50291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69848" y="3584448"/>
            <a:ext cx="50291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9848" y="3584448"/>
            <a:ext cx="50291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B82F6"/>
                </a:solidFill>
                <a:latin typeface="Calibri"/>
              </a:rPr>
              <a:t>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91055" y="3584448"/>
            <a:ext cx="50291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91055" y="3584448"/>
            <a:ext cx="50291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F172A"/>
                </a:solidFill>
                <a:latin typeface="Calibri"/>
              </a:rPr>
              <a:t>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112264" y="3584448"/>
            <a:ext cx="50291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112264" y="3584448"/>
            <a:ext cx="50291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F172A"/>
                </a:solidFill>
                <a:latin typeface="Calibri"/>
              </a:rPr>
              <a:t>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33472" y="3584448"/>
            <a:ext cx="50291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33472" y="3584448"/>
            <a:ext cx="50291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B82F6"/>
                </a:solidFill>
                <a:latin typeface="Calibri"/>
              </a:rPr>
              <a:t>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3858768"/>
            <a:ext cx="502919" cy="256031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3858768"/>
            <a:ext cx="50291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69848" y="3858768"/>
            <a:ext cx="50291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69848" y="3858768"/>
            <a:ext cx="50291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F172A"/>
                </a:solidFill>
                <a:latin typeface="Calibri"/>
              </a:rPr>
              <a:t>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591055" y="3858768"/>
            <a:ext cx="50291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91055" y="3858768"/>
            <a:ext cx="50291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B82F6"/>
                </a:solidFill>
                <a:latin typeface="Calibri"/>
              </a:rPr>
              <a:t>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112264" y="3858768"/>
            <a:ext cx="50291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112264" y="3858768"/>
            <a:ext cx="50291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B82F6"/>
                </a:solidFill>
                <a:latin typeface="Calibri"/>
              </a:rPr>
              <a:t>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633472" y="3858768"/>
            <a:ext cx="502919" cy="2560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633472" y="3858768"/>
            <a:ext cx="50291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F172A"/>
                </a:solidFill>
                <a:latin typeface="Calibri"/>
              </a:rPr>
              <a:t>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663440" y="777240"/>
            <a:ext cx="416052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892040" y="88696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Adjacency List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92040" y="135331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F172A"/>
                </a:solidFill>
                <a:latin typeface="Calibri"/>
              </a:rPr>
              <a:t>•  Space:  O(V + E)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92040" y="17190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F172A"/>
                </a:solidFill>
                <a:latin typeface="Calibri"/>
              </a:rPr>
              <a:t>•  Edge check:  O(degree)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92040" y="208483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F172A"/>
                </a:solidFill>
                <a:latin typeface="Calibri"/>
              </a:rPr>
              <a:t>•  Iterate neighbors:  O(degree)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92040" y="245059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F172A"/>
                </a:solidFill>
                <a:latin typeface="Calibri"/>
              </a:rPr>
              <a:t>•  Best for:  sparse graphs (most cases)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736592" y="2761488"/>
            <a:ext cx="1252728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82312" y="2761488"/>
            <a:ext cx="120700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53328" y="2761488"/>
            <a:ext cx="1161288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099048" y="2761488"/>
            <a:ext cx="11155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Matrix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278624" y="2761488"/>
            <a:ext cx="1069848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24344" y="2761488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List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736592" y="3035808"/>
            <a:ext cx="125272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82312" y="3035808"/>
            <a:ext cx="120700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Space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053328" y="3035808"/>
            <a:ext cx="116128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099048" y="3035808"/>
            <a:ext cx="11155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O(V²)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278624" y="3035808"/>
            <a:ext cx="106984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24344" y="3035808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O(V+E)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736592" y="3310128"/>
            <a:ext cx="125272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82312" y="3310128"/>
            <a:ext cx="120700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Edge check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053328" y="3310128"/>
            <a:ext cx="116128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99048" y="3310128"/>
            <a:ext cx="11155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O(1)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278624" y="3310128"/>
            <a:ext cx="106984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324344" y="3310128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O(degree)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736592" y="3584448"/>
            <a:ext cx="125272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782312" y="3584448"/>
            <a:ext cx="120700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Neighbors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53328" y="3584448"/>
            <a:ext cx="116128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099048" y="3584448"/>
            <a:ext cx="11155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O(V)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278624" y="3584448"/>
            <a:ext cx="106984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324344" y="3584448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O(degree)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736592" y="3858768"/>
            <a:ext cx="125272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782312" y="3858768"/>
            <a:ext cx="120700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Best for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53328" y="3858768"/>
            <a:ext cx="116128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099048" y="3858768"/>
            <a:ext cx="11155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Dense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278624" y="3858768"/>
            <a:ext cx="106984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324344" y="3858768"/>
            <a:ext cx="1024127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Sparse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20040" y="4041648"/>
            <a:ext cx="8503920" cy="841248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02920" y="4133087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Use Adjacency List for most problems — less memory, faster neighbor iteration.  Use Matrix only when frequent O(1) edge-existence checks matter on dense graphs.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0005"/>
            <a:ext cx="9144000" cy="52235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73354"/>
            <a:ext cx="9144000" cy="549021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132320" y="-822960"/>
            <a:ext cx="3657600" cy="3657600"/>
          </a:xfrm>
          <a:prstGeom prst="ellipse">
            <a:avLst/>
          </a:prstGeom>
          <a:solidFill>
            <a:srgbClr val="1E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822960" y="2926080"/>
            <a:ext cx="3200400" cy="3200400"/>
          </a:xfrm>
          <a:prstGeom prst="ellipse">
            <a:avLst/>
          </a:prstGeom>
          <a:solidFill>
            <a:srgbClr val="16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5760" y="411480"/>
            <a:ext cx="1508760" cy="1508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411480"/>
            <a:ext cx="15087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33172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PART 2 — BFS, DFS &amp; CONNECTED COMPONENTS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273552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3C5FD"/>
                </a:solidFill>
                <a:latin typeface="Calibri"/>
              </a:rPr>
              <a:t>Breadth-First Search  •  Depth-First Search  •  Components &amp; Cycles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82296"/>
            <a:ext cx="85039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Breadth-First Search (BFS)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0F172A"/>
                </a:solidFill>
                <a:latin typeface="Calibri"/>
              </a:rPr>
              <a:t>Explores all neighbors at the current depth level before going deeper.  Uses a Queue (FIFO).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16152"/>
            <a:ext cx="41148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Properties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Time: O(V + 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21408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Space: O(V) — the queue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59736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Guarantees shortest path (unweighted)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98063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Level-order traversal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36391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Detects bipartite graphs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216152"/>
            <a:ext cx="416052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132588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783080"/>
            <a:ext cx="374903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Shortest path in unweighted graphs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121408"/>
            <a:ext cx="374903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Web crawlers &amp; link discovery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459736"/>
            <a:ext cx="374903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Social network separation degrees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2798063"/>
            <a:ext cx="374903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GPS — nearest location 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3136391"/>
            <a:ext cx="374903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Network broadcasting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822191"/>
            <a:ext cx="8503920" cy="1024128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9136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Steps: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187952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1. Mark start visited  →  2. Enqueue start  →  3. While queue not empty: dequeue node, visit it, enqueue all unvisited neighbors and mark visited.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0019"/>
            <a:ext cx="9144000" cy="48234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82296"/>
            <a:ext cx="85039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Depth-First Search (DFS)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0F172A"/>
                </a:solidFill>
                <a:latin typeface="Calibri"/>
              </a:rPr>
              <a:t>Explores as far as possible along each branch before backtracking.  Uses a Stack (or recursion).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16152"/>
            <a:ext cx="41148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Properties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Time: O(V + 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21408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Space: O(V) — stack/recursion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59736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Does NOT find shortest paths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98063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Detects cycles (back edges)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36391"/>
            <a:ext cx="3657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Finds connected components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216152"/>
            <a:ext cx="416052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132588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BFS  vs  DFS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1783080"/>
            <a:ext cx="416052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83080"/>
            <a:ext cx="146304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783080"/>
            <a:ext cx="118872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BFS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1783080"/>
            <a:ext cx="123444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DFS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2075688"/>
            <a:ext cx="4160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9160" y="2075688"/>
            <a:ext cx="146304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2075688"/>
            <a:ext cx="118872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B82F6"/>
                </a:solidFill>
                <a:latin typeface="Calibri"/>
              </a:rPr>
              <a:t>Queue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2075688"/>
            <a:ext cx="123444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59E0B"/>
                </a:solidFill>
                <a:latin typeface="Calibri"/>
              </a:rPr>
              <a:t>Stack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440" y="2368296"/>
            <a:ext cx="416052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9160" y="2368296"/>
            <a:ext cx="146304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Shortest path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368296"/>
            <a:ext cx="118872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B82F6"/>
                </a:solidFill>
                <a:latin typeface="Calibri"/>
              </a:rPr>
              <a:t>✓ 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2368296"/>
            <a:ext cx="123444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59E0B"/>
                </a:solidFill>
                <a:latin typeface="Calibri"/>
              </a:rPr>
              <a:t>✗ 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2660904"/>
            <a:ext cx="4160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60" y="2660904"/>
            <a:ext cx="146304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Wide graph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2660904"/>
            <a:ext cx="118872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B82F6"/>
                </a:solidFill>
                <a:latin typeface="Calibri"/>
              </a:rPr>
              <a:t>More mem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360" y="2660904"/>
            <a:ext cx="123444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59E0B"/>
                </a:solidFill>
                <a:latin typeface="Calibri"/>
              </a:rPr>
              <a:t>Less mem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63440" y="2953512"/>
            <a:ext cx="416052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09160" y="2953512"/>
            <a:ext cx="146304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Cycle detect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953512"/>
            <a:ext cx="118872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B82F6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2953512"/>
            <a:ext cx="123444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59E0B"/>
                </a:solidFill>
                <a:latin typeface="Calibri"/>
              </a:rPr>
              <a:t>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3246120"/>
            <a:ext cx="4160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09160" y="3246120"/>
            <a:ext cx="146304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Topo sort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3246120"/>
            <a:ext cx="118872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B82F6"/>
                </a:solidFill>
                <a:latin typeface="Calibri"/>
              </a:rPr>
              <a:t>✓ Kahn's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52360" y="3246120"/>
            <a:ext cx="123444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59E0B"/>
                </a:solidFill>
                <a:latin typeface="Calibri"/>
              </a:rPr>
              <a:t>✓ Post-order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3822191"/>
            <a:ext cx="8503920" cy="1024128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9136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Recursive vs Iterative: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187952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Recursive — clean and concise, limited by Python's ~1000 frame depth.  Iterative — explicit stack handles arbitrarily deep graphs safely.  Both visit nodes in identical order.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3395"/>
            <a:ext cx="9144000" cy="415671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3404"/>
            <a:ext cx="9144000" cy="629031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132320" y="-822960"/>
            <a:ext cx="3657600" cy="3657600"/>
          </a:xfrm>
          <a:prstGeom prst="ellipse">
            <a:avLst/>
          </a:prstGeom>
          <a:solidFill>
            <a:srgbClr val="1E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822960" y="2926080"/>
            <a:ext cx="3200400" cy="3200400"/>
          </a:xfrm>
          <a:prstGeom prst="ellipse">
            <a:avLst/>
          </a:prstGeom>
          <a:solidFill>
            <a:srgbClr val="16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5760" y="411480"/>
            <a:ext cx="1508760" cy="1508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411480"/>
            <a:ext cx="15087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33172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PART 3 — SHORTEST PATHS, MST &amp; TOPOLOGICAL SORT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273552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3C5FD"/>
                </a:solidFill>
                <a:latin typeface="Calibri"/>
              </a:rPr>
              <a:t>Dijkstra  •  Bellman-Ford  •  Floyd-Warshall  •  Prim's  •  Kruskal's  •  Topo Sort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82296"/>
            <a:ext cx="85039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Dijkstra's Shortest Path  —  Non-negative weights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0F172A"/>
                </a:solidFill>
                <a:latin typeface="Calibri"/>
              </a:rPr>
              <a:t>Greedy algorithm: once a vertex is popped from the min-heap its distance is finalised forever.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16152"/>
            <a:ext cx="41148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Calibri"/>
              </a:rPr>
              <a:t>1.  dist[start] = 0,  all others = 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Calibri"/>
              </a:rPr>
              <a:t>2.  Push (0, start) into min-heap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8658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Calibri"/>
              </a:rPr>
              <a:t>3.  Pop vertex u with smallest dist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8833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Calibri"/>
              </a:rPr>
              <a:t>4.  For each neighbor v:  if dist[u]+w &lt; dist[v]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900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Calibri"/>
              </a:rPr>
              <a:t>       update dist[v], push (dist[v], v)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918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Calibri"/>
              </a:rPr>
              <a:t>5.  Repeat until heap is empty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216152"/>
            <a:ext cx="416052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132588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Complexity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178308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Calibri"/>
              </a:rPr>
              <a:t>•  Time: O((V+E) log V) with min-heap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084831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Calibri"/>
              </a:rPr>
              <a:t>•  Space: O(V)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238658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Calibri"/>
              </a:rPr>
              <a:t>•  Fast in practice for road networks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688336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F4444"/>
                </a:solidFill>
                <a:latin typeface="Calibri"/>
              </a:rPr>
              <a:t>•  ⚠  Fails with negative weights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2990088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F4444"/>
                </a:solidFill>
                <a:latin typeface="Calibri"/>
              </a:rPr>
              <a:t>•  ⚠  Use Bellman-Ford for negatives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32918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0B981"/>
                </a:solidFill>
                <a:latin typeface="Calibri"/>
              </a:rPr>
              <a:t>•  ✓  Full path reconstructable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822191"/>
            <a:ext cx="8503920" cy="1024128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9136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Comparison: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187952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Dijkstra O((V+E)logV) — non-neg only, fastest in practice.   Bellman-Ford O(V×E) — handles negative weights, detects negative cycles.   Floyd-Warshall O(V³) — all-pairs shortest paths.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40030"/>
            <a:ext cx="9144000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6695"/>
            <a:ext cx="9144000" cy="469011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6695"/>
            <a:ext cx="9144000" cy="469011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82296"/>
            <a:ext cx="85039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Minimum Spanning Tree (MST)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0F172A"/>
                </a:solidFill>
                <a:latin typeface="Calibri"/>
              </a:rPr>
              <a:t>A spanning tree of all V vertices with minimum total edge weight — exactly V-1 edges, no cycles.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16152"/>
            <a:ext cx="41148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Prim's Algorithm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Vertex-centric — grow MST from a start vertex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305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Add cheapest edge crossing the cut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780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Uses a min-heap (priority queue)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2549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Time: O((V+E) log 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7296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Best for: dense graphs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216152"/>
            <a:ext cx="416052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132588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Kruskal's Algorithm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78308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Edge-centric — sort edges by weight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13055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Add edge if it doesn't create a cycle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478024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Uses Union-Find (Disjoint Set Union)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2825496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Time: O(E log 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3172968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Best for: sparse graphs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822191"/>
            <a:ext cx="8503920" cy="1024128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9136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Applications: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187952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Network cable layout (minimum cost wiring)  •  Cluster analysis  •  Image segmentation  •  Approximation for NP-hard problems (TSP).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70"/>
            <a:ext cx="9144000" cy="50901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0005"/>
            <a:ext cx="9144000" cy="522351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82296"/>
            <a:ext cx="85039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Topological Sort  —  DAGs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0F172A"/>
                </a:solidFill>
                <a:latin typeface="Calibri"/>
              </a:rPr>
              <a:t>Linear ordering of vertices so that for every directed edge u→v, u appears before v.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16152"/>
            <a:ext cx="41148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DFS Post-order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Run DFS on all unvisited vertices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305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Append node AFTER all descendants visited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780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Reverse the resulting 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2549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Time: O(V + 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7296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Naturally propagates through recursion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216152"/>
            <a:ext cx="416052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132588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Kahn's Algorithm (BFS)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78308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Compute in-degree for all vertices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13055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Enqueue all zero in-degree vertices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478024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Dequeue → output → reduce neighbors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2825496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Time: O(V + 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3172968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•  Output length ≠ V  →  cycle exists!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822191"/>
            <a:ext cx="8503920" cy="1024128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9136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Calibri"/>
              </a:rPr>
              <a:t>Applications: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187952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Build &amp; compile order (Makefiles, npm)  •  Course prerequisite scheduling  •  Task scheduling with dependencies  •  Symbol resolution in linkers.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3404"/>
            <a:ext cx="9144000" cy="629031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82296"/>
            <a:ext cx="85039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Algorithm Complexity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749808"/>
            <a:ext cx="1545336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804671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 i="0">
                <a:solidFill>
                  <a:srgbClr val="FFFFFF"/>
                </a:solidFill>
                <a:latin typeface="Calibri"/>
              </a:rPr>
              <a:t>Algorithm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0" y="749808"/>
            <a:ext cx="160020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92807" y="804671"/>
            <a:ext cx="1517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 i="0">
                <a:solidFill>
                  <a:srgbClr val="FFFFFF"/>
                </a:solidFill>
                <a:latin typeface="Calibri"/>
              </a:rPr>
              <a:t>Time Complexity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3864" y="749808"/>
            <a:ext cx="658368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7872" y="804671"/>
            <a:ext cx="576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 i="0">
                <a:solidFill>
                  <a:srgbClr val="FFFFFF"/>
                </a:solidFill>
                <a:latin typeface="Calibri"/>
              </a:rPr>
              <a:t>Space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97096" y="749808"/>
            <a:ext cx="160020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1104" y="804671"/>
            <a:ext cx="1517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 i="0">
                <a:solidFill>
                  <a:srgbClr val="FFFFFF"/>
                </a:solidFill>
                <a:latin typeface="Calibri"/>
              </a:rPr>
              <a:t>Data Structure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749808"/>
            <a:ext cx="3511296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16168" y="804671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 i="0">
                <a:solidFill>
                  <a:srgbClr val="FFFFFF"/>
                </a:solidFill>
                <a:latin typeface="Calibri"/>
              </a:rPr>
              <a:t>Use Case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1234440"/>
            <a:ext cx="1545336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" y="1289304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BFS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1234440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92807" y="1289304"/>
            <a:ext cx="1517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O(V + 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83864" y="1234440"/>
            <a:ext cx="65836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47872" y="1289304"/>
            <a:ext cx="576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O(V)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97096" y="1234440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61104" y="1289304"/>
            <a:ext cx="1517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Queue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52160" y="1234440"/>
            <a:ext cx="3511296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16168" y="1289304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Shortest path (unweighted)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1719072"/>
            <a:ext cx="1545336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1773936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DFS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0" y="1719072"/>
            <a:ext cx="1600200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92807" y="1773936"/>
            <a:ext cx="1517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O(V + 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83864" y="1719072"/>
            <a:ext cx="658368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47872" y="1773936"/>
            <a:ext cx="576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O(V)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97096" y="1719072"/>
            <a:ext cx="1600200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61104" y="1773936"/>
            <a:ext cx="1517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Stack / Recursion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52160" y="1719072"/>
            <a:ext cx="3511296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16168" y="1773936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Cycle detection, components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8600" y="2203704"/>
            <a:ext cx="1545336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2608" y="225856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Dijkstra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0" y="2203704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92807" y="2258568"/>
            <a:ext cx="1517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O((V+E) log V)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83864" y="2203704"/>
            <a:ext cx="65836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47872" y="2258568"/>
            <a:ext cx="576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O(V)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97096" y="2203704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4" y="2258568"/>
            <a:ext cx="1517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Min-Heap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52160" y="2203704"/>
            <a:ext cx="3511296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16168" y="225856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Shortest path (pos weights)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8600" y="2688336"/>
            <a:ext cx="1545336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92608" y="27432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Bellman-Ford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28800" y="2688336"/>
            <a:ext cx="1600200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92807" y="2743200"/>
            <a:ext cx="1517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O(V × E)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483864" y="2688336"/>
            <a:ext cx="658368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47872" y="2743200"/>
            <a:ext cx="576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O(V)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97096" y="2688336"/>
            <a:ext cx="1600200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4" y="2743200"/>
            <a:ext cx="1517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Array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52160" y="2688336"/>
            <a:ext cx="3511296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16168" y="274320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Shortest path (neg weights)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8600" y="3172968"/>
            <a:ext cx="1545336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2608" y="322783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Floyd-Warshall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28800" y="3172968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92807" y="3227832"/>
            <a:ext cx="1517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O(V³)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83864" y="3172968"/>
            <a:ext cx="65836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547872" y="3227832"/>
            <a:ext cx="576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O(V²)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97096" y="3172968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61104" y="3227832"/>
            <a:ext cx="1517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2D Matrix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52160" y="3172968"/>
            <a:ext cx="3511296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16168" y="3227832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All-pairs shortest paths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28600" y="3657600"/>
            <a:ext cx="1545336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92608" y="3712463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Prim's MST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0" y="3657600"/>
            <a:ext cx="1600200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892807" y="3712463"/>
            <a:ext cx="1517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O((V+E) log V)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83864" y="3657600"/>
            <a:ext cx="658368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47872" y="3712463"/>
            <a:ext cx="576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O(V)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97096" y="3657600"/>
            <a:ext cx="1600200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61104" y="3712463"/>
            <a:ext cx="1517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Priority Queue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852160" y="3657600"/>
            <a:ext cx="3511296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16168" y="3712463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MST — dense graphs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28600" y="4142232"/>
            <a:ext cx="1545336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92608" y="4197096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Kruskal's MST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828800" y="4142232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892807" y="4197096"/>
            <a:ext cx="1517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O(E log E)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483864" y="4142232"/>
            <a:ext cx="65836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547872" y="4197096"/>
            <a:ext cx="576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O(V)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197096" y="4142232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261104" y="4197096"/>
            <a:ext cx="1517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Union-Find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852160" y="4142232"/>
            <a:ext cx="3511296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16168" y="4197096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MST — sparse graphs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28600" y="4626864"/>
            <a:ext cx="1545336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92608" y="468172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Topological Sort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828800" y="4626864"/>
            <a:ext cx="1600200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892807" y="4681728"/>
            <a:ext cx="1517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O(V + E)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483864" y="4626864"/>
            <a:ext cx="658368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547872" y="4681728"/>
            <a:ext cx="576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O(V)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197096" y="4626864"/>
            <a:ext cx="1600200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261104" y="4681728"/>
            <a:ext cx="1517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Stack / Queue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852160" y="4626864"/>
            <a:ext cx="3511296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916168" y="468172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 i="0">
                <a:solidFill>
                  <a:srgbClr val="0F172A"/>
                </a:solidFill>
                <a:latin typeface="Calibri"/>
              </a:rPr>
              <a:t>Task ordering (DAGs)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097280"/>
            <a:ext cx="5029200" cy="50292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92240" y="2468880"/>
            <a:ext cx="4114800" cy="4114800"/>
          </a:xfrm>
          <a:prstGeom prst="ellipse">
            <a:avLst/>
          </a:prstGeom>
          <a:solidFill>
            <a:srgbClr val="15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84831"/>
            <a:ext cx="9144000" cy="7498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114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Session Complete!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3055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99232"/>
            <a:ext cx="7589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3C5FD"/>
                </a:solidFill>
                <a:latin typeface="Calibri"/>
              </a:rPr>
              <a:t>•  Graphs = Vertices + Edges — adjacency list for sparse, matrix for dense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38144"/>
            <a:ext cx="7589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3C5FD"/>
                </a:solidFill>
                <a:latin typeface="Calibri"/>
              </a:rPr>
              <a:t>•  BFS → shortest path (unweighted)   •   DFS → cycle detection, components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877056"/>
            <a:ext cx="7589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3C5FD"/>
                </a:solidFill>
                <a:latin typeface="Calibri"/>
              </a:rPr>
              <a:t>•  Dijkstra (non-neg)  •  Bellman-Ford (neg weights)  •  Floyd-Warshall (all-pairs)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15968"/>
            <a:ext cx="7589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3C5FD"/>
                </a:solidFill>
                <a:latin typeface="Calibri"/>
              </a:rPr>
              <a:t>•  Prim's &amp; Kruskal's build MSTs   •   Topological Sort orders DAG dependencies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09160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4A3B8"/>
                </a:solidFill>
                <a:latin typeface="Calibri"/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