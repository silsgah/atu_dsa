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2801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91695" cy="45720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822960"/>
            <a:ext cx="2926080" cy="530352"/>
          </a:xfrm>
          <a:prstGeom prst="round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292608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WEEK 03  · 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Floyd's Tortoise
&amp; 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E0A81F"/>
                </a:solidFill>
                <a:latin typeface="Calibri"/>
              </a:rPr>
              <a:t>Cycle Detection in O(N) Time and O(1)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F2F4F7"/>
                </a:solidFill>
                <a:latin typeface="Calibri"/>
              </a:rPr>
              <a:t>A deep-dive into Floyd's Cycle-Finding Algorithm — from intuition to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778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Algorithm   ·   Robert W. Floyd  (1967)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Module      ·   Data Structures &amp; Algorithms  —  Week 03  Supplement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Complexity  ·   Time O(N)  ·  Space O(1)  ·  Non-mutating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645920"/>
            <a:ext cx="22860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 i="0">
                <a:solidFill>
                  <a:srgbClr val="333D4A"/>
                </a:solidFill>
                <a:latin typeface="Calibri"/>
              </a:rPr>
              <a:t>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651760"/>
            <a:ext cx="22860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 i="0">
                <a:solidFill>
                  <a:srgbClr val="333D4A"/>
                </a:solidFill>
                <a:latin typeface="Calibri"/>
              </a:rPr>
              <a:t>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Lecture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What this deep-dive covers and why every part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Floyd's Tortoise &amp; Hare  ·  Cycle Detection  ·  Week 03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2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106424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 b="1">
                <a:solidFill>
                  <a:srgbClr val="0B2A4A"/>
                </a:solidFill>
                <a:latin typeface="Calibri"/>
              </a:rPr>
              <a:t>1. Motivation.  </a:t>
            </a:r>
            <a:r>
              <a:rPr sz="1700">
                <a:solidFill>
                  <a:srgbClr val="333D4A"/>
                </a:solidFill>
                <a:latin typeface="Calibri"/>
              </a:rPr>
              <a:t>Why cycle detection is harder than it looks.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 b="1">
                <a:solidFill>
                  <a:srgbClr val="0B2A4A"/>
                </a:solidFill>
                <a:latin typeface="Calibri"/>
              </a:rPr>
              <a:t>2. Naive Approaches.  </a:t>
            </a:r>
            <a:r>
              <a:rPr sz="1700">
                <a:solidFill>
                  <a:srgbClr val="333D4A"/>
                </a:solidFill>
                <a:latin typeface="Calibri"/>
              </a:rPr>
              <a:t>Hash sets, visited flags, step limits — and their costs.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 b="1">
                <a:solidFill>
                  <a:srgbClr val="0B2A4A"/>
                </a:solidFill>
                <a:latin typeface="Calibri"/>
              </a:rPr>
              <a:t>3. The Intuition.  </a:t>
            </a:r>
            <a:r>
              <a:rPr sz="1700">
                <a:solidFill>
                  <a:srgbClr val="333D4A"/>
                </a:solidFill>
                <a:latin typeface="Calibri"/>
              </a:rPr>
              <a:t>Two runners on a circular track; relative speed.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 b="1">
                <a:solidFill>
                  <a:srgbClr val="0B2A4A"/>
                </a:solidFill>
                <a:latin typeface="Calibri"/>
              </a:rPr>
              <a:t>4. How It Works.  </a:t>
            </a:r>
            <a:r>
              <a:rPr sz="1700">
                <a:solidFill>
                  <a:srgbClr val="333D4A"/>
                </a:solidFill>
                <a:latin typeface="Calibri"/>
              </a:rPr>
              <a:t>Step-by-step trace through a cyclic list.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 b="1">
                <a:solidFill>
                  <a:srgbClr val="0B2A4A"/>
                </a:solidFill>
                <a:latin typeface="Calibri"/>
              </a:rPr>
              <a:t>5. Correctness Proof.  </a:t>
            </a:r>
            <a:r>
              <a:rPr sz="1700">
                <a:solidFill>
                  <a:srgbClr val="333D4A"/>
                </a:solidFill>
                <a:latin typeface="Calibri"/>
              </a:rPr>
              <a:t>Mathematical argument — why they must meet.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 b="1">
                <a:solidFill>
                  <a:srgbClr val="0B2A4A"/>
                </a:solidFill>
                <a:latin typeface="Calibri"/>
              </a:rPr>
              <a:t>6. The Code.  </a:t>
            </a:r>
            <a:r>
              <a:rPr sz="1700">
                <a:solidFill>
                  <a:srgbClr val="333D4A"/>
                </a:solidFill>
                <a:latin typeface="Calibri"/>
              </a:rPr>
              <a:t>Annotated Python implementation from scratch.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 b="1">
                <a:solidFill>
                  <a:srgbClr val="0B2A4A"/>
                </a:solidFill>
                <a:latin typeface="Calibri"/>
              </a:rPr>
              <a:t>7. Finding the Entry Point.  </a:t>
            </a:r>
            <a:r>
              <a:rPr sz="1700">
                <a:solidFill>
                  <a:srgbClr val="333D4A"/>
                </a:solidFill>
                <a:latin typeface="Calibri"/>
              </a:rPr>
              <a:t>Floyd Part II: locating where the cycle begins.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 b="1">
                <a:solidFill>
                  <a:srgbClr val="0B2A4A"/>
                </a:solidFill>
                <a:latin typeface="Calibri"/>
              </a:rPr>
              <a:t>8. Complexity.  </a:t>
            </a:r>
            <a:r>
              <a:rPr sz="1700">
                <a:solidFill>
                  <a:srgbClr val="333D4A"/>
                </a:solidFill>
                <a:latin typeface="Calibri"/>
              </a:rPr>
              <a:t>Tight O(N) time, O(1) space — with proof sketch.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 b="1">
                <a:solidFill>
                  <a:srgbClr val="0B2A4A"/>
                </a:solidFill>
                <a:latin typeface="Calibri"/>
              </a:rPr>
              <a:t>9. Variants &amp; Extensions.  </a:t>
            </a:r>
            <a:r>
              <a:rPr sz="1700">
                <a:solidFill>
                  <a:srgbClr val="333D4A"/>
                </a:solidFill>
                <a:latin typeface="Calibri"/>
              </a:rPr>
              <a:t>Happy Number, middle of list, duplicate detection.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 b="1">
                <a:solidFill>
                  <a:srgbClr val="0B2A4A"/>
                </a:solidFill>
                <a:latin typeface="Calibri"/>
              </a:rPr>
              <a:t>10. Applications.  </a:t>
            </a:r>
            <a:r>
              <a:rPr sz="1700">
                <a:solidFill>
                  <a:srgbClr val="333D4A"/>
                </a:solidFill>
                <a:latin typeface="Calibri"/>
              </a:rPr>
              <a:t>Real systems that rely on this exact technique.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By the end of this session you will be able to…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Floyd's Tortoise &amp; Hare  ·  Cycle Detection  ·  Week 03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3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106424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State precisely what Floyd's algorithm detects and why it is preferable to hash-set approaches.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Trace the slow and fast pointers step-by-step through any cyclic or acyclic linked list.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Explain, in plain English, why two pointers at different speeds must meet inside a cycle.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Reproduce the mathematical proof that the meeting is guaranteed within O(N) steps.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Implement has_cycle() and find_cycle_entry() from memory, with correct edge-case handling.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Identify real-world problems (Happy Number, tortoise in physics, rho-algorithm) that reduce to Floyd's.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1.  Motivation — Why Is This Hard?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Cycle detection sounds simple. It isn't.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Floyd's Tortoise &amp; Hare  ·  Cycle Detection  ·  Week 03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4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333D4A"/>
                </a:solidFill>
                <a:latin typeface="Calibri"/>
              </a:rPr>
              <a:t>Consider a linked list whose tail node loops back to an earlier node: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011680"/>
            <a:ext cx="82296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8229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04288" y="2011680"/>
            <a:ext cx="822960" cy="594360"/>
          </a:xfrm>
          <a:prstGeom prst="roundRect">
            <a:avLst/>
          </a:prstGeom>
          <a:solidFill>
            <a:srgbClr val="F2F4F7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288" y="2011680"/>
            <a:ext cx="8229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1296" y="2011680"/>
            <a:ext cx="82296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2011680"/>
            <a:ext cx="8229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B2A4A"/>
                </a:solidFill>
                <a:latin typeface="Calibri"/>
              </a:rPr>
              <a:t>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18304" y="2011680"/>
            <a:ext cx="82296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4" y="2011680"/>
            <a:ext cx="8229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B2A4A"/>
                </a:solidFill>
                <a:latin typeface="Calibri"/>
              </a:rPr>
              <a:t>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20240" y="2308860.0"/>
            <a:ext cx="384048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27248" y="2308860.0"/>
            <a:ext cx="384048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334256" y="2308860.0"/>
            <a:ext cx="384048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41264" y="2308860.0"/>
            <a:ext cx="320040" cy="0.0"/>
          </a:xfrm>
          <a:prstGeom prst="line">
            <a:avLst/>
          </a:prstGeom>
          <a:ln w="28575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861304" y="1554480"/>
            <a:ext cx="0" cy="754380.0"/>
          </a:xfrm>
          <a:prstGeom prst="line">
            <a:avLst/>
          </a:prstGeom>
          <a:ln w="2857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715768.0" y="1554480"/>
            <a:ext cx="3145536.0" cy="0"/>
          </a:xfrm>
          <a:prstGeom prst="line">
            <a:avLst/>
          </a:prstGeom>
          <a:ln w="2857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15768.0" y="1554480"/>
            <a:ext cx="0.0" cy="457200"/>
          </a:xfrm>
          <a:prstGeom prst="line">
            <a:avLst/>
          </a:prstGeom>
          <a:ln w="28575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07024" y="141732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1">
                <a:solidFill>
                  <a:srgbClr val="C0392B"/>
                </a:solidFill>
                <a:latin typeface="Calibri"/>
              </a:rPr>
              <a:t>← cycle 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0632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Problem:  Determine whether such a cycle exists — without knowing the length of the list.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611880"/>
            <a:ext cx="5212080" cy="2423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65760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Why you can't just walk to the 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069080"/>
            <a:ext cx="4846320" cy="1920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3D4A"/>
                </a:solidFill>
                <a:latin typeface="Calibri"/>
              </a:rPr>
              <a:t>A plain while current: loop will spin forever if there is a cycle.
You have no termination signal — None is never reached.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611880"/>
            <a:ext cx="5394960" cy="2423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6576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Why you can't just count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069080"/>
            <a:ext cx="5029200" cy="1920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3D4A"/>
                </a:solidFill>
                <a:latin typeface="Calibri"/>
              </a:rPr>
              <a:t>You don't know N — the list length is unknown.
Any fixed limit will falsely report "no cycle" on large lists.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6172200"/>
            <a:ext cx="54864" cy="50292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7824" y="6172200"/>
            <a:ext cx="10917936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621792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0A81F"/>
                </a:solidFill>
                <a:latin typeface="Calibri"/>
              </a:rPr>
              <a:t>The question: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6556248"/>
            <a:ext cx="10744200" cy="45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3D4A"/>
                </a:solidFill>
                <a:latin typeface="Calibri"/>
              </a:rPr>
              <a:t>Can we detect a cycle in O(N) time with only O(1) extra memory — without modifying the list?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2.  Naive Approaches &amp; Their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Every simpler solution has at least one fatal flaw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Floyd's Tortoise &amp; Hare  ·  Cycle Detection  ·  Week 03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5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20"/>
            <a:ext cx="1645920" cy="502920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1508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1874520"/>
            <a:ext cx="3657600" cy="502920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874520"/>
            <a:ext cx="3520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874520"/>
            <a:ext cx="822960" cy="502920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874520"/>
            <a:ext cx="685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874520"/>
            <a:ext cx="822960" cy="502920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874520"/>
            <a:ext cx="685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Space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1874520"/>
            <a:ext cx="4480560" cy="502920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874520"/>
            <a:ext cx="4343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Fatal Flaw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874520"/>
            <a:ext cx="1645920" cy="804672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874520"/>
            <a:ext cx="150876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333D4A"/>
                </a:solidFill>
                <a:latin typeface="Calibri"/>
              </a:rPr>
              <a:t>Hash set of
seen nodes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1874520"/>
            <a:ext cx="3657600" cy="804672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1874520"/>
            <a:ext cx="352044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Record every visited node's id(). If we see one twice, cycle found.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1874520"/>
            <a:ext cx="822960" cy="804672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1874520"/>
            <a:ext cx="68580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874520"/>
            <a:ext cx="822960" cy="804672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874520"/>
            <a:ext cx="68580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0" y="1874520"/>
            <a:ext cx="4480560" cy="804672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1874520"/>
            <a:ext cx="434340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Requires O(N) auxiliary memory — fails at scale.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79192"/>
            <a:ext cx="1645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679192"/>
            <a:ext cx="150876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333D4A"/>
                </a:solidFill>
                <a:latin typeface="Calibri"/>
              </a:rPr>
              <a:t>Visited flag
(mutate node)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79192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679192"/>
            <a:ext cx="352044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Add a boolean field visited to each node and mark as traversed.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2679192"/>
            <a:ext cx="822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2679192"/>
            <a:ext cx="68580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2679192"/>
            <a:ext cx="822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2679192"/>
            <a:ext cx="68580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O(1)*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0" y="2679192"/>
            <a:ext cx="4480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0" y="2679192"/>
            <a:ext cx="434340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Destructive — corrupts user data; not acceptable in libraries.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483864"/>
            <a:ext cx="1645920" cy="804672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483864"/>
            <a:ext cx="150876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333D4A"/>
                </a:solidFill>
                <a:latin typeface="Calibri"/>
              </a:rPr>
              <a:t>Step counter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3483864"/>
            <a:ext cx="3657600" cy="804672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0" y="3483864"/>
            <a:ext cx="352044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Abort traversal after N steps for some chosen 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3483864"/>
            <a:ext cx="822960" cy="804672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0" y="3483864"/>
            <a:ext cx="68580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3483864"/>
            <a:ext cx="822960" cy="804672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0" y="3483864"/>
            <a:ext cx="68580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O(1)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80" y="3483864"/>
            <a:ext cx="4480560" cy="804672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0" y="3483864"/>
            <a:ext cx="434340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Requires knowing N. Fragile; false negatives on large lists.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288536"/>
            <a:ext cx="1645920" cy="804672"/>
          </a:xfrm>
          <a:prstGeom prst="rect">
            <a:avLst/>
          </a:prstGeom>
          <a:solidFill>
            <a:srgbClr val="E8F8E8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288536"/>
            <a:ext cx="150876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Floyd's
Tortoise &amp; Hare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94560" y="4288536"/>
            <a:ext cx="3657600" cy="804672"/>
          </a:xfrm>
          <a:prstGeom prst="rect">
            <a:avLst/>
          </a:prstGeom>
          <a:solidFill>
            <a:srgbClr val="E8F8E8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86000" y="4288536"/>
            <a:ext cx="352044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Two pointers at speeds 1× and 2×. They collide iff a cycle exists.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4288536"/>
            <a:ext cx="822960" cy="804672"/>
          </a:xfrm>
          <a:prstGeom prst="rect">
            <a:avLst/>
          </a:prstGeom>
          <a:solidFill>
            <a:srgbClr val="E8F8E8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0" y="4288536"/>
            <a:ext cx="68580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O(N)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0" y="4288536"/>
            <a:ext cx="822960" cy="804672"/>
          </a:xfrm>
          <a:prstGeom prst="rect">
            <a:avLst/>
          </a:prstGeom>
          <a:solidFill>
            <a:srgbClr val="E8F8E8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66560" y="4288536"/>
            <a:ext cx="68580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O(1)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80" y="4288536"/>
            <a:ext cx="4480560" cy="804672"/>
          </a:xfrm>
          <a:prstGeom prst="rect">
            <a:avLst/>
          </a:prstGeom>
          <a:solidFill>
            <a:srgbClr val="E8F8E8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89520" y="4288536"/>
            <a:ext cx="4343400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None — this is the correct solution. 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333D4A"/>
                </a:solidFill>
                <a:latin typeface="Calibri"/>
              </a:rPr>
              <a:t>* The visited-flag space is O(1) per se, but the flag alters the data structure — a side-effect we cannot accept.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3.  The Core Intuition — Two Runners on a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Think of a circular running track, not a linked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Floyd's Tortoise &amp; Hare  ·  Cycle Detection  ·  Week 03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6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56692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B2A4A"/>
                </a:solidFill>
                <a:latin typeface="Calibri"/>
              </a:rPr>
              <a:t>The Runners Analogy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566928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Tortoise (slow).  </a:t>
            </a:r>
            <a:r>
              <a:rPr sz="1600">
                <a:solidFill>
                  <a:srgbClr val="333D4A"/>
                </a:solidFill>
                <a:latin typeface="Calibri"/>
              </a:rPr>
              <a:t>Runs 1 step per second around the track.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Hare (fast).  </a:t>
            </a:r>
            <a:r>
              <a:rPr sz="1600">
                <a:solidFill>
                  <a:srgbClr val="333D4A"/>
                </a:solidFill>
                <a:latin typeface="Calibri"/>
              </a:rPr>
              <a:t>Runs 2 steps per second — always ahead.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Flat track.  </a:t>
            </a:r>
            <a:r>
              <a:rPr sz="1600">
                <a:solidFill>
                  <a:srgbClr val="333D4A"/>
                </a:solidFill>
                <a:latin typeface="Calibri"/>
              </a:rPr>
              <a:t>They diverge forever; hare exits, tortoise follows.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Circular track.  </a:t>
            </a:r>
            <a:r>
              <a:rPr sz="1600">
                <a:solidFill>
                  <a:srgbClr val="333D4A"/>
                </a:solidFill>
                <a:latin typeface="Calibri"/>
              </a:rPr>
              <a:t>Hare laps tortoise. They will always meet.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5669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27A8A"/>
                </a:solidFill>
                <a:latin typeface="Calibri"/>
              </a:rPr>
              <a:t>Why they meet (intuition):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56692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Once both are inside the loop, the hare closes the gap by exactly 1 node per iteration (it moves 2, the tortoise moves 1 — net gain 1). Starting from any gap d ≤ L, after d steps the gap is 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325880"/>
            <a:ext cx="5212080" cy="5303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Circular track — abstract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42248" y="2075688"/>
            <a:ext cx="694944" cy="694944"/>
          </a:xfrm>
          <a:prstGeom prst="roundRect">
            <a:avLst/>
          </a:prstGeom>
          <a:solidFill>
            <a:srgbClr val="127A8A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42248" y="2075688"/>
            <a:ext cx="694944" cy="6949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67656" y="2898648"/>
            <a:ext cx="694944" cy="6949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67656" y="2898648"/>
            <a:ext cx="694944" cy="6949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67656" y="4544568"/>
            <a:ext cx="694944" cy="6949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67656" y="4544568"/>
            <a:ext cx="694944" cy="6949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42248" y="5367528"/>
            <a:ext cx="694944" cy="6949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248" y="5367528"/>
            <a:ext cx="694944" cy="6949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16839" y="4544568"/>
            <a:ext cx="694944" cy="6949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6839" y="4544568"/>
            <a:ext cx="694944" cy="6949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16839" y="2898648"/>
            <a:ext cx="694944" cy="6949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6839" y="2898648"/>
            <a:ext cx="694944" cy="6949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F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89720.0" y="2423160.0"/>
            <a:ext cx="1425408.5325968824" cy="822960.0"/>
          </a:xfrm>
          <a:prstGeom prst="line">
            <a:avLst/>
          </a:prstGeom>
          <a:ln w="22225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15128.532596882" y="3246120.0"/>
            <a:ext cx="0.0" cy="1645920.0"/>
          </a:xfrm>
          <a:prstGeom prst="line">
            <a:avLst/>
          </a:prstGeom>
          <a:ln w="22225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189720.0" y="4892040.0"/>
            <a:ext cx="1425408.5325968824" cy="822960.0"/>
          </a:xfrm>
          <a:prstGeom prst="line">
            <a:avLst/>
          </a:prstGeom>
          <a:ln w="22225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7764311.467403118" y="4892040.000000001"/>
            <a:ext cx="1425408.5325968824" cy="822959.9999999991"/>
          </a:xfrm>
          <a:prstGeom prst="line">
            <a:avLst/>
          </a:prstGeom>
          <a:ln w="22225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7764311.467403116" y="3246120.000000001"/>
            <a:ext cx="1.862645149230957e-09" cy="1645920.0"/>
          </a:xfrm>
          <a:prstGeom prst="line">
            <a:avLst/>
          </a:prstGeom>
          <a:ln w="22225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764311.467403116" y="2423160.0"/>
            <a:ext cx="1425408.5325968843" cy="822960.0000000009"/>
          </a:xfrm>
          <a:prstGeom prst="line">
            <a:avLst/>
          </a:prstGeom>
          <a:ln w="22225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57928" y="2788920"/>
            <a:ext cx="914400" cy="914400"/>
          </a:xfrm>
          <a:prstGeom prst="roundRect">
            <a:avLst/>
          </a:prstGeom>
          <a:solidFill>
            <a:srgbClr val="2E7D32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57928" y="3621024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🐢 slow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32520" y="5257800"/>
            <a:ext cx="914400" cy="914400"/>
          </a:xfrm>
          <a:prstGeom prst="roundRect">
            <a:avLst/>
          </a:prstGeom>
          <a:solidFill>
            <a:srgbClr val="E65C00"/>
          </a:solidFill>
          <a:ln w="25400">
            <a:solidFill>
              <a:srgbClr val="E6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6089904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E65C00"/>
                </a:solidFill>
                <a:latin typeface="Calibri"/>
              </a:rPr>
              <a:t>🐇 fast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4.  Step-by-Step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List:  1 → 2 → 3 → 4 → 5 → 6 → 7 → (back to 3)   |   S = slow  F = fast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Floyd's Tortoise &amp; Hare  ·  Cycle Detection  ·  Week 03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7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109728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0B2A4A"/>
                </a:solidFill>
                <a:latin typeface="Calibri"/>
              </a:rPr>
              <a:t>Start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1389888"/>
            <a:ext cx="749808" cy="475488"/>
          </a:xfrm>
          <a:prstGeom prst="roundRect">
            <a:avLst/>
          </a:prstGeom>
          <a:solidFill>
            <a:srgbClr val="D0F0D0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389888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68296" y="1389888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68296" y="1389888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1389888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389888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1389888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389888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21224" y="1389888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1224" y="1389888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389888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389888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23176" y="1389888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23176" y="1389888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67128" y="1627632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118104" y="1627632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69080" y="1627632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0056" y="1627632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971032" y="1627632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22008" y="1627632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72984" y="1627632.0"/>
            <a:ext cx="182880" cy="0.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055864" y="1225296"/>
            <a:ext cx="0" cy="402336.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3694176.0" y="1225296"/>
            <a:ext cx="4361688.0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694176.0" y="1225296"/>
            <a:ext cx="0.0" cy="164592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517904" y="1901952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17904" y="1901952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E65C00"/>
                </a:solidFill>
                <a:latin typeface="Calibri"/>
              </a:rPr>
              <a:t>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2139696"/>
            <a:ext cx="109728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0B2A4A"/>
                </a:solidFill>
                <a:latin typeface="Calibri"/>
              </a:rPr>
              <a:t>Step 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17320" y="2139696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2139696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68296" y="2139696"/>
            <a:ext cx="749808" cy="475488"/>
          </a:xfrm>
          <a:prstGeom prst="roundRect">
            <a:avLst/>
          </a:prstGeom>
          <a:solidFill>
            <a:srgbClr val="D0F0D0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68296" y="2139696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19272" y="2139696"/>
            <a:ext cx="749808" cy="475488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9272" y="2139696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70248" y="2139696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0248" y="2139696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21224" y="2139696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21224" y="2139696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2139696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2139696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23176" y="2139696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23176" y="2139696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7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167128" y="2377440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118104" y="2377440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069080" y="2377440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20056" y="2377440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971032" y="2377440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922008" y="2377440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872984" y="2377440.0"/>
            <a:ext cx="182880" cy="0.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055864" y="1975104"/>
            <a:ext cx="0" cy="402336.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3694176.0" y="1975104"/>
            <a:ext cx="4361688.0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694176.0" y="1975104"/>
            <a:ext cx="0.0" cy="164592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468880" y="2651760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19856" y="2651760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E65C00"/>
                </a:solidFill>
                <a:latin typeface="Calibri"/>
              </a:rPr>
              <a:t>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2889504"/>
            <a:ext cx="109728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0B2A4A"/>
                </a:solidFill>
                <a:latin typeface="Calibri"/>
              </a:rPr>
              <a:t>Step 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417320" y="2889504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17320" y="2889504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368296" y="2889504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368296" y="2889504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319272" y="2889504"/>
            <a:ext cx="749808" cy="475488"/>
          </a:xfrm>
          <a:prstGeom prst="roundRect">
            <a:avLst/>
          </a:prstGeom>
          <a:solidFill>
            <a:srgbClr val="D0F0D0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19272" y="2889504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70248" y="2889504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70248" y="2889504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4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221224" y="2889504"/>
            <a:ext cx="749808" cy="475488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21224" y="2889504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72200" y="2889504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72200" y="2889504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6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123176" y="2889504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23176" y="2889504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7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167128" y="3127248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118104" y="3127248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69080" y="3127248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020056" y="3127248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971032" y="3127248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922008" y="3127248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72984" y="3127248.0"/>
            <a:ext cx="182880" cy="0.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055864" y="2724912"/>
            <a:ext cx="0" cy="402336.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3694176.0" y="2724912"/>
            <a:ext cx="4361688.0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694176.0" y="2724912"/>
            <a:ext cx="0.0" cy="164592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3419856" y="3401568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21808" y="3401568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E65C00"/>
                </a:solidFill>
                <a:latin typeface="Calibri"/>
              </a:rPr>
              <a:t>F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2920" y="3639312"/>
            <a:ext cx="109728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0B2A4A"/>
                </a:solidFill>
                <a:latin typeface="Calibri"/>
              </a:rPr>
              <a:t>Step 3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417320" y="3639312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417320" y="3639312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1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368296" y="3639312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368296" y="3639312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319272" y="3639312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319272" y="3639312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3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270248" y="3639312"/>
            <a:ext cx="749808" cy="475488"/>
          </a:xfrm>
          <a:prstGeom prst="roundRect">
            <a:avLst/>
          </a:prstGeom>
          <a:solidFill>
            <a:srgbClr val="D0F0D0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270248" y="3639312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221224" y="3639312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221224" y="3639312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172200" y="3639312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72200" y="3639312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6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123176" y="3639312"/>
            <a:ext cx="749808" cy="475488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23176" y="3639312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2167128" y="3877056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3118104" y="3877056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4069080" y="3877056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020056" y="3877056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971032" y="3877056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922008" y="3877056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872984" y="3877056.0"/>
            <a:ext cx="182880" cy="0.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8055864" y="3474720"/>
            <a:ext cx="0" cy="402336.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3694176.0" y="3474720"/>
            <a:ext cx="4361688.0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694176.0" y="3474720"/>
            <a:ext cx="0.0" cy="164592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4370832" y="4151376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23760" y="4151376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E65C00"/>
                </a:solidFill>
                <a:latin typeface="Calibri"/>
              </a:rPr>
              <a:t>F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2920" y="4389120"/>
            <a:ext cx="109728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0B2A4A"/>
                </a:solidFill>
                <a:latin typeface="Calibri"/>
              </a:rPr>
              <a:t>Step 4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417320" y="4389120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417320" y="4389120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1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368296" y="4389120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368296" y="4389120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319272" y="4389120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319272" y="4389120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3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270248" y="4389120"/>
            <a:ext cx="749808" cy="475488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270248" y="4389120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221224" y="4389120"/>
            <a:ext cx="749808" cy="475488"/>
          </a:xfrm>
          <a:prstGeom prst="roundRect">
            <a:avLst/>
          </a:prstGeom>
          <a:solidFill>
            <a:srgbClr val="D0F0D0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221224" y="4389120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72200" y="4389120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172200" y="4389120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6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123176" y="4389120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123176" y="4389120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7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2167128" y="4626864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3118104" y="4626864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069080" y="4626864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020056" y="4626864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5971032" y="4626864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6922008" y="4626864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872984" y="4626864.0"/>
            <a:ext cx="182880" cy="0.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055864" y="4224528"/>
            <a:ext cx="0" cy="402336.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>
            <a:off x="3694176.0" y="4224528"/>
            <a:ext cx="4361688.0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3694176.0" y="4224528"/>
            <a:ext cx="0.0" cy="164592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5321808" y="4901184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370832" y="4901184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E65C00"/>
                </a:solidFill>
                <a:latin typeface="Calibri"/>
              </a:rPr>
              <a:t>F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02920" y="5138928"/>
            <a:ext cx="109728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0B2A4A"/>
                </a:solidFill>
                <a:latin typeface="Calibri"/>
              </a:rPr>
              <a:t>Step 5 ✓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417320" y="5138928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417320" y="5138928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1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368296" y="5138928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368296" y="5138928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319272" y="5138928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319272" y="5138928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3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270248" y="5138928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270248" y="5138928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4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221224" y="5138928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221224" y="5138928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172200" y="5138928"/>
            <a:ext cx="749808" cy="475488"/>
          </a:xfrm>
          <a:prstGeom prst="roundRect">
            <a:avLst/>
          </a:prstGeom>
          <a:solidFill>
            <a:srgbClr val="C0392B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172200" y="5138928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123176" y="5138928"/>
            <a:ext cx="749808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123176" y="5138928"/>
            <a:ext cx="74980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7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2167128" y="5376672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3118104" y="5376672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069080" y="5376672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020056" y="5376672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971032" y="5376672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6922008" y="5376672.0"/>
            <a:ext cx="201168" cy="0.0"/>
          </a:xfrm>
          <a:prstGeom prst="line">
            <a:avLst/>
          </a:prstGeom>
          <a:ln w="19050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7872984" y="5376672.0"/>
            <a:ext cx="182880" cy="0.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8055864" y="4974336"/>
            <a:ext cx="0" cy="402336.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H="1">
            <a:off x="3694176.0" y="4974336"/>
            <a:ext cx="4361688.0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3694176.0" y="4974336"/>
            <a:ext cx="0.0" cy="164592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6272784" y="5650992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S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272784" y="5650992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S=F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0500055" y="1389888"/>
            <a:ext cx="1325880" cy="1463040"/>
          </a:xfrm>
          <a:prstGeom prst="roundRect">
            <a:avLst/>
          </a:prstGeom>
          <a:solidFill>
            <a:srgbClr val="F2F4F7"/>
          </a:solidFill>
          <a:ln w="254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545775" y="1444752"/>
            <a:ext cx="1234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Legend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0564063" y="1810512"/>
            <a:ext cx="384048" cy="292608"/>
          </a:xfrm>
          <a:prstGeom prst="roundRect">
            <a:avLst/>
          </a:prstGeom>
          <a:solidFill>
            <a:srgbClr val="D0F0D0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564063" y="1810512"/>
            <a:ext cx="38404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1002975" y="1810512"/>
            <a:ext cx="10058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3D4A"/>
                </a:solidFill>
                <a:latin typeface="Calibri"/>
              </a:rPr>
              <a:t>= slow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0564063" y="2148840"/>
            <a:ext cx="384048" cy="292608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0564063" y="2148840"/>
            <a:ext cx="38404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1002975" y="2148840"/>
            <a:ext cx="10058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3D4A"/>
                </a:solidFill>
                <a:latin typeface="Calibri"/>
              </a:rPr>
              <a:t>= fast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0564063" y="2487168"/>
            <a:ext cx="384048" cy="292608"/>
          </a:xfrm>
          <a:prstGeom prst="roundRect">
            <a:avLst/>
          </a:prstGeom>
          <a:solidFill>
            <a:srgbClr val="C0392B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564063" y="2487168"/>
            <a:ext cx="38404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1002975" y="2487168"/>
            <a:ext cx="10058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3D4A"/>
                </a:solidFill>
                <a:latin typeface="Calibri"/>
              </a:rPr>
              <a:t>= meet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5.  Correctness Proof — Why They Must Meet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A tight mathematical argument for the collision guarantee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Floyd's Tortoise &amp; Hare  ·  Cycle Detection  ·  Week 03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8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54864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F.  </a:t>
            </a:r>
            <a:r>
              <a:rPr sz="1500">
                <a:solidFill>
                  <a:srgbClr val="333D4A"/>
                </a:solidFill>
                <a:latin typeface="Calibri"/>
              </a:rPr>
              <a:t>Length of the acyclic prefix (nodes before the cycle).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L.  </a:t>
            </a:r>
            <a:r>
              <a:rPr sz="1500">
                <a:solidFill>
                  <a:srgbClr val="333D4A"/>
                </a:solidFill>
                <a:latin typeface="Calibri"/>
              </a:rPr>
              <a:t>Length of the cycle.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At time T.  </a:t>
            </a:r>
            <a:r>
              <a:rPr sz="1500">
                <a:solidFill>
                  <a:srgbClr val="333D4A"/>
                </a:solidFill>
                <a:latin typeface="Calibri"/>
              </a:rPr>
              <a:t>Both pointers are inside the cycle.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5486400" cy="2606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Slow pointer enters the cycle at step F. At that moment it is at position 0 mod L inside the cycle.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Fast pointer entered the cycle earlier and is at position (F mod L) inside the cycle.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Relative speed = 2 – 1 = 1. Hare gains 1 node per iteration on the tortoise.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The gap closes to 0 in at most L iterations. ∴ they collide.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Total steps ≤ F + L = O(N). 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325880"/>
            <a:ext cx="5212080" cy="5303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B2A4A"/>
                </a:solidFill>
                <a:latin typeface="Calibri"/>
              </a:rPr>
              <a:t>Gap-closing inside the loop  (L = 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874519"/>
            <a:ext cx="8686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333D4A"/>
                </a:solidFill>
                <a:latin typeface="Calibri"/>
              </a:rPr>
              <a:t>Iter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874519"/>
            <a:ext cx="548640" cy="384048"/>
          </a:xfrm>
          <a:prstGeom prst="roundRect">
            <a:avLst/>
          </a:prstGeom>
          <a:solidFill>
            <a:srgbClr val="D0F0D0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74519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0" y="1874519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874519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874519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874519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74519"/>
            <a:ext cx="548640" cy="384048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1874519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1874519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874519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1874519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1874519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06640" y="2066543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46720" y="2066543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86800" y="2066543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26880" y="2066543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966960" y="2066543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744200" y="1874519"/>
            <a:ext cx="11887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27A8A"/>
                </a:solidFill>
                <a:latin typeface="Calibri"/>
              </a:rPr>
              <a:t>Gap =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2770631"/>
            <a:ext cx="8686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333D4A"/>
                </a:solidFill>
                <a:latin typeface="Calibri"/>
              </a:rPr>
              <a:t>Iter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2770631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770631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0" y="2770631"/>
            <a:ext cx="548640" cy="384048"/>
          </a:xfrm>
          <a:prstGeom prst="roundRect">
            <a:avLst/>
          </a:prstGeom>
          <a:solidFill>
            <a:srgbClr val="D0F0D0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0" y="2770631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2770631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2770631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78240" y="2770631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2770631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18320" y="2770631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2770631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0" y="2770631"/>
            <a:ext cx="548640" cy="384048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0" y="2770631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406640" y="2962655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046720" y="2962655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686800" y="2962655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326880" y="2962655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966960" y="2962655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744200" y="2770631"/>
            <a:ext cx="11887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27A8A"/>
                </a:solidFill>
                <a:latin typeface="Calibri"/>
              </a:rPr>
              <a:t>Gap =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01968" y="3666743"/>
            <a:ext cx="8686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333D4A"/>
                </a:solidFill>
                <a:latin typeface="Calibri"/>
              </a:rPr>
              <a:t>Iter 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0" y="3666743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0" y="3666743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98080" y="3666743"/>
            <a:ext cx="548640" cy="384048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0" y="3666743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38160" y="3666743"/>
            <a:ext cx="548640" cy="384048"/>
          </a:xfrm>
          <a:prstGeom prst="roundRect">
            <a:avLst/>
          </a:prstGeom>
          <a:solidFill>
            <a:srgbClr val="D0F0D0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60" y="3666743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78240" y="3666743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78240" y="3666743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418320" y="3666743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0" y="3666743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058400" y="3666743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58400" y="3666743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406640" y="3858767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046720" y="3858767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686800" y="3858767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326880" y="3858767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966960" y="3858767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0744200" y="3666743"/>
            <a:ext cx="11887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27A8A"/>
                </a:solidFill>
                <a:latin typeface="Calibri"/>
              </a:rPr>
              <a:t>Gap = 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01968" y="4562855"/>
            <a:ext cx="8686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333D4A"/>
                </a:solidFill>
                <a:latin typeface="Calibri"/>
              </a:rPr>
              <a:t>Iter 3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58000" y="4562855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58000" y="4562855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498080" y="4562855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98080" y="4562855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1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138160" y="4562855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38160" y="4562855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778240" y="4562855"/>
            <a:ext cx="548640" cy="384048"/>
          </a:xfrm>
          <a:prstGeom prst="roundRect">
            <a:avLst/>
          </a:prstGeom>
          <a:solidFill>
            <a:srgbClr val="D0F0D0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78240" y="4562855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418320" y="4562855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418320" y="4562855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4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058400" y="4562855"/>
            <a:ext cx="54864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058400" y="4562855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406640" y="4754879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720" y="4754879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86800" y="4754879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326880" y="4754879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966960" y="4754879.0"/>
            <a:ext cx="91440" cy="0.0"/>
          </a:xfrm>
          <a:prstGeom prst="line">
            <a:avLst/>
          </a:prstGeom>
          <a:ln w="12700">
            <a:solidFill>
              <a:srgbClr val="0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0744200" y="4562855"/>
            <a:ext cx="11887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Gap = 0  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583680" y="5577840"/>
            <a:ext cx="54864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638544" y="5577840"/>
            <a:ext cx="5157216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766560" y="562356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Key insight: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766560" y="5961888"/>
            <a:ext cx="49834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3D4A"/>
                </a:solidFill>
                <a:latin typeface="Calibri"/>
              </a:rPr>
              <a:t>The relative speed of 1 guarantees the gap reaches exactly 0 (not skips over). If fast moved 3 steps and slow moved 1, the gap could be skipped!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6.  The Code — has_cycle()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Complete, annotated Python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Floyd's Tortoise &amp; Hare  ·  Cycle Detection  ·  Week 03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9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53312"/>
            <a:ext cx="7315200" cy="50292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353312"/>
            <a:ext cx="73152" cy="502920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444752"/>
            <a:ext cx="7059168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def has_cycle(head: Node) -&gt; bool: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"""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Detect a cycle in a singly linked list.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Time  O(N)  ·  Space  O(1)  ·  Non-mutating.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"""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# Edge case: empty or single-node list cannot form a cycle.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if head is None or head.next is None: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return False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slow = head           # tortoise — advances 1 step per iteration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fast = head.next      # hare     — advances 2 steps per iteration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# Note: fast starts one ahead to avoid an immediate false positive.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while slow != fast: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# If the hare reaches the end, there is no cycle.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if fast is None or fast.next is None: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return False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slow = slow.next           # tortoise: 1 step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fast = fast.next.next      # hare:     2 steps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# Loop exited because slow == fast → collision → cycle exists.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return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353312"/>
            <a:ext cx="35204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B2A4A"/>
                </a:solidFill>
                <a:latin typeface="Calibri"/>
              </a:rPr>
              <a:t>Line-by-line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352044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E0A81F"/>
                </a:solidFill>
                <a:latin typeface="Calibri"/>
              </a:rPr>
              <a:t>▸  </a:t>
            </a:r>
            <a:r>
              <a:rPr sz="1200" b="1">
                <a:solidFill>
                  <a:srgbClr val="0B2A4A"/>
                </a:solidFill>
                <a:latin typeface="Calibri"/>
              </a:rPr>
              <a:t>Edge guard.  </a:t>
            </a:r>
            <a:r>
              <a:rPr sz="1200">
                <a:solidFill>
                  <a:srgbClr val="333D4A"/>
                </a:solidFill>
                <a:latin typeface="Calibri"/>
              </a:rPr>
              <a:t>Prevents NoneType errors on empty or one-node lists — always first.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E0A81F"/>
                </a:solidFill>
                <a:latin typeface="Calibri"/>
              </a:rPr>
              <a:t>▸  </a:t>
            </a:r>
            <a:r>
              <a:rPr sz="1200" b="1">
                <a:solidFill>
                  <a:srgbClr val="0B2A4A"/>
                </a:solidFill>
                <a:latin typeface="Calibri"/>
              </a:rPr>
              <a:t>fast = head.next.  </a:t>
            </a:r>
            <a:r>
              <a:rPr sz="1200">
                <a:solidFill>
                  <a:srgbClr val="333D4A"/>
                </a:solidFill>
                <a:latin typeface="Calibri"/>
              </a:rPr>
              <a:t>Offset by 1 so the while condition is valid immediately.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E0A81F"/>
                </a:solidFill>
                <a:latin typeface="Calibri"/>
              </a:rPr>
              <a:t>▸  </a:t>
            </a:r>
            <a:r>
              <a:rPr sz="1200" b="1">
                <a:solidFill>
                  <a:srgbClr val="0B2A4A"/>
                </a:solidFill>
                <a:latin typeface="Calibri"/>
              </a:rPr>
              <a:t>while slow != fast.  </a:t>
            </a:r>
            <a:r>
              <a:rPr sz="1200">
                <a:solidFill>
                  <a:srgbClr val="333D4A"/>
                </a:solidFill>
                <a:latin typeface="Calibri"/>
              </a:rPr>
              <a:t>Identity check (is) compares node addresses, not values.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E0A81F"/>
                </a:solidFill>
                <a:latin typeface="Calibri"/>
              </a:rPr>
              <a:t>▸  </a:t>
            </a:r>
            <a:r>
              <a:rPr sz="1200" b="1">
                <a:solidFill>
                  <a:srgbClr val="0B2A4A"/>
                </a:solidFill>
                <a:latin typeface="Calibri"/>
              </a:rPr>
              <a:t>fast is None.  </a:t>
            </a:r>
            <a:r>
              <a:rPr sz="1200">
                <a:solidFill>
                  <a:srgbClr val="333D4A"/>
                </a:solidFill>
                <a:latin typeface="Calibri"/>
              </a:rPr>
              <a:t>Hare stepped off the end — no cycle.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E0A81F"/>
                </a:solidFill>
                <a:latin typeface="Calibri"/>
              </a:rPr>
              <a:t>▸  </a:t>
            </a:r>
            <a:r>
              <a:rPr sz="1200" b="1">
                <a:solidFill>
                  <a:srgbClr val="0B2A4A"/>
                </a:solidFill>
                <a:latin typeface="Calibri"/>
              </a:rPr>
              <a:t>fast.next is None.  </a:t>
            </a:r>
            <a:r>
              <a:rPr sz="1200">
                <a:solidFill>
                  <a:srgbClr val="333D4A"/>
                </a:solidFill>
                <a:latin typeface="Calibri"/>
              </a:rPr>
              <a:t>Hare would step off next iteration — stop early.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E0A81F"/>
                </a:solidFill>
                <a:latin typeface="Calibri"/>
              </a:rPr>
              <a:t>▸  </a:t>
            </a:r>
            <a:r>
              <a:rPr sz="1200" b="1">
                <a:solidFill>
                  <a:srgbClr val="0B2A4A"/>
                </a:solidFill>
                <a:latin typeface="Calibri"/>
              </a:rPr>
              <a:t>slow.next / fast.next.next.  </a:t>
            </a:r>
            <a:r>
              <a:rPr sz="1200">
                <a:solidFill>
                  <a:srgbClr val="333D4A"/>
                </a:solidFill>
                <a:latin typeface="Calibri"/>
              </a:rPr>
              <a:t>The 1×/2× speed differential — the heart of the algorithm.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E0A81F"/>
                </a:solidFill>
                <a:latin typeface="Calibri"/>
              </a:rPr>
              <a:t>▸  </a:t>
            </a:r>
            <a:r>
              <a:rPr sz="1200" b="1">
                <a:solidFill>
                  <a:srgbClr val="0B2A4A"/>
                </a:solidFill>
                <a:latin typeface="Calibri"/>
              </a:rPr>
              <a:t>return True.  </a:t>
            </a:r>
            <a:r>
              <a:rPr sz="1200">
                <a:solidFill>
                  <a:srgbClr val="333D4A"/>
                </a:solidFill>
                <a:latin typeface="Calibri"/>
              </a:rPr>
              <a:t>Collision guaranteed; cycle confirmed in O(N).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7.  Floyd Part II — Finding the Cycle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Where exactly does the loop begin? O(N) time, O(1) space.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Floyd's Tortoise &amp; Hare  ·  Cycle Detection  ·  Week 03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10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333D4A"/>
                </a:solidFill>
                <a:latin typeface="Calibri"/>
              </a:rPr>
              <a:t>After collision is confirmed, a second phase pinpoints the entry node: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20240"/>
            <a:ext cx="7132320" cy="4663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920240"/>
            <a:ext cx="73152" cy="466344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011680"/>
            <a:ext cx="6876288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def find_cycle_entry(head: Node) -&gt; Node | None: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"""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Returns the node where the cycle begins, or None if no cycle.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Relies on Floyd's mathematical property: after meeting, reset one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pointer to head and advance both at speed 1 — they meet at entry.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"""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if head is None or head.next is None: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return None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slow = fast = head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# Phase 1: detect collision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while True: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if fast is None or fast.next is None: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    return None          # no cycle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slow = slow.next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fast = fast.next.next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if slow == fast: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    break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# Phase 2: find entry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slow = head              # reset slow to head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while slow != fast:      # both move 1 step — they meet at entry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slow = slow.next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fast = fast.next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return slow              # the cycle entry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B2A4A"/>
                </a:solidFill>
                <a:latin typeface="Calibri"/>
              </a:rPr>
              <a:t>Why Phase 2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23160"/>
            <a:ext cx="3749039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127A8A"/>
                </a:solidFill>
                <a:latin typeface="Calibri"/>
              </a:rPr>
              <a:t>▸  </a:t>
            </a:r>
            <a:r>
              <a:rPr sz="1100" b="1">
                <a:solidFill>
                  <a:srgbClr val="0B2A4A"/>
                </a:solidFill>
                <a:latin typeface="Calibri"/>
              </a:rPr>
              <a:t>Definitions:  </a:t>
            </a:r>
            <a:r>
              <a:rPr sz="1100">
                <a:solidFill>
                  <a:srgbClr val="333D4A"/>
                </a:solidFill>
                <a:latin typeface="Calibri"/>
              </a:rPr>
              <a:t>F = prefix length, L = loop length, a = distance to collision.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127A8A"/>
                </a:solidFill>
                <a:latin typeface="Calibri"/>
              </a:rPr>
              <a:t>▸  </a:t>
            </a:r>
            <a:r>
              <a:rPr sz="1100" b="1">
                <a:solidFill>
                  <a:srgbClr val="0B2A4A"/>
                </a:solidFill>
                <a:latin typeface="Calibri"/>
              </a:rPr>
              <a:t>At Collision:  </a:t>
            </a:r>
            <a:r>
              <a:rPr sz="1100">
                <a:solidFill>
                  <a:srgbClr val="333D4A"/>
                </a:solidFill>
                <a:latin typeface="Calibri"/>
              </a:rPr>
              <a:t>Slow moved F + a. Fast moved 2(F + a) steps.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127A8A"/>
                </a:solidFill>
                <a:latin typeface="Calibri"/>
              </a:rPr>
              <a:t>▸  </a:t>
            </a:r>
            <a:r>
              <a:rPr sz="1100" b="1">
                <a:solidFill>
                  <a:srgbClr val="0B2A4A"/>
                </a:solidFill>
                <a:latin typeface="Calibri"/>
              </a:rPr>
              <a:t>Loop Math:  </a:t>
            </a:r>
            <a:r>
              <a:rPr sz="1100">
                <a:solidFill>
                  <a:srgbClr val="333D4A"/>
                </a:solidFill>
                <a:latin typeface="Calibri"/>
              </a:rPr>
              <a:t>Fast is k full loops ahead: 2(F + a) = F + a + k*L  =&gt;  F + a = k*L.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127A8A"/>
                </a:solidFill>
                <a:latin typeface="Calibri"/>
              </a:rPr>
              <a:t>▸  </a:t>
            </a:r>
            <a:r>
              <a:rPr sz="1100" b="1">
                <a:solidFill>
                  <a:srgbClr val="0B2A4A"/>
                </a:solidFill>
                <a:latin typeface="Calibri"/>
              </a:rPr>
              <a:t>Express F:  </a:t>
            </a:r>
            <a:r>
              <a:rPr sz="1100">
                <a:solidFill>
                  <a:srgbClr val="333D4A"/>
                </a:solidFill>
                <a:latin typeface="Calibri"/>
              </a:rPr>
              <a:t>F = k*L - a.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127A8A"/>
                </a:solidFill>
                <a:latin typeface="Calibri"/>
              </a:rPr>
              <a:t>▸  </a:t>
            </a:r>
            <a:r>
              <a:rPr sz="1100" b="1">
                <a:solidFill>
                  <a:srgbClr val="0B2A4A"/>
                </a:solidFill>
                <a:latin typeface="Calibri"/>
              </a:rPr>
              <a:t>Phase 2:  </a:t>
            </a:r>
            <a:r>
              <a:rPr sz="1100">
                <a:solidFill>
                  <a:srgbClr val="333D4A"/>
                </a:solidFill>
                <a:latin typeface="Calibri"/>
              </a:rPr>
              <a:t>Reset slow. Both move 1 step/iter. Slow takes F steps to reach entry.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127A8A"/>
                </a:solidFill>
                <a:latin typeface="Calibri"/>
              </a:rPr>
              <a:t>▸  </a:t>
            </a:r>
            <a:r>
              <a:rPr sz="1100" b="1">
                <a:solidFill>
                  <a:srgbClr val="0B2A4A"/>
                </a:solidFill>
                <a:latin typeface="Calibri"/>
              </a:rPr>
              <a:t>Fast Position:  </a:t>
            </a:r>
            <a:r>
              <a:rPr sz="1100">
                <a:solidFill>
                  <a:srgbClr val="333D4A"/>
                </a:solidFill>
                <a:latin typeface="Calibri"/>
              </a:rPr>
              <a:t>Starting at a, Fast moves F steps: a + F = a + (k*L - a) = k*L.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127A8A"/>
                </a:solidFill>
                <a:latin typeface="Calibri"/>
              </a:rPr>
              <a:t>▸  </a:t>
            </a:r>
            <a:r>
              <a:rPr sz="1100" b="1">
                <a:solidFill>
                  <a:srgbClr val="0B2A4A"/>
                </a:solidFill>
                <a:latin typeface="Calibri"/>
              </a:rPr>
              <a:t>Meeting Point:  </a:t>
            </a:r>
            <a:r>
              <a:rPr sz="1100">
                <a:solidFill>
                  <a:srgbClr val="333D4A"/>
                </a:solidFill>
                <a:latin typeface="Calibri"/>
              </a:rPr>
              <a:t>Since k*L is a multiple of L, Fast is also exactly at the entry node! 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5669280"/>
            <a:ext cx="54864" cy="82296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5669280"/>
            <a:ext cx="3694175" cy="822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5715000"/>
            <a:ext cx="35204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0A81F"/>
                </a:solidFill>
                <a:latin typeface="Calibri"/>
              </a:rPr>
              <a:t>LeetCode 142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6053328"/>
            <a:ext cx="35204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3D4A"/>
                </a:solidFill>
                <a:latin typeface="Calibri"/>
              </a:rPr>
              <a:t>"Linked List Cycle II" — directly tests this exact algorithm. Expected: O(N) / O(1). Standard solution is Floyd Part II.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8.  Complexity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Tight bounds — not just big-O hand-waving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Floyd's Tortoise &amp; Hare  ·  Cycle Detection  ·  Week 03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11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86400" cy="548640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486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Time Complexity  O(N)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5486400" cy="3657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5120640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Phase 1 — Prefix traversal: O(F) steps until slow enters the cycle.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Phase 1 — Cycle traversal: at most O(L) additional steps to meet.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Since F + L ≤ N (total list length), Phase 1 is O(N).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Phase 2 — Re-traverse prefix: O(F) ≤ O(N) steps.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Overall: O(N) — linear in list length.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486400" cy="54864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5486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Space Complexity  O(1)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5486400" cy="3657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5120640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Only two pointer variables (slow, fast) regardless of list size.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No hash set, no stack, no visited array.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Memory usage is constant — scales to billion-node lists.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Compare: hash-set approach uses O(N) bytes — catastrophic at scale.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15000"/>
            <a:ext cx="1097280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Algorithm Comparison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126480"/>
            <a:ext cx="2926080" cy="384048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126480"/>
            <a:ext cx="2834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6126480"/>
            <a:ext cx="1463040" cy="384048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2" y="6126480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6126480"/>
            <a:ext cx="1463040" cy="384048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10912" y="6126480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Space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6126480"/>
            <a:ext cx="1645920" cy="384048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6126480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Mutates?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6126480"/>
            <a:ext cx="1645920" cy="384048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9872" y="6126480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Needs N?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510528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6510528"/>
            <a:ext cx="2834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333D4A"/>
                </a:solidFill>
                <a:latin typeface="Calibri"/>
              </a:rPr>
              <a:t>Hash Set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6510528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7872" y="6510528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6510528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10912" y="6510528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6510528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6510528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6510528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9872" y="6510528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894576"/>
            <a:ext cx="2926080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6894576"/>
            <a:ext cx="2834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333D4A"/>
                </a:solidFill>
                <a:latin typeface="Calibri"/>
              </a:rPr>
              <a:t>Visited Flag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6894576"/>
            <a:ext cx="1463040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47872" y="6894576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6894576"/>
            <a:ext cx="1463040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10912" y="6894576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O(1)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6894576"/>
            <a:ext cx="1645920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3952" y="6894576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Yes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6894576"/>
            <a:ext cx="1645920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19872" y="6894576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7278624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" y="7278624"/>
            <a:ext cx="2834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333D4A"/>
                </a:solidFill>
                <a:latin typeface="Calibri"/>
              </a:rPr>
              <a:t>Step Limit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7278624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47872" y="7278624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37760" y="7278624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10912" y="7278624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O(1)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7278624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73952" y="7278624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7278624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19872" y="7278624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Yes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7662672"/>
            <a:ext cx="2926080" cy="384048"/>
          </a:xfrm>
          <a:prstGeom prst="rect">
            <a:avLst/>
          </a:prstGeom>
          <a:solidFill>
            <a:srgbClr val="E8F8E8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" y="7662672"/>
            <a:ext cx="2834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Floyd's T&amp;H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74720" y="7662672"/>
            <a:ext cx="1463040" cy="384048"/>
          </a:xfrm>
          <a:prstGeom prst="rect">
            <a:avLst/>
          </a:prstGeom>
          <a:solidFill>
            <a:srgbClr val="E8F8E8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47872" y="7662672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O(N)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37760" y="7662672"/>
            <a:ext cx="1463040" cy="384048"/>
          </a:xfrm>
          <a:prstGeom prst="rect">
            <a:avLst/>
          </a:prstGeom>
          <a:solidFill>
            <a:srgbClr val="E8F8E8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10912" y="7662672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O(1)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0" y="7662672"/>
            <a:ext cx="1645920" cy="384048"/>
          </a:xfrm>
          <a:prstGeom prst="rect">
            <a:avLst/>
          </a:prstGeom>
          <a:solidFill>
            <a:srgbClr val="E8F8E8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73952" y="7662672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No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46720" y="7662672"/>
            <a:ext cx="1645920" cy="384048"/>
          </a:xfrm>
          <a:prstGeom prst="rect">
            <a:avLst/>
          </a:prstGeom>
          <a:solidFill>
            <a:srgbClr val="E8F8E8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19872" y="7662672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9.  Variants &amp; Extensions of the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The same two-pointer pattern solves a surprising range of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Floyd's Tortoise &amp; Hare  ·  Cycle Detection  ·  Week 03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12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576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Find Middle of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075688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Move slow 1×, fast 2×. When fast reaches the end, slow is at the midpoint.
Used in merge-sort on linked lists. O(N) / O(1).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3657600" cy="502920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1732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Happy Number
(LeetCode 202)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92024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2075688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A number is 'happy' if repeatedly summing squares of digits reaches 1.
Non-happy numbers cycle. Detect with Floyd on the digit-sum sequence.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417320"/>
            <a:ext cx="3657600" cy="50292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1732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Find Duplicate
(LeetCode 287)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92024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2075688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Array of N+1 integers in [1, N]. Treat values as next-pointers.
The duplicate creates a cycle. Floyd finds it in O(N) / O(1).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94760"/>
            <a:ext cx="3657600" cy="5029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9476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Pollar's Rho
Factorisation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9768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453128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Pollard (1975) used Floyd's cycle detection to factorise large integers.
Powers modern cryptographic attacks on weak RSA keys.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794760"/>
            <a:ext cx="365760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79476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Nth Node From 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429768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4453128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Move fast N steps ahead, then advance both at 1×.
When fast reaches end, slow is at the Nth-from-last node.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3794760"/>
            <a:ext cx="365760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79476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Palindrome Check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429768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4453128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Find middle (Floyd), reverse second half, compare.
O(N) time, O(1) space — no auxiliary stack needed.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10.  Real-World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From OS kernels to cryptography — Floyd's algorithm runs everywhere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Floyd's Tortoise &amp; Hare  ·  Cycle Detection  ·  Week 03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13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3749039" cy="47548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3749039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Operating 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92808"/>
            <a:ext cx="3749039" cy="16733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039112"/>
            <a:ext cx="3428999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The Linux kernel uses cycle-detection variants when walking page-table chains and process-wait graphs to identify deadlocks.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7" y="1417320"/>
            <a:ext cx="3749039" cy="475488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7" y="1417320"/>
            <a:ext cx="3749039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Cryptography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7" y="1892808"/>
            <a:ext cx="3749039" cy="16733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2039112"/>
            <a:ext cx="3428999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Pollard's rho algorithm — built on Floyd's — breaks RSA keys by finding non-trivial factors of composite numbers efficiently.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11894" y="1417320"/>
            <a:ext cx="3749039" cy="475488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4" y="1417320"/>
            <a:ext cx="3749039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Compilers &amp; Linkers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11894" y="1892808"/>
            <a:ext cx="3749039" cy="16733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6" y="2039112"/>
            <a:ext cx="3428999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Dependency graphs may contain circular imports. Compilers detect these cycles before attempting topological ordering.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49040"/>
            <a:ext cx="3749039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49040"/>
            <a:ext cx="3749039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Garbage Collectors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24528"/>
            <a:ext cx="3749039" cy="16733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370832"/>
            <a:ext cx="3428999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Reference-counting GCs need cycle detection to collect objects in reference cycles. CPython's gc module does exactly this.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7" y="3749040"/>
            <a:ext cx="3749039" cy="47548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7" y="3749040"/>
            <a:ext cx="3749039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Network Protocols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7407" y="4224528"/>
            <a:ext cx="3749039" cy="16733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1999" y="4370832"/>
            <a:ext cx="3428999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Routing loops (packets cycling indefinitely) are detected by tracking the path signature — conceptually equivalent to Floyd's.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11894" y="3749040"/>
            <a:ext cx="3749039" cy="475488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4" y="3749040"/>
            <a:ext cx="3749039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Databases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11894" y="4224528"/>
            <a:ext cx="3749039" cy="16733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76486" y="4370832"/>
            <a:ext cx="3428999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Transaction deadlock detection — find cycles in the wait-for graph, then abort the youngest transaction.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11.  Practice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Consolidate your understanding — solve these before the next 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Floyd's Tortoise &amp; Hare  ·  Cycle Detection  ·  Week 03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14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57600" cy="475488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36576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Easy — LeetCode 141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92808"/>
            <a:ext cx="3657600" cy="16733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039112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Linked List Cycle
Implement has_cycle(). Expected: O(N) time, O(1) space.
Edge cases: empty list, single node, two-node cycle.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3657600" cy="475488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17320"/>
            <a:ext cx="36576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Medium — LeetCode 142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892808"/>
            <a:ext cx="3657600" cy="16733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2039112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Linked List Cycle II
Return the node where the cycle begins, or None.
Implement Floyd Part II (find_cycle_entry).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417320"/>
            <a:ext cx="3657600" cy="47548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17320"/>
            <a:ext cx="36576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Medium — LeetCode 287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892808"/>
            <a:ext cx="3657600" cy="16733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2039112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Find the Duplicate Number
Array of N+1 ints in [1, N]. Find the duplicate.
Constraint: O(1) space — no sorting, no hash set.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49040"/>
            <a:ext cx="3657600" cy="47548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49040"/>
            <a:ext cx="36576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Easy — LeetCode 202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24528"/>
            <a:ext cx="3657600" cy="16733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370832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Happy Number
Detect whether the digit-sum sequence cycles.
Apply Floyd to a non-pointer sequence.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749040"/>
            <a:ext cx="3657600" cy="475488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749040"/>
            <a:ext cx="36576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Medium — LeetCode 876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4224528"/>
            <a:ext cx="3657600" cy="16733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4370832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Middle of the Linked List
Return the middle node (second middle if even length).
One-pass, O(1) space using fast/slow pointers.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3749040"/>
            <a:ext cx="3657600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749040"/>
            <a:ext cx="36576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Hard — Conceptual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4224528"/>
            <a:ext cx="3657600" cy="16733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4370832"/>
            <a:ext cx="33375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Prove that Floyd's algorithm requires at most F + L steps in Phase 1.
Write your proof formally using modular arithmetic.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12.  Summary — Five Things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Recite these before leaving the 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Floyd's Tortoise &amp; Hare  ·  Cycle Detection  ·  Week 03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15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1064240" cy="5074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E0A81F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Floyd's algorithm uses two pointers at speeds 1× and 2×. The hare is always ahead of (or with) the tortoise.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E0A81F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If a cycle exists, both pointers enter the loop and the hare closes the gap by exactly 1 per step — collision is guaranteed.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E0A81F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The algorithm runs in O(N) time and O(1) space. It does not mutate the list and does not require knowing N.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E0A81F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Phase II (resetting slow to head, both at speed 1) finds the precise cycle entry point in O(F) additional steps.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E0A81F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The same two-pointer pattern solves: middle-of-list, Nth-from-end, Happy Number, duplicate detection, and more.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13.  References &amp; 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Primary sources and practice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Floyd's Tortoise &amp; Hare  ·  Cycle Detection  ·  Week 03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16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106424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Floyd, R. W. (1967).  </a:t>
            </a:r>
            <a:r>
              <a:rPr sz="1600">
                <a:solidFill>
                  <a:srgbClr val="333D4A"/>
                </a:solidFill>
                <a:latin typeface="Calibri"/>
              </a:rPr>
              <a:t>Nondeterministic Algorithms. JACM 14(4):636–644. Original publication of the cycle-finding method.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Knuth, D. E.  </a:t>
            </a:r>
            <a:r>
              <a:rPr sz="1600">
                <a:solidFill>
                  <a:srgbClr val="333D4A"/>
                </a:solidFill>
                <a:latin typeface="Calibri"/>
              </a:rPr>
              <a:t>The Art of Computer Programming, Vol. 2, §3.1. Rho sequence and cycle detection.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CLRS 4th Ed.  </a:t>
            </a:r>
            <a:r>
              <a:rPr sz="1600">
                <a:solidFill>
                  <a:srgbClr val="333D4A"/>
                </a:solidFill>
                <a:latin typeface="Calibri"/>
              </a:rPr>
              <a:t>Cormen et al. Introduction to Algorithms. Chapter on Elementary Data Structures.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Pollard, J. M. (1975).  </a:t>
            </a:r>
            <a:r>
              <a:rPr sz="1600">
                <a:solidFill>
                  <a:srgbClr val="333D4A"/>
                </a:solidFill>
                <a:latin typeface="Calibri"/>
              </a:rPr>
              <a:t>A Monte Carlo Method for Factorization. BIT 15(3):331–334. Floyd applied to cryptography.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LeetCode Problems.  </a:t>
            </a:r>
            <a:r>
              <a:rPr sz="1600">
                <a:solidFill>
                  <a:srgbClr val="333D4A"/>
                </a:solidFill>
                <a:latin typeface="Calibri"/>
              </a:rPr>
              <a:t>141 (Cycle), 142 (Cycle II), 287 (Duplicate), 202 (Happy), 876 (Middle).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Competitive Programmer's Handbook.  </a:t>
            </a:r>
            <a:r>
              <a:rPr sz="1600">
                <a:solidFill>
                  <a:srgbClr val="333D4A"/>
                </a:solidFill>
                <a:latin typeface="Calibri"/>
              </a:rPr>
              <a:t>Antti Laaksonen. Chapter on graph algorithms — cycle detection in functional graphs.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2801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91695" cy="45720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E0A81F"/>
                </a:solidFill>
                <a:latin typeface="Calibri"/>
              </a:rPr>
              <a:t>Bring your traces, your proofs, and your failing test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F2F4F7"/>
                </a:solidFill>
                <a:latin typeface="Calibri"/>
              </a:rPr>
              <a:t>Remember:  🐢  one step at a time is still enough to find the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Next topic  ·  Stacks &amp; Queues — bounded chains with discipline.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F2F4F7"/>
                </a:solidFill>
                <a:latin typeface="Calibri"/>
              </a:rPr>
              <a:t>Data Structures &amp; Algorithms  ·  Week 03 Supplement  ·  Floyd's Tortoise &amp; Hare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