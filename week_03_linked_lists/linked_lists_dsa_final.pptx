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09728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12191695" cy="36576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2194560" cy="502920"/>
          </a:xfrm>
          <a:prstGeom prst="round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Calibri"/>
              </a:rPr>
              <a:t>WEEK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0" i="1">
                <a:solidFill>
                  <a:srgbClr val="E0A81F"/>
                </a:solidFill>
                <a:latin typeface="Calibri"/>
              </a:rPr>
              <a:t>Nodes, Pointers, and Foundational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F2F4F7"/>
                </a:solidFill>
                <a:latin typeface="Calibri"/>
              </a:rPr>
              <a:t>A University-Grade Lecture in Data Structures &amp;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Course   ·   CSC: Data Structures &amp;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Module   ·   Week 03 of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Format   ·   Lecture · Demonstration · Practical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Lecture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What we will cover today and how it builds your engineering toolkit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2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9728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1. Motivation.  </a:t>
            </a:r>
            <a:r>
              <a:rPr sz="1800">
                <a:solidFill>
                  <a:srgbClr val="333D4A"/>
                </a:solidFill>
                <a:latin typeface="Calibri"/>
              </a:rPr>
              <a:t>Why linked structures exist; problems with arrays.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2. The Node.  </a:t>
            </a:r>
            <a:r>
              <a:rPr sz="1800">
                <a:solidFill>
                  <a:srgbClr val="333D4A"/>
                </a:solidFill>
                <a:latin typeface="Calibri"/>
              </a:rPr>
              <a:t>Memory model, fields, and intuition.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3. Singly · Doubly · Circular.  </a:t>
            </a:r>
            <a:r>
              <a:rPr sz="1800">
                <a:solidFill>
                  <a:srgbClr val="333D4A"/>
                </a:solidFill>
                <a:latin typeface="Calibri"/>
              </a:rPr>
              <a:t>Three canonical variants.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4. Core Operations.  </a:t>
            </a:r>
            <a:r>
              <a:rPr sz="1800">
                <a:solidFill>
                  <a:srgbClr val="333D4A"/>
                </a:solidFill>
                <a:latin typeface="Calibri"/>
              </a:rPr>
              <a:t>Append, prepend, insert, delete, search.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5. Complexity.  </a:t>
            </a:r>
            <a:r>
              <a:rPr sz="1800">
                <a:solidFill>
                  <a:srgbClr val="333D4A"/>
                </a:solidFill>
                <a:latin typeface="Calibri"/>
              </a:rPr>
              <a:t>Big-O analysis vs. arrays.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6. Implementation.  </a:t>
            </a:r>
            <a:r>
              <a:rPr sz="1800">
                <a:solidFill>
                  <a:srgbClr val="333D4A"/>
                </a:solidFill>
                <a:latin typeface="Calibri"/>
              </a:rPr>
              <a:t>Production-quality Python walkthrough.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7. Reversal Algorithm.  </a:t>
            </a:r>
            <a:r>
              <a:rPr sz="1800">
                <a:solidFill>
                  <a:srgbClr val="333D4A"/>
                </a:solidFill>
                <a:latin typeface="Calibri"/>
              </a:rPr>
              <a:t>Pointer juggling without losing the chain.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8. Floyd's Tortoise &amp; Hare.  </a:t>
            </a:r>
            <a:r>
              <a:rPr sz="1800">
                <a:solidFill>
                  <a:srgbClr val="333D4A"/>
                </a:solidFill>
                <a:latin typeface="Calibri"/>
              </a:rPr>
              <a:t>Cycle detection in O(1) memory.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9. Pitfalls &amp; Best Practice.  </a:t>
            </a:r>
            <a:r>
              <a:rPr sz="1800">
                <a:solidFill>
                  <a:srgbClr val="333D4A"/>
                </a:solidFill>
                <a:latin typeface="Calibri"/>
              </a:rPr>
              <a:t>Where students lose marks—and points.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10. Applications &amp; Lab.  </a:t>
            </a:r>
            <a:r>
              <a:rPr sz="1800">
                <a:solidFill>
                  <a:srgbClr val="333D4A"/>
                </a:solidFill>
                <a:latin typeface="Calibri"/>
              </a:rPr>
              <a:t>Real systems and the practice assignment.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By the end of this lecture you will be able to…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3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9728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Explain how linked memory differs from contiguous memory and articulate the engineering trade-offs.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Define and implement a Node class and a generic Singly Linked List.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Distinguish singly, doubly, and circular variants and choose the right one.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Reason precisely about asymptotic complexity for each operation.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Implement in-place reversal and cycle detection (Floyd's algorithm) from first principles.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Identify common pointer pitfalls and describe defensive coding patterns to avoid them.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Map linked-list techniques onto real-world systems: undo stacks, LRU caches, music queues, allocators.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1.  Motivation: Why Not Just Use Arrays?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Every data structure is born from a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4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B2A4A"/>
                </a:solidFill>
                <a:latin typeface="Calibri"/>
              </a:rPr>
              <a:t>Arrays are wonderful — until they aren't.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548640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>
                <a:solidFill>
                  <a:srgbClr val="333D4A"/>
                </a:solidFill>
                <a:latin typeface="Calibri"/>
              </a:rPr>
              <a:t>Fixed capacity: insertions in the middle force O(N) shifting.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>
                <a:solidFill>
                  <a:srgbClr val="333D4A"/>
                </a:solidFill>
                <a:latin typeface="Calibri"/>
              </a:rPr>
              <a:t>Resizing copies the entire buffer to a larger block.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>
                <a:solidFill>
                  <a:srgbClr val="333D4A"/>
                </a:solidFill>
                <a:latin typeface="Calibri"/>
              </a:rPr>
              <a:t>Memory pre-allocated even for unused slots.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>
                <a:solidFill>
                  <a:srgbClr val="333D4A"/>
                </a:solidFill>
                <a:latin typeface="Calibri"/>
              </a:rPr>
              <a:t>Concatenation requires reallocation.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Linked Lists trade direct indexing for cheap structural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325880"/>
            <a:ext cx="4937760" cy="4846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37160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Conceptual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288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333D4A"/>
                </a:solidFill>
                <a:latin typeface="Calibri"/>
              </a:rPr>
              <a:t>Array (contiguous)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148840"/>
            <a:ext cx="594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148840"/>
            <a:ext cx="5943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148840"/>
            <a:ext cx="594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148840"/>
            <a:ext cx="5943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148840"/>
            <a:ext cx="594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148840"/>
            <a:ext cx="5943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2148840"/>
            <a:ext cx="594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2148840"/>
            <a:ext cx="5943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148840"/>
            <a:ext cx="594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148840"/>
            <a:ext cx="5943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29800" y="2148840"/>
            <a:ext cx="594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148840"/>
            <a:ext cx="5943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1089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333D4A"/>
                </a:solidFill>
                <a:latin typeface="Calibri"/>
              </a:rPr>
              <a:t>Linked List (scattered)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3429000"/>
            <a:ext cx="96012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3429000"/>
            <a:ext cx="4800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38060" y="3429000"/>
            <a:ext cx="48006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38060" y="3429000"/>
            <a:ext cx="4800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38060.0" y="3429000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46720" y="3429000"/>
            <a:ext cx="96012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3429000"/>
            <a:ext cx="4800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26780" y="3429000"/>
            <a:ext cx="48006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6780" y="3429000"/>
            <a:ext cx="4800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26780.0" y="3429000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235440" y="3429000"/>
            <a:ext cx="96012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3429000"/>
            <a:ext cx="4800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15500" y="3429000"/>
            <a:ext cx="48006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15500" y="3429000"/>
            <a:ext cx="4800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715500.0" y="3429000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424160" y="3429000"/>
            <a:ext cx="96012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0" y="3429000"/>
            <a:ext cx="4800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40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04220" y="3429000"/>
            <a:ext cx="48006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04220" y="3429000"/>
            <a:ext cx="4800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904220.0" y="3429000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818120" y="3703320.0"/>
            <a:ext cx="228600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06840" y="3703320.0"/>
            <a:ext cx="228600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195560" y="3703320.0"/>
            <a:ext cx="228600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1430000" y="3429000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C0392B"/>
                </a:solidFill>
                <a:latin typeface="Calibri"/>
              </a:rPr>
              <a:t>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572000"/>
            <a:ext cx="47548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333D4A"/>
                </a:solidFill>
                <a:latin typeface="Calibri"/>
              </a:rPr>
              <a:t>Arrays answer: "give me element 5".
Linked lists answer: "insert here, now".
The right tool depends on which question dominates your workload.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2.  The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The atom of every linked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5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5486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333D4A"/>
                </a:solidFill>
                <a:latin typeface="Calibri"/>
              </a:rPr>
              <a:t>A Node is a small object that owns a payload and a reference (pointer) to one or more other Nodes. The list itself is just the head node — every other node is reached through pointers.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27A8A"/>
                </a:solidFill>
                <a:latin typeface="Calibri"/>
              </a:rPr>
              <a:t>Two fields, one consequence: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54864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data.  </a:t>
            </a:r>
            <a:r>
              <a:rPr sz="1600">
                <a:solidFill>
                  <a:srgbClr val="333D4A"/>
                </a:solidFill>
                <a:latin typeface="Calibri"/>
              </a:rPr>
              <a:t>The value stored at this position.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next.  </a:t>
            </a:r>
            <a:r>
              <a:rPr sz="1600">
                <a:solidFill>
                  <a:srgbClr val="333D4A"/>
                </a:solidFill>
                <a:latin typeface="Calibri"/>
              </a:rPr>
              <a:t>A reference to the following node, or None if last.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→  </a:t>
            </a:r>
            <a:r>
              <a:rPr sz="1600">
                <a:solidFill>
                  <a:srgbClr val="333D4A"/>
                </a:solidFill>
                <a:latin typeface="Calibri"/>
              </a:rPr>
              <a:t>Logical order is encoded by the pointers, not by memory layout.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325880"/>
            <a:ext cx="4937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Memory layout (heap)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783080"/>
            <a:ext cx="4937760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2743200"/>
            <a:ext cx="36576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743200"/>
            <a:ext cx="18288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Calibri"/>
              </a:rPr>
              <a:t>data = 42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743200"/>
            <a:ext cx="1828800" cy="128016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743200"/>
            <a:ext cx="182880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0.0" y="2743200"/>
            <a:ext cx="0.0" cy="128016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109960" y="32004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7A8A"/>
                </a:solidFill>
                <a:latin typeface="Calibri"/>
              </a:rPr>
              <a:t>→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21208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333D4A"/>
                </a:solidFill>
                <a:latin typeface="Calibri"/>
              </a:rPr>
              <a:t>A node is to a list what a stone is to a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3.  Three Variants of Linked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Same atom, different topologies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6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57600" cy="6400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Singly Linked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3657600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3291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33D4A"/>
                </a:solidFill>
                <a:latin typeface="Calibri"/>
              </a:rPr>
              <a:t>Each node has one pointer: next.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329184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Lightest representation.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Forward traversal only.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Default choice when you don't need backwards walks.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3657600" cy="640080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41732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Doubly Linked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057400"/>
            <a:ext cx="3657600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194560"/>
            <a:ext cx="3291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33D4A"/>
                </a:solidFill>
                <a:latin typeface="Calibri"/>
              </a:rPr>
              <a:t>Each node has two pointers: prev and next.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46120"/>
            <a:ext cx="329184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Constant-time deletion when you already hold the node.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Used by LRU caches and OS schedulers.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Costs an extra pointer per node.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17320"/>
            <a:ext cx="3657600" cy="64008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41732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Circular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057400"/>
            <a:ext cx="3657600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194560"/>
            <a:ext cx="3291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33D4A"/>
                </a:solidFill>
                <a:latin typeface="Calibri"/>
              </a:rPr>
              <a:t>The last node's next loops back to the head.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46120"/>
            <a:ext cx="329184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0A81F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Natural for round-robin scheduling.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0A81F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Music players, buffer queues, turn-taking games.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0A81F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Beware of infinite traversal — always test termination.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52160"/>
            <a:ext cx="77724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852160"/>
            <a:ext cx="3886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8700" y="5852160"/>
            <a:ext cx="388620" cy="4114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700" y="5852160"/>
            <a:ext cx="3886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28700.0" y="5852160"/>
            <a:ext cx="0.0" cy="4114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581912" y="5852160"/>
            <a:ext cx="77724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81912" y="5852160"/>
            <a:ext cx="3886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70532" y="5852160"/>
            <a:ext cx="388620" cy="4114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70532" y="5852160"/>
            <a:ext cx="3886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970532.0" y="5852160"/>
            <a:ext cx="0.0" cy="4114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523744" y="5852160"/>
            <a:ext cx="77724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23744" y="5852160"/>
            <a:ext cx="3886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12364" y="5852160"/>
            <a:ext cx="388620" cy="4114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12364" y="5852160"/>
            <a:ext cx="3886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912364.0" y="5852160"/>
            <a:ext cx="0.0" cy="4114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17320" y="6057900.0"/>
            <a:ext cx="164592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359152" y="6057900.0"/>
            <a:ext cx="164592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465576" y="585216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Calibri"/>
              </a:rPr>
              <a:t>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5852160"/>
            <a:ext cx="3657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26280" y="5852160"/>
            <a:ext cx="77724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26280" y="5852160"/>
            <a:ext cx="259080" cy="4114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6280" y="5852160"/>
            <a:ext cx="259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prev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5360" y="5852160"/>
            <a:ext cx="259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44440" y="5852160"/>
            <a:ext cx="259080" cy="4114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4440" y="5852160"/>
            <a:ext cx="259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785360.0" y="5852160"/>
            <a:ext cx="0.0" cy="4114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044440.0" y="5852160"/>
            <a:ext cx="0.0" cy="4114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468112" y="5852160"/>
            <a:ext cx="77724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68112" y="5852160"/>
            <a:ext cx="259080" cy="4114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8112" y="5852160"/>
            <a:ext cx="259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prev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27192" y="5852160"/>
            <a:ext cx="259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6272" y="5852160"/>
            <a:ext cx="259080" cy="4114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86272" y="5852160"/>
            <a:ext cx="259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727192.0" y="5852160"/>
            <a:ext cx="0.0" cy="4114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986272.0" y="5852160"/>
            <a:ext cx="0.0" cy="4114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6409944" y="5852160"/>
            <a:ext cx="77724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9944" y="5852160"/>
            <a:ext cx="259080" cy="4114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9944" y="5852160"/>
            <a:ext cx="259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prev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69024" y="5852160"/>
            <a:ext cx="259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28104" y="5852160"/>
            <a:ext cx="259080" cy="4114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28104" y="5852160"/>
            <a:ext cx="259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669024.0" y="5852160"/>
            <a:ext cx="0.0" cy="4114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928104.0" y="5852160"/>
            <a:ext cx="0.0" cy="4114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303520" y="6017900.0"/>
            <a:ext cx="164592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5303520" y="6097900.0"/>
            <a:ext cx="164592" cy="0.0"/>
          </a:xfrm>
          <a:prstGeom prst="line">
            <a:avLst/>
          </a:prstGeom>
          <a:ln w="28575">
            <a:solidFill>
              <a:srgbClr val="E0A8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245352" y="6017900.0"/>
            <a:ext cx="164592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6245352" y="6097900.0"/>
            <a:ext cx="164592" cy="0.0"/>
          </a:xfrm>
          <a:prstGeom prst="line">
            <a:avLst/>
          </a:prstGeom>
          <a:ln w="28575">
            <a:solidFill>
              <a:srgbClr val="E0A8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8412480" y="5852160"/>
            <a:ext cx="77724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12480" y="5852160"/>
            <a:ext cx="3886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01100" y="5852160"/>
            <a:ext cx="388620" cy="4114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01100" y="5852160"/>
            <a:ext cx="3886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801100.0" y="5852160"/>
            <a:ext cx="0.0" cy="4114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9354312" y="5852160"/>
            <a:ext cx="77724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54312" y="5852160"/>
            <a:ext cx="3886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B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42932" y="5852160"/>
            <a:ext cx="388620" cy="4114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742932" y="5852160"/>
            <a:ext cx="3886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742932.0" y="5852160"/>
            <a:ext cx="0.0" cy="4114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10296144" y="5852160"/>
            <a:ext cx="77724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296144" y="5852160"/>
            <a:ext cx="3886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2A4A"/>
                </a:solidFill>
                <a:latin typeface="Calibri"/>
              </a:rPr>
              <a:t>C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84764" y="5852160"/>
            <a:ext cx="388620" cy="4114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684764" y="5852160"/>
            <a:ext cx="3886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0684764.0" y="5852160"/>
            <a:ext cx="0.0" cy="4114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189720" y="6057900.0"/>
            <a:ext cx="164592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131552" y="6057900.0"/>
            <a:ext cx="164592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8412480" y="6263640"/>
            <a:ext cx="2660904" cy="228600"/>
          </a:xfrm>
          <a:prstGeom prst="line">
            <a:avLst/>
          </a:prstGeom>
          <a:ln w="28575">
            <a:solidFill>
              <a:srgbClr val="E0A8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12480" y="6057900.0"/>
            <a:ext cx="0" cy="434340.0"/>
          </a:xfrm>
          <a:prstGeom prst="line">
            <a:avLst/>
          </a:prstGeom>
          <a:ln w="28575">
            <a:solidFill>
              <a:srgbClr val="E0A8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4.  Complexity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When does this structure pay off?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7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417320"/>
            <a:ext cx="365760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228600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1732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Array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417320"/>
            <a:ext cx="246888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41732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Singly 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417320"/>
            <a:ext cx="246888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41732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Doubly 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1920240"/>
            <a:ext cx="36576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192024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333D4A"/>
                </a:solidFill>
                <a:latin typeface="Calibri"/>
              </a:rPr>
              <a:t>Random access list[i]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1920240"/>
            <a:ext cx="22860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92024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1920240"/>
            <a:ext cx="246888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9202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920240"/>
            <a:ext cx="246888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19202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242316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242316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333D4A"/>
                </a:solidFill>
                <a:latin typeface="Calibri"/>
              </a:rPr>
              <a:t>Insert at head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242316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242316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42316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24231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242316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24231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2926080"/>
            <a:ext cx="36576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292608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333D4A"/>
                </a:solidFill>
                <a:latin typeface="Calibri"/>
              </a:rPr>
              <a:t>Insert at tail (no ptr)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2926080"/>
            <a:ext cx="22860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292608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O(1)*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2926080"/>
            <a:ext cx="246888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292608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2926080"/>
            <a:ext cx="246888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292608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342900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342900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333D4A"/>
                </a:solidFill>
                <a:latin typeface="Calibri"/>
              </a:rPr>
              <a:t>Insert at tail (w/ ptr)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342900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7720" y="342900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O(1)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60" y="342900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03720" y="342900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O(1)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35440" y="342900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2600" y="342900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O(1)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" y="3931920"/>
            <a:ext cx="36576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393192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333D4A"/>
                </a:solidFill>
                <a:latin typeface="Calibri"/>
              </a:rPr>
              <a:t>Delete given node ptr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0" y="3931920"/>
            <a:ext cx="22860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17720" y="393192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66560" y="3931920"/>
            <a:ext cx="246888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03720" y="393192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3931920"/>
            <a:ext cx="246888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72600" y="393192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O(1)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" y="443484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" y="443484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333D4A"/>
                </a:solidFill>
                <a:latin typeface="Calibri"/>
              </a:rPr>
              <a:t>Search by value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80560" y="443484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17720" y="443484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66560" y="443484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03720" y="44348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35440" y="443484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72600" y="44348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O(N)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" y="4937760"/>
            <a:ext cx="36576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0120" y="4937760"/>
            <a:ext cx="3474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333D4A"/>
                </a:solidFill>
                <a:latin typeface="Calibri"/>
              </a:rPr>
              <a:t>Memory overhead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80560" y="4937760"/>
            <a:ext cx="228600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17720" y="493776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Low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66560" y="4937760"/>
            <a:ext cx="246888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03720" y="49377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1 ptr/node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35440" y="4937760"/>
            <a:ext cx="246888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0C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372600" y="493776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2 ptrs/node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" y="56692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333D4A"/>
                </a:solidFill>
                <a:latin typeface="Calibri"/>
              </a:rPr>
              <a:t>*Amortized for dynamic arrays — individual resizes are O(N).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27A8A"/>
                </a:solidFill>
                <a:latin typeface="Calibri"/>
              </a:rPr>
              <a:t>Rule of thumb: choose linked structures when modifications dominate reads.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5.  Core Operations — Mental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Every operation reduces to: which pointers do I rewrite, and in what order?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8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539496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5394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Append (insert at tail)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5394960" cy="1737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493776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Walk to last node where next is None.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Set last.next = new_node.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O(N) without a tail pointer; O(1) with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394960" cy="502920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5394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Prepend (insert at head)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965960"/>
            <a:ext cx="5394960" cy="1737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103120"/>
            <a:ext cx="493776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new_node.next = head.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head = new_node.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Always O(1) — no traversal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5394960" cy="50292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5394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Insert at position 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34840"/>
            <a:ext cx="5394960" cy="1737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493776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Walk to node k-1 (the predecessor).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new_node.next = predecessor.next.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predecessor.next = new_node.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39496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931920"/>
            <a:ext cx="5394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Delete node with value 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434840"/>
            <a:ext cx="5394960" cy="1737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572000"/>
            <a:ext cx="493776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Track previous pointer while traversing.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previous.next = current.next.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Mind the head: deleting head shifts the list.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6.  Insertion: A Visual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Inserting node X between B and 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9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Step 1 — Initial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100584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0B2A4A"/>
                </a:solidFill>
                <a:latin typeface="Calibri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1828800"/>
            <a:ext cx="50292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82880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7320.0" y="1828800"/>
            <a:ext cx="0.0" cy="6400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31720" y="1828800"/>
            <a:ext cx="100584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182880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0B2A4A"/>
                </a:solidFill>
                <a:latin typeface="Calibri"/>
              </a:rPr>
              <a:t>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1828800"/>
            <a:ext cx="50292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182880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.0" y="1828800"/>
            <a:ext cx="0.0" cy="6400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749040" y="1828800"/>
            <a:ext cx="100584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182880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0B2A4A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1828800"/>
            <a:ext cx="50292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182880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51960.0" y="1828800"/>
            <a:ext cx="0.0" cy="6400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66360" y="1828800"/>
            <a:ext cx="100584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182880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0B2A4A"/>
                </a:solidFill>
                <a:latin typeface="Calibri"/>
              </a:rPr>
              <a:t>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1828800"/>
            <a:ext cx="50292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182880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0.0" y="1828800"/>
            <a:ext cx="0.0" cy="6400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20240" y="2148840.0"/>
            <a:ext cx="411480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337560" y="2148840.0"/>
            <a:ext cx="411480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754880" y="2148840.0"/>
            <a:ext cx="411480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2960" y="28346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Step 2 — Allocate X. Set X.next = B.next  (i.e. point X to C).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337560"/>
            <a:ext cx="100584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33756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0B2A4A"/>
                </a:solidFill>
                <a:latin typeface="Calibri"/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7320" y="3337560"/>
            <a:ext cx="50292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20" y="333756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17320.0" y="3337560"/>
            <a:ext cx="0.0" cy="6400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331720" y="3337560"/>
            <a:ext cx="100584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20" y="333756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0B2A4A"/>
                </a:solidFill>
                <a:latin typeface="Calibri"/>
              </a:rPr>
              <a:t>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3337560"/>
            <a:ext cx="50292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" y="333756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834640.0" y="3337560"/>
            <a:ext cx="0.0" cy="6400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749040" y="3337560"/>
            <a:ext cx="100584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0" y="333756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0B2A4A"/>
                </a:solidFill>
                <a:latin typeface="Calibri"/>
              </a:rPr>
              <a:t>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0" y="3337560"/>
            <a:ext cx="50292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333756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251960.0" y="3337560"/>
            <a:ext cx="0.0" cy="6400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166360" y="3337560"/>
            <a:ext cx="100584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66360" y="333756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0B2A4A"/>
                </a:solidFill>
                <a:latin typeface="Calibri"/>
              </a:rPr>
              <a:t>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337560"/>
            <a:ext cx="50292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0" y="333756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669280.0" y="3337560"/>
            <a:ext cx="0.0" cy="6400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920240" y="3657600.0"/>
            <a:ext cx="411480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37560" y="3657600.0"/>
            <a:ext cx="411480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754880" y="3657600.0"/>
            <a:ext cx="411480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2788920" y="4297680"/>
            <a:ext cx="1005840" cy="640080"/>
          </a:xfrm>
          <a:prstGeom prst="roundRect">
            <a:avLst/>
          </a:prstGeom>
          <a:solidFill>
            <a:srgbClr val="E0A81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88920" y="429768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0B2A4A"/>
                </a:solidFill>
                <a:latin typeface="Calibri"/>
              </a:rPr>
              <a:t>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91840" y="4297680"/>
            <a:ext cx="50292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0" y="4297680"/>
            <a:ext cx="502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291840.0" y="4297680"/>
            <a:ext cx="0.0" cy="6400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91840.0" y="3977640"/>
            <a:ext cx="960120.0" cy="320040"/>
          </a:xfrm>
          <a:prstGeom prst="line">
            <a:avLst/>
          </a:prstGeom>
          <a:ln w="28575">
            <a:solidFill>
              <a:srgbClr val="E0A8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22960" y="50749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Step 3 — Set B.next = X. Insertion done in O(1) once predecessor is known.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4400" y="5577840"/>
            <a:ext cx="86868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" y="557784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48740" y="5577840"/>
            <a:ext cx="43434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48740" y="557784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348740.0" y="5577840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2057400" y="5577840"/>
            <a:ext cx="86868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557784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91740" y="5577840"/>
            <a:ext cx="43434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91740" y="557784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491740.0" y="5577840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3200400" y="5577840"/>
            <a:ext cx="868680" cy="548640"/>
          </a:xfrm>
          <a:prstGeom prst="roundRect">
            <a:avLst/>
          </a:prstGeom>
          <a:solidFill>
            <a:srgbClr val="E0A81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0" y="557784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34740" y="5577840"/>
            <a:ext cx="43434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34740" y="557784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634740.0" y="5577840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4343400" y="5577840"/>
            <a:ext cx="86868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43400" y="557784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77740" y="5577840"/>
            <a:ext cx="43434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77740" y="557784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777740.0" y="5577840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5486400" y="5577840"/>
            <a:ext cx="86868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86400" y="557784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20740" y="5577840"/>
            <a:ext cx="43434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920740" y="557784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920740.0" y="5577840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783080" y="5852160"/>
            <a:ext cx="274320" cy="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926080" y="5852160"/>
            <a:ext cx="274320" cy="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069080" y="5852160"/>
            <a:ext cx="274320" cy="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212080" y="5852160"/>
            <a:ext cx="274320" cy="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7.  Implementation — The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Minimal, immutable in spirit, defensible in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10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71600"/>
            <a:ext cx="6583680" cy="4114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371600"/>
            <a:ext cx="73152" cy="411480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63040"/>
            <a:ext cx="6355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class Node: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"""A single element of a singly linked list."""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__slots__ = ("data", "next")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def __init__(self, data):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    self.data = data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    self.next = None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def __repr__(self):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    return f"Node({self.data!r})"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37160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Design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828800"/>
            <a:ext cx="402336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__slots__ shrinks per-node memory by skipping __dict__.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next is initialised to None — no dangling pointers.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data is the abstract payload: int, str, object, anything.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127A8A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__repr__ aids debugging and pointer-tracing in tests.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8.  Implementation — The Singly Linked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Append in O(N); print_list in O(N); both stream-friendly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11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7498079" cy="49377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325880"/>
            <a:ext cx="73152" cy="493776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17320"/>
            <a:ext cx="72694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class LinkedList: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def __init__(self):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self.head = None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def append(self, data):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new_node = Node(data)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if self.head is None:        # empty list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    self.head = new_node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    return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current = self.head          # walk to last node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while current.next: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    current = current.next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current.next = new_node      # link in place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def print_list(self):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elements, current = [], self.head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while current: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    elements.append(str(current.data))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    current = current.next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print(" -&gt; ".join(elements))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3258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Why this shape?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783080"/>
            <a:ext cx="329184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Empty-list branch protects against AttributeError on None.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Loop variable current never escapes the method — no aliasing risk.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Tail pointer would reduce append to O(1); deferred to keep the lab focused.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print_list builds the string once — O(N) joins are cheaper than repeated I/O.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9.  Reversing a Linked List — 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The interview classic. Three pointers, no extra memory.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12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333D4A"/>
                </a:solidFill>
                <a:latin typeface="Calibri"/>
              </a:rPr>
              <a:t>We walk the list once, redirecting each node's next to its predecessor.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27A8A"/>
                </a:solidFill>
                <a:latin typeface="Calibri"/>
              </a:rPr>
              <a:t>Before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31720"/>
            <a:ext cx="86868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57300" y="2331720"/>
            <a:ext cx="43434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7300" y="233172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57300.0" y="2331720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65960" y="2331720"/>
            <a:ext cx="86868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233172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00300" y="2331720"/>
            <a:ext cx="43434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00300" y="233172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00300.0" y="2331720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108960" y="2331720"/>
            <a:ext cx="86868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233172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43300" y="2331720"/>
            <a:ext cx="43434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3300" y="233172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43300.0" y="2331720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51960" y="2331720"/>
            <a:ext cx="86868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60" y="233172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86300" y="2331720"/>
            <a:ext cx="43434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6300" y="2331720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86300.0" y="2331720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691640" y="2606040.0"/>
            <a:ext cx="274320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834640" y="2606040.0"/>
            <a:ext cx="274320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977640" y="2606040.0"/>
            <a:ext cx="274320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94960" y="2331720"/>
            <a:ext cx="457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  <a:latin typeface="Calibri"/>
              </a:rPr>
              <a:t>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2918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27A8A"/>
                </a:solidFill>
                <a:latin typeface="Calibri"/>
              </a:rPr>
              <a:t>After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3749039"/>
            <a:ext cx="86868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749039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57300" y="3749039"/>
            <a:ext cx="43434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57300" y="3749039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257300.0" y="3749039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965960" y="3749039"/>
            <a:ext cx="86868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5960" y="3749039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00300" y="3749039"/>
            <a:ext cx="43434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00300" y="3749039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400300.0" y="3749039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108960" y="3749039"/>
            <a:ext cx="86868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0" y="3749039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43300" y="3749039"/>
            <a:ext cx="43434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43300" y="3749039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543300.0" y="3749039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4251960" y="3749039"/>
            <a:ext cx="86868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51960" y="3749039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86300" y="3749039"/>
            <a:ext cx="43434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86300" y="3749039"/>
            <a:ext cx="4343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686300.0" y="3749039"/>
            <a:ext cx="0.0" cy="54864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691640" y="4023359.0"/>
            <a:ext cx="274320" cy="0.0"/>
          </a:xfrm>
          <a:prstGeom prst="line">
            <a:avLst/>
          </a:prstGeom>
          <a:ln w="28575">
            <a:solidFill>
              <a:srgbClr val="E0A8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834640" y="4023359.0"/>
            <a:ext cx="274320" cy="0.0"/>
          </a:xfrm>
          <a:prstGeom prst="line">
            <a:avLst/>
          </a:prstGeom>
          <a:ln w="28575">
            <a:solidFill>
              <a:srgbClr val="E0A8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977640" y="4023359.0"/>
            <a:ext cx="274320" cy="0.0"/>
          </a:xfrm>
          <a:prstGeom prst="line">
            <a:avLst/>
          </a:prstGeom>
          <a:ln w="28575">
            <a:solidFill>
              <a:srgbClr val="E0A8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394960" y="3749039"/>
            <a:ext cx="457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  <a:latin typeface="Calibri"/>
              </a:rPr>
              <a:t>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" y="4754880"/>
            <a:ext cx="10515600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Loop invariant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5212080"/>
            <a:ext cx="10058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At every step, the prefix of the list up to and including prev has been reversed; current points to the head of the unprocessed tail. We advance until current is None — at which point prev is the new head.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Reversing a Linked List —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Three named pointers: prev, current, next_node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13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71600"/>
            <a:ext cx="6858000" cy="36576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371600"/>
            <a:ext cx="73152" cy="365760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63040"/>
            <a:ext cx="6629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def reverse_linked_list(head):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prev = None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current = head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while current: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    next_node   = current.next   # remember the tail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    current.next = prev          # flip the pointer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    prev         = current       # advance prev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    current      = next_node     # advance current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6E6E6"/>
                </a:solidFill>
                <a:latin typeface="Consolas"/>
              </a:rPr>
              <a:t>    return prev                      # new head of the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37160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Trace on  1 → 2 →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828800"/>
            <a:ext cx="39319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onsolas"/>
              </a:rPr>
              <a:t>▸  </a:t>
            </a:r>
            <a:r>
              <a:rPr sz="1400">
                <a:solidFill>
                  <a:srgbClr val="333D4A"/>
                </a:solidFill>
                <a:latin typeface="Consolas"/>
              </a:rPr>
              <a:t>Start    prev=∅   curr=1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onsolas"/>
              </a:rPr>
              <a:t>▸  </a:t>
            </a:r>
            <a:r>
              <a:rPr sz="1400">
                <a:solidFill>
                  <a:srgbClr val="333D4A"/>
                </a:solidFill>
                <a:latin typeface="Consolas"/>
              </a:rPr>
              <a:t>Iter 1   prev=1   curr=2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onsolas"/>
              </a:rPr>
              <a:t>▸  </a:t>
            </a:r>
            <a:r>
              <a:rPr sz="1400">
                <a:solidFill>
                  <a:srgbClr val="333D4A"/>
                </a:solidFill>
                <a:latin typeface="Consolas"/>
              </a:rPr>
              <a:t>Iter 2   prev=2→1 curr=3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onsolas"/>
              </a:rPr>
              <a:t>▸  </a:t>
            </a:r>
            <a:r>
              <a:rPr sz="1400">
                <a:solidFill>
                  <a:srgbClr val="333D4A"/>
                </a:solidFill>
                <a:latin typeface="Consolas"/>
              </a:rPr>
              <a:t>Iter 3   prev=3→2→1 curr=∅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E0A81F"/>
                </a:solidFill>
                <a:latin typeface="Consolas"/>
              </a:rPr>
              <a:t>▸  </a:t>
            </a:r>
            <a:r>
              <a:rPr sz="1400">
                <a:solidFill>
                  <a:srgbClr val="333D4A"/>
                </a:solidFill>
                <a:latin typeface="Consolas"/>
              </a:rPr>
              <a:t>Return   3 → 2 →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492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7150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Time  O(N)  ·  visit each node once.   Space  O(1)  ·  three named pointers regardless of input size.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10.  Cycle Detection — 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Does the chain end at None, or does it eat its own tail?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14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333D4A"/>
                </a:solidFill>
                <a:latin typeface="Calibri"/>
              </a:rPr>
              <a:t>A buggy linked list whose final pointer wraps back into itself: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286000"/>
            <a:ext cx="8686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286000"/>
            <a:ext cx="4343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Calibri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940" y="2286000"/>
            <a:ext cx="43434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5940" y="2286000"/>
            <a:ext cx="4343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05940.0" y="2286000"/>
            <a:ext cx="0.0" cy="6400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606040" y="2286000"/>
            <a:ext cx="8686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40" y="2286000"/>
            <a:ext cx="4343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Calibri"/>
              </a:rP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0380" y="2286000"/>
            <a:ext cx="43434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0380" y="2286000"/>
            <a:ext cx="4343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40380.0" y="2286000"/>
            <a:ext cx="0.0" cy="6400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840480" y="2286000"/>
            <a:ext cx="8686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2286000"/>
            <a:ext cx="4343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Calibri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4820" y="2286000"/>
            <a:ext cx="43434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4820" y="2286000"/>
            <a:ext cx="4343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333D4A"/>
                </a:solidFill>
                <a:latin typeface="Calibri"/>
              </a:rPr>
              <a:t>next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74820.0" y="2286000"/>
            <a:ext cx="0.0" cy="640080"/>
          </a:xfrm>
          <a:prstGeom prst="line">
            <a:avLst/>
          </a:prstGeom>
          <a:ln w="15875">
            <a:solidFill>
              <a:srgbClr val="0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40280" y="2606040.0"/>
            <a:ext cx="365760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74720" y="2606040.0"/>
            <a:ext cx="365760" cy="0.0"/>
          </a:xfrm>
          <a:prstGeom prst="line">
            <a:avLst/>
          </a:prstGeom>
          <a:ln w="28575">
            <a:solidFill>
              <a:srgbClr val="127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09160" y="2926080"/>
            <a:ext cx="274320" cy="548640"/>
          </a:xfrm>
          <a:prstGeom prst="line">
            <a:avLst/>
          </a:prstGeom>
          <a:ln w="28575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040380.0" y="3474720"/>
            <a:ext cx="1943100.0" cy="0"/>
          </a:xfrm>
          <a:prstGeom prst="line">
            <a:avLst/>
          </a:prstGeom>
          <a:ln w="28575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040380.0" y="2926080"/>
            <a:ext cx="0.0" cy="548640"/>
          </a:xfrm>
          <a:prstGeom prst="line">
            <a:avLst/>
          </a:prstGeom>
          <a:ln w="28575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74920" y="356616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C0392B"/>
                </a:solidFill>
                <a:latin typeface="Calibri"/>
              </a:rPr>
              <a:t>cycle!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Naive solutions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1920240"/>
            <a:ext cx="50292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Hash-set of seen nodes — O(N) time but O(N) extra memory.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Mutate visited flag — destructive; pollutes user data.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333D4A"/>
                </a:solidFill>
                <a:latin typeface="Calibri"/>
              </a:rPr>
              <a:t>Limit traversal to N steps — fragile; you may not know 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9768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We want O(N) time and O(1) memory — without mutation.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212080"/>
            <a:ext cx="10515600" cy="10972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3035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Floyd's insight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6692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333D4A"/>
                </a:solidFill>
                <a:latin typeface="Calibri"/>
              </a:rPr>
              <a:t>If two runners start together on a circular track, the faster one will eventually lap the slower one — and they will meet at the same node.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11.  Floyd's Tortoise &amp; 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Two pointers, two speeds, one elegant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15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71600"/>
            <a:ext cx="6858000" cy="4297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371600"/>
            <a:ext cx="73152" cy="429768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63040"/>
            <a:ext cx="6629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def has_cycle(head):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if head is None or head.next is None: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return False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slow = head           # tortoise: 1 step / iteration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fast = head.next      # hare:     2 steps / iteration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while slow != fast: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if fast is None or fast.next is None: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    return False         # hare reached the end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slow = slow.next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    fast = fast.next.next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return True                  # collision =&gt;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37160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Why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828800"/>
            <a:ext cx="39319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If no cycle exists, the hare reaches None and we stop.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If a cycle exists, both pointers eventually enter the loop.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Inside the loop, the gap between hare and tortoise shrinks by 1 each step.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27A8A"/>
                </a:solidFill>
                <a:latin typeface="Calibri"/>
              </a:rPr>
              <a:t>▸  </a:t>
            </a:r>
            <a:r>
              <a:rPr sz="1300">
                <a:solidFill>
                  <a:srgbClr val="333D4A"/>
                </a:solidFill>
                <a:latin typeface="Calibri"/>
              </a:rPr>
              <a:t>Therefore in at most L iterations (L = loop length), they collide.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8978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Time  O(N)   ·   Space  O(1)   ·   Non-mutating.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12.  Common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Where students lose marks — and where production code crashes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16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9728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Losing the head.  </a:t>
            </a:r>
            <a:r>
              <a:rPr sz="1600">
                <a:solidFill>
                  <a:srgbClr val="333D4A"/>
                </a:solidFill>
                <a:latin typeface="Calibri"/>
              </a:rPr>
              <a:t>Mutating self.head without saving a reference; the rest of the list becomes unreachable.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Off-by-one in traversal.  </a:t>
            </a:r>
            <a:r>
              <a:rPr sz="1600">
                <a:solidFill>
                  <a:srgbClr val="333D4A"/>
                </a:solidFill>
                <a:latin typeface="Calibri"/>
              </a:rPr>
              <a:t>while current.next vs while current — they differ by exactly one node.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Forgetting the empty list.  </a:t>
            </a:r>
            <a:r>
              <a:rPr sz="1600">
                <a:solidFill>
                  <a:srgbClr val="333D4A"/>
                </a:solidFill>
                <a:latin typeface="Calibri"/>
              </a:rPr>
              <a:t>Calling current.next on None raises AttributeError; always guard self.head is None.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Pointer-overwrite order.  </a:t>
            </a:r>
            <a:r>
              <a:rPr sz="1600">
                <a:solidFill>
                  <a:srgbClr val="333D4A"/>
                </a:solidFill>
                <a:latin typeface="Calibri"/>
              </a:rPr>
              <a:t>In reversal, save next_node before overwriting current.next, never after.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Cycle-induced infinite loops.  </a:t>
            </a:r>
            <a:r>
              <a:rPr sz="1600">
                <a:solidFill>
                  <a:srgbClr val="333D4A"/>
                </a:solidFill>
                <a:latin typeface="Calibri"/>
              </a:rPr>
              <a:t>Plain traversals over a circular list never terminate. Validate with Floyd before walking.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Memory leaks in non-GC languages.  </a:t>
            </a:r>
            <a:r>
              <a:rPr sz="1600">
                <a:solidFill>
                  <a:srgbClr val="333D4A"/>
                </a:solidFill>
                <a:latin typeface="Calibri"/>
              </a:rPr>
              <a:t>Free deleted nodes in C/C++; Python's refcounting handles it for you.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13.  Where Linked Lists Live in the Real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Not academic curios — these are running on your laptop right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17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576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Operating 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32918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Process scheduler queues, free-memory lists, file system inode chains.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3657600" cy="502920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1732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Browsers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92024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57400"/>
            <a:ext cx="32918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Back/forward navigation history is a doubly linked list.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3657600" cy="50292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1732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Music &amp; Media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92024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057400"/>
            <a:ext cx="32918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Playlists and round-robin queues — circular linked lists.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94760"/>
            <a:ext cx="365760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9476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Editors &amp; IDEs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9768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34840"/>
            <a:ext cx="32918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Undo/redo stacks; piece tables for text buffers (Word, VS Code).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794760"/>
            <a:ext cx="365760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79476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Caches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429768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434840"/>
            <a:ext cx="32918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LRU caches combine a hash map with a doubly linked list — O(1) eviction.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794760"/>
            <a:ext cx="36576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379476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Polynomials &amp; Math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297680"/>
            <a:ext cx="3657600" cy="1691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434840"/>
            <a:ext cx="32918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33D4A"/>
                </a:solidFill>
                <a:latin typeface="Calibri"/>
              </a:rPr>
              <a:t>Sparse polynomial representations; symbolic computation engines.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14.  Practical Lab — practice.py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Three exercises. Build, manipulate, detect.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18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9728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Exercise 1.  </a:t>
            </a:r>
            <a:r>
              <a:rPr sz="1800">
                <a:solidFill>
                  <a:srgbClr val="333D4A"/>
                </a:solidFill>
                <a:latin typeface="Calibri"/>
              </a:rPr>
              <a:t>Implement Node and a Singly LinkedList with append() and print_list().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Exercise 2.  </a:t>
            </a:r>
            <a:r>
              <a:rPr sz="1800">
                <a:solidFill>
                  <a:srgbClr val="333D4A"/>
                </a:solidFill>
                <a:latin typeface="Calibri"/>
              </a:rPr>
              <a:t>Implement reverse_linked_list(head) using only three pointers; in-place.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Exercise 3.  </a:t>
            </a:r>
            <a:r>
              <a:rPr sz="1800">
                <a:solidFill>
                  <a:srgbClr val="333D4A"/>
                </a:solidFill>
                <a:latin typeface="Calibri"/>
              </a:rPr>
              <a:t>Implement has_cycle(head) using Floyd's algorithm in O(1) extra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Submission expectations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109728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E0A81F"/>
                </a:solidFill>
                <a:latin typeface="Calibri"/>
              </a:rPr>
              <a:t>▸  </a:t>
            </a:r>
            <a:r>
              <a:rPr sz="1500">
                <a:solidFill>
                  <a:srgbClr val="333D4A"/>
                </a:solidFill>
                <a:latin typeface="Calibri"/>
              </a:rPr>
              <a:t>Provide test cases for empty list, single node, and a cycle.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E0A81F"/>
                </a:solidFill>
                <a:latin typeface="Calibri"/>
              </a:rPr>
              <a:t>▸  </a:t>
            </a:r>
            <a:r>
              <a:rPr sz="1500">
                <a:solidFill>
                  <a:srgbClr val="333D4A"/>
                </a:solidFill>
                <a:latin typeface="Calibri"/>
              </a:rPr>
              <a:t>Use meaningful names: prev, current, next_node — never x, y, z.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E0A81F"/>
                </a:solidFill>
                <a:latin typeface="Calibri"/>
              </a:rPr>
              <a:t>▸  </a:t>
            </a:r>
            <a:r>
              <a:rPr sz="1500">
                <a:solidFill>
                  <a:srgbClr val="333D4A"/>
                </a:solidFill>
                <a:latin typeface="Calibri"/>
              </a:rPr>
              <a:t>Include complexity comments above each function (Time / Space).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E0A81F"/>
                </a:solidFill>
                <a:latin typeface="Calibri"/>
              </a:rPr>
              <a:t>▸  </a:t>
            </a:r>
            <a:r>
              <a:rPr sz="1500">
                <a:solidFill>
                  <a:srgbClr val="333D4A"/>
                </a:solidFill>
                <a:latin typeface="Calibri"/>
              </a:rPr>
              <a:t>Do not import any standard library structure — implement the chain yourself.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15.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Five sentences you should be able to recite at the door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19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9728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E0A81F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A linked list is a chain of self-referential nodes; logical order is encoded in pointers, not memory addresses.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E0A81F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Linked lists trade O(1) random access for O(1) structural modification.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E0A81F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Singly, doubly, and circular variants share the same atom and differ only in their pointer topology.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E0A81F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Reversal redirects each node's next using three named pointers — prev, current, next_node — in O(N) time and O(1) space.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E0A81F"/>
                </a:solidFill>
                <a:latin typeface="Calibri"/>
              </a:rPr>
              <a:t>▸  </a:t>
            </a:r>
            <a:r>
              <a:rPr sz="1800">
                <a:solidFill>
                  <a:srgbClr val="333D4A"/>
                </a:solidFill>
                <a:latin typeface="Calibri"/>
              </a:rPr>
              <a:t>Floyd's Tortoise and Hare detects cycles in O(N) time using only two pointers, no auxiliary memory, and no mutation.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16.  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Trusted sources for deeper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03 ·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20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9728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CLRS — Introduction to Algorithms (4th ed.).  </a:t>
            </a:r>
            <a:r>
              <a:rPr sz="1600">
                <a:solidFill>
                  <a:srgbClr val="333D4A"/>
                </a:solidFill>
                <a:latin typeface="Calibri"/>
              </a:rPr>
              <a:t>Cormen, Leiserson, Rivest &amp; Stein. MIT Press. Chapter on Elementary Data Structures.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The Art of Computer Programming, Vol. 1.  </a:t>
            </a:r>
            <a:r>
              <a:rPr sz="1600">
                <a:solidFill>
                  <a:srgbClr val="333D4A"/>
                </a:solidFill>
                <a:latin typeface="Calibri"/>
              </a:rPr>
              <a:t>Donald E. Knuth. Section 2.2 — Linear Lists.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Algorithms (4th ed.).  </a:t>
            </a:r>
            <a:r>
              <a:rPr sz="1600">
                <a:solidFill>
                  <a:srgbClr val="333D4A"/>
                </a:solidFill>
                <a:latin typeface="Calibri"/>
              </a:rPr>
              <a:t>Sedgewick &amp; Wayne. Princeton University. Chapter 1.3 — Bags, Queues, Stacks.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Floyd, R. W. (1967).  </a:t>
            </a:r>
            <a:r>
              <a:rPr sz="1600">
                <a:solidFill>
                  <a:srgbClr val="333D4A"/>
                </a:solidFill>
                <a:latin typeface="Calibri"/>
              </a:rPr>
              <a:t>Nondeterministic Algorithms. JACM 14(4). Origin of cycle-finding.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 b="1">
                <a:solidFill>
                  <a:srgbClr val="0B2A4A"/>
                </a:solidFill>
                <a:latin typeface="Calibri"/>
              </a:rPr>
              <a:t>LeetCode practice set.  </a:t>
            </a:r>
            <a:r>
              <a:rPr sz="1600">
                <a:solidFill>
                  <a:srgbClr val="333D4A"/>
                </a:solidFill>
                <a:latin typeface="Calibri"/>
              </a:rPr>
              <a:t>Problems 206 (Reverse), 141 (Cycle), 142 (Cycle II), 21 (Merge), 19 (Remove Nth).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09728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E0A81F"/>
                </a:solidFill>
                <a:latin typeface="Calibri"/>
              </a:rPr>
              <a:t>Bring your code, your traces, and your edge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F2F4F7"/>
                </a:solidFill>
                <a:latin typeface="Calibri"/>
              </a:rPr>
              <a:t>Next week  ·  Stacks &amp; Queues — bounded chains with discipline.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F2F4F7"/>
                </a:solidFill>
                <a:latin typeface="Calibri"/>
              </a:rPr>
              <a:t>Data Structures &amp; Algorithms  ·  Week 03  ·  Linked Lists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