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91695" cy="109728"/>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212080"/>
            <a:ext cx="12191695" cy="36576"/>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914400"/>
            <a:ext cx="3474720" cy="502920"/>
          </a:xfrm>
          <a:prstGeom prst="round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914400"/>
            <a:ext cx="3474720" cy="502920"/>
          </a:xfrm>
          <a:prstGeom prst="rect">
            <a:avLst/>
          </a:prstGeom>
          <a:noFill/>
        </p:spPr>
        <p:txBody>
          <a:bodyPr wrap="square" lIns="45720" rIns="45720" tIns="18288" bIns="18288" anchor="ctr">
            <a:spAutoFit/>
          </a:bodyPr>
          <a:lstStyle/>
          <a:p>
            <a:pPr algn="ctr"/>
            <a:r>
              <a:rPr sz="1500" b="1" i="0">
                <a:solidFill>
                  <a:srgbClr val="FFFFFF"/>
                </a:solidFill>
                <a:latin typeface="Calibri"/>
              </a:rPr>
              <a:t>WEEK 03  ·  SUPPLEMENTARY DECK</a:t>
            </a:r>
          </a:p>
        </p:txBody>
      </p:sp>
      <p:sp>
        <p:nvSpPr>
          <p:cNvPr id="7" name="TextBox 6"/>
          <p:cNvSpPr txBox="1"/>
          <p:nvPr/>
        </p:nvSpPr>
        <p:spPr>
          <a:xfrm>
            <a:off x="822960" y="1691640"/>
            <a:ext cx="10515600" cy="1280160"/>
          </a:xfrm>
          <a:prstGeom prst="rect">
            <a:avLst/>
          </a:prstGeom>
          <a:noFill/>
        </p:spPr>
        <p:txBody>
          <a:bodyPr wrap="square" lIns="45720" rIns="45720" tIns="18288" bIns="18288" anchor="t">
            <a:spAutoFit/>
          </a:bodyPr>
          <a:lstStyle/>
          <a:p>
            <a:pPr algn="l"/>
            <a:r>
              <a:rPr sz="6400" b="1" i="0">
                <a:solidFill>
                  <a:srgbClr val="FFFFFF"/>
                </a:solidFill>
                <a:latin typeface="Calibri"/>
              </a:rPr>
              <a:t>Stacks &amp; Queues</a:t>
            </a:r>
          </a:p>
        </p:txBody>
      </p:sp>
      <p:sp>
        <p:nvSpPr>
          <p:cNvPr id="8" name="TextBox 7"/>
          <p:cNvSpPr txBox="1"/>
          <p:nvPr/>
        </p:nvSpPr>
        <p:spPr>
          <a:xfrm>
            <a:off x="822960" y="2880360"/>
            <a:ext cx="10515600" cy="640080"/>
          </a:xfrm>
          <a:prstGeom prst="rect">
            <a:avLst/>
          </a:prstGeom>
          <a:noFill/>
        </p:spPr>
        <p:txBody>
          <a:bodyPr wrap="square" lIns="45720" rIns="45720" tIns="18288" bIns="18288" anchor="t">
            <a:spAutoFit/>
          </a:bodyPr>
          <a:lstStyle/>
          <a:p>
            <a:pPr algn="l"/>
            <a:r>
              <a:rPr sz="2600" b="0" i="1">
                <a:solidFill>
                  <a:srgbClr val="E0A81F"/>
                </a:solidFill>
                <a:latin typeface="Calibri"/>
              </a:rPr>
              <a:t>Understanding Linear Abstract Data Types and Implementations</a:t>
            </a:r>
          </a:p>
        </p:txBody>
      </p:sp>
      <p:sp>
        <p:nvSpPr>
          <p:cNvPr id="9" name="TextBox 8"/>
          <p:cNvSpPr txBox="1"/>
          <p:nvPr/>
        </p:nvSpPr>
        <p:spPr>
          <a:xfrm>
            <a:off x="822960" y="3749039"/>
            <a:ext cx="10515600" cy="548640"/>
          </a:xfrm>
          <a:prstGeom prst="rect">
            <a:avLst/>
          </a:prstGeom>
          <a:noFill/>
        </p:spPr>
        <p:txBody>
          <a:bodyPr wrap="square" lIns="45720" rIns="45720" tIns="18288" bIns="18288" anchor="t">
            <a:spAutoFit/>
          </a:bodyPr>
          <a:lstStyle/>
          <a:p>
            <a:pPr algn="l"/>
            <a:r>
              <a:rPr sz="1800" b="0" i="0">
                <a:solidFill>
                  <a:srgbClr val="F2F4F7"/>
                </a:solidFill>
                <a:latin typeface="Calibri"/>
              </a:rPr>
              <a:t>A Deep-Dive into LIFO, FIFO, and Memory Layouts</a:t>
            </a:r>
          </a:p>
        </p:txBody>
      </p:sp>
      <p:sp>
        <p:nvSpPr>
          <p:cNvPr id="10" name="TextBox 9"/>
          <p:cNvSpPr txBox="1"/>
          <p:nvPr/>
        </p:nvSpPr>
        <p:spPr>
          <a:xfrm>
            <a:off x="822960" y="5486400"/>
            <a:ext cx="7315200" cy="365760"/>
          </a:xfrm>
          <a:prstGeom prst="rect">
            <a:avLst/>
          </a:prstGeom>
          <a:noFill/>
        </p:spPr>
        <p:txBody>
          <a:bodyPr wrap="square" lIns="45720" rIns="45720" tIns="18288" bIns="18288" anchor="t">
            <a:spAutoFit/>
          </a:bodyPr>
          <a:lstStyle/>
          <a:p>
            <a:pPr algn="l"/>
            <a:r>
              <a:rPr sz="1400" b="0" i="0">
                <a:solidFill>
                  <a:srgbClr val="FFFFFF"/>
                </a:solidFill>
                <a:latin typeface="Calibri"/>
              </a:rPr>
              <a:t>Course   ·   CSC: Data Structures &amp; Algorithms</a:t>
            </a:r>
          </a:p>
        </p:txBody>
      </p:sp>
      <p:sp>
        <p:nvSpPr>
          <p:cNvPr id="11" name="TextBox 10"/>
          <p:cNvSpPr txBox="1"/>
          <p:nvPr/>
        </p:nvSpPr>
        <p:spPr>
          <a:xfrm>
            <a:off x="822960" y="5852160"/>
            <a:ext cx="7315200" cy="365760"/>
          </a:xfrm>
          <a:prstGeom prst="rect">
            <a:avLst/>
          </a:prstGeom>
          <a:noFill/>
        </p:spPr>
        <p:txBody>
          <a:bodyPr wrap="square" lIns="45720" rIns="45720" tIns="18288" bIns="18288" anchor="t">
            <a:spAutoFit/>
          </a:bodyPr>
          <a:lstStyle/>
          <a:p>
            <a:pPr algn="l"/>
            <a:r>
              <a:rPr sz="1400" b="0" i="0">
                <a:solidFill>
                  <a:srgbClr val="FFFFFF"/>
                </a:solidFill>
                <a:latin typeface="Calibri"/>
              </a:rPr>
              <a:t>Module   ·   Week 03 Supplement</a:t>
            </a:r>
          </a:p>
        </p:txBody>
      </p:sp>
      <p:sp>
        <p:nvSpPr>
          <p:cNvPr id="12" name="TextBox 11"/>
          <p:cNvSpPr txBox="1"/>
          <p:nvPr/>
        </p:nvSpPr>
        <p:spPr>
          <a:xfrm>
            <a:off x="822960" y="6217920"/>
            <a:ext cx="7315200" cy="365760"/>
          </a:xfrm>
          <a:prstGeom prst="rect">
            <a:avLst/>
          </a:prstGeom>
          <a:noFill/>
        </p:spPr>
        <p:txBody>
          <a:bodyPr wrap="square" lIns="45720" rIns="45720" tIns="18288" bIns="18288" anchor="t">
            <a:spAutoFit/>
          </a:bodyPr>
          <a:lstStyle/>
          <a:p>
            <a:pPr algn="l"/>
            <a:r>
              <a:rPr sz="1400" b="0" i="0">
                <a:solidFill>
                  <a:srgbClr val="FFFFFF"/>
                </a:solidFill>
                <a:latin typeface="Calibri"/>
              </a:rPr>
              <a:t>Format   ·   Lecture · Visual Demonstration</a:t>
            </a:r>
          </a:p>
        </p:txBody>
      </p:sp>
      <p:sp>
        <p:nvSpPr>
          <p:cNvPr id="13" name="TextBox 12"/>
          <p:cNvSpPr txBox="1"/>
          <p:nvPr/>
        </p:nvSpPr>
        <p:spPr>
          <a:xfrm>
            <a:off x="9601200" y="1645920"/>
            <a:ext cx="2286000" cy="1097280"/>
          </a:xfrm>
          <a:prstGeom prst="rect">
            <a:avLst/>
          </a:prstGeom>
          <a:noFill/>
        </p:spPr>
        <p:txBody>
          <a:bodyPr wrap="square" lIns="45720" rIns="45720" tIns="18288" bIns="18288" anchor="ctr">
            <a:spAutoFit/>
          </a:bodyPr>
          <a:lstStyle/>
          <a:p>
            <a:pPr algn="ctr"/>
            <a:r>
              <a:rPr sz="7200" b="0" i="0">
                <a:solidFill>
                  <a:srgbClr val="333D4A"/>
                </a:solidFill>
                <a:latin typeface="Calibri"/>
              </a:rPr>
              <a:t>🥞</a:t>
            </a:r>
          </a:p>
        </p:txBody>
      </p:sp>
      <p:sp>
        <p:nvSpPr>
          <p:cNvPr id="14" name="TextBox 13"/>
          <p:cNvSpPr txBox="1"/>
          <p:nvPr/>
        </p:nvSpPr>
        <p:spPr>
          <a:xfrm>
            <a:off x="9601200" y="2926080"/>
            <a:ext cx="2286000" cy="1097280"/>
          </a:xfrm>
          <a:prstGeom prst="rect">
            <a:avLst/>
          </a:prstGeom>
          <a:noFill/>
        </p:spPr>
        <p:txBody>
          <a:bodyPr wrap="square" lIns="45720" rIns="45720" tIns="18288" bIns="18288" anchor="ctr">
            <a:spAutoFit/>
          </a:bodyPr>
          <a:lstStyle/>
          <a:p>
            <a:pPr algn="ctr"/>
            <a:r>
              <a:rPr sz="4800" b="0" i="0">
                <a:solidFill>
                  <a:srgbClr val="333D4A"/>
                </a:solidFill>
                <a:latin typeface="Calibri"/>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Lecture Outline</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What we will cover today about Stacks and Queues</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2 / 18</a:t>
            </a:r>
          </a:p>
        </p:txBody>
      </p:sp>
      <p:sp>
        <p:nvSpPr>
          <p:cNvPr id="9" name="TextBox 8"/>
          <p:cNvSpPr txBox="1"/>
          <p:nvPr/>
        </p:nvSpPr>
        <p:spPr>
          <a:xfrm>
            <a:off x="822960" y="1371600"/>
            <a:ext cx="10972800" cy="5029200"/>
          </a:xfrm>
          <a:prstGeom prst="rect">
            <a:avLst/>
          </a:prstGeom>
          <a:noFill/>
        </p:spPr>
        <p:txBody>
          <a:bodyPr wrap="square" lIns="45720" rIns="45720">
            <a:spAutoFit/>
          </a:bodyPr>
          <a:lstStyle/>
          <a:p>
            <a:pPr algn="l">
              <a:lnSpc>
                <a:spcPct val="135000"/>
              </a:lnSpc>
              <a:spcAft>
                <a:spcPts val="400"/>
              </a:spcAft>
            </a:pPr>
            <a:r>
              <a:rPr sz="1800" b="1">
                <a:solidFill>
                  <a:srgbClr val="127A8A"/>
                </a:solidFill>
                <a:latin typeface="Calibri"/>
              </a:rPr>
              <a:t>▸  </a:t>
            </a:r>
            <a:r>
              <a:rPr sz="1800" b="1">
                <a:solidFill>
                  <a:srgbClr val="0B2A4A"/>
                </a:solidFill>
                <a:latin typeface="Calibri"/>
              </a:rPr>
              <a:t>1. Abstract Data Types (ADTs).  </a:t>
            </a:r>
            <a:r>
              <a:rPr sz="1800">
                <a:solidFill>
                  <a:srgbClr val="333D4A"/>
                </a:solidFill>
                <a:latin typeface="Calibri"/>
              </a:rPr>
              <a:t>Separation of behavior (interface) from memory (implementation).</a:t>
            </a:r>
          </a:p>
          <a:p>
            <a:pPr algn="l">
              <a:lnSpc>
                <a:spcPct val="135000"/>
              </a:lnSpc>
              <a:spcAft>
                <a:spcPts val="400"/>
              </a:spcAft>
            </a:pPr>
            <a:r>
              <a:rPr sz="1800" b="1">
                <a:solidFill>
                  <a:srgbClr val="127A8A"/>
                </a:solidFill>
                <a:latin typeface="Calibri"/>
              </a:rPr>
              <a:t>▸  </a:t>
            </a:r>
            <a:r>
              <a:rPr sz="1800" b="1">
                <a:solidFill>
                  <a:srgbClr val="0B2A4A"/>
                </a:solidFill>
                <a:latin typeface="Calibri"/>
              </a:rPr>
              <a:t>2. The Stack (LIFO).  </a:t>
            </a:r>
            <a:r>
              <a:rPr sz="1800">
                <a:solidFill>
                  <a:srgbClr val="333D4A"/>
                </a:solidFill>
                <a:latin typeface="Calibri"/>
              </a:rPr>
              <a:t>Plate-stack intuition, operations, and visual representations.</a:t>
            </a:r>
          </a:p>
          <a:p>
            <a:pPr algn="l">
              <a:lnSpc>
                <a:spcPct val="135000"/>
              </a:lnSpc>
              <a:spcAft>
                <a:spcPts val="400"/>
              </a:spcAft>
            </a:pPr>
            <a:r>
              <a:rPr sz="1800" b="1">
                <a:solidFill>
                  <a:srgbClr val="127A8A"/>
                </a:solidFill>
                <a:latin typeface="Calibri"/>
              </a:rPr>
              <a:t>▸  </a:t>
            </a:r>
            <a:r>
              <a:rPr sz="1800" b="1">
                <a:solidFill>
                  <a:srgbClr val="0B2A4A"/>
                </a:solidFill>
                <a:latin typeface="Calibri"/>
              </a:rPr>
              <a:t>3. Stack Implementation.  </a:t>
            </a:r>
            <a:r>
              <a:rPr sz="1800">
                <a:solidFill>
                  <a:srgbClr val="333D4A"/>
                </a:solidFill>
                <a:latin typeface="Calibri"/>
              </a:rPr>
              <a:t>Building stacks using Linked Lists and Dynamic Arrays (Big-O comparison).</a:t>
            </a:r>
          </a:p>
          <a:p>
            <a:pPr algn="l">
              <a:lnSpc>
                <a:spcPct val="135000"/>
              </a:lnSpc>
              <a:spcAft>
                <a:spcPts val="400"/>
              </a:spcAft>
            </a:pPr>
            <a:r>
              <a:rPr sz="1800" b="1">
                <a:solidFill>
                  <a:srgbClr val="127A8A"/>
                </a:solidFill>
                <a:latin typeface="Calibri"/>
              </a:rPr>
              <a:t>▸  </a:t>
            </a:r>
            <a:r>
              <a:rPr sz="1800" b="1">
                <a:solidFill>
                  <a:srgbClr val="0B2A4A"/>
                </a:solidFill>
                <a:latin typeface="Calibri"/>
              </a:rPr>
              <a:t>4. The Queue (FIFO).  </a:t>
            </a:r>
            <a:r>
              <a:rPr sz="1800">
                <a:solidFill>
                  <a:srgbClr val="333D4A"/>
                </a:solidFill>
                <a:latin typeface="Calibri"/>
              </a:rPr>
              <a:t>Line checkout intuition, operations, and visual layouts.</a:t>
            </a:r>
          </a:p>
          <a:p>
            <a:pPr algn="l">
              <a:lnSpc>
                <a:spcPct val="135000"/>
              </a:lnSpc>
              <a:spcAft>
                <a:spcPts val="400"/>
              </a:spcAft>
            </a:pPr>
            <a:r>
              <a:rPr sz="1800" b="1">
                <a:solidFill>
                  <a:srgbClr val="127A8A"/>
                </a:solidFill>
                <a:latin typeface="Calibri"/>
              </a:rPr>
              <a:t>▸  </a:t>
            </a:r>
            <a:r>
              <a:rPr sz="1800" b="1">
                <a:solidFill>
                  <a:srgbClr val="0B2A4A"/>
                </a:solidFill>
                <a:latin typeface="Calibri"/>
              </a:rPr>
              <a:t>5. Queue Implementation.  </a:t>
            </a:r>
            <a:r>
              <a:rPr sz="1800">
                <a:solidFill>
                  <a:srgbClr val="333D4A"/>
                </a:solidFill>
                <a:latin typeface="Calibri"/>
              </a:rPr>
              <a:t>Double-pointer Linked Lists and Circular Array Buffers.</a:t>
            </a:r>
          </a:p>
          <a:p>
            <a:pPr algn="l">
              <a:lnSpc>
                <a:spcPct val="135000"/>
              </a:lnSpc>
              <a:spcAft>
                <a:spcPts val="400"/>
              </a:spcAft>
            </a:pPr>
            <a:r>
              <a:rPr sz="1800" b="1">
                <a:solidFill>
                  <a:srgbClr val="127A8A"/>
                </a:solidFill>
                <a:latin typeface="Calibri"/>
              </a:rPr>
              <a:t>▸  </a:t>
            </a:r>
            <a:r>
              <a:rPr sz="1800" b="1">
                <a:solidFill>
                  <a:srgbClr val="0B2A4A"/>
                </a:solidFill>
                <a:latin typeface="Calibri"/>
              </a:rPr>
              <a:t>6. Double-Ended Queues (Deques).  </a:t>
            </a:r>
            <a:r>
              <a:rPr sz="1800">
                <a:solidFill>
                  <a:srgbClr val="333D4A"/>
                </a:solidFill>
                <a:latin typeface="Calibri"/>
              </a:rPr>
              <a:t>Adding and removing from both ends.</a:t>
            </a:r>
          </a:p>
          <a:p>
            <a:pPr algn="l">
              <a:lnSpc>
                <a:spcPct val="135000"/>
              </a:lnSpc>
              <a:spcAft>
                <a:spcPts val="400"/>
              </a:spcAft>
            </a:pPr>
            <a:r>
              <a:rPr sz="1800" b="1">
                <a:solidFill>
                  <a:srgbClr val="127A8A"/>
                </a:solidFill>
                <a:latin typeface="Calibri"/>
              </a:rPr>
              <a:t>▸  </a:t>
            </a:r>
            <a:r>
              <a:rPr sz="1800" b="1">
                <a:solidFill>
                  <a:srgbClr val="0B2A4A"/>
                </a:solidFill>
                <a:latin typeface="Calibri"/>
              </a:rPr>
              <a:t>7. Real-World Applications.  </a:t>
            </a:r>
            <a:r>
              <a:rPr sz="1800">
                <a:solidFill>
                  <a:srgbClr val="333D4A"/>
                </a:solidFill>
                <a:latin typeface="Calibri"/>
              </a:rPr>
              <a:t>Call stacks, BFS, buffer queues, print jobs, and backtracking.</a:t>
            </a:r>
          </a:p>
          <a:p>
            <a:pPr algn="l">
              <a:lnSpc>
                <a:spcPct val="135000"/>
              </a:lnSpc>
              <a:spcAft>
                <a:spcPts val="400"/>
              </a:spcAft>
            </a:pPr>
            <a:r>
              <a:rPr sz="1800" b="1">
                <a:solidFill>
                  <a:srgbClr val="127A8A"/>
                </a:solidFill>
                <a:latin typeface="Calibri"/>
              </a:rPr>
              <a:t>▸  </a:t>
            </a:r>
            <a:r>
              <a:rPr sz="1800" b="1">
                <a:solidFill>
                  <a:srgbClr val="0B2A4A"/>
                </a:solidFill>
                <a:latin typeface="Calibri"/>
              </a:rPr>
              <a:t>8. Practice Problems.  </a:t>
            </a:r>
            <a:r>
              <a:rPr sz="1800">
                <a:solidFill>
                  <a:srgbClr val="333D4A"/>
                </a:solidFill>
                <a:latin typeface="Calibri"/>
              </a:rPr>
              <a:t>Valid Parentheses, Stack-using-Queue, and min stacks.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1.  Abstract Data Types (ADTs)</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Decoupling the 'What' from the 'How'</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3 / 18</a:t>
            </a:r>
          </a:p>
        </p:txBody>
      </p:sp>
      <p:sp>
        <p:nvSpPr>
          <p:cNvPr id="9" name="TextBox 8"/>
          <p:cNvSpPr txBox="1"/>
          <p:nvPr/>
        </p:nvSpPr>
        <p:spPr>
          <a:xfrm>
            <a:off x="822960" y="1325880"/>
            <a:ext cx="5486400" cy="457200"/>
          </a:xfrm>
          <a:prstGeom prst="rect">
            <a:avLst/>
          </a:prstGeom>
          <a:noFill/>
        </p:spPr>
        <p:txBody>
          <a:bodyPr wrap="square" lIns="45720" rIns="45720" tIns="18288" bIns="18288" anchor="t">
            <a:spAutoFit/>
          </a:bodyPr>
          <a:lstStyle/>
          <a:p>
            <a:pPr algn="l"/>
            <a:r>
              <a:rPr sz="2200" b="1" i="0">
                <a:solidFill>
                  <a:srgbClr val="0B2A4A"/>
                </a:solidFill>
                <a:latin typeface="Calibri"/>
              </a:rPr>
              <a:t>What is an ADT?</a:t>
            </a:r>
          </a:p>
        </p:txBody>
      </p:sp>
      <p:sp>
        <p:nvSpPr>
          <p:cNvPr id="10" name="TextBox 9"/>
          <p:cNvSpPr txBox="1"/>
          <p:nvPr/>
        </p:nvSpPr>
        <p:spPr>
          <a:xfrm>
            <a:off x="822960" y="1828800"/>
            <a:ext cx="5486400" cy="4114800"/>
          </a:xfrm>
          <a:prstGeom prst="rect">
            <a:avLst/>
          </a:prstGeom>
          <a:noFill/>
        </p:spPr>
        <p:txBody>
          <a:bodyPr wrap="square" lIns="45720" rIns="45720">
            <a:spAutoFit/>
          </a:bodyPr>
          <a:lstStyle/>
          <a:p>
            <a:pPr algn="l">
              <a:lnSpc>
                <a:spcPct val="135000"/>
              </a:lnSpc>
              <a:spcAft>
                <a:spcPts val="400"/>
              </a:spcAft>
            </a:pPr>
            <a:r>
              <a:rPr sz="1600" b="1">
                <a:solidFill>
                  <a:srgbClr val="127A8A"/>
                </a:solidFill>
                <a:latin typeface="Calibri"/>
              </a:rPr>
              <a:t>▸  </a:t>
            </a:r>
            <a:r>
              <a:rPr sz="1600" b="1">
                <a:solidFill>
                  <a:srgbClr val="0B2A4A"/>
                </a:solidFill>
                <a:latin typeface="Calibri"/>
              </a:rPr>
              <a:t>Interface vs. Implementation.  </a:t>
            </a:r>
            <a:r>
              <a:rPr sz="1600">
                <a:solidFill>
                  <a:srgbClr val="333D4A"/>
                </a:solidFill>
                <a:latin typeface="Calibri"/>
              </a:rPr>
              <a:t>An ADT specifies what operations are supported, not how they are coded.</a:t>
            </a:r>
          </a:p>
          <a:p>
            <a:pPr algn="l">
              <a:lnSpc>
                <a:spcPct val="135000"/>
              </a:lnSpc>
              <a:spcAft>
                <a:spcPts val="400"/>
              </a:spcAft>
            </a:pPr>
            <a:r>
              <a:rPr sz="1600" b="1">
                <a:solidFill>
                  <a:srgbClr val="127A8A"/>
                </a:solidFill>
                <a:latin typeface="Calibri"/>
              </a:rPr>
              <a:t>▸  </a:t>
            </a:r>
            <a:r>
              <a:rPr sz="1600" b="1">
                <a:solidFill>
                  <a:srgbClr val="0B2A4A"/>
                </a:solidFill>
                <a:latin typeface="Calibri"/>
              </a:rPr>
              <a:t>Encapsulation.  </a:t>
            </a:r>
            <a:r>
              <a:rPr sz="1600">
                <a:solidFill>
                  <a:srgbClr val="333D4A"/>
                </a:solidFill>
                <a:latin typeface="Calibri"/>
              </a:rPr>
              <a:t>Users interact with a clean API, hiding structural details (pointers, arrays).</a:t>
            </a:r>
          </a:p>
          <a:p>
            <a:pPr algn="l">
              <a:lnSpc>
                <a:spcPct val="135000"/>
              </a:lnSpc>
              <a:spcAft>
                <a:spcPts val="400"/>
              </a:spcAft>
            </a:pPr>
            <a:r>
              <a:rPr sz="1600" b="1">
                <a:solidFill>
                  <a:srgbClr val="127A8A"/>
                </a:solidFill>
                <a:latin typeface="Calibri"/>
              </a:rPr>
              <a:t>▸  </a:t>
            </a:r>
            <a:r>
              <a:rPr sz="1600" b="1">
                <a:solidFill>
                  <a:srgbClr val="0B2A4A"/>
                </a:solidFill>
                <a:latin typeface="Calibri"/>
              </a:rPr>
              <a:t>Flexibility.  </a:t>
            </a:r>
            <a:r>
              <a:rPr sz="1600">
                <a:solidFill>
                  <a:srgbClr val="333D4A"/>
                </a:solidFill>
                <a:latin typeface="Calibri"/>
              </a:rPr>
              <a:t>We can swap a Stack's backend from an array to a linked list without breaking user code.</a:t>
            </a:r>
          </a:p>
        </p:txBody>
      </p:sp>
      <p:sp>
        <p:nvSpPr>
          <p:cNvPr id="11" name="Rectangle 10"/>
          <p:cNvSpPr/>
          <p:nvPr/>
        </p:nvSpPr>
        <p:spPr>
          <a:xfrm>
            <a:off x="6675120" y="1325880"/>
            <a:ext cx="4937760" cy="48463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554480"/>
            <a:ext cx="4937760" cy="365760"/>
          </a:xfrm>
          <a:prstGeom prst="rect">
            <a:avLst/>
          </a:prstGeom>
          <a:noFill/>
        </p:spPr>
        <p:txBody>
          <a:bodyPr wrap="square" lIns="45720" rIns="45720" tIns="18288" bIns="18288" anchor="t">
            <a:spAutoFit/>
          </a:bodyPr>
          <a:lstStyle/>
          <a:p>
            <a:pPr algn="ctr"/>
            <a:r>
              <a:rPr sz="1600" b="1" i="0">
                <a:solidFill>
                  <a:srgbClr val="0B2A4A"/>
                </a:solidFill>
                <a:latin typeface="Calibri"/>
              </a:rPr>
              <a:t>The ADT Shield</a:t>
            </a:r>
          </a:p>
        </p:txBody>
      </p:sp>
      <p:sp>
        <p:nvSpPr>
          <p:cNvPr id="13" name="Rounded Rectangle 12"/>
          <p:cNvSpPr/>
          <p:nvPr/>
        </p:nvSpPr>
        <p:spPr>
          <a:xfrm>
            <a:off x="7772400" y="2103120"/>
            <a:ext cx="2743200" cy="914400"/>
          </a:xfrm>
          <a:prstGeom prst="round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2103120"/>
            <a:ext cx="2743200" cy="914400"/>
          </a:xfrm>
          <a:prstGeom prst="rect">
            <a:avLst/>
          </a:prstGeom>
          <a:noFill/>
        </p:spPr>
        <p:txBody>
          <a:bodyPr wrap="square" lIns="45720" rIns="45720" tIns="18288" bIns="18288" anchor="ctr">
            <a:spAutoFit/>
          </a:bodyPr>
          <a:lstStyle/>
          <a:p>
            <a:pPr algn="ctr"/>
            <a:r>
              <a:rPr sz="1600" b="1" i="0">
                <a:solidFill>
                  <a:srgbClr val="FFFFFF"/>
                </a:solidFill>
                <a:latin typeface="Calibri"/>
              </a:rPr>
              <a:t>USER API
(push, pop, enqueue)</a:t>
            </a:r>
          </a:p>
        </p:txBody>
      </p:sp>
      <p:cxnSp>
        <p:nvCxnSpPr>
          <p:cNvPr id="15" name="Connector 14"/>
          <p:cNvCxnSpPr/>
          <p:nvPr/>
        </p:nvCxnSpPr>
        <p:spPr>
          <a:xfrm>
            <a:off x="9144000" y="3017520"/>
            <a:ext cx="0" cy="731519"/>
          </a:xfrm>
          <a:prstGeom prst="line">
            <a:avLst/>
          </a:prstGeom>
          <a:ln w="28575">
            <a:solidFill>
              <a:srgbClr val="127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15200" y="3749039"/>
            <a:ext cx="3657600" cy="1645920"/>
          </a:xfrm>
          <a:prstGeom prst="round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3749039"/>
            <a:ext cx="3657600" cy="1645920"/>
          </a:xfrm>
          <a:prstGeom prst="rect">
            <a:avLst/>
          </a:prstGeom>
          <a:noFill/>
        </p:spPr>
        <p:txBody>
          <a:bodyPr wrap="square" lIns="45720" rIns="45720" tIns="18288" bIns="18288" anchor="ctr">
            <a:spAutoFit/>
          </a:bodyPr>
          <a:lstStyle/>
          <a:p>
            <a:pPr algn="ctr"/>
            <a:r>
              <a:rPr sz="1400" b="1" i="0">
                <a:solidFill>
                  <a:srgbClr val="FFFFFF"/>
                </a:solidFill>
                <a:latin typeface="Calibri"/>
              </a:rPr>
              <a:t>Concrete Implementations
Option A: Array / List
Option B: Node Linked Chain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2.  The Stack (LIFO)</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Last-In, First-Out (LIFO) Structure</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4 / 18</a:t>
            </a:r>
          </a:p>
        </p:txBody>
      </p:sp>
      <p:sp>
        <p:nvSpPr>
          <p:cNvPr id="9" name="TextBox 8"/>
          <p:cNvSpPr txBox="1"/>
          <p:nvPr/>
        </p:nvSpPr>
        <p:spPr>
          <a:xfrm>
            <a:off x="822960" y="1325880"/>
            <a:ext cx="5486400" cy="457200"/>
          </a:xfrm>
          <a:prstGeom prst="rect">
            <a:avLst/>
          </a:prstGeom>
          <a:noFill/>
        </p:spPr>
        <p:txBody>
          <a:bodyPr wrap="square" lIns="45720" rIns="45720" tIns="18288" bIns="18288" anchor="t">
            <a:spAutoFit/>
          </a:bodyPr>
          <a:lstStyle/>
          <a:p>
            <a:pPr algn="l"/>
            <a:r>
              <a:rPr sz="2200" b="1" i="0">
                <a:solidFill>
                  <a:srgbClr val="0B2A4A"/>
                </a:solidFill>
                <a:latin typeface="Calibri"/>
              </a:rPr>
              <a:t>The Stack Metaphor</a:t>
            </a:r>
          </a:p>
        </p:txBody>
      </p:sp>
      <p:sp>
        <p:nvSpPr>
          <p:cNvPr id="10" name="TextBox 9"/>
          <p:cNvSpPr txBox="1"/>
          <p:nvPr/>
        </p:nvSpPr>
        <p:spPr>
          <a:xfrm>
            <a:off x="822960" y="1828800"/>
            <a:ext cx="5486400" cy="4114800"/>
          </a:xfrm>
          <a:prstGeom prst="rect">
            <a:avLst/>
          </a:prstGeom>
          <a:noFill/>
        </p:spPr>
        <p:txBody>
          <a:bodyPr wrap="square" lIns="45720" rIns="45720">
            <a:spAutoFit/>
          </a:bodyPr>
          <a:lstStyle/>
          <a:p>
            <a:pPr algn="l">
              <a:lnSpc>
                <a:spcPct val="140000"/>
              </a:lnSpc>
              <a:spcAft>
                <a:spcPts val="400"/>
              </a:spcAft>
            </a:pPr>
            <a:r>
              <a:rPr sz="1600" b="1">
                <a:solidFill>
                  <a:srgbClr val="127A8A"/>
                </a:solidFill>
                <a:latin typeface="Calibri"/>
              </a:rPr>
              <a:t>▸  </a:t>
            </a:r>
            <a:r>
              <a:rPr sz="1600" b="1">
                <a:solidFill>
                  <a:srgbClr val="0B2A4A"/>
                </a:solidFill>
                <a:latin typeface="Calibri"/>
              </a:rPr>
              <a:t>Plate Stack.  </a:t>
            </a:r>
            <a:r>
              <a:rPr sz="1600">
                <a:solidFill>
                  <a:srgbClr val="333D4A"/>
                </a:solidFill>
                <a:latin typeface="Calibri"/>
              </a:rPr>
              <a:t>You add plates to the top. You remove plates from the top. Trying to pull from the bottom crashes the stack.</a:t>
            </a:r>
          </a:p>
          <a:p>
            <a:pPr algn="l">
              <a:lnSpc>
                <a:spcPct val="140000"/>
              </a:lnSpc>
              <a:spcAft>
                <a:spcPts val="400"/>
              </a:spcAft>
            </a:pPr>
            <a:r>
              <a:rPr sz="1600" b="1">
                <a:solidFill>
                  <a:srgbClr val="127A8A"/>
                </a:solidFill>
                <a:latin typeface="Calibri"/>
              </a:rPr>
              <a:t>▸  </a:t>
            </a:r>
            <a:r>
              <a:rPr sz="1600" b="1">
                <a:solidFill>
                  <a:srgbClr val="0B2A4A"/>
                </a:solidFill>
                <a:latin typeface="Calibri"/>
              </a:rPr>
              <a:t>LIFO Policy.  </a:t>
            </a:r>
            <a:r>
              <a:rPr sz="1600">
                <a:solidFill>
                  <a:srgbClr val="333D4A"/>
                </a:solidFill>
                <a:latin typeface="Calibri"/>
              </a:rPr>
              <a:t>The element most recently pushed onto the stack is the first one popped off.</a:t>
            </a:r>
          </a:p>
          <a:p>
            <a:pPr algn="l">
              <a:lnSpc>
                <a:spcPct val="140000"/>
              </a:lnSpc>
              <a:spcAft>
                <a:spcPts val="400"/>
              </a:spcAft>
            </a:pPr>
            <a:r>
              <a:rPr sz="1600" b="1">
                <a:solidFill>
                  <a:srgbClr val="127A8A"/>
                </a:solidFill>
                <a:latin typeface="Calibri"/>
              </a:rPr>
              <a:t>▸  </a:t>
            </a:r>
            <a:r>
              <a:rPr sz="1600" b="1">
                <a:solidFill>
                  <a:srgbClr val="0B2A4A"/>
                </a:solidFill>
                <a:latin typeface="Calibri"/>
              </a:rPr>
              <a:t>Restricted Access.  </a:t>
            </a:r>
            <a:r>
              <a:rPr sz="1600">
                <a:solidFill>
                  <a:srgbClr val="333D4A"/>
                </a:solidFill>
                <a:latin typeface="Calibri"/>
              </a:rPr>
              <a:t>No random access allowed. You cannot inspect or delete elements in the middle without popping the top first.</a:t>
            </a:r>
          </a:p>
        </p:txBody>
      </p:sp>
      <p:sp>
        <p:nvSpPr>
          <p:cNvPr id="11" name="Rectangle 10"/>
          <p:cNvSpPr/>
          <p:nvPr/>
        </p:nvSpPr>
        <p:spPr>
          <a:xfrm>
            <a:off x="6675120" y="1325880"/>
            <a:ext cx="4937760" cy="48463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463040"/>
            <a:ext cx="4937760" cy="365760"/>
          </a:xfrm>
          <a:prstGeom prst="rect">
            <a:avLst/>
          </a:prstGeom>
          <a:noFill/>
        </p:spPr>
        <p:txBody>
          <a:bodyPr wrap="square" lIns="45720" rIns="45720" tIns="18288" bIns="18288" anchor="t">
            <a:spAutoFit/>
          </a:bodyPr>
          <a:lstStyle/>
          <a:p>
            <a:pPr algn="ctr"/>
            <a:r>
              <a:rPr sz="1600" b="1" i="0">
                <a:solidFill>
                  <a:srgbClr val="0B2A4A"/>
                </a:solidFill>
                <a:latin typeface="Calibri"/>
              </a:rPr>
              <a:t>Stack Visualization</a:t>
            </a:r>
          </a:p>
        </p:txBody>
      </p:sp>
      <p:sp>
        <p:nvSpPr>
          <p:cNvPr id="13" name="Rectangle 12"/>
          <p:cNvSpPr/>
          <p:nvPr/>
        </p:nvSpPr>
        <p:spPr>
          <a:xfrm>
            <a:off x="8046720" y="2011680"/>
            <a:ext cx="73152" cy="3657600"/>
          </a:xfrm>
          <a:prstGeom prst="rect">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241280" y="2011680"/>
            <a:ext cx="73152" cy="3657600"/>
          </a:xfrm>
          <a:prstGeom prst="rect">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5669280"/>
            <a:ext cx="2267712" cy="73152"/>
          </a:xfrm>
          <a:prstGeom prst="rect">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0" y="4754880"/>
            <a:ext cx="1828800" cy="731520"/>
          </a:xfrm>
          <a:prstGeom prst="roundRect">
            <a:avLst/>
          </a:prstGeom>
          <a:solidFill>
            <a:srgbClr val="FFFFFF"/>
          </a:solidFill>
          <a:ln w="254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4754880"/>
            <a:ext cx="1828800" cy="731520"/>
          </a:xfrm>
          <a:prstGeom prst="rect">
            <a:avLst/>
          </a:prstGeom>
          <a:noFill/>
        </p:spPr>
        <p:txBody>
          <a:bodyPr wrap="square" lIns="45720" rIns="45720" tIns="18288" bIns="18288" anchor="ctr">
            <a:spAutoFit/>
          </a:bodyPr>
          <a:lstStyle/>
          <a:p>
            <a:pPr algn="ctr"/>
            <a:r>
              <a:rPr sz="1400" b="1" i="0">
                <a:solidFill>
                  <a:srgbClr val="0B2A4A"/>
                </a:solidFill>
                <a:latin typeface="Calibri"/>
              </a:rPr>
              <a:t>10 (Bottom)</a:t>
            </a:r>
          </a:p>
        </p:txBody>
      </p:sp>
      <p:sp>
        <p:nvSpPr>
          <p:cNvPr id="18" name="Rounded Rectangle 17"/>
          <p:cNvSpPr/>
          <p:nvPr/>
        </p:nvSpPr>
        <p:spPr>
          <a:xfrm>
            <a:off x="8229600" y="3840480"/>
            <a:ext cx="1828800" cy="731520"/>
          </a:xfrm>
          <a:prstGeom prst="roundRect">
            <a:avLst/>
          </a:prstGeom>
          <a:solidFill>
            <a:srgbClr val="FFFFFF"/>
          </a:solidFill>
          <a:ln w="254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3840480"/>
            <a:ext cx="1828800" cy="731520"/>
          </a:xfrm>
          <a:prstGeom prst="rect">
            <a:avLst/>
          </a:prstGeom>
          <a:noFill/>
        </p:spPr>
        <p:txBody>
          <a:bodyPr wrap="square" lIns="45720" rIns="45720" tIns="18288" bIns="18288" anchor="ctr">
            <a:spAutoFit/>
          </a:bodyPr>
          <a:lstStyle/>
          <a:p>
            <a:pPr algn="ctr"/>
            <a:r>
              <a:rPr sz="1400" b="1" i="0">
                <a:solidFill>
                  <a:srgbClr val="0B2A4A"/>
                </a:solidFill>
                <a:latin typeface="Calibri"/>
              </a:rPr>
              <a:t>20</a:t>
            </a:r>
          </a:p>
        </p:txBody>
      </p:sp>
      <p:sp>
        <p:nvSpPr>
          <p:cNvPr id="20" name="Rounded Rectangle 19"/>
          <p:cNvSpPr/>
          <p:nvPr/>
        </p:nvSpPr>
        <p:spPr>
          <a:xfrm>
            <a:off x="8229600" y="2926080"/>
            <a:ext cx="1828800" cy="731520"/>
          </a:xfrm>
          <a:prstGeom prst="roundRect">
            <a:avLst/>
          </a:prstGeom>
          <a:solidFill>
            <a:srgbClr val="E0A81F"/>
          </a:solidFill>
          <a:ln w="254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2926080"/>
            <a:ext cx="1828800" cy="731520"/>
          </a:xfrm>
          <a:prstGeom prst="rect">
            <a:avLst/>
          </a:prstGeom>
          <a:noFill/>
        </p:spPr>
        <p:txBody>
          <a:bodyPr wrap="square" lIns="45720" rIns="45720" tIns="18288" bIns="18288" anchor="ctr">
            <a:spAutoFit/>
          </a:bodyPr>
          <a:lstStyle/>
          <a:p>
            <a:pPr algn="ctr"/>
            <a:r>
              <a:rPr sz="1400" b="1" i="0">
                <a:solidFill>
                  <a:srgbClr val="0B2A4A"/>
                </a:solidFill>
                <a:latin typeface="Calibri"/>
              </a:rPr>
              <a:t>30 (Top)</a:t>
            </a:r>
          </a:p>
        </p:txBody>
      </p:sp>
      <p:cxnSp>
        <p:nvCxnSpPr>
          <p:cNvPr id="22" name="Connector 21"/>
          <p:cNvCxnSpPr/>
          <p:nvPr/>
        </p:nvCxnSpPr>
        <p:spPr>
          <a:xfrm>
            <a:off x="9144000" y="1188720"/>
            <a:ext cx="0" cy="640080"/>
          </a:xfrm>
          <a:prstGeom prst="line">
            <a:avLst/>
          </a:prstGeom>
          <a:ln w="28575">
            <a:solidFill>
              <a:srgbClr val="127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235440" y="1280160"/>
            <a:ext cx="1371600" cy="365760"/>
          </a:xfrm>
          <a:prstGeom prst="rect">
            <a:avLst/>
          </a:prstGeom>
          <a:noFill/>
        </p:spPr>
        <p:txBody>
          <a:bodyPr wrap="square" lIns="45720" rIns="45720" tIns="18288" bIns="18288" anchor="t">
            <a:spAutoFit/>
          </a:bodyPr>
          <a:lstStyle/>
          <a:p>
            <a:pPr algn="l"/>
            <a:r>
              <a:rPr sz="1200" b="1" i="0">
                <a:solidFill>
                  <a:srgbClr val="127A8A"/>
                </a:solidFill>
                <a:latin typeface="Calibri"/>
              </a:rPr>
              <a:t>Push / Pop 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Stack Operations &amp; Complexity</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The Core Interface of a Stack</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5 / 18</a:t>
            </a:r>
          </a:p>
        </p:txBody>
      </p:sp>
      <p:sp>
        <p:nvSpPr>
          <p:cNvPr id="9" name="Rectangle 8"/>
          <p:cNvSpPr/>
          <p:nvPr/>
        </p:nvSpPr>
        <p:spPr>
          <a:xfrm>
            <a:off x="822960" y="1463040"/>
            <a:ext cx="2926080" cy="640080"/>
          </a:xfrm>
          <a:prstGeom prst="rect">
            <a:avLst/>
          </a:prstGeom>
          <a:solidFill>
            <a:srgbClr val="0B2A4A"/>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463040"/>
            <a:ext cx="2743200" cy="640080"/>
          </a:xfrm>
          <a:prstGeom prst="rect">
            <a:avLst/>
          </a:prstGeom>
          <a:noFill/>
        </p:spPr>
        <p:txBody>
          <a:bodyPr wrap="square" lIns="45720" rIns="45720" tIns="18288" bIns="18288" anchor="ctr">
            <a:spAutoFit/>
          </a:bodyPr>
          <a:lstStyle/>
          <a:p>
            <a:pPr algn="l"/>
            <a:r>
              <a:rPr sz="1500" b="1" i="0">
                <a:solidFill>
                  <a:srgbClr val="FFFFFF"/>
                </a:solidFill>
                <a:latin typeface="Calibri"/>
              </a:rPr>
              <a:t>Operation</a:t>
            </a:r>
          </a:p>
        </p:txBody>
      </p:sp>
      <p:sp>
        <p:nvSpPr>
          <p:cNvPr id="11" name="Rectangle 10"/>
          <p:cNvSpPr/>
          <p:nvPr/>
        </p:nvSpPr>
        <p:spPr>
          <a:xfrm>
            <a:off x="3749040" y="1463040"/>
            <a:ext cx="5303520" cy="640080"/>
          </a:xfrm>
          <a:prstGeom prst="rect">
            <a:avLst/>
          </a:prstGeom>
          <a:solidFill>
            <a:srgbClr val="0B2A4A"/>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86200" y="1463040"/>
            <a:ext cx="5120640" cy="640080"/>
          </a:xfrm>
          <a:prstGeom prst="rect">
            <a:avLst/>
          </a:prstGeom>
          <a:noFill/>
        </p:spPr>
        <p:txBody>
          <a:bodyPr wrap="square" lIns="45720" rIns="45720" tIns="18288" bIns="18288" anchor="ctr">
            <a:spAutoFit/>
          </a:bodyPr>
          <a:lstStyle/>
          <a:p>
            <a:pPr algn="l"/>
            <a:r>
              <a:rPr sz="1500" b="1" i="0">
                <a:solidFill>
                  <a:srgbClr val="FFFFFF"/>
                </a:solidFill>
                <a:latin typeface="Calibri"/>
              </a:rPr>
              <a:t>Description</a:t>
            </a:r>
          </a:p>
        </p:txBody>
      </p:sp>
      <p:sp>
        <p:nvSpPr>
          <p:cNvPr id="13" name="Rectangle 12"/>
          <p:cNvSpPr/>
          <p:nvPr/>
        </p:nvSpPr>
        <p:spPr>
          <a:xfrm>
            <a:off x="9052560" y="1463040"/>
            <a:ext cx="2286000" cy="640080"/>
          </a:xfrm>
          <a:prstGeom prst="rect">
            <a:avLst/>
          </a:prstGeom>
          <a:solidFill>
            <a:srgbClr val="0B2A4A"/>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20" y="1463040"/>
            <a:ext cx="2103120" cy="640080"/>
          </a:xfrm>
          <a:prstGeom prst="rect">
            <a:avLst/>
          </a:prstGeom>
          <a:noFill/>
        </p:spPr>
        <p:txBody>
          <a:bodyPr wrap="square" lIns="45720" rIns="45720" tIns="18288" bIns="18288" anchor="ctr">
            <a:spAutoFit/>
          </a:bodyPr>
          <a:lstStyle/>
          <a:p>
            <a:pPr algn="l"/>
            <a:r>
              <a:rPr sz="1500" b="1" i="0">
                <a:solidFill>
                  <a:srgbClr val="FFFFFF"/>
                </a:solidFill>
                <a:latin typeface="Calibri"/>
              </a:rPr>
              <a:t>Complexity</a:t>
            </a:r>
          </a:p>
        </p:txBody>
      </p:sp>
      <p:sp>
        <p:nvSpPr>
          <p:cNvPr id="15" name="Rectangle 14"/>
          <p:cNvSpPr/>
          <p:nvPr/>
        </p:nvSpPr>
        <p:spPr>
          <a:xfrm>
            <a:off x="822960" y="2103120"/>
            <a:ext cx="292608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2103120"/>
            <a:ext cx="2743200" cy="640080"/>
          </a:xfrm>
          <a:prstGeom prst="rect">
            <a:avLst/>
          </a:prstGeom>
          <a:noFill/>
        </p:spPr>
        <p:txBody>
          <a:bodyPr wrap="square" lIns="45720" rIns="45720" tIns="18288" bIns="18288" anchor="ctr">
            <a:spAutoFit/>
          </a:bodyPr>
          <a:lstStyle/>
          <a:p>
            <a:pPr algn="l"/>
            <a:r>
              <a:rPr sz="1500" b="1" i="0">
                <a:solidFill>
                  <a:srgbClr val="333D4A"/>
                </a:solidFill>
                <a:latin typeface="Calibri"/>
              </a:rPr>
              <a:t>push(item)</a:t>
            </a:r>
          </a:p>
        </p:txBody>
      </p:sp>
      <p:sp>
        <p:nvSpPr>
          <p:cNvPr id="17" name="Rectangle 16"/>
          <p:cNvSpPr/>
          <p:nvPr/>
        </p:nvSpPr>
        <p:spPr>
          <a:xfrm>
            <a:off x="3749040" y="2103120"/>
            <a:ext cx="530352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86200" y="2103120"/>
            <a:ext cx="5120640" cy="640080"/>
          </a:xfrm>
          <a:prstGeom prst="rect">
            <a:avLst/>
          </a:prstGeom>
          <a:noFill/>
        </p:spPr>
        <p:txBody>
          <a:bodyPr wrap="square" lIns="45720" rIns="45720" tIns="18288" bIns="18288" anchor="ctr">
            <a:spAutoFit/>
          </a:bodyPr>
          <a:lstStyle/>
          <a:p>
            <a:pPr algn="l"/>
            <a:r>
              <a:rPr sz="1500" b="0" i="0">
                <a:solidFill>
                  <a:srgbClr val="333D4A"/>
                </a:solidFill>
                <a:latin typeface="Calibri"/>
              </a:rPr>
              <a:t>Insert item onto the top of the stack.</a:t>
            </a:r>
          </a:p>
        </p:txBody>
      </p:sp>
      <p:sp>
        <p:nvSpPr>
          <p:cNvPr id="19" name="Rectangle 18"/>
          <p:cNvSpPr/>
          <p:nvPr/>
        </p:nvSpPr>
        <p:spPr>
          <a:xfrm>
            <a:off x="9052560" y="2103120"/>
            <a:ext cx="228600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2103120"/>
            <a:ext cx="2103120" cy="640080"/>
          </a:xfrm>
          <a:prstGeom prst="rect">
            <a:avLst/>
          </a:prstGeom>
          <a:noFill/>
        </p:spPr>
        <p:txBody>
          <a:bodyPr wrap="square" lIns="45720" rIns="45720" tIns="18288" bIns="18288" anchor="ctr">
            <a:spAutoFit/>
          </a:bodyPr>
          <a:lstStyle/>
          <a:p>
            <a:pPr algn="l"/>
            <a:r>
              <a:rPr sz="1500" b="1" i="0">
                <a:solidFill>
                  <a:srgbClr val="2E7D32"/>
                </a:solidFill>
                <a:latin typeface="Calibri"/>
              </a:rPr>
              <a:t>O(1)</a:t>
            </a:r>
          </a:p>
        </p:txBody>
      </p:sp>
      <p:sp>
        <p:nvSpPr>
          <p:cNvPr id="21" name="Rectangle 20"/>
          <p:cNvSpPr/>
          <p:nvPr/>
        </p:nvSpPr>
        <p:spPr>
          <a:xfrm>
            <a:off x="822960" y="2743200"/>
            <a:ext cx="2926080" cy="640080"/>
          </a:xfrm>
          <a:prstGeom prst="rect">
            <a:avLst/>
          </a:prstGeom>
          <a:solidFill>
            <a:srgbClr val="FFFFFF"/>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2743200"/>
            <a:ext cx="2743200" cy="640080"/>
          </a:xfrm>
          <a:prstGeom prst="rect">
            <a:avLst/>
          </a:prstGeom>
          <a:noFill/>
        </p:spPr>
        <p:txBody>
          <a:bodyPr wrap="square" lIns="45720" rIns="45720" tIns="18288" bIns="18288" anchor="ctr">
            <a:spAutoFit/>
          </a:bodyPr>
          <a:lstStyle/>
          <a:p>
            <a:pPr algn="l"/>
            <a:r>
              <a:rPr sz="1500" b="1" i="0">
                <a:solidFill>
                  <a:srgbClr val="333D4A"/>
                </a:solidFill>
                <a:latin typeface="Calibri"/>
              </a:rPr>
              <a:t>pop()</a:t>
            </a:r>
          </a:p>
        </p:txBody>
      </p:sp>
      <p:sp>
        <p:nvSpPr>
          <p:cNvPr id="23" name="Rectangle 22"/>
          <p:cNvSpPr/>
          <p:nvPr/>
        </p:nvSpPr>
        <p:spPr>
          <a:xfrm>
            <a:off x="3749040" y="2743200"/>
            <a:ext cx="5303520" cy="640080"/>
          </a:xfrm>
          <a:prstGeom prst="rect">
            <a:avLst/>
          </a:prstGeom>
          <a:solidFill>
            <a:srgbClr val="FFFFFF"/>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86200" y="2743200"/>
            <a:ext cx="5120640" cy="640080"/>
          </a:xfrm>
          <a:prstGeom prst="rect">
            <a:avLst/>
          </a:prstGeom>
          <a:noFill/>
        </p:spPr>
        <p:txBody>
          <a:bodyPr wrap="square" lIns="45720" rIns="45720" tIns="18288" bIns="18288" anchor="ctr">
            <a:spAutoFit/>
          </a:bodyPr>
          <a:lstStyle/>
          <a:p>
            <a:pPr algn="l"/>
            <a:r>
              <a:rPr sz="1500" b="0" i="0">
                <a:solidFill>
                  <a:srgbClr val="333D4A"/>
                </a:solidFill>
                <a:latin typeface="Calibri"/>
              </a:rPr>
              <a:t>Remove and return the item at the top of the stack.</a:t>
            </a:r>
          </a:p>
        </p:txBody>
      </p:sp>
      <p:sp>
        <p:nvSpPr>
          <p:cNvPr id="25" name="Rectangle 24"/>
          <p:cNvSpPr/>
          <p:nvPr/>
        </p:nvSpPr>
        <p:spPr>
          <a:xfrm>
            <a:off x="9052560" y="2743200"/>
            <a:ext cx="2286000" cy="640080"/>
          </a:xfrm>
          <a:prstGeom prst="rect">
            <a:avLst/>
          </a:prstGeom>
          <a:solidFill>
            <a:srgbClr val="FFFFFF"/>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89720" y="2743200"/>
            <a:ext cx="2103120" cy="640080"/>
          </a:xfrm>
          <a:prstGeom prst="rect">
            <a:avLst/>
          </a:prstGeom>
          <a:noFill/>
        </p:spPr>
        <p:txBody>
          <a:bodyPr wrap="square" lIns="45720" rIns="45720" tIns="18288" bIns="18288" anchor="ctr">
            <a:spAutoFit/>
          </a:bodyPr>
          <a:lstStyle/>
          <a:p>
            <a:pPr algn="l"/>
            <a:r>
              <a:rPr sz="1500" b="1" i="0">
                <a:solidFill>
                  <a:srgbClr val="2E7D32"/>
                </a:solidFill>
                <a:latin typeface="Calibri"/>
              </a:rPr>
              <a:t>O(1)</a:t>
            </a:r>
          </a:p>
        </p:txBody>
      </p:sp>
      <p:sp>
        <p:nvSpPr>
          <p:cNvPr id="27" name="Rectangle 26"/>
          <p:cNvSpPr/>
          <p:nvPr/>
        </p:nvSpPr>
        <p:spPr>
          <a:xfrm>
            <a:off x="822960" y="3383280"/>
            <a:ext cx="292608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3383280"/>
            <a:ext cx="2743200" cy="640080"/>
          </a:xfrm>
          <a:prstGeom prst="rect">
            <a:avLst/>
          </a:prstGeom>
          <a:noFill/>
        </p:spPr>
        <p:txBody>
          <a:bodyPr wrap="square" lIns="45720" rIns="45720" tIns="18288" bIns="18288" anchor="ctr">
            <a:spAutoFit/>
          </a:bodyPr>
          <a:lstStyle/>
          <a:p>
            <a:pPr algn="l"/>
            <a:r>
              <a:rPr sz="1500" b="1" i="0">
                <a:solidFill>
                  <a:srgbClr val="333D4A"/>
                </a:solidFill>
                <a:latin typeface="Calibri"/>
              </a:rPr>
              <a:t>peek() / top()</a:t>
            </a:r>
          </a:p>
        </p:txBody>
      </p:sp>
      <p:sp>
        <p:nvSpPr>
          <p:cNvPr id="29" name="Rectangle 28"/>
          <p:cNvSpPr/>
          <p:nvPr/>
        </p:nvSpPr>
        <p:spPr>
          <a:xfrm>
            <a:off x="3749040" y="3383280"/>
            <a:ext cx="530352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86200" y="3383280"/>
            <a:ext cx="5120640" cy="640080"/>
          </a:xfrm>
          <a:prstGeom prst="rect">
            <a:avLst/>
          </a:prstGeom>
          <a:noFill/>
        </p:spPr>
        <p:txBody>
          <a:bodyPr wrap="square" lIns="45720" rIns="45720" tIns="18288" bIns="18288" anchor="ctr">
            <a:spAutoFit/>
          </a:bodyPr>
          <a:lstStyle/>
          <a:p>
            <a:pPr algn="l"/>
            <a:r>
              <a:rPr sz="1500" b="0" i="0">
                <a:solidFill>
                  <a:srgbClr val="333D4A"/>
                </a:solidFill>
                <a:latin typeface="Calibri"/>
              </a:rPr>
              <a:t>Return the item at the top without removing it.</a:t>
            </a:r>
          </a:p>
        </p:txBody>
      </p:sp>
      <p:sp>
        <p:nvSpPr>
          <p:cNvPr id="31" name="Rectangle 30"/>
          <p:cNvSpPr/>
          <p:nvPr/>
        </p:nvSpPr>
        <p:spPr>
          <a:xfrm>
            <a:off x="9052560" y="3383280"/>
            <a:ext cx="228600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89720" y="3383280"/>
            <a:ext cx="2103120" cy="640080"/>
          </a:xfrm>
          <a:prstGeom prst="rect">
            <a:avLst/>
          </a:prstGeom>
          <a:noFill/>
        </p:spPr>
        <p:txBody>
          <a:bodyPr wrap="square" lIns="45720" rIns="45720" tIns="18288" bIns="18288" anchor="ctr">
            <a:spAutoFit/>
          </a:bodyPr>
          <a:lstStyle/>
          <a:p>
            <a:pPr algn="l"/>
            <a:r>
              <a:rPr sz="1500" b="1" i="0">
                <a:solidFill>
                  <a:srgbClr val="2E7D32"/>
                </a:solidFill>
                <a:latin typeface="Calibri"/>
              </a:rPr>
              <a:t>O(1)</a:t>
            </a:r>
          </a:p>
        </p:txBody>
      </p:sp>
      <p:sp>
        <p:nvSpPr>
          <p:cNvPr id="33" name="Rectangle 32"/>
          <p:cNvSpPr/>
          <p:nvPr/>
        </p:nvSpPr>
        <p:spPr>
          <a:xfrm>
            <a:off x="822960" y="4023360"/>
            <a:ext cx="2926080" cy="640080"/>
          </a:xfrm>
          <a:prstGeom prst="rect">
            <a:avLst/>
          </a:prstGeom>
          <a:solidFill>
            <a:srgbClr val="FFFFFF"/>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4023360"/>
            <a:ext cx="2743200" cy="640080"/>
          </a:xfrm>
          <a:prstGeom prst="rect">
            <a:avLst/>
          </a:prstGeom>
          <a:noFill/>
        </p:spPr>
        <p:txBody>
          <a:bodyPr wrap="square" lIns="45720" rIns="45720" tIns="18288" bIns="18288" anchor="ctr">
            <a:spAutoFit/>
          </a:bodyPr>
          <a:lstStyle/>
          <a:p>
            <a:pPr algn="l"/>
            <a:r>
              <a:rPr sz="1500" b="1" i="0">
                <a:solidFill>
                  <a:srgbClr val="333D4A"/>
                </a:solidFill>
                <a:latin typeface="Calibri"/>
              </a:rPr>
              <a:t>is_empty()</a:t>
            </a:r>
          </a:p>
        </p:txBody>
      </p:sp>
      <p:sp>
        <p:nvSpPr>
          <p:cNvPr id="35" name="Rectangle 34"/>
          <p:cNvSpPr/>
          <p:nvPr/>
        </p:nvSpPr>
        <p:spPr>
          <a:xfrm>
            <a:off x="3749040" y="4023360"/>
            <a:ext cx="5303520" cy="640080"/>
          </a:xfrm>
          <a:prstGeom prst="rect">
            <a:avLst/>
          </a:prstGeom>
          <a:solidFill>
            <a:srgbClr val="FFFFFF"/>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86200" y="4023360"/>
            <a:ext cx="5120640" cy="640080"/>
          </a:xfrm>
          <a:prstGeom prst="rect">
            <a:avLst/>
          </a:prstGeom>
          <a:noFill/>
        </p:spPr>
        <p:txBody>
          <a:bodyPr wrap="square" lIns="45720" rIns="45720" tIns="18288" bIns="18288" anchor="ctr">
            <a:spAutoFit/>
          </a:bodyPr>
          <a:lstStyle/>
          <a:p>
            <a:pPr algn="l"/>
            <a:r>
              <a:rPr sz="1500" b="0" i="0">
                <a:solidFill>
                  <a:srgbClr val="333D4A"/>
                </a:solidFill>
                <a:latin typeface="Calibri"/>
              </a:rPr>
              <a:t>Return True if the stack has no elements, else False.</a:t>
            </a:r>
          </a:p>
        </p:txBody>
      </p:sp>
      <p:sp>
        <p:nvSpPr>
          <p:cNvPr id="37" name="Rectangle 36"/>
          <p:cNvSpPr/>
          <p:nvPr/>
        </p:nvSpPr>
        <p:spPr>
          <a:xfrm>
            <a:off x="9052560" y="4023360"/>
            <a:ext cx="2286000" cy="640080"/>
          </a:xfrm>
          <a:prstGeom prst="rect">
            <a:avLst/>
          </a:prstGeom>
          <a:solidFill>
            <a:srgbClr val="FFFFFF"/>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9720" y="4023360"/>
            <a:ext cx="2103120" cy="640080"/>
          </a:xfrm>
          <a:prstGeom prst="rect">
            <a:avLst/>
          </a:prstGeom>
          <a:noFill/>
        </p:spPr>
        <p:txBody>
          <a:bodyPr wrap="square" lIns="45720" rIns="45720" tIns="18288" bIns="18288" anchor="ctr">
            <a:spAutoFit/>
          </a:bodyPr>
          <a:lstStyle/>
          <a:p>
            <a:pPr algn="l"/>
            <a:r>
              <a:rPr sz="1500" b="1" i="0">
                <a:solidFill>
                  <a:srgbClr val="2E7D32"/>
                </a:solidFill>
                <a:latin typeface="Calibri"/>
              </a:rPr>
              <a:t>O(1)</a:t>
            </a:r>
          </a:p>
        </p:txBody>
      </p:sp>
      <p:sp>
        <p:nvSpPr>
          <p:cNvPr id="39" name="Rectangle 38"/>
          <p:cNvSpPr/>
          <p:nvPr/>
        </p:nvSpPr>
        <p:spPr>
          <a:xfrm>
            <a:off x="822960" y="4663440"/>
            <a:ext cx="292608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4663440"/>
            <a:ext cx="2743200" cy="640080"/>
          </a:xfrm>
          <a:prstGeom prst="rect">
            <a:avLst/>
          </a:prstGeom>
          <a:noFill/>
        </p:spPr>
        <p:txBody>
          <a:bodyPr wrap="square" lIns="45720" rIns="45720" tIns="18288" bIns="18288" anchor="ctr">
            <a:spAutoFit/>
          </a:bodyPr>
          <a:lstStyle/>
          <a:p>
            <a:pPr algn="l"/>
            <a:r>
              <a:rPr sz="1500" b="1" i="0">
                <a:solidFill>
                  <a:srgbClr val="333D4A"/>
                </a:solidFill>
                <a:latin typeface="Calibri"/>
              </a:rPr>
              <a:t>size()</a:t>
            </a:r>
          </a:p>
        </p:txBody>
      </p:sp>
      <p:sp>
        <p:nvSpPr>
          <p:cNvPr id="41" name="Rectangle 40"/>
          <p:cNvSpPr/>
          <p:nvPr/>
        </p:nvSpPr>
        <p:spPr>
          <a:xfrm>
            <a:off x="3749040" y="4663440"/>
            <a:ext cx="530352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86200" y="4663440"/>
            <a:ext cx="5120640" cy="640080"/>
          </a:xfrm>
          <a:prstGeom prst="rect">
            <a:avLst/>
          </a:prstGeom>
          <a:noFill/>
        </p:spPr>
        <p:txBody>
          <a:bodyPr wrap="square" lIns="45720" rIns="45720" tIns="18288" bIns="18288" anchor="ctr">
            <a:spAutoFit/>
          </a:bodyPr>
          <a:lstStyle/>
          <a:p>
            <a:pPr algn="l"/>
            <a:r>
              <a:rPr sz="1500" b="0" i="0">
                <a:solidFill>
                  <a:srgbClr val="333D4A"/>
                </a:solidFill>
                <a:latin typeface="Calibri"/>
              </a:rPr>
              <a:t>Return the count of elements currently on the stack.</a:t>
            </a:r>
          </a:p>
        </p:txBody>
      </p:sp>
      <p:sp>
        <p:nvSpPr>
          <p:cNvPr id="43" name="Rectangle 42"/>
          <p:cNvSpPr/>
          <p:nvPr/>
        </p:nvSpPr>
        <p:spPr>
          <a:xfrm>
            <a:off x="9052560" y="4663440"/>
            <a:ext cx="228600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89720" y="4663440"/>
            <a:ext cx="2103120" cy="640080"/>
          </a:xfrm>
          <a:prstGeom prst="rect">
            <a:avLst/>
          </a:prstGeom>
          <a:noFill/>
        </p:spPr>
        <p:txBody>
          <a:bodyPr wrap="square" lIns="45720" rIns="45720" tIns="18288" bIns="18288" anchor="ctr">
            <a:spAutoFit/>
          </a:bodyPr>
          <a:lstStyle/>
          <a:p>
            <a:pPr algn="l"/>
            <a:r>
              <a:rPr sz="1500" b="1" i="0">
                <a:solidFill>
                  <a:srgbClr val="2E7D32"/>
                </a:solidFill>
                <a:latin typeface="Calibri"/>
              </a:rPr>
              <a:t>O(1)</a:t>
            </a:r>
          </a:p>
        </p:txBody>
      </p:sp>
      <p:sp>
        <p:nvSpPr>
          <p:cNvPr id="45" name="Rectangle 44"/>
          <p:cNvSpPr/>
          <p:nvPr/>
        </p:nvSpPr>
        <p:spPr>
          <a:xfrm>
            <a:off x="822960" y="5577839"/>
            <a:ext cx="10515600" cy="1005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2960" y="5577839"/>
            <a:ext cx="73152" cy="100584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5840" y="5669279"/>
            <a:ext cx="10058400" cy="320040"/>
          </a:xfrm>
          <a:prstGeom prst="rect">
            <a:avLst/>
          </a:prstGeom>
          <a:noFill/>
        </p:spPr>
        <p:txBody>
          <a:bodyPr wrap="square" lIns="45720" rIns="45720" tIns="18288" bIns="18288" anchor="t">
            <a:spAutoFit/>
          </a:bodyPr>
          <a:lstStyle/>
          <a:p>
            <a:pPr algn="l"/>
            <a:r>
              <a:rPr sz="1400" b="1" i="0">
                <a:solidFill>
                  <a:srgbClr val="E0A81F"/>
                </a:solidFill>
                <a:latin typeface="Calibri"/>
              </a:rPr>
              <a:t>Important Rule:</a:t>
            </a:r>
          </a:p>
        </p:txBody>
      </p:sp>
      <p:sp>
        <p:nvSpPr>
          <p:cNvPr id="48" name="TextBox 47"/>
          <p:cNvSpPr txBox="1"/>
          <p:nvPr/>
        </p:nvSpPr>
        <p:spPr>
          <a:xfrm>
            <a:off x="1005840" y="5989319"/>
            <a:ext cx="10058400" cy="548640"/>
          </a:xfrm>
          <a:prstGeom prst="rect">
            <a:avLst/>
          </a:prstGeom>
          <a:noFill/>
        </p:spPr>
        <p:txBody>
          <a:bodyPr wrap="square" lIns="45720" rIns="45720" tIns="18288" bIns="18288" anchor="t">
            <a:spAutoFit/>
          </a:bodyPr>
          <a:lstStyle/>
          <a:p>
            <a:pPr algn="l"/>
            <a:r>
              <a:rPr sz="1300" b="0" i="0">
                <a:solidFill>
                  <a:srgbClr val="333D4A"/>
                </a:solidFill>
                <a:latin typeface="Calibri"/>
              </a:rPr>
              <a:t>A correct implementation of a Stack MUST execute push, pop, and peek in O(1) time. If any of these operations scale linearly with list size O(N), the implementation is incorrect.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3.  Stack Implementation: Linked List</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Singly Linked List with insertions/deletions at Head</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6 / 18</a:t>
            </a:r>
          </a:p>
        </p:txBody>
      </p:sp>
      <p:sp>
        <p:nvSpPr>
          <p:cNvPr id="9" name="Rectangle 8"/>
          <p:cNvSpPr/>
          <p:nvPr/>
        </p:nvSpPr>
        <p:spPr>
          <a:xfrm>
            <a:off x="822960" y="1353312"/>
            <a:ext cx="6858000" cy="50292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1353312"/>
            <a:ext cx="73152" cy="502920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444752"/>
            <a:ext cx="6629400" cy="4846320"/>
          </a:xfrm>
          <a:prstGeom prst="rect">
            <a:avLst/>
          </a:prstGeom>
          <a:noFill/>
        </p:spPr>
        <p:txBody>
          <a:bodyPr wrap="square">
            <a:spAutoFit/>
          </a:bodyPr>
          <a:lstStyle/>
          <a:p>
            <a:pPr algn="l">
              <a:lnSpc>
                <a:spcPct val="115000"/>
              </a:lnSpc>
            </a:pPr>
            <a:r>
              <a:rPr sz="1300">
                <a:solidFill>
                  <a:srgbClr val="E6E6E6"/>
                </a:solidFill>
                <a:latin typeface="Consolas"/>
              </a:rPr>
              <a:t>class LinkedStack:</a:t>
            </a:r>
          </a:p>
          <a:p>
            <a:pPr algn="l">
              <a:lnSpc>
                <a:spcPct val="115000"/>
              </a:lnSpc>
            </a:pPr>
            <a:r>
              <a:rPr sz="1300">
                <a:solidFill>
                  <a:srgbClr val="E6E6E6"/>
                </a:solidFill>
                <a:latin typeface="Consolas"/>
              </a:rPr>
              <a:t>    class Node:</a:t>
            </a:r>
          </a:p>
          <a:p>
            <a:pPr algn="l">
              <a:lnSpc>
                <a:spcPct val="115000"/>
              </a:lnSpc>
            </a:pPr>
            <a:r>
              <a:rPr sz="1300">
                <a:solidFill>
                  <a:srgbClr val="E6E6E6"/>
                </a:solidFill>
                <a:latin typeface="Consolas"/>
              </a:rPr>
              <a:t>        def __init__(self, data, next_node=None):</a:t>
            </a:r>
          </a:p>
          <a:p>
            <a:pPr algn="l">
              <a:lnSpc>
                <a:spcPct val="115000"/>
              </a:lnSpc>
            </a:pPr>
            <a:r>
              <a:rPr sz="1300">
                <a:solidFill>
                  <a:srgbClr val="E6E6E6"/>
                </a:solidFill>
                <a:latin typeface="Consolas"/>
              </a:rPr>
              <a:t>            self.data = data</a:t>
            </a:r>
          </a:p>
          <a:p>
            <a:pPr algn="l">
              <a:lnSpc>
                <a:spcPct val="115000"/>
              </a:lnSpc>
            </a:pPr>
            <a:r>
              <a:rPr sz="1300">
                <a:solidFill>
                  <a:srgbClr val="E6E6E6"/>
                </a:solidFill>
                <a:latin typeface="Consolas"/>
              </a:rPr>
              <a:t>            self.next = next_node</a:t>
            </a:r>
          </a:p>
          <a:p>
            <a:pPr algn="l">
              <a:lnSpc>
                <a:spcPct val="115000"/>
              </a:lnSpc>
            </a:pPr>
            <a:r>
              <a:rPr sz="1300">
                <a:solidFill>
                  <a:srgbClr val="E6E6E6"/>
                </a:solidFill>
                <a:latin typeface="Consolas"/>
              </a:rPr>
              <a:t> </a:t>
            </a:r>
          </a:p>
          <a:p>
            <a:pPr algn="l">
              <a:lnSpc>
                <a:spcPct val="115000"/>
              </a:lnSpc>
            </a:pPr>
            <a:r>
              <a:rPr sz="1300">
                <a:solidFill>
                  <a:srgbClr val="E6E6E6"/>
                </a:solidFill>
                <a:latin typeface="Consolas"/>
              </a:rPr>
              <a:t>    def __init__(self):</a:t>
            </a:r>
          </a:p>
          <a:p>
            <a:pPr algn="l">
              <a:lnSpc>
                <a:spcPct val="115000"/>
              </a:lnSpc>
            </a:pPr>
            <a:r>
              <a:rPr sz="1300">
                <a:solidFill>
                  <a:srgbClr val="E6E6E6"/>
                </a:solidFill>
                <a:latin typeface="Consolas"/>
              </a:rPr>
              <a:t>        self.head = None</a:t>
            </a:r>
          </a:p>
          <a:p>
            <a:pPr algn="l">
              <a:lnSpc>
                <a:spcPct val="115000"/>
              </a:lnSpc>
            </a:pPr>
            <a:r>
              <a:rPr sz="1300">
                <a:solidFill>
                  <a:srgbClr val="E6E6E6"/>
                </a:solidFill>
                <a:latin typeface="Consolas"/>
              </a:rPr>
              <a:t> </a:t>
            </a:r>
          </a:p>
          <a:p>
            <a:pPr algn="l">
              <a:lnSpc>
                <a:spcPct val="115000"/>
              </a:lnSpc>
            </a:pPr>
            <a:r>
              <a:rPr sz="1300">
                <a:solidFill>
                  <a:srgbClr val="E6E6E6"/>
                </a:solidFill>
                <a:latin typeface="Consolas"/>
              </a:rPr>
              <a:t>    def push(self, data):</a:t>
            </a:r>
          </a:p>
          <a:p>
            <a:pPr algn="l">
              <a:lnSpc>
                <a:spcPct val="115000"/>
              </a:lnSpc>
            </a:pPr>
            <a:r>
              <a:rPr sz="1300">
                <a:solidFill>
                  <a:srgbClr val="E6E6E6"/>
                </a:solidFill>
                <a:latin typeface="Consolas"/>
              </a:rPr>
              <a:t>        # Prepend: insert at the head of the list</a:t>
            </a:r>
          </a:p>
          <a:p>
            <a:pPr algn="l">
              <a:lnSpc>
                <a:spcPct val="115000"/>
              </a:lnSpc>
            </a:pPr>
            <a:r>
              <a:rPr sz="1300">
                <a:solidFill>
                  <a:srgbClr val="E6E6E6"/>
                </a:solidFill>
                <a:latin typeface="Consolas"/>
              </a:rPr>
              <a:t>        self.head = self.Node(data, self.head)</a:t>
            </a:r>
          </a:p>
          <a:p>
            <a:pPr algn="l">
              <a:lnSpc>
                <a:spcPct val="115000"/>
              </a:lnSpc>
            </a:pPr>
            <a:r>
              <a:rPr sz="1300">
                <a:solidFill>
                  <a:srgbClr val="E6E6E6"/>
                </a:solidFill>
                <a:latin typeface="Consolas"/>
              </a:rPr>
              <a:t> </a:t>
            </a:r>
          </a:p>
          <a:p>
            <a:pPr algn="l">
              <a:lnSpc>
                <a:spcPct val="115000"/>
              </a:lnSpc>
            </a:pPr>
            <a:r>
              <a:rPr sz="1300">
                <a:solidFill>
                  <a:srgbClr val="E6E6E6"/>
                </a:solidFill>
                <a:latin typeface="Consolas"/>
              </a:rPr>
              <a:t>    def pop(self):</a:t>
            </a:r>
          </a:p>
          <a:p>
            <a:pPr algn="l">
              <a:lnSpc>
                <a:spcPct val="115000"/>
              </a:lnSpc>
            </a:pPr>
            <a:r>
              <a:rPr sz="1300">
                <a:solidFill>
                  <a:srgbClr val="E6E6E6"/>
                </a:solidFill>
                <a:latin typeface="Consolas"/>
              </a:rPr>
              <a:t>        if self.head is None:</a:t>
            </a:r>
          </a:p>
          <a:p>
            <a:pPr algn="l">
              <a:lnSpc>
                <a:spcPct val="115000"/>
              </a:lnSpc>
            </a:pPr>
            <a:r>
              <a:rPr sz="1300">
                <a:solidFill>
                  <a:srgbClr val="E6E6E6"/>
                </a:solidFill>
                <a:latin typeface="Consolas"/>
              </a:rPr>
              <a:t>            raise IndexError("Pop from empty stack")</a:t>
            </a:r>
          </a:p>
          <a:p>
            <a:pPr algn="l">
              <a:lnSpc>
                <a:spcPct val="115000"/>
              </a:lnSpc>
            </a:pPr>
            <a:r>
              <a:rPr sz="1300">
                <a:solidFill>
                  <a:srgbClr val="E6E6E6"/>
                </a:solidFill>
                <a:latin typeface="Consolas"/>
              </a:rPr>
              <a:t>        val = self.head.data</a:t>
            </a:r>
          </a:p>
          <a:p>
            <a:pPr algn="l">
              <a:lnSpc>
                <a:spcPct val="115000"/>
              </a:lnSpc>
            </a:pPr>
            <a:r>
              <a:rPr sz="1300">
                <a:solidFill>
                  <a:srgbClr val="E6E6E6"/>
                </a:solidFill>
                <a:latin typeface="Consolas"/>
              </a:rPr>
              <a:t>        self.head = self.head.next   # shift head</a:t>
            </a:r>
          </a:p>
          <a:p>
            <a:pPr algn="l">
              <a:lnSpc>
                <a:spcPct val="115000"/>
              </a:lnSpc>
            </a:pPr>
            <a:r>
              <a:rPr sz="1300">
                <a:solidFill>
                  <a:srgbClr val="E6E6E6"/>
                </a:solidFill>
                <a:latin typeface="Consolas"/>
              </a:rPr>
              <a:t>        return val</a:t>
            </a:r>
          </a:p>
        </p:txBody>
      </p:sp>
      <p:sp>
        <p:nvSpPr>
          <p:cNvPr id="12" name="TextBox 11"/>
          <p:cNvSpPr txBox="1"/>
          <p:nvPr/>
        </p:nvSpPr>
        <p:spPr>
          <a:xfrm>
            <a:off x="7955279" y="1353312"/>
            <a:ext cx="3657600" cy="411480"/>
          </a:xfrm>
          <a:prstGeom prst="rect">
            <a:avLst/>
          </a:prstGeom>
          <a:noFill/>
        </p:spPr>
        <p:txBody>
          <a:bodyPr wrap="square" lIns="45720" rIns="45720" tIns="18288" bIns="18288" anchor="t">
            <a:spAutoFit/>
          </a:bodyPr>
          <a:lstStyle/>
          <a:p>
            <a:pPr algn="l"/>
            <a:r>
              <a:rPr sz="1800" b="1" i="0">
                <a:solidFill>
                  <a:srgbClr val="0B2A4A"/>
                </a:solidFill>
                <a:latin typeface="Calibri"/>
              </a:rPr>
              <a:t>Design Insights</a:t>
            </a:r>
          </a:p>
        </p:txBody>
      </p:sp>
      <p:sp>
        <p:nvSpPr>
          <p:cNvPr id="13" name="TextBox 12"/>
          <p:cNvSpPr txBox="1"/>
          <p:nvPr/>
        </p:nvSpPr>
        <p:spPr>
          <a:xfrm>
            <a:off x="7955279" y="1828800"/>
            <a:ext cx="3657600" cy="4389120"/>
          </a:xfrm>
          <a:prstGeom prst="rect">
            <a:avLst/>
          </a:prstGeom>
          <a:noFill/>
        </p:spPr>
        <p:txBody>
          <a:bodyPr wrap="square" lIns="45720" rIns="45720">
            <a:spAutoFit/>
          </a:bodyPr>
          <a:lstStyle/>
          <a:p>
            <a:pPr algn="l">
              <a:lnSpc>
                <a:spcPct val="135000"/>
              </a:lnSpc>
              <a:spcAft>
                <a:spcPts val="400"/>
              </a:spcAft>
            </a:pPr>
            <a:r>
              <a:rPr sz="1300" b="1">
                <a:solidFill>
                  <a:srgbClr val="E0A81F"/>
                </a:solidFill>
                <a:latin typeface="Calibri"/>
              </a:rPr>
              <a:t>▸  </a:t>
            </a:r>
            <a:r>
              <a:rPr sz="1300" b="1">
                <a:solidFill>
                  <a:srgbClr val="0B2A4A"/>
                </a:solidFill>
                <a:latin typeface="Calibri"/>
              </a:rPr>
              <a:t>Prepend pushes.  </a:t>
            </a:r>
            <a:r>
              <a:rPr sz="1300">
                <a:solidFill>
                  <a:srgbClr val="333D4A"/>
                </a:solidFill>
                <a:latin typeface="Calibri"/>
              </a:rPr>
              <a:t>By inserting at the head, we avoid traversing the entire list. Complexity is O(1).</a:t>
            </a:r>
          </a:p>
          <a:p>
            <a:pPr algn="l">
              <a:lnSpc>
                <a:spcPct val="135000"/>
              </a:lnSpc>
              <a:spcAft>
                <a:spcPts val="400"/>
              </a:spcAft>
            </a:pPr>
            <a:r>
              <a:rPr sz="1300" b="1">
                <a:solidFill>
                  <a:srgbClr val="E0A81F"/>
                </a:solidFill>
                <a:latin typeface="Calibri"/>
              </a:rPr>
              <a:t>▸  </a:t>
            </a:r>
            <a:r>
              <a:rPr sz="1300" b="1">
                <a:solidFill>
                  <a:srgbClr val="0B2A4A"/>
                </a:solidFill>
                <a:latin typeface="Calibri"/>
              </a:rPr>
              <a:t>Head deletions.  </a:t>
            </a:r>
            <a:r>
              <a:rPr sz="1300">
                <a:solidFill>
                  <a:srgbClr val="333D4A"/>
                </a:solidFill>
                <a:latin typeface="Calibri"/>
              </a:rPr>
              <a:t>Popping removes the head node, which is also O(1).</a:t>
            </a:r>
          </a:p>
          <a:p>
            <a:pPr algn="l">
              <a:lnSpc>
                <a:spcPct val="135000"/>
              </a:lnSpc>
              <a:spcAft>
                <a:spcPts val="400"/>
              </a:spcAft>
            </a:pPr>
            <a:r>
              <a:rPr sz="1300" b="1">
                <a:solidFill>
                  <a:srgbClr val="E0A81F"/>
                </a:solidFill>
                <a:latin typeface="Calibri"/>
              </a:rPr>
              <a:t>▸  </a:t>
            </a:r>
            <a:r>
              <a:rPr sz="1300" b="1">
                <a:solidFill>
                  <a:srgbClr val="0B2A4A"/>
                </a:solidFill>
                <a:latin typeface="Calibri"/>
              </a:rPr>
              <a:t>No Capacity Limits.  </a:t>
            </a:r>
            <a:r>
              <a:rPr sz="1300">
                <a:solidFill>
                  <a:srgbClr val="333D4A"/>
                </a:solidFill>
                <a:latin typeface="Calibri"/>
              </a:rPr>
              <a:t>Memory is allocated dynamically per Node, avoiding resize halts.</a:t>
            </a:r>
          </a:p>
          <a:p>
            <a:pPr algn="l">
              <a:lnSpc>
                <a:spcPct val="135000"/>
              </a:lnSpc>
              <a:spcAft>
                <a:spcPts val="400"/>
              </a:spcAft>
            </a:pPr>
            <a:r>
              <a:rPr sz="1300" b="1">
                <a:solidFill>
                  <a:srgbClr val="E0A81F"/>
                </a:solidFill>
                <a:latin typeface="Calibri"/>
              </a:rPr>
              <a:t>▸  </a:t>
            </a:r>
            <a:r>
              <a:rPr sz="1300" b="1">
                <a:solidFill>
                  <a:srgbClr val="0B2A4A"/>
                </a:solidFill>
                <a:latin typeface="Calibri"/>
              </a:rPr>
              <a:t>Pointer Overhead.  </a:t>
            </a:r>
            <a:r>
              <a:rPr sz="1300">
                <a:solidFill>
                  <a:srgbClr val="333D4A"/>
                </a:solidFill>
                <a:latin typeface="Calibri"/>
              </a:rPr>
              <a:t>Each node requires extra memory to store the reference to .next.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Stack Implementation: Dynamic Array</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Array/List Backend with operations at the End</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7 / 18</a:t>
            </a:r>
          </a:p>
        </p:txBody>
      </p:sp>
      <p:sp>
        <p:nvSpPr>
          <p:cNvPr id="9" name="Rectangle 8"/>
          <p:cNvSpPr/>
          <p:nvPr/>
        </p:nvSpPr>
        <p:spPr>
          <a:xfrm>
            <a:off x="822960" y="1353312"/>
            <a:ext cx="6858000" cy="50292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1353312"/>
            <a:ext cx="73152" cy="502920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444752"/>
            <a:ext cx="6629400" cy="4846320"/>
          </a:xfrm>
          <a:prstGeom prst="rect">
            <a:avLst/>
          </a:prstGeom>
          <a:noFill/>
        </p:spPr>
        <p:txBody>
          <a:bodyPr wrap="square">
            <a:spAutoFit/>
          </a:bodyPr>
          <a:lstStyle/>
          <a:p>
            <a:pPr algn="l">
              <a:lnSpc>
                <a:spcPct val="115000"/>
              </a:lnSpc>
            </a:pPr>
            <a:r>
              <a:rPr sz="1300">
                <a:solidFill>
                  <a:srgbClr val="E6E6E6"/>
                </a:solidFill>
                <a:latin typeface="Consolas"/>
              </a:rPr>
              <a:t>class ArrayStack:</a:t>
            </a:r>
          </a:p>
          <a:p>
            <a:pPr algn="l">
              <a:lnSpc>
                <a:spcPct val="115000"/>
              </a:lnSpc>
            </a:pPr>
            <a:r>
              <a:rPr sz="1300">
                <a:solidFill>
                  <a:srgbClr val="E6E6E6"/>
                </a:solidFill>
                <a:latin typeface="Consolas"/>
              </a:rPr>
              <a:t>    def __init__(self):</a:t>
            </a:r>
          </a:p>
          <a:p>
            <a:pPr algn="l">
              <a:lnSpc>
                <a:spcPct val="115000"/>
              </a:lnSpc>
            </a:pPr>
            <a:r>
              <a:rPr sz="1300">
                <a:solidFill>
                  <a:srgbClr val="E6E6E6"/>
                </a:solidFill>
                <a:latin typeface="Consolas"/>
              </a:rPr>
              <a:t>        self._data = []   # dynamic list representation</a:t>
            </a:r>
          </a:p>
          <a:p>
            <a:pPr algn="l">
              <a:lnSpc>
                <a:spcPct val="115000"/>
              </a:lnSpc>
            </a:pPr>
            <a:r>
              <a:rPr sz="1300">
                <a:solidFill>
                  <a:srgbClr val="E6E6E6"/>
                </a:solidFill>
                <a:latin typeface="Consolas"/>
              </a:rPr>
              <a:t> </a:t>
            </a:r>
          </a:p>
          <a:p>
            <a:pPr algn="l">
              <a:lnSpc>
                <a:spcPct val="115000"/>
              </a:lnSpc>
            </a:pPr>
            <a:r>
              <a:rPr sz="1300">
                <a:solidFill>
                  <a:srgbClr val="E6E6E6"/>
                </a:solidFill>
                <a:latin typeface="Consolas"/>
              </a:rPr>
              <a:t>    def push(self, data):</a:t>
            </a:r>
          </a:p>
          <a:p>
            <a:pPr algn="l">
              <a:lnSpc>
                <a:spcPct val="115000"/>
              </a:lnSpc>
            </a:pPr>
            <a:r>
              <a:rPr sz="1300">
                <a:solidFill>
                  <a:srgbClr val="E6E6E6"/>
                </a:solidFill>
                <a:latin typeface="Consolas"/>
              </a:rPr>
              <a:t>        # append is amortized O(1)</a:t>
            </a:r>
          </a:p>
          <a:p>
            <a:pPr algn="l">
              <a:lnSpc>
                <a:spcPct val="115000"/>
              </a:lnSpc>
            </a:pPr>
            <a:r>
              <a:rPr sz="1300">
                <a:solidFill>
                  <a:srgbClr val="E6E6E6"/>
                </a:solidFill>
                <a:latin typeface="Consolas"/>
              </a:rPr>
              <a:t>        self._data.append(data)</a:t>
            </a:r>
          </a:p>
          <a:p>
            <a:pPr algn="l">
              <a:lnSpc>
                <a:spcPct val="115000"/>
              </a:lnSpc>
            </a:pPr>
            <a:r>
              <a:rPr sz="1300">
                <a:solidFill>
                  <a:srgbClr val="E6E6E6"/>
                </a:solidFill>
                <a:latin typeface="Consolas"/>
              </a:rPr>
              <a:t> </a:t>
            </a:r>
          </a:p>
          <a:p>
            <a:pPr algn="l">
              <a:lnSpc>
                <a:spcPct val="115000"/>
              </a:lnSpc>
            </a:pPr>
            <a:r>
              <a:rPr sz="1300">
                <a:solidFill>
                  <a:srgbClr val="E6E6E6"/>
                </a:solidFill>
                <a:latin typeface="Consolas"/>
              </a:rPr>
              <a:t>    def pop(self):</a:t>
            </a:r>
          </a:p>
          <a:p>
            <a:pPr algn="l">
              <a:lnSpc>
                <a:spcPct val="115000"/>
              </a:lnSpc>
            </a:pPr>
            <a:r>
              <a:rPr sz="1300">
                <a:solidFill>
                  <a:srgbClr val="E6E6E6"/>
                </a:solidFill>
                <a:latin typeface="Consolas"/>
              </a:rPr>
              <a:t>        if self.is_empty():</a:t>
            </a:r>
          </a:p>
          <a:p>
            <a:pPr algn="l">
              <a:lnSpc>
                <a:spcPct val="115000"/>
              </a:lnSpc>
            </a:pPr>
            <a:r>
              <a:rPr sz="1300">
                <a:solidFill>
                  <a:srgbClr val="E6E6E6"/>
                </a:solidFill>
                <a:latin typeface="Consolas"/>
              </a:rPr>
              <a:t>            raise IndexError("Pop from empty stack")</a:t>
            </a:r>
          </a:p>
          <a:p>
            <a:pPr algn="l">
              <a:lnSpc>
                <a:spcPct val="115000"/>
              </a:lnSpc>
            </a:pPr>
            <a:r>
              <a:rPr sz="1300">
                <a:solidFill>
                  <a:srgbClr val="E6E6E6"/>
                </a:solidFill>
                <a:latin typeface="Consolas"/>
              </a:rPr>
              <a:t>        # pop() from end is O(1)</a:t>
            </a:r>
          </a:p>
          <a:p>
            <a:pPr algn="l">
              <a:lnSpc>
                <a:spcPct val="115000"/>
              </a:lnSpc>
            </a:pPr>
            <a:r>
              <a:rPr sz="1300">
                <a:solidFill>
                  <a:srgbClr val="E6E6E6"/>
                </a:solidFill>
                <a:latin typeface="Consolas"/>
              </a:rPr>
              <a:t>        return self._data.pop()</a:t>
            </a:r>
          </a:p>
          <a:p>
            <a:pPr algn="l">
              <a:lnSpc>
                <a:spcPct val="115000"/>
              </a:lnSpc>
            </a:pPr>
            <a:r>
              <a:rPr sz="1300">
                <a:solidFill>
                  <a:srgbClr val="E6E6E6"/>
                </a:solidFill>
                <a:latin typeface="Consolas"/>
              </a:rPr>
              <a:t> </a:t>
            </a:r>
          </a:p>
          <a:p>
            <a:pPr algn="l">
              <a:lnSpc>
                <a:spcPct val="115000"/>
              </a:lnSpc>
            </a:pPr>
            <a:r>
              <a:rPr sz="1300">
                <a:solidFill>
                  <a:srgbClr val="E6E6E6"/>
                </a:solidFill>
                <a:latin typeface="Consolas"/>
              </a:rPr>
              <a:t>    def is_empty(self):</a:t>
            </a:r>
          </a:p>
          <a:p>
            <a:pPr algn="l">
              <a:lnSpc>
                <a:spcPct val="115000"/>
              </a:lnSpc>
            </a:pPr>
            <a:r>
              <a:rPr sz="1300">
                <a:solidFill>
                  <a:srgbClr val="E6E6E6"/>
                </a:solidFill>
                <a:latin typeface="Consolas"/>
              </a:rPr>
              <a:t>        return len(self._data) == 0</a:t>
            </a:r>
          </a:p>
        </p:txBody>
      </p:sp>
      <p:sp>
        <p:nvSpPr>
          <p:cNvPr id="12" name="TextBox 11"/>
          <p:cNvSpPr txBox="1"/>
          <p:nvPr/>
        </p:nvSpPr>
        <p:spPr>
          <a:xfrm>
            <a:off x="7955279" y="1353312"/>
            <a:ext cx="3657600" cy="411480"/>
          </a:xfrm>
          <a:prstGeom prst="rect">
            <a:avLst/>
          </a:prstGeom>
          <a:noFill/>
        </p:spPr>
        <p:txBody>
          <a:bodyPr wrap="square" lIns="45720" rIns="45720" tIns="18288" bIns="18288" anchor="t">
            <a:spAutoFit/>
          </a:bodyPr>
          <a:lstStyle/>
          <a:p>
            <a:pPr algn="l"/>
            <a:r>
              <a:rPr sz="1800" b="1" i="0">
                <a:solidFill>
                  <a:srgbClr val="0B2A4A"/>
                </a:solidFill>
                <a:latin typeface="Calibri"/>
              </a:rPr>
              <a:t>Array vs. Linked List</a:t>
            </a:r>
          </a:p>
        </p:txBody>
      </p:sp>
      <p:sp>
        <p:nvSpPr>
          <p:cNvPr id="13" name="TextBox 12"/>
          <p:cNvSpPr txBox="1"/>
          <p:nvPr/>
        </p:nvSpPr>
        <p:spPr>
          <a:xfrm>
            <a:off x="7955279" y="1828800"/>
            <a:ext cx="3657600" cy="4389120"/>
          </a:xfrm>
          <a:prstGeom prst="rect">
            <a:avLst/>
          </a:prstGeom>
          <a:noFill/>
        </p:spPr>
        <p:txBody>
          <a:bodyPr wrap="square" lIns="45720" rIns="45720">
            <a:spAutoFit/>
          </a:bodyPr>
          <a:lstStyle/>
          <a:p>
            <a:pPr algn="l">
              <a:lnSpc>
                <a:spcPct val="135000"/>
              </a:lnSpc>
              <a:spcAft>
                <a:spcPts val="400"/>
              </a:spcAft>
            </a:pPr>
            <a:r>
              <a:rPr sz="1300" b="1">
                <a:solidFill>
                  <a:srgbClr val="127A8A"/>
                </a:solidFill>
                <a:latin typeface="Calibri"/>
              </a:rPr>
              <a:t>▸  </a:t>
            </a:r>
            <a:r>
              <a:rPr sz="1300" b="1">
                <a:solidFill>
                  <a:srgbClr val="0B2A4A"/>
                </a:solidFill>
                <a:latin typeface="Calibri"/>
              </a:rPr>
              <a:t>End of Array.  </a:t>
            </a:r>
            <a:r>
              <a:rPr sz="1300">
                <a:solidFill>
                  <a:srgbClr val="333D4A"/>
                </a:solidFill>
                <a:latin typeface="Calibri"/>
              </a:rPr>
              <a:t>Inserting/deleting at the end avoids element shifting. If we inserted at index 0, it would be O(N).</a:t>
            </a:r>
          </a:p>
          <a:p>
            <a:pPr algn="l">
              <a:lnSpc>
                <a:spcPct val="135000"/>
              </a:lnSpc>
              <a:spcAft>
                <a:spcPts val="400"/>
              </a:spcAft>
            </a:pPr>
            <a:r>
              <a:rPr sz="1300" b="1">
                <a:solidFill>
                  <a:srgbClr val="127A8A"/>
                </a:solidFill>
                <a:latin typeface="Calibri"/>
              </a:rPr>
              <a:t>▸  </a:t>
            </a:r>
            <a:r>
              <a:rPr sz="1300" b="1">
                <a:solidFill>
                  <a:srgbClr val="0B2A4A"/>
                </a:solidFill>
                <a:latin typeface="Calibri"/>
              </a:rPr>
              <a:t>Cache Locality.  </a:t>
            </a:r>
            <a:r>
              <a:rPr sz="1300">
                <a:solidFill>
                  <a:srgbClr val="333D4A"/>
                </a:solidFill>
                <a:latin typeface="Calibri"/>
              </a:rPr>
              <a:t>Arrays are stored contiguously in memory, making reads faster on hardware due to caching.</a:t>
            </a:r>
          </a:p>
          <a:p>
            <a:pPr algn="l">
              <a:lnSpc>
                <a:spcPct val="135000"/>
              </a:lnSpc>
              <a:spcAft>
                <a:spcPts val="400"/>
              </a:spcAft>
            </a:pPr>
            <a:r>
              <a:rPr sz="1300" b="1">
                <a:solidFill>
                  <a:srgbClr val="127A8A"/>
                </a:solidFill>
                <a:latin typeface="Calibri"/>
              </a:rPr>
              <a:t>▸  </a:t>
            </a:r>
            <a:r>
              <a:rPr sz="1300" b="1">
                <a:solidFill>
                  <a:srgbClr val="0B2A4A"/>
                </a:solidFill>
                <a:latin typeface="Calibri"/>
              </a:rPr>
              <a:t>Amortized Cost.  </a:t>
            </a:r>
            <a:r>
              <a:rPr sz="1300">
                <a:solidFill>
                  <a:srgbClr val="333D4A"/>
                </a:solidFill>
                <a:latin typeface="Calibri"/>
              </a:rPr>
              <a:t>Push is amortized O(1), but occasionally triggers an O(N) resize event.</a:t>
            </a:r>
          </a:p>
          <a:p>
            <a:pPr algn="l">
              <a:lnSpc>
                <a:spcPct val="135000"/>
              </a:lnSpc>
              <a:spcAft>
                <a:spcPts val="400"/>
              </a:spcAft>
            </a:pPr>
            <a:r>
              <a:rPr sz="1300" b="1">
                <a:solidFill>
                  <a:srgbClr val="127A8A"/>
                </a:solidFill>
                <a:latin typeface="Calibri"/>
              </a:rPr>
              <a:t>▸  </a:t>
            </a:r>
            <a:r>
              <a:rPr sz="1300" b="1">
                <a:solidFill>
                  <a:srgbClr val="0B2A4A"/>
                </a:solidFill>
                <a:latin typeface="Calibri"/>
              </a:rPr>
              <a:t>Pre-allocation waste.  </a:t>
            </a:r>
            <a:r>
              <a:rPr sz="1300">
                <a:solidFill>
                  <a:srgbClr val="333D4A"/>
                </a:solidFill>
                <a:latin typeface="Calibri"/>
              </a:rPr>
              <a:t>Unused slots in the array capacity consume memory.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4.  The Queue (FIFO)</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First-In, First-Out (FIFO) Structure</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8 / 18</a:t>
            </a:r>
          </a:p>
        </p:txBody>
      </p:sp>
      <p:sp>
        <p:nvSpPr>
          <p:cNvPr id="9" name="TextBox 8"/>
          <p:cNvSpPr txBox="1"/>
          <p:nvPr/>
        </p:nvSpPr>
        <p:spPr>
          <a:xfrm>
            <a:off x="822960" y="1325880"/>
            <a:ext cx="5486400" cy="457200"/>
          </a:xfrm>
          <a:prstGeom prst="rect">
            <a:avLst/>
          </a:prstGeom>
          <a:noFill/>
        </p:spPr>
        <p:txBody>
          <a:bodyPr wrap="square" lIns="45720" rIns="45720" tIns="18288" bIns="18288" anchor="t">
            <a:spAutoFit/>
          </a:bodyPr>
          <a:lstStyle/>
          <a:p>
            <a:pPr algn="l"/>
            <a:r>
              <a:rPr sz="2200" b="1" i="0">
                <a:solidFill>
                  <a:srgbClr val="0B2A4A"/>
                </a:solidFill>
                <a:latin typeface="Calibri"/>
              </a:rPr>
              <a:t>The Checkout Line Metaphor</a:t>
            </a:r>
          </a:p>
        </p:txBody>
      </p:sp>
      <p:sp>
        <p:nvSpPr>
          <p:cNvPr id="10" name="TextBox 9"/>
          <p:cNvSpPr txBox="1"/>
          <p:nvPr/>
        </p:nvSpPr>
        <p:spPr>
          <a:xfrm>
            <a:off x="822960" y="1828800"/>
            <a:ext cx="5486400" cy="4114800"/>
          </a:xfrm>
          <a:prstGeom prst="rect">
            <a:avLst/>
          </a:prstGeom>
          <a:noFill/>
        </p:spPr>
        <p:txBody>
          <a:bodyPr wrap="square" lIns="45720" rIns="45720">
            <a:spAutoFit/>
          </a:bodyPr>
          <a:lstStyle/>
          <a:p>
            <a:pPr algn="l">
              <a:lnSpc>
                <a:spcPct val="140000"/>
              </a:lnSpc>
              <a:spcAft>
                <a:spcPts val="400"/>
              </a:spcAft>
            </a:pPr>
            <a:r>
              <a:rPr sz="1600" b="1">
                <a:solidFill>
                  <a:srgbClr val="127A8A"/>
                </a:solidFill>
                <a:latin typeface="Calibri"/>
              </a:rPr>
              <a:t>▸  </a:t>
            </a:r>
            <a:r>
              <a:rPr sz="1600" b="1">
                <a:solidFill>
                  <a:srgbClr val="0B2A4A"/>
                </a:solidFill>
                <a:latin typeface="Calibri"/>
              </a:rPr>
              <a:t>First-come, First-served.  </a:t>
            </a:r>
            <a:r>
              <a:rPr sz="1600">
                <a:solidFill>
                  <a:srgbClr val="333D4A"/>
                </a:solidFill>
                <a:latin typeface="Calibri"/>
              </a:rPr>
              <a:t>New elements join at the rear. Elements leave from the front.</a:t>
            </a:r>
          </a:p>
          <a:p>
            <a:pPr algn="l">
              <a:lnSpc>
                <a:spcPct val="140000"/>
              </a:lnSpc>
              <a:spcAft>
                <a:spcPts val="400"/>
              </a:spcAft>
            </a:pPr>
            <a:r>
              <a:rPr sz="1600" b="1">
                <a:solidFill>
                  <a:srgbClr val="127A8A"/>
                </a:solidFill>
                <a:latin typeface="Calibri"/>
              </a:rPr>
              <a:t>▸  </a:t>
            </a:r>
            <a:r>
              <a:rPr sz="1600" b="1">
                <a:solidFill>
                  <a:srgbClr val="0B2A4A"/>
                </a:solidFill>
                <a:latin typeface="Calibri"/>
              </a:rPr>
              <a:t>FIFO Policy.  </a:t>
            </a:r>
            <a:r>
              <a:rPr sz="1600">
                <a:solidFill>
                  <a:srgbClr val="333D4A"/>
                </a:solidFill>
                <a:latin typeface="Calibri"/>
              </a:rPr>
              <a:t>The element that has been in the queue the longest is the next one to be removed.</a:t>
            </a:r>
          </a:p>
          <a:p>
            <a:pPr algn="l">
              <a:lnSpc>
                <a:spcPct val="140000"/>
              </a:lnSpc>
              <a:spcAft>
                <a:spcPts val="400"/>
              </a:spcAft>
            </a:pPr>
            <a:r>
              <a:rPr sz="1600" b="1">
                <a:solidFill>
                  <a:srgbClr val="127A8A"/>
                </a:solidFill>
                <a:latin typeface="Calibri"/>
              </a:rPr>
              <a:t>▸  </a:t>
            </a:r>
            <a:r>
              <a:rPr sz="1600" b="1">
                <a:solidFill>
                  <a:srgbClr val="0B2A4A"/>
                </a:solidFill>
                <a:latin typeface="Calibri"/>
              </a:rPr>
              <a:t>Dual Endpoints.  </a:t>
            </a:r>
            <a:r>
              <a:rPr sz="1600">
                <a:solidFill>
                  <a:srgbClr val="333D4A"/>
                </a:solidFill>
                <a:latin typeface="Calibri"/>
              </a:rPr>
              <a:t>Requires two pointer references: FRONT (for popping) and REAR/TAIL (for pushing).</a:t>
            </a:r>
          </a:p>
        </p:txBody>
      </p:sp>
      <p:sp>
        <p:nvSpPr>
          <p:cNvPr id="11" name="Rectangle 10"/>
          <p:cNvSpPr/>
          <p:nvPr/>
        </p:nvSpPr>
        <p:spPr>
          <a:xfrm>
            <a:off x="6675120" y="1325880"/>
            <a:ext cx="4937760" cy="48463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463040"/>
            <a:ext cx="4937760" cy="365760"/>
          </a:xfrm>
          <a:prstGeom prst="rect">
            <a:avLst/>
          </a:prstGeom>
          <a:noFill/>
        </p:spPr>
        <p:txBody>
          <a:bodyPr wrap="square" lIns="45720" rIns="45720" tIns="18288" bIns="18288" anchor="t">
            <a:spAutoFit/>
          </a:bodyPr>
          <a:lstStyle/>
          <a:p>
            <a:pPr algn="ctr"/>
            <a:r>
              <a:rPr sz="1600" b="1" i="0">
                <a:solidFill>
                  <a:srgbClr val="0B2A4A"/>
                </a:solidFill>
                <a:latin typeface="Calibri"/>
              </a:rPr>
              <a:t>Queue Visualization</a:t>
            </a:r>
          </a:p>
        </p:txBody>
      </p:sp>
      <p:sp>
        <p:nvSpPr>
          <p:cNvPr id="13" name="Rectangle 12"/>
          <p:cNvSpPr/>
          <p:nvPr/>
        </p:nvSpPr>
        <p:spPr>
          <a:xfrm>
            <a:off x="6858000" y="2926080"/>
            <a:ext cx="4572000" cy="73152"/>
          </a:xfrm>
          <a:prstGeom prst="rect">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0" y="4389120"/>
            <a:ext cx="4572000" cy="73152"/>
          </a:xfrm>
          <a:prstGeom prst="rect">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32320" y="3200400"/>
            <a:ext cx="1097280" cy="914400"/>
          </a:xfrm>
          <a:prstGeom prst="roundRect">
            <a:avLst/>
          </a:prstGeom>
          <a:solidFill>
            <a:srgbClr val="E0A81F"/>
          </a:solidFill>
          <a:ln w="254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3200400"/>
            <a:ext cx="1097280" cy="914400"/>
          </a:xfrm>
          <a:prstGeom prst="rect">
            <a:avLst/>
          </a:prstGeom>
          <a:noFill/>
        </p:spPr>
        <p:txBody>
          <a:bodyPr wrap="square" lIns="45720" rIns="45720" tIns="18288" bIns="18288" anchor="ctr">
            <a:spAutoFit/>
          </a:bodyPr>
          <a:lstStyle/>
          <a:p>
            <a:pPr algn="ctr"/>
            <a:r>
              <a:rPr sz="1200" b="1" i="0">
                <a:solidFill>
                  <a:srgbClr val="FFFFFF"/>
                </a:solidFill>
                <a:latin typeface="Calibri"/>
              </a:rPr>
              <a:t>Front (10)</a:t>
            </a:r>
          </a:p>
        </p:txBody>
      </p:sp>
      <p:sp>
        <p:nvSpPr>
          <p:cNvPr id="17" name="Rounded Rectangle 16"/>
          <p:cNvSpPr/>
          <p:nvPr/>
        </p:nvSpPr>
        <p:spPr>
          <a:xfrm>
            <a:off x="8412480" y="3200400"/>
            <a:ext cx="1097280" cy="914400"/>
          </a:xfrm>
          <a:prstGeom prst="roundRect">
            <a:avLst/>
          </a:prstGeom>
          <a:solidFill>
            <a:srgbClr val="FFFFFF"/>
          </a:solidFill>
          <a:ln w="254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3200400"/>
            <a:ext cx="1097280" cy="914400"/>
          </a:xfrm>
          <a:prstGeom prst="rect">
            <a:avLst/>
          </a:prstGeom>
          <a:noFill/>
        </p:spPr>
        <p:txBody>
          <a:bodyPr wrap="square" lIns="45720" rIns="45720" tIns="18288" bIns="18288" anchor="ctr">
            <a:spAutoFit/>
          </a:bodyPr>
          <a:lstStyle/>
          <a:p>
            <a:pPr algn="ctr"/>
            <a:r>
              <a:rPr sz="1200" b="1" i="0">
                <a:solidFill>
                  <a:srgbClr val="0B2A4A"/>
                </a:solidFill>
                <a:latin typeface="Calibri"/>
              </a:rPr>
              <a:t>20</a:t>
            </a:r>
          </a:p>
        </p:txBody>
      </p:sp>
      <p:sp>
        <p:nvSpPr>
          <p:cNvPr id="19" name="Rounded Rectangle 18"/>
          <p:cNvSpPr/>
          <p:nvPr/>
        </p:nvSpPr>
        <p:spPr>
          <a:xfrm>
            <a:off x="9692640" y="3200400"/>
            <a:ext cx="1097280" cy="914400"/>
          </a:xfrm>
          <a:prstGeom prst="roundRect">
            <a:avLst/>
          </a:prstGeom>
          <a:solidFill>
            <a:srgbClr val="127A8A"/>
          </a:solidFill>
          <a:ln w="254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0" y="3200400"/>
            <a:ext cx="1097280" cy="914400"/>
          </a:xfrm>
          <a:prstGeom prst="rect">
            <a:avLst/>
          </a:prstGeom>
          <a:noFill/>
        </p:spPr>
        <p:txBody>
          <a:bodyPr wrap="square" lIns="45720" rIns="45720" tIns="18288" bIns="18288" anchor="ctr">
            <a:spAutoFit/>
          </a:bodyPr>
          <a:lstStyle/>
          <a:p>
            <a:pPr algn="ctr"/>
            <a:r>
              <a:rPr sz="1200" b="1" i="0">
                <a:solidFill>
                  <a:srgbClr val="FFFFFF"/>
                </a:solidFill>
                <a:latin typeface="Calibri"/>
              </a:rPr>
              <a:t>30 (Rear)</a:t>
            </a:r>
          </a:p>
        </p:txBody>
      </p:sp>
      <p:cxnSp>
        <p:nvCxnSpPr>
          <p:cNvPr id="21" name="Connector 20"/>
          <p:cNvCxnSpPr/>
          <p:nvPr/>
        </p:nvCxnSpPr>
        <p:spPr>
          <a:xfrm>
            <a:off x="6675120" y="3657600"/>
            <a:ext cx="365760" cy="0"/>
          </a:xfrm>
          <a:prstGeom prst="line">
            <a:avLst/>
          </a:prstGeom>
          <a:ln w="28575">
            <a:solidFill>
              <a:srgbClr val="127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92240" y="3931920"/>
            <a:ext cx="1097280" cy="320040"/>
          </a:xfrm>
          <a:prstGeom prst="rect">
            <a:avLst/>
          </a:prstGeom>
          <a:noFill/>
        </p:spPr>
        <p:txBody>
          <a:bodyPr wrap="square" lIns="45720" rIns="45720" tIns="18288" bIns="18288" anchor="t">
            <a:spAutoFit/>
          </a:bodyPr>
          <a:lstStyle/>
          <a:p>
            <a:pPr algn="l"/>
            <a:r>
              <a:rPr sz="1100" b="1" i="0">
                <a:solidFill>
                  <a:srgbClr val="E0A81F"/>
                </a:solidFill>
                <a:latin typeface="Calibri"/>
              </a:rPr>
              <a:t>← Dequeue</a:t>
            </a:r>
          </a:p>
        </p:txBody>
      </p:sp>
      <p:cxnSp>
        <p:nvCxnSpPr>
          <p:cNvPr id="23" name="Connector 22"/>
          <p:cNvCxnSpPr/>
          <p:nvPr/>
        </p:nvCxnSpPr>
        <p:spPr>
          <a:xfrm>
            <a:off x="10881360" y="3657600"/>
            <a:ext cx="365760" cy="0"/>
          </a:xfrm>
          <a:prstGeom prst="line">
            <a:avLst/>
          </a:prstGeom>
          <a:ln w="28575">
            <a:solidFill>
              <a:srgbClr val="127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698480" y="3931920"/>
            <a:ext cx="1097280" cy="320040"/>
          </a:xfrm>
          <a:prstGeom prst="rect">
            <a:avLst/>
          </a:prstGeom>
          <a:noFill/>
        </p:spPr>
        <p:txBody>
          <a:bodyPr wrap="square" lIns="45720" rIns="45720" tIns="18288" bIns="18288" anchor="t">
            <a:spAutoFit/>
          </a:bodyPr>
          <a:lstStyle/>
          <a:p>
            <a:pPr algn="l"/>
            <a:r>
              <a:rPr sz="1100" b="1" i="0">
                <a:solidFill>
                  <a:srgbClr val="127A8A"/>
                </a:solidFill>
                <a:latin typeface="Calibri"/>
              </a:rPr>
              <a:t>Enqueue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Queue Operations &amp; Complexity</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The Core Interface of a Queue</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9 / 18</a:t>
            </a:r>
          </a:p>
        </p:txBody>
      </p:sp>
      <p:sp>
        <p:nvSpPr>
          <p:cNvPr id="9" name="Rectangle 8"/>
          <p:cNvSpPr/>
          <p:nvPr/>
        </p:nvSpPr>
        <p:spPr>
          <a:xfrm>
            <a:off x="822960" y="1463040"/>
            <a:ext cx="2926080" cy="640080"/>
          </a:xfrm>
          <a:prstGeom prst="rect">
            <a:avLst/>
          </a:prstGeom>
          <a:solidFill>
            <a:srgbClr val="0B2A4A"/>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463040"/>
            <a:ext cx="2743200" cy="640080"/>
          </a:xfrm>
          <a:prstGeom prst="rect">
            <a:avLst/>
          </a:prstGeom>
          <a:noFill/>
        </p:spPr>
        <p:txBody>
          <a:bodyPr wrap="square" lIns="45720" rIns="45720" tIns="18288" bIns="18288" anchor="ctr">
            <a:spAutoFit/>
          </a:bodyPr>
          <a:lstStyle/>
          <a:p>
            <a:pPr algn="l"/>
            <a:r>
              <a:rPr sz="1500" b="1" i="0">
                <a:solidFill>
                  <a:srgbClr val="FFFFFF"/>
                </a:solidFill>
                <a:latin typeface="Calibri"/>
              </a:rPr>
              <a:t>Operation</a:t>
            </a:r>
          </a:p>
        </p:txBody>
      </p:sp>
      <p:sp>
        <p:nvSpPr>
          <p:cNvPr id="11" name="Rectangle 10"/>
          <p:cNvSpPr/>
          <p:nvPr/>
        </p:nvSpPr>
        <p:spPr>
          <a:xfrm>
            <a:off x="3749040" y="1463040"/>
            <a:ext cx="5303520" cy="640080"/>
          </a:xfrm>
          <a:prstGeom prst="rect">
            <a:avLst/>
          </a:prstGeom>
          <a:solidFill>
            <a:srgbClr val="0B2A4A"/>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86200" y="1463040"/>
            <a:ext cx="5120640" cy="640080"/>
          </a:xfrm>
          <a:prstGeom prst="rect">
            <a:avLst/>
          </a:prstGeom>
          <a:noFill/>
        </p:spPr>
        <p:txBody>
          <a:bodyPr wrap="square" lIns="45720" rIns="45720" tIns="18288" bIns="18288" anchor="ctr">
            <a:spAutoFit/>
          </a:bodyPr>
          <a:lstStyle/>
          <a:p>
            <a:pPr algn="l"/>
            <a:r>
              <a:rPr sz="1500" b="1" i="0">
                <a:solidFill>
                  <a:srgbClr val="FFFFFF"/>
                </a:solidFill>
                <a:latin typeface="Calibri"/>
              </a:rPr>
              <a:t>Description</a:t>
            </a:r>
          </a:p>
        </p:txBody>
      </p:sp>
      <p:sp>
        <p:nvSpPr>
          <p:cNvPr id="13" name="Rectangle 12"/>
          <p:cNvSpPr/>
          <p:nvPr/>
        </p:nvSpPr>
        <p:spPr>
          <a:xfrm>
            <a:off x="9052560" y="1463040"/>
            <a:ext cx="2286000" cy="640080"/>
          </a:xfrm>
          <a:prstGeom prst="rect">
            <a:avLst/>
          </a:prstGeom>
          <a:solidFill>
            <a:srgbClr val="0B2A4A"/>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9720" y="1463040"/>
            <a:ext cx="2103120" cy="640080"/>
          </a:xfrm>
          <a:prstGeom prst="rect">
            <a:avLst/>
          </a:prstGeom>
          <a:noFill/>
        </p:spPr>
        <p:txBody>
          <a:bodyPr wrap="square" lIns="45720" rIns="45720" tIns="18288" bIns="18288" anchor="ctr">
            <a:spAutoFit/>
          </a:bodyPr>
          <a:lstStyle/>
          <a:p>
            <a:pPr algn="l"/>
            <a:r>
              <a:rPr sz="1500" b="1" i="0">
                <a:solidFill>
                  <a:srgbClr val="FFFFFF"/>
                </a:solidFill>
                <a:latin typeface="Calibri"/>
              </a:rPr>
              <a:t>Complexity</a:t>
            </a:r>
          </a:p>
        </p:txBody>
      </p:sp>
      <p:sp>
        <p:nvSpPr>
          <p:cNvPr id="15" name="Rectangle 14"/>
          <p:cNvSpPr/>
          <p:nvPr/>
        </p:nvSpPr>
        <p:spPr>
          <a:xfrm>
            <a:off x="822960" y="2103120"/>
            <a:ext cx="292608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2103120"/>
            <a:ext cx="2743200" cy="640080"/>
          </a:xfrm>
          <a:prstGeom prst="rect">
            <a:avLst/>
          </a:prstGeom>
          <a:noFill/>
        </p:spPr>
        <p:txBody>
          <a:bodyPr wrap="square" lIns="45720" rIns="45720" tIns="18288" bIns="18288" anchor="ctr">
            <a:spAutoFit/>
          </a:bodyPr>
          <a:lstStyle/>
          <a:p>
            <a:pPr algn="l"/>
            <a:r>
              <a:rPr sz="1500" b="1" i="0">
                <a:solidFill>
                  <a:srgbClr val="333D4A"/>
                </a:solidFill>
                <a:latin typeface="Calibri"/>
              </a:rPr>
              <a:t>enqueue(item)</a:t>
            </a:r>
          </a:p>
        </p:txBody>
      </p:sp>
      <p:sp>
        <p:nvSpPr>
          <p:cNvPr id="17" name="Rectangle 16"/>
          <p:cNvSpPr/>
          <p:nvPr/>
        </p:nvSpPr>
        <p:spPr>
          <a:xfrm>
            <a:off x="3749040" y="2103120"/>
            <a:ext cx="530352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86200" y="2103120"/>
            <a:ext cx="5120640" cy="640080"/>
          </a:xfrm>
          <a:prstGeom prst="rect">
            <a:avLst/>
          </a:prstGeom>
          <a:noFill/>
        </p:spPr>
        <p:txBody>
          <a:bodyPr wrap="square" lIns="45720" rIns="45720" tIns="18288" bIns="18288" anchor="ctr">
            <a:spAutoFit/>
          </a:bodyPr>
          <a:lstStyle/>
          <a:p>
            <a:pPr algn="l"/>
            <a:r>
              <a:rPr sz="1500" b="0" i="0">
                <a:solidFill>
                  <a:srgbClr val="333D4A"/>
                </a:solidFill>
                <a:latin typeface="Calibri"/>
              </a:rPr>
              <a:t>Add an item to the rear of the queue.</a:t>
            </a:r>
          </a:p>
        </p:txBody>
      </p:sp>
      <p:sp>
        <p:nvSpPr>
          <p:cNvPr id="19" name="Rectangle 18"/>
          <p:cNvSpPr/>
          <p:nvPr/>
        </p:nvSpPr>
        <p:spPr>
          <a:xfrm>
            <a:off x="9052560" y="2103120"/>
            <a:ext cx="228600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2103120"/>
            <a:ext cx="2103120" cy="640080"/>
          </a:xfrm>
          <a:prstGeom prst="rect">
            <a:avLst/>
          </a:prstGeom>
          <a:noFill/>
        </p:spPr>
        <p:txBody>
          <a:bodyPr wrap="square" lIns="45720" rIns="45720" tIns="18288" bIns="18288" anchor="ctr">
            <a:spAutoFit/>
          </a:bodyPr>
          <a:lstStyle/>
          <a:p>
            <a:pPr algn="l"/>
            <a:r>
              <a:rPr sz="1500" b="1" i="0">
                <a:solidFill>
                  <a:srgbClr val="2E7D32"/>
                </a:solidFill>
                <a:latin typeface="Calibri"/>
              </a:rPr>
              <a:t>O(1)</a:t>
            </a:r>
          </a:p>
        </p:txBody>
      </p:sp>
      <p:sp>
        <p:nvSpPr>
          <p:cNvPr id="21" name="Rectangle 20"/>
          <p:cNvSpPr/>
          <p:nvPr/>
        </p:nvSpPr>
        <p:spPr>
          <a:xfrm>
            <a:off x="822960" y="2743200"/>
            <a:ext cx="2926080" cy="640080"/>
          </a:xfrm>
          <a:prstGeom prst="rect">
            <a:avLst/>
          </a:prstGeom>
          <a:solidFill>
            <a:srgbClr val="FFFFFF"/>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2743200"/>
            <a:ext cx="2743200" cy="640080"/>
          </a:xfrm>
          <a:prstGeom prst="rect">
            <a:avLst/>
          </a:prstGeom>
          <a:noFill/>
        </p:spPr>
        <p:txBody>
          <a:bodyPr wrap="square" lIns="45720" rIns="45720" tIns="18288" bIns="18288" anchor="ctr">
            <a:spAutoFit/>
          </a:bodyPr>
          <a:lstStyle/>
          <a:p>
            <a:pPr algn="l"/>
            <a:r>
              <a:rPr sz="1500" b="1" i="0">
                <a:solidFill>
                  <a:srgbClr val="333D4A"/>
                </a:solidFill>
                <a:latin typeface="Calibri"/>
              </a:rPr>
              <a:t>dequeue()</a:t>
            </a:r>
          </a:p>
        </p:txBody>
      </p:sp>
      <p:sp>
        <p:nvSpPr>
          <p:cNvPr id="23" name="Rectangle 22"/>
          <p:cNvSpPr/>
          <p:nvPr/>
        </p:nvSpPr>
        <p:spPr>
          <a:xfrm>
            <a:off x="3749040" y="2743200"/>
            <a:ext cx="5303520" cy="640080"/>
          </a:xfrm>
          <a:prstGeom prst="rect">
            <a:avLst/>
          </a:prstGeom>
          <a:solidFill>
            <a:srgbClr val="FFFFFF"/>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86200" y="2743200"/>
            <a:ext cx="5120640" cy="640080"/>
          </a:xfrm>
          <a:prstGeom prst="rect">
            <a:avLst/>
          </a:prstGeom>
          <a:noFill/>
        </p:spPr>
        <p:txBody>
          <a:bodyPr wrap="square" lIns="45720" rIns="45720" tIns="18288" bIns="18288" anchor="ctr">
            <a:spAutoFit/>
          </a:bodyPr>
          <a:lstStyle/>
          <a:p>
            <a:pPr algn="l"/>
            <a:r>
              <a:rPr sz="1500" b="0" i="0">
                <a:solidFill>
                  <a:srgbClr val="333D4A"/>
                </a:solidFill>
                <a:latin typeface="Calibri"/>
              </a:rPr>
              <a:t>Remove and return the item at the front of the queue.</a:t>
            </a:r>
          </a:p>
        </p:txBody>
      </p:sp>
      <p:sp>
        <p:nvSpPr>
          <p:cNvPr id="25" name="Rectangle 24"/>
          <p:cNvSpPr/>
          <p:nvPr/>
        </p:nvSpPr>
        <p:spPr>
          <a:xfrm>
            <a:off x="9052560" y="2743200"/>
            <a:ext cx="2286000" cy="640080"/>
          </a:xfrm>
          <a:prstGeom prst="rect">
            <a:avLst/>
          </a:prstGeom>
          <a:solidFill>
            <a:srgbClr val="FFFFFF"/>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89720" y="2743200"/>
            <a:ext cx="2103120" cy="640080"/>
          </a:xfrm>
          <a:prstGeom prst="rect">
            <a:avLst/>
          </a:prstGeom>
          <a:noFill/>
        </p:spPr>
        <p:txBody>
          <a:bodyPr wrap="square" lIns="45720" rIns="45720" tIns="18288" bIns="18288" anchor="ctr">
            <a:spAutoFit/>
          </a:bodyPr>
          <a:lstStyle/>
          <a:p>
            <a:pPr algn="l"/>
            <a:r>
              <a:rPr sz="1500" b="1" i="0">
                <a:solidFill>
                  <a:srgbClr val="2E7D32"/>
                </a:solidFill>
                <a:latin typeface="Calibri"/>
              </a:rPr>
              <a:t>O(1)</a:t>
            </a:r>
          </a:p>
        </p:txBody>
      </p:sp>
      <p:sp>
        <p:nvSpPr>
          <p:cNvPr id="27" name="Rectangle 26"/>
          <p:cNvSpPr/>
          <p:nvPr/>
        </p:nvSpPr>
        <p:spPr>
          <a:xfrm>
            <a:off x="822960" y="3383280"/>
            <a:ext cx="292608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3383280"/>
            <a:ext cx="2743200" cy="640080"/>
          </a:xfrm>
          <a:prstGeom prst="rect">
            <a:avLst/>
          </a:prstGeom>
          <a:noFill/>
        </p:spPr>
        <p:txBody>
          <a:bodyPr wrap="square" lIns="45720" rIns="45720" tIns="18288" bIns="18288" anchor="ctr">
            <a:spAutoFit/>
          </a:bodyPr>
          <a:lstStyle/>
          <a:p>
            <a:pPr algn="l"/>
            <a:r>
              <a:rPr sz="1500" b="1" i="0">
                <a:solidFill>
                  <a:srgbClr val="333D4A"/>
                </a:solidFill>
                <a:latin typeface="Calibri"/>
              </a:rPr>
              <a:t>peek() / front()</a:t>
            </a:r>
          </a:p>
        </p:txBody>
      </p:sp>
      <p:sp>
        <p:nvSpPr>
          <p:cNvPr id="29" name="Rectangle 28"/>
          <p:cNvSpPr/>
          <p:nvPr/>
        </p:nvSpPr>
        <p:spPr>
          <a:xfrm>
            <a:off x="3749040" y="3383280"/>
            <a:ext cx="530352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86200" y="3383280"/>
            <a:ext cx="5120640" cy="640080"/>
          </a:xfrm>
          <a:prstGeom prst="rect">
            <a:avLst/>
          </a:prstGeom>
          <a:noFill/>
        </p:spPr>
        <p:txBody>
          <a:bodyPr wrap="square" lIns="45720" rIns="45720" tIns="18288" bIns="18288" anchor="ctr">
            <a:spAutoFit/>
          </a:bodyPr>
          <a:lstStyle/>
          <a:p>
            <a:pPr algn="l"/>
            <a:r>
              <a:rPr sz="1500" b="0" i="0">
                <a:solidFill>
                  <a:srgbClr val="333D4A"/>
                </a:solidFill>
                <a:latin typeface="Calibri"/>
              </a:rPr>
              <a:t>Return the front item without removing it.</a:t>
            </a:r>
          </a:p>
        </p:txBody>
      </p:sp>
      <p:sp>
        <p:nvSpPr>
          <p:cNvPr id="31" name="Rectangle 30"/>
          <p:cNvSpPr/>
          <p:nvPr/>
        </p:nvSpPr>
        <p:spPr>
          <a:xfrm>
            <a:off x="9052560" y="3383280"/>
            <a:ext cx="228600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89720" y="3383280"/>
            <a:ext cx="2103120" cy="640080"/>
          </a:xfrm>
          <a:prstGeom prst="rect">
            <a:avLst/>
          </a:prstGeom>
          <a:noFill/>
        </p:spPr>
        <p:txBody>
          <a:bodyPr wrap="square" lIns="45720" rIns="45720" tIns="18288" bIns="18288" anchor="ctr">
            <a:spAutoFit/>
          </a:bodyPr>
          <a:lstStyle/>
          <a:p>
            <a:pPr algn="l"/>
            <a:r>
              <a:rPr sz="1500" b="1" i="0">
                <a:solidFill>
                  <a:srgbClr val="2E7D32"/>
                </a:solidFill>
                <a:latin typeface="Calibri"/>
              </a:rPr>
              <a:t>O(1)</a:t>
            </a:r>
          </a:p>
        </p:txBody>
      </p:sp>
      <p:sp>
        <p:nvSpPr>
          <p:cNvPr id="33" name="Rectangle 32"/>
          <p:cNvSpPr/>
          <p:nvPr/>
        </p:nvSpPr>
        <p:spPr>
          <a:xfrm>
            <a:off x="822960" y="4023360"/>
            <a:ext cx="2926080" cy="640080"/>
          </a:xfrm>
          <a:prstGeom prst="rect">
            <a:avLst/>
          </a:prstGeom>
          <a:solidFill>
            <a:srgbClr val="FFFFFF"/>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4023360"/>
            <a:ext cx="2743200" cy="640080"/>
          </a:xfrm>
          <a:prstGeom prst="rect">
            <a:avLst/>
          </a:prstGeom>
          <a:noFill/>
        </p:spPr>
        <p:txBody>
          <a:bodyPr wrap="square" lIns="45720" rIns="45720" tIns="18288" bIns="18288" anchor="ctr">
            <a:spAutoFit/>
          </a:bodyPr>
          <a:lstStyle/>
          <a:p>
            <a:pPr algn="l"/>
            <a:r>
              <a:rPr sz="1500" b="1" i="0">
                <a:solidFill>
                  <a:srgbClr val="333D4A"/>
                </a:solidFill>
                <a:latin typeface="Calibri"/>
              </a:rPr>
              <a:t>is_empty()</a:t>
            </a:r>
          </a:p>
        </p:txBody>
      </p:sp>
      <p:sp>
        <p:nvSpPr>
          <p:cNvPr id="35" name="Rectangle 34"/>
          <p:cNvSpPr/>
          <p:nvPr/>
        </p:nvSpPr>
        <p:spPr>
          <a:xfrm>
            <a:off x="3749040" y="4023360"/>
            <a:ext cx="5303520" cy="640080"/>
          </a:xfrm>
          <a:prstGeom prst="rect">
            <a:avLst/>
          </a:prstGeom>
          <a:solidFill>
            <a:srgbClr val="FFFFFF"/>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886200" y="4023360"/>
            <a:ext cx="5120640" cy="640080"/>
          </a:xfrm>
          <a:prstGeom prst="rect">
            <a:avLst/>
          </a:prstGeom>
          <a:noFill/>
        </p:spPr>
        <p:txBody>
          <a:bodyPr wrap="square" lIns="45720" rIns="45720" tIns="18288" bIns="18288" anchor="ctr">
            <a:spAutoFit/>
          </a:bodyPr>
          <a:lstStyle/>
          <a:p>
            <a:pPr algn="l"/>
            <a:r>
              <a:rPr sz="1500" b="0" i="0">
                <a:solidFill>
                  <a:srgbClr val="333D4A"/>
                </a:solidFill>
                <a:latin typeface="Calibri"/>
              </a:rPr>
              <a:t>Return True if the queue has no elements, else False.</a:t>
            </a:r>
          </a:p>
        </p:txBody>
      </p:sp>
      <p:sp>
        <p:nvSpPr>
          <p:cNvPr id="37" name="Rectangle 36"/>
          <p:cNvSpPr/>
          <p:nvPr/>
        </p:nvSpPr>
        <p:spPr>
          <a:xfrm>
            <a:off x="9052560" y="4023360"/>
            <a:ext cx="2286000" cy="640080"/>
          </a:xfrm>
          <a:prstGeom prst="rect">
            <a:avLst/>
          </a:prstGeom>
          <a:solidFill>
            <a:srgbClr val="FFFFFF"/>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9720" y="4023360"/>
            <a:ext cx="2103120" cy="640080"/>
          </a:xfrm>
          <a:prstGeom prst="rect">
            <a:avLst/>
          </a:prstGeom>
          <a:noFill/>
        </p:spPr>
        <p:txBody>
          <a:bodyPr wrap="square" lIns="45720" rIns="45720" tIns="18288" bIns="18288" anchor="ctr">
            <a:spAutoFit/>
          </a:bodyPr>
          <a:lstStyle/>
          <a:p>
            <a:pPr algn="l"/>
            <a:r>
              <a:rPr sz="1500" b="1" i="0">
                <a:solidFill>
                  <a:srgbClr val="2E7D32"/>
                </a:solidFill>
                <a:latin typeface="Calibri"/>
              </a:rPr>
              <a:t>O(1)</a:t>
            </a:r>
          </a:p>
        </p:txBody>
      </p:sp>
      <p:sp>
        <p:nvSpPr>
          <p:cNvPr id="39" name="Rectangle 38"/>
          <p:cNvSpPr/>
          <p:nvPr/>
        </p:nvSpPr>
        <p:spPr>
          <a:xfrm>
            <a:off x="822960" y="4663440"/>
            <a:ext cx="292608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4663440"/>
            <a:ext cx="2743200" cy="640080"/>
          </a:xfrm>
          <a:prstGeom prst="rect">
            <a:avLst/>
          </a:prstGeom>
          <a:noFill/>
        </p:spPr>
        <p:txBody>
          <a:bodyPr wrap="square" lIns="45720" rIns="45720" tIns="18288" bIns="18288" anchor="ctr">
            <a:spAutoFit/>
          </a:bodyPr>
          <a:lstStyle/>
          <a:p>
            <a:pPr algn="l"/>
            <a:r>
              <a:rPr sz="1500" b="1" i="0">
                <a:solidFill>
                  <a:srgbClr val="333D4A"/>
                </a:solidFill>
                <a:latin typeface="Calibri"/>
              </a:rPr>
              <a:t>size()</a:t>
            </a:r>
          </a:p>
        </p:txBody>
      </p:sp>
      <p:sp>
        <p:nvSpPr>
          <p:cNvPr id="41" name="Rectangle 40"/>
          <p:cNvSpPr/>
          <p:nvPr/>
        </p:nvSpPr>
        <p:spPr>
          <a:xfrm>
            <a:off x="3749040" y="4663440"/>
            <a:ext cx="530352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886200" y="4663440"/>
            <a:ext cx="5120640" cy="640080"/>
          </a:xfrm>
          <a:prstGeom prst="rect">
            <a:avLst/>
          </a:prstGeom>
          <a:noFill/>
        </p:spPr>
        <p:txBody>
          <a:bodyPr wrap="square" lIns="45720" rIns="45720" tIns="18288" bIns="18288" anchor="ctr">
            <a:spAutoFit/>
          </a:bodyPr>
          <a:lstStyle/>
          <a:p>
            <a:pPr algn="l"/>
            <a:r>
              <a:rPr sz="1500" b="0" i="0">
                <a:solidFill>
                  <a:srgbClr val="333D4A"/>
                </a:solidFill>
                <a:latin typeface="Calibri"/>
              </a:rPr>
              <a:t>Return the count of elements currently in the queue.</a:t>
            </a:r>
          </a:p>
        </p:txBody>
      </p:sp>
      <p:sp>
        <p:nvSpPr>
          <p:cNvPr id="43" name="Rectangle 42"/>
          <p:cNvSpPr/>
          <p:nvPr/>
        </p:nvSpPr>
        <p:spPr>
          <a:xfrm>
            <a:off x="9052560" y="4663440"/>
            <a:ext cx="2286000" cy="640080"/>
          </a:xfrm>
          <a:prstGeom prst="rect">
            <a:avLst/>
          </a:prstGeom>
          <a:solidFill>
            <a:srgbClr val="F2F4F7"/>
          </a:solidFill>
          <a:ln w="12700">
            <a:solidFill>
              <a:srgbClr val="C0C4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89720" y="4663440"/>
            <a:ext cx="2103120" cy="640080"/>
          </a:xfrm>
          <a:prstGeom prst="rect">
            <a:avLst/>
          </a:prstGeom>
          <a:noFill/>
        </p:spPr>
        <p:txBody>
          <a:bodyPr wrap="square" lIns="45720" rIns="45720" tIns="18288" bIns="18288" anchor="ctr">
            <a:spAutoFit/>
          </a:bodyPr>
          <a:lstStyle/>
          <a:p>
            <a:pPr algn="l"/>
            <a:r>
              <a:rPr sz="1500" b="1" i="0">
                <a:solidFill>
                  <a:srgbClr val="2E7D32"/>
                </a:solidFill>
                <a:latin typeface="Calibri"/>
              </a:rPr>
              <a:t>O(1)</a:t>
            </a:r>
          </a:p>
        </p:txBody>
      </p:sp>
      <p:sp>
        <p:nvSpPr>
          <p:cNvPr id="45" name="Rectangle 44"/>
          <p:cNvSpPr/>
          <p:nvPr/>
        </p:nvSpPr>
        <p:spPr>
          <a:xfrm>
            <a:off x="822960" y="5577839"/>
            <a:ext cx="10515600" cy="10058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2960" y="5577839"/>
            <a:ext cx="73152" cy="100584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5840" y="5669279"/>
            <a:ext cx="10058400" cy="320040"/>
          </a:xfrm>
          <a:prstGeom prst="rect">
            <a:avLst/>
          </a:prstGeom>
          <a:noFill/>
        </p:spPr>
        <p:txBody>
          <a:bodyPr wrap="square" lIns="45720" rIns="45720" tIns="18288" bIns="18288" anchor="t">
            <a:spAutoFit/>
          </a:bodyPr>
          <a:lstStyle/>
          <a:p>
            <a:pPr algn="l"/>
            <a:r>
              <a:rPr sz="1400" b="1" i="0">
                <a:solidFill>
                  <a:srgbClr val="E0A81F"/>
                </a:solidFill>
                <a:latin typeface="Calibri"/>
              </a:rPr>
              <a:t>Design Contrast:</a:t>
            </a:r>
          </a:p>
        </p:txBody>
      </p:sp>
      <p:sp>
        <p:nvSpPr>
          <p:cNvPr id="48" name="TextBox 47"/>
          <p:cNvSpPr txBox="1"/>
          <p:nvPr/>
        </p:nvSpPr>
        <p:spPr>
          <a:xfrm>
            <a:off x="1005840" y="5989319"/>
            <a:ext cx="10058400" cy="548640"/>
          </a:xfrm>
          <a:prstGeom prst="rect">
            <a:avLst/>
          </a:prstGeom>
          <a:noFill/>
        </p:spPr>
        <p:txBody>
          <a:bodyPr wrap="square" lIns="45720" rIns="45720" tIns="18288" bIns="18288" anchor="t">
            <a:spAutoFit/>
          </a:bodyPr>
          <a:lstStyle/>
          <a:p>
            <a:pPr algn="l"/>
            <a:r>
              <a:rPr sz="1300" b="0" i="0">
                <a:solidFill>
                  <a:srgbClr val="333D4A"/>
                </a:solidFill>
                <a:latin typeface="Calibri"/>
              </a:rPr>
              <a:t>Unlike stacks, queues operate on BOTH ends. This requires tracking both endpoints. If we only track one end, either enqueue or dequeue will fall to O(N) efficiency because we have to traverse or shift elements.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5.  Queue Implementation: Linked List</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Double-pointer Singly Linked List with Front &amp; Rear References</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10 / 18</a:t>
            </a:r>
          </a:p>
        </p:txBody>
      </p:sp>
      <p:sp>
        <p:nvSpPr>
          <p:cNvPr id="9" name="Rectangle 8"/>
          <p:cNvSpPr/>
          <p:nvPr/>
        </p:nvSpPr>
        <p:spPr>
          <a:xfrm>
            <a:off x="822960" y="1353312"/>
            <a:ext cx="6858000" cy="50292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1353312"/>
            <a:ext cx="73152" cy="502920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444752"/>
            <a:ext cx="6629400" cy="4846320"/>
          </a:xfrm>
          <a:prstGeom prst="rect">
            <a:avLst/>
          </a:prstGeom>
          <a:noFill/>
        </p:spPr>
        <p:txBody>
          <a:bodyPr wrap="square">
            <a:spAutoFit/>
          </a:bodyPr>
          <a:lstStyle/>
          <a:p>
            <a:pPr algn="l">
              <a:lnSpc>
                <a:spcPct val="115000"/>
              </a:lnSpc>
            </a:pPr>
            <a:r>
              <a:rPr sz="1200">
                <a:solidFill>
                  <a:srgbClr val="E6E6E6"/>
                </a:solidFill>
                <a:latin typeface="Consolas"/>
              </a:rPr>
              <a:t>class LinkedQueue:</a:t>
            </a:r>
          </a:p>
          <a:p>
            <a:pPr algn="l">
              <a:lnSpc>
                <a:spcPct val="115000"/>
              </a:lnSpc>
            </a:pPr>
            <a:r>
              <a:rPr sz="1200">
                <a:solidFill>
                  <a:srgbClr val="E6E6E6"/>
                </a:solidFill>
                <a:latin typeface="Consolas"/>
              </a:rPr>
              <a:t>    class Node:</a:t>
            </a:r>
          </a:p>
          <a:p>
            <a:pPr algn="l">
              <a:lnSpc>
                <a:spcPct val="115000"/>
              </a:lnSpc>
            </a:pPr>
            <a:r>
              <a:rPr sz="1200">
                <a:solidFill>
                  <a:srgbClr val="E6E6E6"/>
                </a:solidFill>
                <a:latin typeface="Consolas"/>
              </a:rPr>
              <a:t>        def __init__(self, data, next_node=None):</a:t>
            </a:r>
          </a:p>
          <a:p>
            <a:pPr algn="l">
              <a:lnSpc>
                <a:spcPct val="115000"/>
              </a:lnSpc>
            </a:pPr>
            <a:r>
              <a:rPr sz="1200">
                <a:solidFill>
                  <a:srgbClr val="E6E6E6"/>
                </a:solidFill>
                <a:latin typeface="Consolas"/>
              </a:rPr>
              <a:t>            self.data, self.next = data, next_node</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def __init__(self):</a:t>
            </a:r>
          </a:p>
          <a:p>
            <a:pPr algn="l">
              <a:lnSpc>
                <a:spcPct val="115000"/>
              </a:lnSpc>
            </a:pPr>
            <a:r>
              <a:rPr sz="1200">
                <a:solidFill>
                  <a:srgbClr val="E6E6E6"/>
                </a:solidFill>
                <a:latin typeface="Consolas"/>
              </a:rPr>
              <a:t>        self.front = self.rear = None</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def enqueue(self, data):</a:t>
            </a:r>
          </a:p>
          <a:p>
            <a:pPr algn="l">
              <a:lnSpc>
                <a:spcPct val="115000"/>
              </a:lnSpc>
            </a:pPr>
            <a:r>
              <a:rPr sz="1200">
                <a:solidFill>
                  <a:srgbClr val="E6E6E6"/>
                </a:solidFill>
                <a:latin typeface="Consolas"/>
              </a:rPr>
              <a:t>        new_node = self.Node(data)</a:t>
            </a:r>
          </a:p>
          <a:p>
            <a:pPr algn="l">
              <a:lnSpc>
                <a:spcPct val="115000"/>
              </a:lnSpc>
            </a:pPr>
            <a:r>
              <a:rPr sz="1200">
                <a:solidFill>
                  <a:srgbClr val="E6E6E6"/>
                </a:solidFill>
                <a:latin typeface="Consolas"/>
              </a:rPr>
              <a:t>        if self.rear is None:</a:t>
            </a:r>
          </a:p>
          <a:p>
            <a:pPr algn="l">
              <a:lnSpc>
                <a:spcPct val="115000"/>
              </a:lnSpc>
            </a:pPr>
            <a:r>
              <a:rPr sz="1200">
                <a:solidFill>
                  <a:srgbClr val="E6E6E6"/>
                </a:solidFill>
                <a:latin typeface="Consolas"/>
              </a:rPr>
              <a:t>            self.front = self.rear = new_node</a:t>
            </a:r>
          </a:p>
          <a:p>
            <a:pPr algn="l">
              <a:lnSpc>
                <a:spcPct val="115000"/>
              </a:lnSpc>
            </a:pPr>
            <a:r>
              <a:rPr sz="1200">
                <a:solidFill>
                  <a:srgbClr val="E6E6E6"/>
                </a:solidFill>
                <a:latin typeface="Consolas"/>
              </a:rPr>
              <a:t>            return</a:t>
            </a:r>
          </a:p>
          <a:p>
            <a:pPr algn="l">
              <a:lnSpc>
                <a:spcPct val="115000"/>
              </a:lnSpc>
            </a:pPr>
            <a:r>
              <a:rPr sz="1200">
                <a:solidFill>
                  <a:srgbClr val="E6E6E6"/>
                </a:solidFill>
                <a:latin typeface="Consolas"/>
              </a:rPr>
              <a:t>        self.rear.next = new_node  # append at tail</a:t>
            </a:r>
          </a:p>
          <a:p>
            <a:pPr algn="l">
              <a:lnSpc>
                <a:spcPct val="115000"/>
              </a:lnSpc>
            </a:pPr>
            <a:r>
              <a:rPr sz="1200">
                <a:solidFill>
                  <a:srgbClr val="E6E6E6"/>
                </a:solidFill>
                <a:latin typeface="Consolas"/>
              </a:rPr>
              <a:t>        self.rear = new_node       # shift tail reference</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def dequeue(self):</a:t>
            </a:r>
          </a:p>
          <a:p>
            <a:pPr algn="l">
              <a:lnSpc>
                <a:spcPct val="115000"/>
              </a:lnSpc>
            </a:pPr>
            <a:r>
              <a:rPr sz="1200">
                <a:solidFill>
                  <a:srgbClr val="E6E6E6"/>
                </a:solidFill>
                <a:latin typeface="Consolas"/>
              </a:rPr>
              <a:t>        if self.front is None:</a:t>
            </a:r>
          </a:p>
          <a:p>
            <a:pPr algn="l">
              <a:lnSpc>
                <a:spcPct val="115000"/>
              </a:lnSpc>
            </a:pPr>
            <a:r>
              <a:rPr sz="1200">
                <a:solidFill>
                  <a:srgbClr val="E6E6E6"/>
                </a:solidFill>
                <a:latin typeface="Consolas"/>
              </a:rPr>
              <a:t>            raise IndexError("Dequeue from empty queue")</a:t>
            </a:r>
          </a:p>
          <a:p>
            <a:pPr algn="l">
              <a:lnSpc>
                <a:spcPct val="115000"/>
              </a:lnSpc>
            </a:pPr>
            <a:r>
              <a:rPr sz="1200">
                <a:solidFill>
                  <a:srgbClr val="E6E6E6"/>
                </a:solidFill>
                <a:latin typeface="Consolas"/>
              </a:rPr>
              <a:t>        val = self.front.data</a:t>
            </a:r>
          </a:p>
          <a:p>
            <a:pPr algn="l">
              <a:lnSpc>
                <a:spcPct val="115000"/>
              </a:lnSpc>
            </a:pPr>
            <a:r>
              <a:rPr sz="1200">
                <a:solidFill>
                  <a:srgbClr val="E6E6E6"/>
                </a:solidFill>
                <a:latin typeface="Consolas"/>
              </a:rPr>
              <a:t>        self.front = self.front.next</a:t>
            </a:r>
          </a:p>
          <a:p>
            <a:pPr algn="l">
              <a:lnSpc>
                <a:spcPct val="115000"/>
              </a:lnSpc>
            </a:pPr>
            <a:r>
              <a:rPr sz="1200">
                <a:solidFill>
                  <a:srgbClr val="E6E6E6"/>
                </a:solidFill>
                <a:latin typeface="Consolas"/>
              </a:rPr>
              <a:t>        if self.front is None:     # queue now empty</a:t>
            </a:r>
          </a:p>
          <a:p>
            <a:pPr algn="l">
              <a:lnSpc>
                <a:spcPct val="115000"/>
              </a:lnSpc>
            </a:pPr>
            <a:r>
              <a:rPr sz="1200">
                <a:solidFill>
                  <a:srgbClr val="E6E6E6"/>
                </a:solidFill>
                <a:latin typeface="Consolas"/>
              </a:rPr>
              <a:t>            self.rear = None</a:t>
            </a:r>
          </a:p>
          <a:p>
            <a:pPr algn="l">
              <a:lnSpc>
                <a:spcPct val="115000"/>
              </a:lnSpc>
            </a:pPr>
            <a:r>
              <a:rPr sz="1200">
                <a:solidFill>
                  <a:srgbClr val="E6E6E6"/>
                </a:solidFill>
                <a:latin typeface="Consolas"/>
              </a:rPr>
              <a:t>        return val</a:t>
            </a:r>
          </a:p>
        </p:txBody>
      </p:sp>
      <p:sp>
        <p:nvSpPr>
          <p:cNvPr id="12" name="TextBox 11"/>
          <p:cNvSpPr txBox="1"/>
          <p:nvPr/>
        </p:nvSpPr>
        <p:spPr>
          <a:xfrm>
            <a:off x="7955279" y="1353312"/>
            <a:ext cx="3657600" cy="411480"/>
          </a:xfrm>
          <a:prstGeom prst="rect">
            <a:avLst/>
          </a:prstGeom>
          <a:noFill/>
        </p:spPr>
        <p:txBody>
          <a:bodyPr wrap="square" lIns="45720" rIns="45720" tIns="18288" bIns="18288" anchor="t">
            <a:spAutoFit/>
          </a:bodyPr>
          <a:lstStyle/>
          <a:p>
            <a:pPr algn="l"/>
            <a:r>
              <a:rPr sz="1800" b="1" i="0">
                <a:solidFill>
                  <a:srgbClr val="0B2A4A"/>
                </a:solidFill>
                <a:latin typeface="Calibri"/>
              </a:rPr>
              <a:t>Linked Queue Structure</a:t>
            </a:r>
          </a:p>
        </p:txBody>
      </p:sp>
      <p:sp>
        <p:nvSpPr>
          <p:cNvPr id="13" name="TextBox 12"/>
          <p:cNvSpPr txBox="1"/>
          <p:nvPr/>
        </p:nvSpPr>
        <p:spPr>
          <a:xfrm>
            <a:off x="7955279" y="1828800"/>
            <a:ext cx="3657600" cy="4389120"/>
          </a:xfrm>
          <a:prstGeom prst="rect">
            <a:avLst/>
          </a:prstGeom>
          <a:noFill/>
        </p:spPr>
        <p:txBody>
          <a:bodyPr wrap="square" lIns="45720" rIns="45720">
            <a:spAutoFit/>
          </a:bodyPr>
          <a:lstStyle/>
          <a:p>
            <a:pPr algn="l">
              <a:lnSpc>
                <a:spcPct val="135000"/>
              </a:lnSpc>
              <a:spcAft>
                <a:spcPts val="400"/>
              </a:spcAft>
            </a:pPr>
            <a:r>
              <a:rPr sz="1300" b="1">
                <a:solidFill>
                  <a:srgbClr val="E0A81F"/>
                </a:solidFill>
                <a:latin typeface="Calibri"/>
              </a:rPr>
              <a:t>▸  </a:t>
            </a:r>
            <a:r>
              <a:rPr sz="1300" b="1">
                <a:solidFill>
                  <a:srgbClr val="0B2A4A"/>
                </a:solidFill>
                <a:latin typeface="Calibri"/>
              </a:rPr>
              <a:t>Dual Pointers.  </a:t>
            </a:r>
            <a:r>
              <a:rPr sz="1300">
                <a:solidFill>
                  <a:srgbClr val="333D4A"/>
                </a:solidFill>
                <a:latin typeface="Calibri"/>
              </a:rPr>
              <a:t>Maintaining front and rear references allows constant-time access to both endpoints.</a:t>
            </a:r>
          </a:p>
          <a:p>
            <a:pPr algn="l">
              <a:lnSpc>
                <a:spcPct val="135000"/>
              </a:lnSpc>
              <a:spcAft>
                <a:spcPts val="400"/>
              </a:spcAft>
            </a:pPr>
            <a:r>
              <a:rPr sz="1300" b="1">
                <a:solidFill>
                  <a:srgbClr val="E0A81F"/>
                </a:solidFill>
                <a:latin typeface="Calibri"/>
              </a:rPr>
              <a:t>▸  </a:t>
            </a:r>
            <a:r>
              <a:rPr sz="1300" b="1">
                <a:solidFill>
                  <a:srgbClr val="0B2A4A"/>
                </a:solidFill>
                <a:latin typeface="Calibri"/>
              </a:rPr>
              <a:t>Enqueue at Rear.  </a:t>
            </a:r>
            <a:r>
              <a:rPr sz="1300">
                <a:solidFill>
                  <a:srgbClr val="333D4A"/>
                </a:solidFill>
                <a:latin typeface="Calibri"/>
              </a:rPr>
              <a:t>rear.next = new_node is a constant-time modification (O(1)).</a:t>
            </a:r>
          </a:p>
          <a:p>
            <a:pPr algn="l">
              <a:lnSpc>
                <a:spcPct val="135000"/>
              </a:lnSpc>
              <a:spcAft>
                <a:spcPts val="400"/>
              </a:spcAft>
            </a:pPr>
            <a:r>
              <a:rPr sz="1300" b="1">
                <a:solidFill>
                  <a:srgbClr val="E0A81F"/>
                </a:solidFill>
                <a:latin typeface="Calibri"/>
              </a:rPr>
              <a:t>▸  </a:t>
            </a:r>
            <a:r>
              <a:rPr sz="1300" b="1">
                <a:solidFill>
                  <a:srgbClr val="0B2A4A"/>
                </a:solidFill>
                <a:latin typeface="Calibri"/>
              </a:rPr>
              <a:t>Dequeue at Front.  </a:t>
            </a:r>
            <a:r>
              <a:rPr sz="1300">
                <a:solidFill>
                  <a:srgbClr val="333D4A"/>
                </a:solidFill>
                <a:latin typeface="Calibri"/>
              </a:rPr>
              <a:t>head = head.next is also O(1). No list traversal is needed.</a:t>
            </a:r>
          </a:p>
          <a:p>
            <a:pPr algn="l">
              <a:lnSpc>
                <a:spcPct val="135000"/>
              </a:lnSpc>
              <a:spcAft>
                <a:spcPts val="400"/>
              </a:spcAft>
            </a:pPr>
            <a:r>
              <a:rPr sz="1300" b="1">
                <a:solidFill>
                  <a:srgbClr val="E0A81F"/>
                </a:solidFill>
                <a:latin typeface="Calibri"/>
              </a:rPr>
              <a:t>▸  </a:t>
            </a:r>
            <a:r>
              <a:rPr sz="1300" b="1">
                <a:solidFill>
                  <a:srgbClr val="0B2A4A"/>
                </a:solidFill>
                <a:latin typeface="Calibri"/>
              </a:rPr>
              <a:t>Empty Edge Case.  </a:t>
            </a:r>
            <a:r>
              <a:rPr sz="1300">
                <a:solidFill>
                  <a:srgbClr val="333D4A"/>
                </a:solidFill>
                <a:latin typeface="Calibri"/>
              </a:rPr>
              <a:t>Careful logic is required to set rear to None if dequeue empties the queue.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Queue Implementation: Circular Buffer</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Fixed Array with modulo pointer wrapping to avoid shifting</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11 / 18</a:t>
            </a:r>
          </a:p>
        </p:txBody>
      </p:sp>
      <p:sp>
        <p:nvSpPr>
          <p:cNvPr id="9" name="Rectangle 8"/>
          <p:cNvSpPr/>
          <p:nvPr/>
        </p:nvSpPr>
        <p:spPr>
          <a:xfrm>
            <a:off x="822960" y="1353312"/>
            <a:ext cx="6858000" cy="50292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1353312"/>
            <a:ext cx="73152" cy="502920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444752"/>
            <a:ext cx="6629400" cy="4846320"/>
          </a:xfrm>
          <a:prstGeom prst="rect">
            <a:avLst/>
          </a:prstGeom>
          <a:noFill/>
        </p:spPr>
        <p:txBody>
          <a:bodyPr wrap="square">
            <a:spAutoFit/>
          </a:bodyPr>
          <a:lstStyle/>
          <a:p>
            <a:pPr algn="l">
              <a:lnSpc>
                <a:spcPct val="115000"/>
              </a:lnSpc>
            </a:pPr>
            <a:r>
              <a:rPr sz="1200">
                <a:solidFill>
                  <a:srgbClr val="E6E6E6"/>
                </a:solidFill>
                <a:latin typeface="Consolas"/>
              </a:rPr>
              <a:t>class CircularQueue:</a:t>
            </a:r>
          </a:p>
          <a:p>
            <a:pPr algn="l">
              <a:lnSpc>
                <a:spcPct val="115000"/>
              </a:lnSpc>
            </a:pPr>
            <a:r>
              <a:rPr sz="1200">
                <a:solidFill>
                  <a:srgbClr val="E6E6E6"/>
                </a:solidFill>
                <a:latin typeface="Consolas"/>
              </a:rPr>
              <a:t>    def __init__(self, capacity=10):</a:t>
            </a:r>
          </a:p>
          <a:p>
            <a:pPr algn="l">
              <a:lnSpc>
                <a:spcPct val="115000"/>
              </a:lnSpc>
            </a:pPr>
            <a:r>
              <a:rPr sz="1200">
                <a:solidFill>
                  <a:srgbClr val="E6E6E6"/>
                </a:solidFill>
                <a:latin typeface="Consolas"/>
              </a:rPr>
              <a:t>        self._data = [None] * capacity</a:t>
            </a:r>
          </a:p>
          <a:p>
            <a:pPr algn="l">
              <a:lnSpc>
                <a:spcPct val="115000"/>
              </a:lnSpc>
            </a:pPr>
            <a:r>
              <a:rPr sz="1200">
                <a:solidFill>
                  <a:srgbClr val="E6E6E6"/>
                </a:solidFill>
                <a:latin typeface="Consolas"/>
              </a:rPr>
              <a:t>        self._size = 0</a:t>
            </a:r>
          </a:p>
          <a:p>
            <a:pPr algn="l">
              <a:lnSpc>
                <a:spcPct val="115000"/>
              </a:lnSpc>
            </a:pPr>
            <a:r>
              <a:rPr sz="1200">
                <a:solidFill>
                  <a:srgbClr val="E6E6E6"/>
                </a:solidFill>
                <a:latin typeface="Consolas"/>
              </a:rPr>
              <a:t>        self._front = 0</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def enqueue(self, data):</a:t>
            </a:r>
          </a:p>
          <a:p>
            <a:pPr algn="l">
              <a:lnSpc>
                <a:spcPct val="115000"/>
              </a:lnSpc>
            </a:pPr>
            <a:r>
              <a:rPr sz="1200">
                <a:solidFill>
                  <a:srgbClr val="E6E6E6"/>
                </a:solidFill>
                <a:latin typeface="Consolas"/>
              </a:rPr>
              <a:t>        if self._size == len(self._data):</a:t>
            </a:r>
          </a:p>
          <a:p>
            <a:pPr algn="l">
              <a:lnSpc>
                <a:spcPct val="115000"/>
              </a:lnSpc>
            </a:pPr>
            <a:r>
              <a:rPr sz="1200">
                <a:solidFill>
                  <a:srgbClr val="E6E6E6"/>
                </a:solidFill>
                <a:latin typeface="Consolas"/>
              </a:rPr>
              <a:t>            raise IndexError("Queue is full")</a:t>
            </a:r>
          </a:p>
          <a:p>
            <a:pPr algn="l">
              <a:lnSpc>
                <a:spcPct val="115000"/>
              </a:lnSpc>
            </a:pPr>
            <a:r>
              <a:rPr sz="1200">
                <a:solidFill>
                  <a:srgbClr val="E6E6E6"/>
                </a:solidFill>
                <a:latin typeface="Consolas"/>
              </a:rPr>
              <a:t>        rear_idx = (self._front + self._size) % len(self._data)</a:t>
            </a:r>
          </a:p>
          <a:p>
            <a:pPr algn="l">
              <a:lnSpc>
                <a:spcPct val="115000"/>
              </a:lnSpc>
            </a:pPr>
            <a:r>
              <a:rPr sz="1200">
                <a:solidFill>
                  <a:srgbClr val="E6E6E6"/>
                </a:solidFill>
                <a:latin typeface="Consolas"/>
              </a:rPr>
              <a:t>        self._data[rear_idx] = data</a:t>
            </a:r>
          </a:p>
          <a:p>
            <a:pPr algn="l">
              <a:lnSpc>
                <a:spcPct val="115000"/>
              </a:lnSpc>
            </a:pPr>
            <a:r>
              <a:rPr sz="1200">
                <a:solidFill>
                  <a:srgbClr val="E6E6E6"/>
                </a:solidFill>
                <a:latin typeface="Consolas"/>
              </a:rPr>
              <a:t>        self._size += 1</a:t>
            </a:r>
          </a:p>
          <a:p>
            <a:pPr algn="l">
              <a:lnSpc>
                <a:spcPct val="115000"/>
              </a:lnSpc>
            </a:pPr>
            <a:r>
              <a:rPr sz="1200">
                <a:solidFill>
                  <a:srgbClr val="E6E6E6"/>
                </a:solidFill>
                <a:latin typeface="Consolas"/>
              </a:rPr>
              <a:t> </a:t>
            </a:r>
          </a:p>
          <a:p>
            <a:pPr algn="l">
              <a:lnSpc>
                <a:spcPct val="115000"/>
              </a:lnSpc>
            </a:pPr>
            <a:r>
              <a:rPr sz="1200">
                <a:solidFill>
                  <a:srgbClr val="E6E6E6"/>
                </a:solidFill>
                <a:latin typeface="Consolas"/>
              </a:rPr>
              <a:t>    def dequeue(self):</a:t>
            </a:r>
          </a:p>
          <a:p>
            <a:pPr algn="l">
              <a:lnSpc>
                <a:spcPct val="115000"/>
              </a:lnSpc>
            </a:pPr>
            <a:r>
              <a:rPr sz="1200">
                <a:solidFill>
                  <a:srgbClr val="E6E6E6"/>
                </a:solidFill>
                <a:latin typeface="Consolas"/>
              </a:rPr>
              <a:t>        if self._size == 0:</a:t>
            </a:r>
          </a:p>
          <a:p>
            <a:pPr algn="l">
              <a:lnSpc>
                <a:spcPct val="115000"/>
              </a:lnSpc>
            </a:pPr>
            <a:r>
              <a:rPr sz="1200">
                <a:solidFill>
                  <a:srgbClr val="E6E6E6"/>
                </a:solidFill>
                <a:latin typeface="Consolas"/>
              </a:rPr>
              <a:t>            raise IndexError("Queue is empty")</a:t>
            </a:r>
          </a:p>
          <a:p>
            <a:pPr algn="l">
              <a:lnSpc>
                <a:spcPct val="115000"/>
              </a:lnSpc>
            </a:pPr>
            <a:r>
              <a:rPr sz="1200">
                <a:solidFill>
                  <a:srgbClr val="E6E6E6"/>
                </a:solidFill>
                <a:latin typeface="Consolas"/>
              </a:rPr>
              <a:t>        val = self._data[self._front]</a:t>
            </a:r>
          </a:p>
          <a:p>
            <a:pPr algn="l">
              <a:lnSpc>
                <a:spcPct val="115000"/>
              </a:lnSpc>
            </a:pPr>
            <a:r>
              <a:rPr sz="1200">
                <a:solidFill>
                  <a:srgbClr val="E6E6E6"/>
                </a:solidFill>
                <a:latin typeface="Consolas"/>
              </a:rPr>
              <a:t>        self._data[self._front] = None</a:t>
            </a:r>
          </a:p>
          <a:p>
            <a:pPr algn="l">
              <a:lnSpc>
                <a:spcPct val="115000"/>
              </a:lnSpc>
            </a:pPr>
            <a:r>
              <a:rPr sz="1200">
                <a:solidFill>
                  <a:srgbClr val="E6E6E6"/>
                </a:solidFill>
                <a:latin typeface="Consolas"/>
              </a:rPr>
              <a:t>        self._front = (self._front + 1) % len(self._data)</a:t>
            </a:r>
          </a:p>
          <a:p>
            <a:pPr algn="l">
              <a:lnSpc>
                <a:spcPct val="115000"/>
              </a:lnSpc>
            </a:pPr>
            <a:r>
              <a:rPr sz="1200">
                <a:solidFill>
                  <a:srgbClr val="E6E6E6"/>
                </a:solidFill>
                <a:latin typeface="Consolas"/>
              </a:rPr>
              <a:t>        self._size -= 1</a:t>
            </a:r>
          </a:p>
          <a:p>
            <a:pPr algn="l">
              <a:lnSpc>
                <a:spcPct val="115000"/>
              </a:lnSpc>
            </a:pPr>
            <a:r>
              <a:rPr sz="1200">
                <a:solidFill>
                  <a:srgbClr val="E6E6E6"/>
                </a:solidFill>
                <a:latin typeface="Consolas"/>
              </a:rPr>
              <a:t>        return val</a:t>
            </a:r>
          </a:p>
        </p:txBody>
      </p:sp>
      <p:sp>
        <p:nvSpPr>
          <p:cNvPr id="12" name="TextBox 11"/>
          <p:cNvSpPr txBox="1"/>
          <p:nvPr/>
        </p:nvSpPr>
        <p:spPr>
          <a:xfrm>
            <a:off x="7955279" y="1353312"/>
            <a:ext cx="3657600" cy="411480"/>
          </a:xfrm>
          <a:prstGeom prst="rect">
            <a:avLst/>
          </a:prstGeom>
          <a:noFill/>
        </p:spPr>
        <p:txBody>
          <a:bodyPr wrap="square" lIns="45720" rIns="45720" tIns="18288" bIns="18288" anchor="t">
            <a:spAutoFit/>
          </a:bodyPr>
          <a:lstStyle/>
          <a:p>
            <a:pPr algn="l"/>
            <a:r>
              <a:rPr sz="1800" b="1" i="0">
                <a:solidFill>
                  <a:srgbClr val="0B2A4A"/>
                </a:solidFill>
                <a:latin typeface="Calibri"/>
              </a:rPr>
              <a:t>Why Circular Buffer?</a:t>
            </a:r>
          </a:p>
        </p:txBody>
      </p:sp>
      <p:sp>
        <p:nvSpPr>
          <p:cNvPr id="13" name="TextBox 12"/>
          <p:cNvSpPr txBox="1"/>
          <p:nvPr/>
        </p:nvSpPr>
        <p:spPr>
          <a:xfrm>
            <a:off x="7955279" y="1828800"/>
            <a:ext cx="3657600" cy="4389120"/>
          </a:xfrm>
          <a:prstGeom prst="rect">
            <a:avLst/>
          </a:prstGeom>
          <a:noFill/>
        </p:spPr>
        <p:txBody>
          <a:bodyPr wrap="square" lIns="45720" rIns="45720">
            <a:spAutoFit/>
          </a:bodyPr>
          <a:lstStyle/>
          <a:p>
            <a:pPr algn="l">
              <a:lnSpc>
                <a:spcPct val="135000"/>
              </a:lnSpc>
              <a:spcAft>
                <a:spcPts val="400"/>
              </a:spcAft>
            </a:pPr>
            <a:r>
              <a:rPr sz="1300" b="1">
                <a:solidFill>
                  <a:srgbClr val="127A8A"/>
                </a:solidFill>
                <a:latin typeface="Calibri"/>
              </a:rPr>
              <a:t>▸  </a:t>
            </a:r>
            <a:r>
              <a:rPr sz="1300" b="1">
                <a:solidFill>
                  <a:srgbClr val="0B2A4A"/>
                </a:solidFill>
                <a:latin typeface="Calibri"/>
              </a:rPr>
              <a:t>The Shifting Problem.  </a:t>
            </a:r>
            <a:r>
              <a:rPr sz="1300">
                <a:solidFill>
                  <a:srgbClr val="333D4A"/>
                </a:solidFill>
                <a:latin typeface="Calibri"/>
              </a:rPr>
              <a:t>If we dequeue from index 0 of a normal array, we must shift the remaining elements, costing O(N).</a:t>
            </a:r>
          </a:p>
          <a:p>
            <a:pPr algn="l">
              <a:lnSpc>
                <a:spcPct val="135000"/>
              </a:lnSpc>
              <a:spcAft>
                <a:spcPts val="400"/>
              </a:spcAft>
            </a:pPr>
            <a:r>
              <a:rPr sz="1300" b="1">
                <a:solidFill>
                  <a:srgbClr val="127A8A"/>
                </a:solidFill>
                <a:latin typeface="Calibri"/>
              </a:rPr>
              <a:t>▸  </a:t>
            </a:r>
            <a:r>
              <a:rPr sz="1300" b="1">
                <a:solidFill>
                  <a:srgbClr val="0B2A4A"/>
                </a:solidFill>
                <a:latin typeface="Calibri"/>
              </a:rPr>
              <a:t>Circular Pointer.  </a:t>
            </a:r>
            <a:r>
              <a:rPr sz="1300">
                <a:solidFill>
                  <a:srgbClr val="333D4A"/>
                </a:solidFill>
                <a:latin typeface="Calibri"/>
              </a:rPr>
              <a:t>Instead of shifting data, we shift the FRONT pointer clockwise using modular math: (front + 1) % capacity.</a:t>
            </a:r>
          </a:p>
          <a:p>
            <a:pPr algn="l">
              <a:lnSpc>
                <a:spcPct val="135000"/>
              </a:lnSpc>
              <a:spcAft>
                <a:spcPts val="400"/>
              </a:spcAft>
            </a:pPr>
            <a:r>
              <a:rPr sz="1300" b="1">
                <a:solidFill>
                  <a:srgbClr val="127A8A"/>
                </a:solidFill>
                <a:latin typeface="Calibri"/>
              </a:rPr>
              <a:t>▸  </a:t>
            </a:r>
            <a:r>
              <a:rPr sz="1300" b="1">
                <a:solidFill>
                  <a:srgbClr val="0B2A4A"/>
                </a:solidFill>
                <a:latin typeface="Calibri"/>
              </a:rPr>
              <a:t>Boundary pointer checks.  </a:t>
            </a:r>
            <a:r>
              <a:rPr sz="1300">
                <a:solidFill>
                  <a:srgbClr val="333D4A"/>
                </a:solidFill>
                <a:latin typeface="Calibri"/>
              </a:rPr>
              <a:t>Empty queue state: front == rear. Full queue state: (rear + 1) % capacity == front (leaving one empty slot).</a:t>
            </a:r>
          </a:p>
          <a:p>
            <a:pPr algn="l">
              <a:lnSpc>
                <a:spcPct val="135000"/>
              </a:lnSpc>
              <a:spcAft>
                <a:spcPts val="400"/>
              </a:spcAft>
            </a:pPr>
            <a:r>
              <a:rPr sz="1300" b="1">
                <a:solidFill>
                  <a:srgbClr val="127A8A"/>
                </a:solidFill>
                <a:latin typeface="Calibri"/>
              </a:rPr>
              <a:t>▸  </a:t>
            </a:r>
            <a:r>
              <a:rPr sz="1300" b="1">
                <a:solidFill>
                  <a:srgbClr val="0B2A4A"/>
                </a:solidFill>
                <a:latin typeface="Calibri"/>
              </a:rPr>
              <a:t>No Shifting (O(1)).  </a:t>
            </a:r>
            <a:r>
              <a:rPr sz="1300">
                <a:solidFill>
                  <a:srgbClr val="333D4A"/>
                </a:solidFill>
                <a:latin typeface="Calibri"/>
              </a:rPr>
              <a:t>Both operations are now guaranteed O(1) time without element copies.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Circular Buffer: Step-by-Step Pointer Trace</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Visualizing Front and Rear pointer wrapping with a capacity of 4</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12 / 18</a:t>
            </a:r>
          </a:p>
        </p:txBody>
      </p:sp>
      <p:sp>
        <p:nvSpPr>
          <p:cNvPr id="9" name="Rounded Rectangle 8"/>
          <p:cNvSpPr/>
          <p:nvPr/>
        </p:nvSpPr>
        <p:spPr>
          <a:xfrm>
            <a:off x="822960" y="1371600"/>
            <a:ext cx="2468880" cy="466344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508760"/>
            <a:ext cx="2468880" cy="411480"/>
          </a:xfrm>
          <a:prstGeom prst="rect">
            <a:avLst/>
          </a:prstGeom>
          <a:noFill/>
        </p:spPr>
        <p:txBody>
          <a:bodyPr wrap="square" lIns="45720" rIns="45720" tIns="18288" bIns="18288" anchor="t">
            <a:spAutoFit/>
          </a:bodyPr>
          <a:lstStyle/>
          <a:p>
            <a:pPr algn="ctr"/>
            <a:r>
              <a:rPr sz="1500" b="1" i="0">
                <a:solidFill>
                  <a:srgbClr val="0B2A4A"/>
                </a:solidFill>
                <a:latin typeface="Calibri"/>
              </a:rPr>
              <a:t>1. Initial State</a:t>
            </a:r>
          </a:p>
        </p:txBody>
      </p:sp>
      <p:sp>
        <p:nvSpPr>
          <p:cNvPr id="11" name="Rectangle 10"/>
          <p:cNvSpPr/>
          <p:nvPr/>
        </p:nvSpPr>
        <p:spPr>
          <a:xfrm>
            <a:off x="1165860" y="2011680"/>
            <a:ext cx="411480" cy="411480"/>
          </a:xfrm>
          <a:prstGeom prst="rect">
            <a:avLst/>
          </a:prstGeom>
          <a:solidFill>
            <a:srgbClr val="127A8A"/>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65860" y="2084832"/>
            <a:ext cx="411480" cy="320040"/>
          </a:xfrm>
          <a:prstGeom prst="rect">
            <a:avLst/>
          </a:prstGeom>
          <a:noFill/>
        </p:spPr>
        <p:txBody>
          <a:bodyPr wrap="square" lIns="45720" rIns="45720" tIns="18288" bIns="18288" anchor="t">
            <a:spAutoFit/>
          </a:bodyPr>
          <a:lstStyle/>
          <a:p>
            <a:pPr algn="ctr"/>
            <a:r>
              <a:rPr sz="1400" b="1" i="0">
                <a:solidFill>
                  <a:srgbClr val="FFFFFF"/>
                </a:solidFill>
                <a:latin typeface="Calibri"/>
              </a:rPr>
              <a:t>A</a:t>
            </a:r>
          </a:p>
        </p:txBody>
      </p:sp>
      <p:sp>
        <p:nvSpPr>
          <p:cNvPr id="13" name="TextBox 12"/>
          <p:cNvSpPr txBox="1"/>
          <p:nvPr/>
        </p:nvSpPr>
        <p:spPr>
          <a:xfrm>
            <a:off x="116586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0</a:t>
            </a:r>
          </a:p>
        </p:txBody>
      </p:sp>
      <p:sp>
        <p:nvSpPr>
          <p:cNvPr id="14" name="Rectangle 13"/>
          <p:cNvSpPr/>
          <p:nvPr/>
        </p:nvSpPr>
        <p:spPr>
          <a:xfrm>
            <a:off x="1623060" y="2011680"/>
            <a:ext cx="411480" cy="411480"/>
          </a:xfrm>
          <a:prstGeom prst="rect">
            <a:avLst/>
          </a:prstGeom>
          <a:solidFill>
            <a:srgbClr val="FFFFFF"/>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23060" y="2084832"/>
            <a:ext cx="411480" cy="320040"/>
          </a:xfrm>
          <a:prstGeom prst="rect">
            <a:avLst/>
          </a:prstGeom>
          <a:noFill/>
        </p:spPr>
        <p:txBody>
          <a:bodyPr wrap="square" lIns="45720" rIns="45720" tIns="18288" bIns="18288" anchor="t">
            <a:spAutoFit/>
          </a:bodyPr>
          <a:lstStyle/>
          <a:p>
            <a:pPr algn="ctr"/>
            <a:r>
              <a:rPr sz="1400" b="1" i="0">
                <a:solidFill>
                  <a:srgbClr val="333D4A"/>
                </a:solidFill>
                <a:latin typeface="Calibri"/>
              </a:rPr>
              <a:t>B</a:t>
            </a:r>
          </a:p>
        </p:txBody>
      </p:sp>
      <p:sp>
        <p:nvSpPr>
          <p:cNvPr id="16" name="TextBox 15"/>
          <p:cNvSpPr txBox="1"/>
          <p:nvPr/>
        </p:nvSpPr>
        <p:spPr>
          <a:xfrm>
            <a:off x="162306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1</a:t>
            </a:r>
          </a:p>
        </p:txBody>
      </p:sp>
      <p:sp>
        <p:nvSpPr>
          <p:cNvPr id="17" name="Rectangle 16"/>
          <p:cNvSpPr/>
          <p:nvPr/>
        </p:nvSpPr>
        <p:spPr>
          <a:xfrm>
            <a:off x="2080260" y="2011680"/>
            <a:ext cx="411480" cy="411480"/>
          </a:xfrm>
          <a:prstGeom prst="rect">
            <a:avLst/>
          </a:prstGeom>
          <a:solidFill>
            <a:srgbClr val="FFFFFF"/>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80260" y="2084832"/>
            <a:ext cx="411480" cy="320040"/>
          </a:xfrm>
          <a:prstGeom prst="rect">
            <a:avLst/>
          </a:prstGeom>
          <a:noFill/>
        </p:spPr>
        <p:txBody>
          <a:bodyPr wrap="square" lIns="45720" rIns="45720" tIns="18288" bIns="18288" anchor="t">
            <a:spAutoFit/>
          </a:bodyPr>
          <a:lstStyle/>
          <a:p>
            <a:pPr algn="ctr"/>
            <a:r>
              <a:rPr sz="1400" b="1" i="0">
                <a:solidFill>
                  <a:srgbClr val="333D4A"/>
                </a:solidFill>
                <a:latin typeface="Calibri"/>
              </a:rPr>
              <a:t>C</a:t>
            </a:r>
          </a:p>
        </p:txBody>
      </p:sp>
      <p:sp>
        <p:nvSpPr>
          <p:cNvPr id="19" name="TextBox 18"/>
          <p:cNvSpPr txBox="1"/>
          <p:nvPr/>
        </p:nvSpPr>
        <p:spPr>
          <a:xfrm>
            <a:off x="208026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2</a:t>
            </a:r>
          </a:p>
        </p:txBody>
      </p:sp>
      <p:sp>
        <p:nvSpPr>
          <p:cNvPr id="20" name="Rectangle 19"/>
          <p:cNvSpPr/>
          <p:nvPr/>
        </p:nvSpPr>
        <p:spPr>
          <a:xfrm>
            <a:off x="2537460" y="2011680"/>
            <a:ext cx="411480" cy="411480"/>
          </a:xfrm>
          <a:prstGeom prst="rect">
            <a:avLst/>
          </a:prstGeom>
          <a:solidFill>
            <a:srgbClr val="E0A81F"/>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37460" y="2084832"/>
            <a:ext cx="411480" cy="320040"/>
          </a:xfrm>
          <a:prstGeom prst="rect">
            <a:avLst/>
          </a:prstGeom>
          <a:noFill/>
        </p:spPr>
        <p:txBody>
          <a:bodyPr wrap="square" lIns="45720" rIns="45720" tIns="18288" bIns="18288" anchor="t">
            <a:spAutoFit/>
          </a:bodyPr>
          <a:lstStyle/>
          <a:p>
            <a:pPr algn="ctr"/>
            <a:r>
              <a:rPr sz="1400" b="1" i="0">
                <a:solidFill>
                  <a:srgbClr val="FFFFFF"/>
                </a:solidFill>
                <a:latin typeface="Calibri"/>
              </a:rPr>
              <a:t>D</a:t>
            </a:r>
          </a:p>
        </p:txBody>
      </p:sp>
      <p:sp>
        <p:nvSpPr>
          <p:cNvPr id="22" name="TextBox 21"/>
          <p:cNvSpPr txBox="1"/>
          <p:nvPr/>
        </p:nvSpPr>
        <p:spPr>
          <a:xfrm>
            <a:off x="253746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3</a:t>
            </a:r>
          </a:p>
        </p:txBody>
      </p:sp>
      <p:sp>
        <p:nvSpPr>
          <p:cNvPr id="23" name="TextBox 22"/>
          <p:cNvSpPr txBox="1"/>
          <p:nvPr/>
        </p:nvSpPr>
        <p:spPr>
          <a:xfrm>
            <a:off x="822960" y="2834640"/>
            <a:ext cx="2468880" cy="548640"/>
          </a:xfrm>
          <a:prstGeom prst="rect">
            <a:avLst/>
          </a:prstGeom>
          <a:noFill/>
        </p:spPr>
        <p:txBody>
          <a:bodyPr wrap="square" lIns="45720" rIns="45720" tIns="18288" bIns="18288" anchor="t">
            <a:spAutoFit/>
          </a:bodyPr>
          <a:lstStyle/>
          <a:p>
            <a:pPr algn="ctr"/>
            <a:r>
              <a:rPr sz="1200" b="1" i="0">
                <a:solidFill>
                  <a:srgbClr val="333D4A"/>
                </a:solidFill>
                <a:latin typeface="Calibri"/>
              </a:rPr>
              <a:t>front: index 0
rear: index 3</a:t>
            </a:r>
          </a:p>
        </p:txBody>
      </p:sp>
      <p:sp>
        <p:nvSpPr>
          <p:cNvPr id="24" name="TextBox 23"/>
          <p:cNvSpPr txBox="1"/>
          <p:nvPr/>
        </p:nvSpPr>
        <p:spPr>
          <a:xfrm>
            <a:off x="932688" y="3429000"/>
            <a:ext cx="2249424" cy="2468880"/>
          </a:xfrm>
          <a:prstGeom prst="rect">
            <a:avLst/>
          </a:prstGeom>
          <a:noFill/>
        </p:spPr>
        <p:txBody>
          <a:bodyPr wrap="square" lIns="45720" rIns="45720">
            <a:spAutoFit/>
          </a:bodyPr>
          <a:lstStyle/>
          <a:p>
            <a:pPr algn="l">
              <a:lnSpc>
                <a:spcPct val="120000"/>
              </a:lnSpc>
              <a:spcAft>
                <a:spcPts val="400"/>
              </a:spcAft>
            </a:pPr>
            <a:r>
              <a:rPr sz="1100" b="1">
                <a:solidFill>
                  <a:srgbClr val="127A8A"/>
                </a:solidFill>
                <a:latin typeface="Calibri"/>
              </a:rPr>
              <a:t>▸  </a:t>
            </a:r>
            <a:r>
              <a:rPr sz="1100" b="1">
                <a:solidFill>
                  <a:srgbClr val="0B2A4A"/>
                </a:solidFill>
                <a:latin typeface="Calibri"/>
              </a:rPr>
              <a:t>Full Queue. </a:t>
            </a:r>
            <a:r>
              <a:rPr sz="1100">
                <a:solidFill>
                  <a:srgbClr val="333D4A"/>
                </a:solidFill>
                <a:latin typeface="Calibri"/>
              </a:rPr>
              <a:t>All 4 slots are occupied.</a:t>
            </a:r>
          </a:p>
          <a:p>
            <a:pPr algn="l">
              <a:lnSpc>
                <a:spcPct val="120000"/>
              </a:lnSpc>
              <a:spcAft>
                <a:spcPts val="400"/>
              </a:spcAft>
            </a:pPr>
            <a:r>
              <a:rPr sz="1100" b="1">
                <a:solidFill>
                  <a:srgbClr val="127A8A"/>
                </a:solidFill>
                <a:latin typeface="Calibri"/>
              </a:rPr>
              <a:t>▸  </a:t>
            </a:r>
            <a:r>
              <a:rPr sz="1100" b="1">
                <a:solidFill>
                  <a:srgbClr val="0B2A4A"/>
                </a:solidFill>
                <a:latin typeface="Calibri"/>
              </a:rPr>
              <a:t>Front points to A </a:t>
            </a:r>
            <a:r>
              <a:rPr sz="1100">
                <a:solidFill>
                  <a:srgbClr val="333D4A"/>
                </a:solidFill>
                <a:latin typeface="Calibri"/>
              </a:rPr>
              <a:t>at index 0.</a:t>
            </a:r>
          </a:p>
          <a:p>
            <a:pPr algn="l">
              <a:lnSpc>
                <a:spcPct val="120000"/>
              </a:lnSpc>
              <a:spcAft>
                <a:spcPts val="400"/>
              </a:spcAft>
            </a:pPr>
            <a:r>
              <a:rPr sz="1100" b="1">
                <a:solidFill>
                  <a:srgbClr val="127A8A"/>
                </a:solidFill>
                <a:latin typeface="Calibri"/>
              </a:rPr>
              <a:t>▸  </a:t>
            </a:r>
            <a:r>
              <a:rPr sz="1100" b="1">
                <a:solidFill>
                  <a:srgbClr val="0B2A4A"/>
                </a:solidFill>
                <a:latin typeface="Calibri"/>
              </a:rPr>
              <a:t>Rear points to D </a:t>
            </a:r>
            <a:r>
              <a:rPr sz="1100">
                <a:solidFill>
                  <a:srgbClr val="333D4A"/>
                </a:solidFill>
                <a:latin typeface="Calibri"/>
              </a:rPr>
              <a:t>at index 3.</a:t>
            </a:r>
          </a:p>
        </p:txBody>
      </p:sp>
      <p:sp>
        <p:nvSpPr>
          <p:cNvPr id="25" name="Rounded Rectangle 24"/>
          <p:cNvSpPr/>
          <p:nvPr/>
        </p:nvSpPr>
        <p:spPr>
          <a:xfrm>
            <a:off x="3520440" y="1371600"/>
            <a:ext cx="2468880" cy="466344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20440" y="1508760"/>
            <a:ext cx="2468880" cy="411480"/>
          </a:xfrm>
          <a:prstGeom prst="rect">
            <a:avLst/>
          </a:prstGeom>
          <a:noFill/>
        </p:spPr>
        <p:txBody>
          <a:bodyPr wrap="square" lIns="45720" rIns="45720" tIns="18288" bIns="18288" anchor="t">
            <a:spAutoFit/>
          </a:bodyPr>
          <a:lstStyle/>
          <a:p>
            <a:pPr algn="ctr"/>
            <a:r>
              <a:rPr sz="1500" b="1" i="0">
                <a:solidFill>
                  <a:srgbClr val="0B2A4A"/>
                </a:solidFill>
                <a:latin typeface="Calibri"/>
              </a:rPr>
              <a:t>2. Dequeue A &amp; B</a:t>
            </a:r>
          </a:p>
        </p:txBody>
      </p:sp>
      <p:sp>
        <p:nvSpPr>
          <p:cNvPr id="27" name="Rectangle 26"/>
          <p:cNvSpPr/>
          <p:nvPr/>
        </p:nvSpPr>
        <p:spPr>
          <a:xfrm>
            <a:off x="3863340" y="2011680"/>
            <a:ext cx="411480" cy="411480"/>
          </a:xfrm>
          <a:prstGeom prst="rect">
            <a:avLst/>
          </a:prstGeom>
          <a:solidFill>
            <a:srgbClr val="FFFFFF"/>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63340" y="2084832"/>
            <a:ext cx="411480" cy="320040"/>
          </a:xfrm>
          <a:prstGeom prst="rect">
            <a:avLst/>
          </a:prstGeom>
          <a:noFill/>
        </p:spPr>
        <p:txBody>
          <a:bodyPr wrap="square" lIns="45720" rIns="45720" tIns="18288" bIns="18288" anchor="t">
            <a:spAutoFit/>
          </a:bodyPr>
          <a:lstStyle/>
          <a:p>
            <a:pPr algn="ctr"/>
            <a:r>
              <a:rPr sz="1400" b="1" i="0">
                <a:solidFill>
                  <a:srgbClr val="333D4A"/>
                </a:solidFill>
                <a:latin typeface="Calibri"/>
              </a:rPr>
              <a:t> </a:t>
            </a:r>
          </a:p>
        </p:txBody>
      </p:sp>
      <p:sp>
        <p:nvSpPr>
          <p:cNvPr id="29" name="TextBox 28"/>
          <p:cNvSpPr txBox="1"/>
          <p:nvPr/>
        </p:nvSpPr>
        <p:spPr>
          <a:xfrm>
            <a:off x="386334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0</a:t>
            </a:r>
          </a:p>
        </p:txBody>
      </p:sp>
      <p:sp>
        <p:nvSpPr>
          <p:cNvPr id="30" name="Rectangle 29"/>
          <p:cNvSpPr/>
          <p:nvPr/>
        </p:nvSpPr>
        <p:spPr>
          <a:xfrm>
            <a:off x="4320540" y="2011680"/>
            <a:ext cx="411480" cy="411480"/>
          </a:xfrm>
          <a:prstGeom prst="rect">
            <a:avLst/>
          </a:prstGeom>
          <a:solidFill>
            <a:srgbClr val="FFFFFF"/>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20540" y="2084832"/>
            <a:ext cx="411480" cy="320040"/>
          </a:xfrm>
          <a:prstGeom prst="rect">
            <a:avLst/>
          </a:prstGeom>
          <a:noFill/>
        </p:spPr>
        <p:txBody>
          <a:bodyPr wrap="square" lIns="45720" rIns="45720" tIns="18288" bIns="18288" anchor="t">
            <a:spAutoFit/>
          </a:bodyPr>
          <a:lstStyle/>
          <a:p>
            <a:pPr algn="ctr"/>
            <a:r>
              <a:rPr sz="1400" b="1" i="0">
                <a:solidFill>
                  <a:srgbClr val="333D4A"/>
                </a:solidFill>
                <a:latin typeface="Calibri"/>
              </a:rPr>
              <a:t> </a:t>
            </a:r>
          </a:p>
        </p:txBody>
      </p:sp>
      <p:sp>
        <p:nvSpPr>
          <p:cNvPr id="32" name="TextBox 31"/>
          <p:cNvSpPr txBox="1"/>
          <p:nvPr/>
        </p:nvSpPr>
        <p:spPr>
          <a:xfrm>
            <a:off x="432054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1</a:t>
            </a:r>
          </a:p>
        </p:txBody>
      </p:sp>
      <p:sp>
        <p:nvSpPr>
          <p:cNvPr id="33" name="Rectangle 32"/>
          <p:cNvSpPr/>
          <p:nvPr/>
        </p:nvSpPr>
        <p:spPr>
          <a:xfrm>
            <a:off x="4777740" y="2011680"/>
            <a:ext cx="411480" cy="411480"/>
          </a:xfrm>
          <a:prstGeom prst="rect">
            <a:avLst/>
          </a:prstGeom>
          <a:solidFill>
            <a:srgbClr val="127A8A"/>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77740" y="2084832"/>
            <a:ext cx="411480" cy="320040"/>
          </a:xfrm>
          <a:prstGeom prst="rect">
            <a:avLst/>
          </a:prstGeom>
          <a:noFill/>
        </p:spPr>
        <p:txBody>
          <a:bodyPr wrap="square" lIns="45720" rIns="45720" tIns="18288" bIns="18288" anchor="t">
            <a:spAutoFit/>
          </a:bodyPr>
          <a:lstStyle/>
          <a:p>
            <a:pPr algn="ctr"/>
            <a:r>
              <a:rPr sz="1400" b="1" i="0">
                <a:solidFill>
                  <a:srgbClr val="FFFFFF"/>
                </a:solidFill>
                <a:latin typeface="Calibri"/>
              </a:rPr>
              <a:t>C</a:t>
            </a:r>
          </a:p>
        </p:txBody>
      </p:sp>
      <p:sp>
        <p:nvSpPr>
          <p:cNvPr id="35" name="TextBox 34"/>
          <p:cNvSpPr txBox="1"/>
          <p:nvPr/>
        </p:nvSpPr>
        <p:spPr>
          <a:xfrm>
            <a:off x="477774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2</a:t>
            </a:r>
          </a:p>
        </p:txBody>
      </p:sp>
      <p:sp>
        <p:nvSpPr>
          <p:cNvPr id="36" name="Rectangle 35"/>
          <p:cNvSpPr/>
          <p:nvPr/>
        </p:nvSpPr>
        <p:spPr>
          <a:xfrm>
            <a:off x="5234940" y="2011680"/>
            <a:ext cx="411480" cy="411480"/>
          </a:xfrm>
          <a:prstGeom prst="rect">
            <a:avLst/>
          </a:prstGeom>
          <a:solidFill>
            <a:srgbClr val="E0A81F"/>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34940" y="2084832"/>
            <a:ext cx="411480" cy="320040"/>
          </a:xfrm>
          <a:prstGeom prst="rect">
            <a:avLst/>
          </a:prstGeom>
          <a:noFill/>
        </p:spPr>
        <p:txBody>
          <a:bodyPr wrap="square" lIns="45720" rIns="45720" tIns="18288" bIns="18288" anchor="t">
            <a:spAutoFit/>
          </a:bodyPr>
          <a:lstStyle/>
          <a:p>
            <a:pPr algn="ctr"/>
            <a:r>
              <a:rPr sz="1400" b="1" i="0">
                <a:solidFill>
                  <a:srgbClr val="FFFFFF"/>
                </a:solidFill>
                <a:latin typeface="Calibri"/>
              </a:rPr>
              <a:t>D</a:t>
            </a:r>
          </a:p>
        </p:txBody>
      </p:sp>
      <p:sp>
        <p:nvSpPr>
          <p:cNvPr id="38" name="TextBox 37"/>
          <p:cNvSpPr txBox="1"/>
          <p:nvPr/>
        </p:nvSpPr>
        <p:spPr>
          <a:xfrm>
            <a:off x="523494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3</a:t>
            </a:r>
          </a:p>
        </p:txBody>
      </p:sp>
      <p:sp>
        <p:nvSpPr>
          <p:cNvPr id="39" name="TextBox 38"/>
          <p:cNvSpPr txBox="1"/>
          <p:nvPr/>
        </p:nvSpPr>
        <p:spPr>
          <a:xfrm>
            <a:off x="3520440" y="2834640"/>
            <a:ext cx="2468880" cy="548640"/>
          </a:xfrm>
          <a:prstGeom prst="rect">
            <a:avLst/>
          </a:prstGeom>
          <a:noFill/>
        </p:spPr>
        <p:txBody>
          <a:bodyPr wrap="square" lIns="45720" rIns="45720" tIns="18288" bIns="18288" anchor="t">
            <a:spAutoFit/>
          </a:bodyPr>
          <a:lstStyle/>
          <a:p>
            <a:pPr algn="ctr"/>
            <a:r>
              <a:rPr sz="1200" b="1" i="0">
                <a:solidFill>
                  <a:srgbClr val="333D4A"/>
                </a:solidFill>
                <a:latin typeface="Calibri"/>
              </a:rPr>
              <a:t>front: index 2
rear: index 3</a:t>
            </a:r>
          </a:p>
        </p:txBody>
      </p:sp>
      <p:sp>
        <p:nvSpPr>
          <p:cNvPr id="40" name="TextBox 39"/>
          <p:cNvSpPr txBox="1"/>
          <p:nvPr/>
        </p:nvSpPr>
        <p:spPr>
          <a:xfrm>
            <a:off x="3630168" y="3429000"/>
            <a:ext cx="2249424" cy="2468880"/>
          </a:xfrm>
          <a:prstGeom prst="rect">
            <a:avLst/>
          </a:prstGeom>
          <a:noFill/>
        </p:spPr>
        <p:txBody>
          <a:bodyPr wrap="square" lIns="45720" rIns="45720">
            <a:spAutoFit/>
          </a:bodyPr>
          <a:lstStyle/>
          <a:p>
            <a:pPr algn="l">
              <a:lnSpc>
                <a:spcPct val="120000"/>
              </a:lnSpc>
              <a:spcAft>
                <a:spcPts val="400"/>
              </a:spcAft>
            </a:pPr>
            <a:r>
              <a:rPr sz="1100" b="1">
                <a:solidFill>
                  <a:srgbClr val="127A8A"/>
                </a:solidFill>
                <a:latin typeface="Calibri"/>
              </a:rPr>
              <a:t>▸  </a:t>
            </a:r>
            <a:r>
              <a:rPr sz="1100" b="1">
                <a:solidFill>
                  <a:srgbClr val="0B2A4A"/>
                </a:solidFill>
                <a:latin typeface="Calibri"/>
              </a:rPr>
              <a:t>No shifting. </a:t>
            </a:r>
            <a:r>
              <a:rPr sz="1100">
                <a:solidFill>
                  <a:srgbClr val="333D4A"/>
                </a:solidFill>
                <a:latin typeface="Calibri"/>
              </a:rPr>
              <a:t>We do not shift elements.</a:t>
            </a:r>
          </a:p>
          <a:p>
            <a:pPr algn="l">
              <a:lnSpc>
                <a:spcPct val="120000"/>
              </a:lnSpc>
              <a:spcAft>
                <a:spcPts val="400"/>
              </a:spcAft>
            </a:pPr>
            <a:r>
              <a:rPr sz="1100" b="1">
                <a:solidFill>
                  <a:srgbClr val="127A8A"/>
                </a:solidFill>
                <a:latin typeface="Calibri"/>
              </a:rPr>
              <a:t>▸  </a:t>
            </a:r>
            <a:r>
              <a:rPr sz="1100" b="1">
                <a:solidFill>
                  <a:srgbClr val="0B2A4A"/>
                </a:solidFill>
                <a:latin typeface="Calibri"/>
              </a:rPr>
              <a:t>Front moves </a:t>
            </a:r>
            <a:r>
              <a:rPr sz="1100">
                <a:solidFill>
                  <a:srgbClr val="333D4A"/>
                </a:solidFill>
                <a:latin typeface="Calibri"/>
              </a:rPr>
              <a:t>from 0 to 1, then to 2.</a:t>
            </a:r>
          </a:p>
          <a:p>
            <a:pPr algn="l">
              <a:lnSpc>
                <a:spcPct val="120000"/>
              </a:lnSpc>
              <a:spcAft>
                <a:spcPts val="400"/>
              </a:spcAft>
            </a:pPr>
            <a:r>
              <a:rPr sz="1100" b="1">
                <a:solidFill>
                  <a:srgbClr val="127A8A"/>
                </a:solidFill>
                <a:latin typeface="Calibri"/>
              </a:rPr>
              <a:t>▸  </a:t>
            </a:r>
            <a:r>
              <a:rPr sz="1100" b="1">
                <a:solidFill>
                  <a:srgbClr val="0B2A4A"/>
                </a:solidFill>
                <a:latin typeface="Calibri"/>
              </a:rPr>
              <a:t>Empty space </a:t>
            </a:r>
            <a:r>
              <a:rPr sz="1100">
                <a:solidFill>
                  <a:srgbClr val="333D4A"/>
                </a:solidFill>
                <a:latin typeface="Calibri"/>
              </a:rPr>
              <a:t>created at slots 0 &amp; 1.</a:t>
            </a:r>
          </a:p>
        </p:txBody>
      </p:sp>
      <p:sp>
        <p:nvSpPr>
          <p:cNvPr id="41" name="Rounded Rectangle 40"/>
          <p:cNvSpPr/>
          <p:nvPr/>
        </p:nvSpPr>
        <p:spPr>
          <a:xfrm>
            <a:off x="6217920" y="1371600"/>
            <a:ext cx="2468880" cy="466344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1508760"/>
            <a:ext cx="2468880" cy="411480"/>
          </a:xfrm>
          <a:prstGeom prst="rect">
            <a:avLst/>
          </a:prstGeom>
          <a:noFill/>
        </p:spPr>
        <p:txBody>
          <a:bodyPr wrap="square" lIns="45720" rIns="45720" tIns="18288" bIns="18288" anchor="t">
            <a:spAutoFit/>
          </a:bodyPr>
          <a:lstStyle/>
          <a:p>
            <a:pPr algn="ctr"/>
            <a:r>
              <a:rPr sz="1500" b="1" i="0">
                <a:solidFill>
                  <a:srgbClr val="0B2A4A"/>
                </a:solidFill>
                <a:latin typeface="Calibri"/>
              </a:rPr>
              <a:t>3. Enqueue E (Wrap)</a:t>
            </a:r>
          </a:p>
        </p:txBody>
      </p:sp>
      <p:sp>
        <p:nvSpPr>
          <p:cNvPr id="43" name="Rectangle 42"/>
          <p:cNvSpPr/>
          <p:nvPr/>
        </p:nvSpPr>
        <p:spPr>
          <a:xfrm>
            <a:off x="6560820" y="2011680"/>
            <a:ext cx="411480" cy="411480"/>
          </a:xfrm>
          <a:prstGeom prst="rect">
            <a:avLst/>
          </a:prstGeom>
          <a:solidFill>
            <a:srgbClr val="E0A81F"/>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60820" y="2084832"/>
            <a:ext cx="411480" cy="320040"/>
          </a:xfrm>
          <a:prstGeom prst="rect">
            <a:avLst/>
          </a:prstGeom>
          <a:noFill/>
        </p:spPr>
        <p:txBody>
          <a:bodyPr wrap="square" lIns="45720" rIns="45720" tIns="18288" bIns="18288" anchor="t">
            <a:spAutoFit/>
          </a:bodyPr>
          <a:lstStyle/>
          <a:p>
            <a:pPr algn="ctr"/>
            <a:r>
              <a:rPr sz="1400" b="1" i="0">
                <a:solidFill>
                  <a:srgbClr val="FFFFFF"/>
                </a:solidFill>
                <a:latin typeface="Calibri"/>
              </a:rPr>
              <a:t>E</a:t>
            </a:r>
          </a:p>
        </p:txBody>
      </p:sp>
      <p:sp>
        <p:nvSpPr>
          <p:cNvPr id="45" name="TextBox 44"/>
          <p:cNvSpPr txBox="1"/>
          <p:nvPr/>
        </p:nvSpPr>
        <p:spPr>
          <a:xfrm>
            <a:off x="656082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0</a:t>
            </a:r>
          </a:p>
        </p:txBody>
      </p:sp>
      <p:sp>
        <p:nvSpPr>
          <p:cNvPr id="46" name="Rectangle 45"/>
          <p:cNvSpPr/>
          <p:nvPr/>
        </p:nvSpPr>
        <p:spPr>
          <a:xfrm>
            <a:off x="7018020" y="2011680"/>
            <a:ext cx="411480" cy="411480"/>
          </a:xfrm>
          <a:prstGeom prst="rect">
            <a:avLst/>
          </a:prstGeom>
          <a:solidFill>
            <a:srgbClr val="FFFFFF"/>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18020" y="2084832"/>
            <a:ext cx="411480" cy="320040"/>
          </a:xfrm>
          <a:prstGeom prst="rect">
            <a:avLst/>
          </a:prstGeom>
          <a:noFill/>
        </p:spPr>
        <p:txBody>
          <a:bodyPr wrap="square" lIns="45720" rIns="45720" tIns="18288" bIns="18288" anchor="t">
            <a:spAutoFit/>
          </a:bodyPr>
          <a:lstStyle/>
          <a:p>
            <a:pPr algn="ctr"/>
            <a:r>
              <a:rPr sz="1400" b="1" i="0">
                <a:solidFill>
                  <a:srgbClr val="333D4A"/>
                </a:solidFill>
                <a:latin typeface="Calibri"/>
              </a:rPr>
              <a:t> </a:t>
            </a:r>
          </a:p>
        </p:txBody>
      </p:sp>
      <p:sp>
        <p:nvSpPr>
          <p:cNvPr id="48" name="TextBox 47"/>
          <p:cNvSpPr txBox="1"/>
          <p:nvPr/>
        </p:nvSpPr>
        <p:spPr>
          <a:xfrm>
            <a:off x="701802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1</a:t>
            </a:r>
          </a:p>
        </p:txBody>
      </p:sp>
      <p:sp>
        <p:nvSpPr>
          <p:cNvPr id="49" name="Rectangle 48"/>
          <p:cNvSpPr/>
          <p:nvPr/>
        </p:nvSpPr>
        <p:spPr>
          <a:xfrm>
            <a:off x="7475220" y="2011680"/>
            <a:ext cx="411480" cy="411480"/>
          </a:xfrm>
          <a:prstGeom prst="rect">
            <a:avLst/>
          </a:prstGeom>
          <a:solidFill>
            <a:srgbClr val="127A8A"/>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75220" y="2084832"/>
            <a:ext cx="411480" cy="320040"/>
          </a:xfrm>
          <a:prstGeom prst="rect">
            <a:avLst/>
          </a:prstGeom>
          <a:noFill/>
        </p:spPr>
        <p:txBody>
          <a:bodyPr wrap="square" lIns="45720" rIns="45720" tIns="18288" bIns="18288" anchor="t">
            <a:spAutoFit/>
          </a:bodyPr>
          <a:lstStyle/>
          <a:p>
            <a:pPr algn="ctr"/>
            <a:r>
              <a:rPr sz="1400" b="1" i="0">
                <a:solidFill>
                  <a:srgbClr val="FFFFFF"/>
                </a:solidFill>
                <a:latin typeface="Calibri"/>
              </a:rPr>
              <a:t>C</a:t>
            </a:r>
          </a:p>
        </p:txBody>
      </p:sp>
      <p:sp>
        <p:nvSpPr>
          <p:cNvPr id="51" name="TextBox 50"/>
          <p:cNvSpPr txBox="1"/>
          <p:nvPr/>
        </p:nvSpPr>
        <p:spPr>
          <a:xfrm>
            <a:off x="747522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2</a:t>
            </a:r>
          </a:p>
        </p:txBody>
      </p:sp>
      <p:sp>
        <p:nvSpPr>
          <p:cNvPr id="52" name="Rectangle 51"/>
          <p:cNvSpPr/>
          <p:nvPr/>
        </p:nvSpPr>
        <p:spPr>
          <a:xfrm>
            <a:off x="7932420" y="2011680"/>
            <a:ext cx="411480" cy="411480"/>
          </a:xfrm>
          <a:prstGeom prst="rect">
            <a:avLst/>
          </a:prstGeom>
          <a:solidFill>
            <a:srgbClr val="FFFFFF"/>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932420" y="2084832"/>
            <a:ext cx="411480" cy="320040"/>
          </a:xfrm>
          <a:prstGeom prst="rect">
            <a:avLst/>
          </a:prstGeom>
          <a:noFill/>
        </p:spPr>
        <p:txBody>
          <a:bodyPr wrap="square" lIns="45720" rIns="45720" tIns="18288" bIns="18288" anchor="t">
            <a:spAutoFit/>
          </a:bodyPr>
          <a:lstStyle/>
          <a:p>
            <a:pPr algn="ctr"/>
            <a:r>
              <a:rPr sz="1400" b="1" i="0">
                <a:solidFill>
                  <a:srgbClr val="333D4A"/>
                </a:solidFill>
                <a:latin typeface="Calibri"/>
              </a:rPr>
              <a:t>D</a:t>
            </a:r>
          </a:p>
        </p:txBody>
      </p:sp>
      <p:sp>
        <p:nvSpPr>
          <p:cNvPr id="54" name="TextBox 53"/>
          <p:cNvSpPr txBox="1"/>
          <p:nvPr/>
        </p:nvSpPr>
        <p:spPr>
          <a:xfrm>
            <a:off x="793242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3</a:t>
            </a:r>
          </a:p>
        </p:txBody>
      </p:sp>
      <p:sp>
        <p:nvSpPr>
          <p:cNvPr id="55" name="TextBox 54"/>
          <p:cNvSpPr txBox="1"/>
          <p:nvPr/>
        </p:nvSpPr>
        <p:spPr>
          <a:xfrm>
            <a:off x="6217920" y="2834640"/>
            <a:ext cx="2468880" cy="548640"/>
          </a:xfrm>
          <a:prstGeom prst="rect">
            <a:avLst/>
          </a:prstGeom>
          <a:noFill/>
        </p:spPr>
        <p:txBody>
          <a:bodyPr wrap="square" lIns="45720" rIns="45720" tIns="18288" bIns="18288" anchor="t">
            <a:spAutoFit/>
          </a:bodyPr>
          <a:lstStyle/>
          <a:p>
            <a:pPr algn="ctr"/>
            <a:r>
              <a:rPr sz="1200" b="1" i="0">
                <a:solidFill>
                  <a:srgbClr val="333D4A"/>
                </a:solidFill>
                <a:latin typeface="Calibri"/>
              </a:rPr>
              <a:t>front: index 2
rear: index 0</a:t>
            </a:r>
          </a:p>
        </p:txBody>
      </p:sp>
      <p:sp>
        <p:nvSpPr>
          <p:cNvPr id="56" name="TextBox 55"/>
          <p:cNvSpPr txBox="1"/>
          <p:nvPr/>
        </p:nvSpPr>
        <p:spPr>
          <a:xfrm>
            <a:off x="6327648" y="3429000"/>
            <a:ext cx="2249424" cy="2468880"/>
          </a:xfrm>
          <a:prstGeom prst="rect">
            <a:avLst/>
          </a:prstGeom>
          <a:noFill/>
        </p:spPr>
        <p:txBody>
          <a:bodyPr wrap="square" lIns="45720" rIns="45720">
            <a:spAutoFit/>
          </a:bodyPr>
          <a:lstStyle/>
          <a:p>
            <a:pPr algn="l">
              <a:lnSpc>
                <a:spcPct val="120000"/>
              </a:lnSpc>
              <a:spcAft>
                <a:spcPts val="400"/>
              </a:spcAft>
            </a:pPr>
            <a:r>
              <a:rPr sz="1100" b="1">
                <a:solidFill>
                  <a:srgbClr val="127A8A"/>
                </a:solidFill>
                <a:latin typeface="Calibri"/>
              </a:rPr>
              <a:t>▸  </a:t>
            </a:r>
            <a:r>
              <a:rPr sz="1100" b="1">
                <a:solidFill>
                  <a:srgbClr val="0B2A4A"/>
                </a:solidFill>
                <a:latin typeface="Calibri"/>
              </a:rPr>
              <a:t>Space Reused. </a:t>
            </a:r>
            <a:r>
              <a:rPr sz="1100">
                <a:solidFill>
                  <a:srgbClr val="333D4A"/>
                </a:solidFill>
                <a:latin typeface="Calibri"/>
              </a:rPr>
              <a:t>We place E at index 0.</a:t>
            </a:r>
          </a:p>
          <a:p>
            <a:pPr algn="l">
              <a:lnSpc>
                <a:spcPct val="120000"/>
              </a:lnSpc>
              <a:spcAft>
                <a:spcPts val="400"/>
              </a:spcAft>
            </a:pPr>
            <a:r>
              <a:rPr sz="1100" b="1">
                <a:solidFill>
                  <a:srgbClr val="127A8A"/>
                </a:solidFill>
                <a:latin typeface="Calibri"/>
              </a:rPr>
              <a:t>▸  </a:t>
            </a:r>
            <a:r>
              <a:rPr sz="1100" b="1">
                <a:solidFill>
                  <a:srgbClr val="0B2A4A"/>
                </a:solidFill>
                <a:latin typeface="Calibri"/>
              </a:rPr>
              <a:t>Rear wraps: </a:t>
            </a:r>
            <a:r>
              <a:rPr sz="1100">
                <a:solidFill>
                  <a:srgbClr val="333D4A"/>
                </a:solidFill>
                <a:latin typeface="Calibri"/>
              </a:rPr>
              <a:t>(3 + 1) % 4 = 0.</a:t>
            </a:r>
          </a:p>
          <a:p>
            <a:pPr algn="l">
              <a:lnSpc>
                <a:spcPct val="120000"/>
              </a:lnSpc>
              <a:spcAft>
                <a:spcPts val="400"/>
              </a:spcAft>
            </a:pPr>
            <a:r>
              <a:rPr sz="1100" b="1">
                <a:solidFill>
                  <a:srgbClr val="127A8A"/>
                </a:solidFill>
                <a:latin typeface="Calibri"/>
              </a:rPr>
              <a:t>▸  </a:t>
            </a:r>
            <a:r>
              <a:rPr sz="1100" b="1">
                <a:solidFill>
                  <a:srgbClr val="0B2A4A"/>
                </a:solidFill>
                <a:latin typeface="Calibri"/>
              </a:rPr>
              <a:t>Queue is now </a:t>
            </a:r>
            <a:r>
              <a:rPr sz="1100">
                <a:solidFill>
                  <a:srgbClr val="333D4A"/>
                </a:solidFill>
                <a:latin typeface="Calibri"/>
              </a:rPr>
              <a:t>divided across boundaries.</a:t>
            </a:r>
          </a:p>
        </p:txBody>
      </p:sp>
      <p:sp>
        <p:nvSpPr>
          <p:cNvPr id="57" name="Rounded Rectangle 56"/>
          <p:cNvSpPr/>
          <p:nvPr/>
        </p:nvSpPr>
        <p:spPr>
          <a:xfrm>
            <a:off x="8915400" y="1371600"/>
            <a:ext cx="2468880" cy="4663440"/>
          </a:xfrm>
          <a:prstGeom prst="round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915400" y="1508760"/>
            <a:ext cx="2468880" cy="411480"/>
          </a:xfrm>
          <a:prstGeom prst="rect">
            <a:avLst/>
          </a:prstGeom>
          <a:noFill/>
        </p:spPr>
        <p:txBody>
          <a:bodyPr wrap="square" lIns="45720" rIns="45720" tIns="18288" bIns="18288" anchor="t">
            <a:spAutoFit/>
          </a:bodyPr>
          <a:lstStyle/>
          <a:p>
            <a:pPr algn="ctr"/>
            <a:r>
              <a:rPr sz="1500" b="1" i="0">
                <a:solidFill>
                  <a:srgbClr val="0B2A4A"/>
                </a:solidFill>
                <a:latin typeface="Calibri"/>
              </a:rPr>
              <a:t>4. Dequeue C &amp; D</a:t>
            </a:r>
          </a:p>
        </p:txBody>
      </p:sp>
      <p:sp>
        <p:nvSpPr>
          <p:cNvPr id="59" name="Rectangle 58"/>
          <p:cNvSpPr/>
          <p:nvPr/>
        </p:nvSpPr>
        <p:spPr>
          <a:xfrm>
            <a:off x="9258300" y="2011680"/>
            <a:ext cx="411480" cy="411480"/>
          </a:xfrm>
          <a:prstGeom prst="rect">
            <a:avLst/>
          </a:prstGeom>
          <a:solidFill>
            <a:srgbClr val="6A1B9A"/>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258300" y="2084832"/>
            <a:ext cx="411480" cy="320040"/>
          </a:xfrm>
          <a:prstGeom prst="rect">
            <a:avLst/>
          </a:prstGeom>
          <a:noFill/>
        </p:spPr>
        <p:txBody>
          <a:bodyPr wrap="square" lIns="45720" rIns="45720" tIns="18288" bIns="18288" anchor="t">
            <a:spAutoFit/>
          </a:bodyPr>
          <a:lstStyle/>
          <a:p>
            <a:pPr algn="ctr"/>
            <a:r>
              <a:rPr sz="1400" b="1" i="0">
                <a:solidFill>
                  <a:srgbClr val="FFFFFF"/>
                </a:solidFill>
                <a:latin typeface="Calibri"/>
              </a:rPr>
              <a:t>E</a:t>
            </a:r>
          </a:p>
        </p:txBody>
      </p:sp>
      <p:sp>
        <p:nvSpPr>
          <p:cNvPr id="61" name="TextBox 60"/>
          <p:cNvSpPr txBox="1"/>
          <p:nvPr/>
        </p:nvSpPr>
        <p:spPr>
          <a:xfrm>
            <a:off x="925830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0</a:t>
            </a:r>
          </a:p>
        </p:txBody>
      </p:sp>
      <p:sp>
        <p:nvSpPr>
          <p:cNvPr id="62" name="Rectangle 61"/>
          <p:cNvSpPr/>
          <p:nvPr/>
        </p:nvSpPr>
        <p:spPr>
          <a:xfrm>
            <a:off x="9715500" y="2011680"/>
            <a:ext cx="411480" cy="411480"/>
          </a:xfrm>
          <a:prstGeom prst="rect">
            <a:avLst/>
          </a:prstGeom>
          <a:solidFill>
            <a:srgbClr val="FFFFFF"/>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15500" y="2084832"/>
            <a:ext cx="411480" cy="320040"/>
          </a:xfrm>
          <a:prstGeom prst="rect">
            <a:avLst/>
          </a:prstGeom>
          <a:noFill/>
        </p:spPr>
        <p:txBody>
          <a:bodyPr wrap="square" lIns="45720" rIns="45720" tIns="18288" bIns="18288" anchor="t">
            <a:spAutoFit/>
          </a:bodyPr>
          <a:lstStyle/>
          <a:p>
            <a:pPr algn="ctr"/>
            <a:r>
              <a:rPr sz="1400" b="1" i="0">
                <a:solidFill>
                  <a:srgbClr val="333D4A"/>
                </a:solidFill>
                <a:latin typeface="Calibri"/>
              </a:rPr>
              <a:t> </a:t>
            </a:r>
          </a:p>
        </p:txBody>
      </p:sp>
      <p:sp>
        <p:nvSpPr>
          <p:cNvPr id="64" name="TextBox 63"/>
          <p:cNvSpPr txBox="1"/>
          <p:nvPr/>
        </p:nvSpPr>
        <p:spPr>
          <a:xfrm>
            <a:off x="971550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1</a:t>
            </a:r>
          </a:p>
        </p:txBody>
      </p:sp>
      <p:sp>
        <p:nvSpPr>
          <p:cNvPr id="65" name="Rectangle 64"/>
          <p:cNvSpPr/>
          <p:nvPr/>
        </p:nvSpPr>
        <p:spPr>
          <a:xfrm>
            <a:off x="10172700" y="2011680"/>
            <a:ext cx="411480" cy="411480"/>
          </a:xfrm>
          <a:prstGeom prst="rect">
            <a:avLst/>
          </a:prstGeom>
          <a:solidFill>
            <a:srgbClr val="FFFFFF"/>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72700" y="2084832"/>
            <a:ext cx="411480" cy="320040"/>
          </a:xfrm>
          <a:prstGeom prst="rect">
            <a:avLst/>
          </a:prstGeom>
          <a:noFill/>
        </p:spPr>
        <p:txBody>
          <a:bodyPr wrap="square" lIns="45720" rIns="45720" tIns="18288" bIns="18288" anchor="t">
            <a:spAutoFit/>
          </a:bodyPr>
          <a:lstStyle/>
          <a:p>
            <a:pPr algn="ctr"/>
            <a:r>
              <a:rPr sz="1400" b="1" i="0">
                <a:solidFill>
                  <a:srgbClr val="333D4A"/>
                </a:solidFill>
                <a:latin typeface="Calibri"/>
              </a:rPr>
              <a:t> </a:t>
            </a:r>
          </a:p>
        </p:txBody>
      </p:sp>
      <p:sp>
        <p:nvSpPr>
          <p:cNvPr id="67" name="TextBox 66"/>
          <p:cNvSpPr txBox="1"/>
          <p:nvPr/>
        </p:nvSpPr>
        <p:spPr>
          <a:xfrm>
            <a:off x="1017270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2</a:t>
            </a:r>
          </a:p>
        </p:txBody>
      </p:sp>
      <p:sp>
        <p:nvSpPr>
          <p:cNvPr id="68" name="Rectangle 67"/>
          <p:cNvSpPr/>
          <p:nvPr/>
        </p:nvSpPr>
        <p:spPr>
          <a:xfrm>
            <a:off x="10629900" y="2011680"/>
            <a:ext cx="411480" cy="411480"/>
          </a:xfrm>
          <a:prstGeom prst="rect">
            <a:avLst/>
          </a:prstGeom>
          <a:solidFill>
            <a:srgbClr val="FFFFFF"/>
          </a:solidFill>
          <a:ln w="12700">
            <a:solidFill>
              <a:srgbClr val="333D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629900" y="2084832"/>
            <a:ext cx="411480" cy="320040"/>
          </a:xfrm>
          <a:prstGeom prst="rect">
            <a:avLst/>
          </a:prstGeom>
          <a:noFill/>
        </p:spPr>
        <p:txBody>
          <a:bodyPr wrap="square" lIns="45720" rIns="45720" tIns="18288" bIns="18288" anchor="t">
            <a:spAutoFit/>
          </a:bodyPr>
          <a:lstStyle/>
          <a:p>
            <a:pPr algn="ctr"/>
            <a:r>
              <a:rPr sz="1400" b="1" i="0">
                <a:solidFill>
                  <a:srgbClr val="333D4A"/>
                </a:solidFill>
                <a:latin typeface="Calibri"/>
              </a:rPr>
              <a:t> </a:t>
            </a:r>
          </a:p>
        </p:txBody>
      </p:sp>
      <p:sp>
        <p:nvSpPr>
          <p:cNvPr id="70" name="TextBox 69"/>
          <p:cNvSpPr txBox="1"/>
          <p:nvPr/>
        </p:nvSpPr>
        <p:spPr>
          <a:xfrm>
            <a:off x="10629900" y="2450592"/>
            <a:ext cx="411480" cy="228600"/>
          </a:xfrm>
          <a:prstGeom prst="rect">
            <a:avLst/>
          </a:prstGeom>
          <a:noFill/>
        </p:spPr>
        <p:txBody>
          <a:bodyPr wrap="square" lIns="45720" rIns="45720" tIns="18288" bIns="18288" anchor="t">
            <a:spAutoFit/>
          </a:bodyPr>
          <a:lstStyle/>
          <a:p>
            <a:pPr algn="ctr"/>
            <a:r>
              <a:rPr sz="900" b="0" i="0">
                <a:solidFill>
                  <a:srgbClr val="333D4A"/>
                </a:solidFill>
                <a:latin typeface="Calibri"/>
              </a:rPr>
              <a:t>3</a:t>
            </a:r>
          </a:p>
        </p:txBody>
      </p:sp>
      <p:sp>
        <p:nvSpPr>
          <p:cNvPr id="71" name="TextBox 70"/>
          <p:cNvSpPr txBox="1"/>
          <p:nvPr/>
        </p:nvSpPr>
        <p:spPr>
          <a:xfrm>
            <a:off x="8915400" y="2834640"/>
            <a:ext cx="2468880" cy="548640"/>
          </a:xfrm>
          <a:prstGeom prst="rect">
            <a:avLst/>
          </a:prstGeom>
          <a:noFill/>
        </p:spPr>
        <p:txBody>
          <a:bodyPr wrap="square" lIns="45720" rIns="45720" tIns="18288" bIns="18288" anchor="t">
            <a:spAutoFit/>
          </a:bodyPr>
          <a:lstStyle/>
          <a:p>
            <a:pPr algn="ctr"/>
            <a:r>
              <a:rPr sz="1200" b="1" i="0">
                <a:solidFill>
                  <a:srgbClr val="333D4A"/>
                </a:solidFill>
                <a:latin typeface="Calibri"/>
              </a:rPr>
              <a:t>front: index 0
rear: index 0</a:t>
            </a:r>
          </a:p>
        </p:txBody>
      </p:sp>
      <p:sp>
        <p:nvSpPr>
          <p:cNvPr id="72" name="TextBox 71"/>
          <p:cNvSpPr txBox="1"/>
          <p:nvPr/>
        </p:nvSpPr>
        <p:spPr>
          <a:xfrm>
            <a:off x="9025128" y="3429000"/>
            <a:ext cx="2249424" cy="2468880"/>
          </a:xfrm>
          <a:prstGeom prst="rect">
            <a:avLst/>
          </a:prstGeom>
          <a:noFill/>
        </p:spPr>
        <p:txBody>
          <a:bodyPr wrap="square" lIns="45720" rIns="45720">
            <a:spAutoFit/>
          </a:bodyPr>
          <a:lstStyle/>
          <a:p>
            <a:pPr algn="l">
              <a:lnSpc>
                <a:spcPct val="120000"/>
              </a:lnSpc>
              <a:spcAft>
                <a:spcPts val="400"/>
              </a:spcAft>
            </a:pPr>
            <a:r>
              <a:rPr sz="1100" b="1">
                <a:solidFill>
                  <a:srgbClr val="127A8A"/>
                </a:solidFill>
                <a:latin typeface="Calibri"/>
              </a:rPr>
              <a:t>▸  </a:t>
            </a:r>
            <a:r>
              <a:rPr sz="1100" b="1">
                <a:solidFill>
                  <a:srgbClr val="0B2A4A"/>
                </a:solidFill>
                <a:latin typeface="Calibri"/>
              </a:rPr>
              <a:t>Front wraps. </a:t>
            </a:r>
            <a:r>
              <a:rPr sz="1100">
                <a:solidFill>
                  <a:srgbClr val="333D4A"/>
                </a:solidFill>
                <a:latin typeface="Calibri"/>
              </a:rPr>
              <a:t>C at 2, then D at 3 are removed.</a:t>
            </a:r>
          </a:p>
          <a:p>
            <a:pPr algn="l">
              <a:lnSpc>
                <a:spcPct val="120000"/>
              </a:lnSpc>
              <a:spcAft>
                <a:spcPts val="400"/>
              </a:spcAft>
            </a:pPr>
            <a:r>
              <a:rPr sz="1100" b="1">
                <a:solidFill>
                  <a:srgbClr val="127A8A"/>
                </a:solidFill>
                <a:latin typeface="Calibri"/>
              </a:rPr>
              <a:t>▸  </a:t>
            </a:r>
            <a:r>
              <a:rPr sz="1100" b="1">
                <a:solidFill>
                  <a:srgbClr val="0B2A4A"/>
                </a:solidFill>
                <a:latin typeface="Calibri"/>
              </a:rPr>
              <a:t>Modulo wrapping: </a:t>
            </a:r>
            <a:r>
              <a:rPr sz="1100">
                <a:solidFill>
                  <a:srgbClr val="333D4A"/>
                </a:solidFill>
                <a:latin typeface="Calibri"/>
              </a:rPr>
              <a:t>(3 + 1) % 4 = 0.</a:t>
            </a:r>
          </a:p>
          <a:p>
            <a:pPr algn="l">
              <a:lnSpc>
                <a:spcPct val="120000"/>
              </a:lnSpc>
              <a:spcAft>
                <a:spcPts val="400"/>
              </a:spcAft>
            </a:pPr>
            <a:r>
              <a:rPr sz="1100" b="1">
                <a:solidFill>
                  <a:srgbClr val="127A8A"/>
                </a:solidFill>
                <a:latin typeface="Calibri"/>
              </a:rPr>
              <a:t>▸  </a:t>
            </a:r>
            <a:r>
              <a:rPr sz="1100" b="1">
                <a:solidFill>
                  <a:srgbClr val="0B2A4A"/>
                </a:solidFill>
                <a:latin typeface="Calibri"/>
              </a:rPr>
              <a:t>Front = Rear = 0 </a:t>
            </a:r>
            <a:r>
              <a:rPr sz="1100">
                <a:solidFill>
                  <a:srgbClr val="333D4A"/>
                </a:solidFill>
                <a:latin typeface="Calibri"/>
              </a:rPr>
              <a:t>pointing to 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6.  Double-Ended Queue (Deque)</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Linear structure supporting insertions and deletions at both ends</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13 / 18</a:t>
            </a:r>
          </a:p>
        </p:txBody>
      </p:sp>
      <p:sp>
        <p:nvSpPr>
          <p:cNvPr id="9" name="TextBox 8"/>
          <p:cNvSpPr txBox="1"/>
          <p:nvPr/>
        </p:nvSpPr>
        <p:spPr>
          <a:xfrm>
            <a:off x="822960" y="1325880"/>
            <a:ext cx="5303520" cy="457200"/>
          </a:xfrm>
          <a:prstGeom prst="rect">
            <a:avLst/>
          </a:prstGeom>
          <a:noFill/>
        </p:spPr>
        <p:txBody>
          <a:bodyPr wrap="square" lIns="45720" rIns="45720" tIns="18288" bIns="18288" anchor="t">
            <a:spAutoFit/>
          </a:bodyPr>
          <a:lstStyle/>
          <a:p>
            <a:pPr algn="l"/>
            <a:r>
              <a:rPr sz="2000" b="1" i="0">
                <a:solidFill>
                  <a:srgbClr val="0B2A4A"/>
                </a:solidFill>
                <a:latin typeface="Calibri"/>
              </a:rPr>
              <a:t>Generalizing Stacks and Queues</a:t>
            </a:r>
          </a:p>
        </p:txBody>
      </p:sp>
      <p:sp>
        <p:nvSpPr>
          <p:cNvPr id="10" name="TextBox 9"/>
          <p:cNvSpPr txBox="1"/>
          <p:nvPr/>
        </p:nvSpPr>
        <p:spPr>
          <a:xfrm>
            <a:off x="822960" y="1828800"/>
            <a:ext cx="5303520" cy="2560320"/>
          </a:xfrm>
          <a:prstGeom prst="rect">
            <a:avLst/>
          </a:prstGeom>
          <a:noFill/>
        </p:spPr>
        <p:txBody>
          <a:bodyPr wrap="square" lIns="45720" rIns="45720">
            <a:spAutoFit/>
          </a:bodyPr>
          <a:lstStyle/>
          <a:p>
            <a:pPr algn="l">
              <a:lnSpc>
                <a:spcPct val="135000"/>
              </a:lnSpc>
              <a:spcAft>
                <a:spcPts val="400"/>
              </a:spcAft>
            </a:pPr>
            <a:r>
              <a:rPr sz="1500" b="1">
                <a:solidFill>
                  <a:srgbClr val="127A8A"/>
                </a:solidFill>
                <a:latin typeface="Calibri"/>
              </a:rPr>
              <a:t>▸  </a:t>
            </a:r>
            <a:r>
              <a:rPr sz="1500" b="1">
                <a:solidFill>
                  <a:srgbClr val="0B2A4A"/>
                </a:solidFill>
                <a:latin typeface="Calibri"/>
              </a:rPr>
              <a:t>Combination of ADTs.  </a:t>
            </a:r>
            <a:r>
              <a:rPr sz="1500">
                <a:solidFill>
                  <a:srgbClr val="333D4A"/>
                </a:solidFill>
                <a:latin typeface="Calibri"/>
              </a:rPr>
              <a:t>Supports push/pop at the front, and push/pop at the rear.</a:t>
            </a:r>
          </a:p>
          <a:p>
            <a:pPr algn="l">
              <a:lnSpc>
                <a:spcPct val="135000"/>
              </a:lnSpc>
              <a:spcAft>
                <a:spcPts val="400"/>
              </a:spcAft>
            </a:pPr>
            <a:r>
              <a:rPr sz="1500" b="1">
                <a:solidFill>
                  <a:srgbClr val="127A8A"/>
                </a:solidFill>
                <a:latin typeface="Calibri"/>
              </a:rPr>
              <a:t>▸  </a:t>
            </a:r>
            <a:r>
              <a:rPr sz="1500" b="1">
                <a:solidFill>
                  <a:srgbClr val="0B2A4A"/>
                </a:solidFill>
                <a:latin typeface="Calibri"/>
              </a:rPr>
              <a:t>Versatile.  </a:t>
            </a:r>
            <a:r>
              <a:rPr sz="1500">
                <a:solidFill>
                  <a:srgbClr val="333D4A"/>
                </a:solidFill>
                <a:latin typeface="Calibri"/>
              </a:rPr>
              <a:t>Can act as a Stack, a Queue, or both simultaneously.</a:t>
            </a:r>
          </a:p>
          <a:p>
            <a:pPr algn="l">
              <a:lnSpc>
                <a:spcPct val="135000"/>
              </a:lnSpc>
              <a:spcAft>
                <a:spcPts val="400"/>
              </a:spcAft>
            </a:pPr>
            <a:r>
              <a:rPr sz="1500" b="1">
                <a:solidFill>
                  <a:srgbClr val="127A8A"/>
                </a:solidFill>
                <a:latin typeface="Calibri"/>
              </a:rPr>
              <a:t>▸  </a:t>
            </a:r>
            <a:r>
              <a:rPr sz="1500" b="1">
                <a:solidFill>
                  <a:srgbClr val="0B2A4A"/>
                </a:solidFill>
                <a:latin typeface="Calibri"/>
              </a:rPr>
              <a:t>Python standard.  </a:t>
            </a:r>
            <a:r>
              <a:rPr sz="1500">
                <a:solidFill>
                  <a:srgbClr val="333D4A"/>
                </a:solidFill>
                <a:latin typeface="Calibri"/>
              </a:rPr>
              <a:t>Implemented natively as collections.deque in Python, optimized for fast O(1) appends and pops at both ends.</a:t>
            </a:r>
          </a:p>
        </p:txBody>
      </p:sp>
      <p:sp>
        <p:nvSpPr>
          <p:cNvPr id="11" name="Rectangle 10"/>
          <p:cNvSpPr/>
          <p:nvPr/>
        </p:nvSpPr>
        <p:spPr>
          <a:xfrm>
            <a:off x="822960" y="4480560"/>
            <a:ext cx="5303520" cy="192024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4480560"/>
            <a:ext cx="73152" cy="192024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572000"/>
            <a:ext cx="5074920" cy="1737360"/>
          </a:xfrm>
          <a:prstGeom prst="rect">
            <a:avLst/>
          </a:prstGeom>
          <a:noFill/>
        </p:spPr>
        <p:txBody>
          <a:bodyPr wrap="square">
            <a:spAutoFit/>
          </a:bodyPr>
          <a:lstStyle/>
          <a:p>
            <a:pPr algn="l">
              <a:lnSpc>
                <a:spcPct val="115000"/>
              </a:lnSpc>
            </a:pPr>
            <a:r>
              <a:rPr sz="1300">
                <a:solidFill>
                  <a:srgbClr val="E6E6E6"/>
                </a:solidFill>
                <a:latin typeface="Consolas"/>
              </a:rPr>
              <a:t>from collections import deque</a:t>
            </a:r>
          </a:p>
          <a:p>
            <a:pPr algn="l">
              <a:lnSpc>
                <a:spcPct val="115000"/>
              </a:lnSpc>
            </a:pPr>
            <a:r>
              <a:rPr sz="1300">
                <a:solidFill>
                  <a:srgbClr val="E6E6E6"/>
                </a:solidFill>
                <a:latin typeface="Consolas"/>
              </a:rPr>
              <a:t> </a:t>
            </a:r>
          </a:p>
          <a:p>
            <a:pPr algn="l">
              <a:lnSpc>
                <a:spcPct val="115000"/>
              </a:lnSpc>
            </a:pPr>
            <a:r>
              <a:rPr sz="1300">
                <a:solidFill>
                  <a:srgbClr val="E6E6E6"/>
                </a:solidFill>
                <a:latin typeface="Consolas"/>
              </a:rPr>
              <a:t>dq = deque()          # create deque</a:t>
            </a:r>
          </a:p>
          <a:p>
            <a:pPr algn="l">
              <a:lnSpc>
                <a:spcPct val="115000"/>
              </a:lnSpc>
            </a:pPr>
            <a:r>
              <a:rPr sz="1300">
                <a:solidFill>
                  <a:srgbClr val="E6E6E6"/>
                </a:solidFill>
                <a:latin typeface="Consolas"/>
              </a:rPr>
              <a:t>dq.append(20)         # rear append: [20]</a:t>
            </a:r>
          </a:p>
          <a:p>
            <a:pPr algn="l">
              <a:lnSpc>
                <a:spcPct val="115000"/>
              </a:lnSpc>
            </a:pPr>
            <a:r>
              <a:rPr sz="1300">
                <a:solidFill>
                  <a:srgbClr val="E6E6E6"/>
                </a:solidFill>
                <a:latin typeface="Consolas"/>
              </a:rPr>
              <a:t>dq.appendleft(10)     # front append: [10, 20]</a:t>
            </a:r>
          </a:p>
          <a:p>
            <a:pPr algn="l">
              <a:lnSpc>
                <a:spcPct val="115000"/>
              </a:lnSpc>
            </a:pPr>
            <a:r>
              <a:rPr sz="1300">
                <a:solidFill>
                  <a:srgbClr val="E6E6E6"/>
                </a:solidFill>
                <a:latin typeface="Consolas"/>
              </a:rPr>
              <a:t>dq.append(30)         # rear append: [10, 20, 30]</a:t>
            </a:r>
          </a:p>
          <a:p>
            <a:pPr algn="l">
              <a:lnSpc>
                <a:spcPct val="115000"/>
              </a:lnSpc>
            </a:pPr>
            <a:r>
              <a:rPr sz="1300">
                <a:solidFill>
                  <a:srgbClr val="E6E6E6"/>
                </a:solidFill>
                <a:latin typeface="Consolas"/>
              </a:rPr>
              <a:t> </a:t>
            </a:r>
          </a:p>
          <a:p>
            <a:pPr algn="l">
              <a:lnSpc>
                <a:spcPct val="115000"/>
              </a:lnSpc>
            </a:pPr>
            <a:r>
              <a:rPr sz="1300">
                <a:solidFill>
                  <a:srgbClr val="E6E6E6"/>
                </a:solidFill>
                <a:latin typeface="Consolas"/>
              </a:rPr>
              <a:t>dq.popleft()          # front remove: returns 10</a:t>
            </a:r>
          </a:p>
          <a:p>
            <a:pPr algn="l">
              <a:lnSpc>
                <a:spcPct val="115000"/>
              </a:lnSpc>
            </a:pPr>
            <a:r>
              <a:rPr sz="1300">
                <a:solidFill>
                  <a:srgbClr val="E6E6E6"/>
                </a:solidFill>
                <a:latin typeface="Consolas"/>
              </a:rPr>
              <a:t>dq.pop()              # rear remove: returns 30</a:t>
            </a:r>
          </a:p>
        </p:txBody>
      </p:sp>
      <p:sp>
        <p:nvSpPr>
          <p:cNvPr id="14" name="Rectangle 13"/>
          <p:cNvSpPr/>
          <p:nvPr/>
        </p:nvSpPr>
        <p:spPr>
          <a:xfrm>
            <a:off x="6492240" y="1325880"/>
            <a:ext cx="5120640" cy="5029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554480"/>
            <a:ext cx="5120640" cy="365760"/>
          </a:xfrm>
          <a:prstGeom prst="rect">
            <a:avLst/>
          </a:prstGeom>
          <a:noFill/>
        </p:spPr>
        <p:txBody>
          <a:bodyPr wrap="square" lIns="45720" rIns="45720" tIns="18288" bIns="18288" anchor="t">
            <a:spAutoFit/>
          </a:bodyPr>
          <a:lstStyle/>
          <a:p>
            <a:pPr algn="ctr"/>
            <a:r>
              <a:rPr sz="1600" b="1" i="0">
                <a:solidFill>
                  <a:srgbClr val="0B2A4A"/>
                </a:solidFill>
                <a:latin typeface="Calibri"/>
              </a:rPr>
              <a:t>Deque Layout</a:t>
            </a:r>
          </a:p>
        </p:txBody>
      </p:sp>
      <p:sp>
        <p:nvSpPr>
          <p:cNvPr id="16" name="Rectangle 15"/>
          <p:cNvSpPr/>
          <p:nvPr/>
        </p:nvSpPr>
        <p:spPr>
          <a:xfrm>
            <a:off x="6675120" y="2926080"/>
            <a:ext cx="4754880" cy="73152"/>
          </a:xfrm>
          <a:prstGeom prst="rect">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675120" y="4389120"/>
            <a:ext cx="4754880" cy="73152"/>
          </a:xfrm>
          <a:prstGeom prst="rect">
            <a:avLst/>
          </a:prstGeom>
          <a:solidFill>
            <a:srgbClr val="333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23760" y="3200400"/>
            <a:ext cx="914400" cy="914400"/>
          </a:xfrm>
          <a:prstGeom prst="roundRect">
            <a:avLst/>
          </a:prstGeom>
          <a:solidFill>
            <a:srgbClr val="FFFFFF"/>
          </a:solidFill>
          <a:ln w="254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0" y="3200400"/>
            <a:ext cx="914400" cy="914400"/>
          </a:xfrm>
          <a:prstGeom prst="rect">
            <a:avLst/>
          </a:prstGeom>
          <a:noFill/>
        </p:spPr>
        <p:txBody>
          <a:bodyPr wrap="square" lIns="45720" rIns="45720" tIns="18288" bIns="18288" anchor="ctr">
            <a:spAutoFit/>
          </a:bodyPr>
          <a:lstStyle/>
          <a:p>
            <a:pPr algn="ctr"/>
            <a:r>
              <a:rPr sz="1400" b="1" i="0">
                <a:solidFill>
                  <a:srgbClr val="0B2A4A"/>
                </a:solidFill>
                <a:latin typeface="Calibri"/>
              </a:rPr>
              <a:t>10</a:t>
            </a:r>
          </a:p>
        </p:txBody>
      </p:sp>
      <p:sp>
        <p:nvSpPr>
          <p:cNvPr id="20" name="Rounded Rectangle 19"/>
          <p:cNvSpPr/>
          <p:nvPr/>
        </p:nvSpPr>
        <p:spPr>
          <a:xfrm>
            <a:off x="8321040" y="3200400"/>
            <a:ext cx="914400" cy="914400"/>
          </a:xfrm>
          <a:prstGeom prst="roundRect">
            <a:avLst/>
          </a:prstGeom>
          <a:solidFill>
            <a:srgbClr val="FFFFFF"/>
          </a:solidFill>
          <a:ln w="254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3200400"/>
            <a:ext cx="914400" cy="914400"/>
          </a:xfrm>
          <a:prstGeom prst="rect">
            <a:avLst/>
          </a:prstGeom>
          <a:noFill/>
        </p:spPr>
        <p:txBody>
          <a:bodyPr wrap="square" lIns="45720" rIns="45720" tIns="18288" bIns="18288" anchor="ctr">
            <a:spAutoFit/>
          </a:bodyPr>
          <a:lstStyle/>
          <a:p>
            <a:pPr algn="ctr"/>
            <a:r>
              <a:rPr sz="1400" b="1" i="0">
                <a:solidFill>
                  <a:srgbClr val="0B2A4A"/>
                </a:solidFill>
                <a:latin typeface="Calibri"/>
              </a:rPr>
              <a:t>20</a:t>
            </a:r>
          </a:p>
        </p:txBody>
      </p:sp>
      <p:sp>
        <p:nvSpPr>
          <p:cNvPr id="22" name="Rounded Rectangle 21"/>
          <p:cNvSpPr/>
          <p:nvPr/>
        </p:nvSpPr>
        <p:spPr>
          <a:xfrm>
            <a:off x="9418320" y="3200400"/>
            <a:ext cx="914400" cy="914400"/>
          </a:xfrm>
          <a:prstGeom prst="roundRect">
            <a:avLst/>
          </a:prstGeom>
          <a:solidFill>
            <a:srgbClr val="FFFFFF"/>
          </a:solidFill>
          <a:ln w="25400">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0" y="3200400"/>
            <a:ext cx="914400" cy="914400"/>
          </a:xfrm>
          <a:prstGeom prst="rect">
            <a:avLst/>
          </a:prstGeom>
          <a:noFill/>
        </p:spPr>
        <p:txBody>
          <a:bodyPr wrap="square" lIns="45720" rIns="45720" tIns="18288" bIns="18288" anchor="ctr">
            <a:spAutoFit/>
          </a:bodyPr>
          <a:lstStyle/>
          <a:p>
            <a:pPr algn="ctr"/>
            <a:r>
              <a:rPr sz="1400" b="1" i="0">
                <a:solidFill>
                  <a:srgbClr val="0B2A4A"/>
                </a:solidFill>
                <a:latin typeface="Calibri"/>
              </a:rPr>
              <a:t>30</a:t>
            </a:r>
          </a:p>
        </p:txBody>
      </p:sp>
      <p:cxnSp>
        <p:nvCxnSpPr>
          <p:cNvPr id="24" name="Connector 23"/>
          <p:cNvCxnSpPr/>
          <p:nvPr/>
        </p:nvCxnSpPr>
        <p:spPr>
          <a:xfrm>
            <a:off x="6492240" y="3383280"/>
            <a:ext cx="548640" cy="0"/>
          </a:xfrm>
          <a:prstGeom prst="line">
            <a:avLst/>
          </a:prstGeom>
          <a:ln w="28575">
            <a:solidFill>
              <a:srgbClr val="127A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6492240" y="3931920"/>
            <a:ext cx="548640" cy="0"/>
          </a:xfrm>
          <a:prstGeom prst="line">
            <a:avLst/>
          </a:prstGeom>
          <a:ln w="28575">
            <a:solidFill>
              <a:srgbClr val="E0A8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09360" y="4206240"/>
            <a:ext cx="1280160" cy="320040"/>
          </a:xfrm>
          <a:prstGeom prst="rect">
            <a:avLst/>
          </a:prstGeom>
          <a:noFill/>
        </p:spPr>
        <p:txBody>
          <a:bodyPr wrap="square" lIns="45720" rIns="45720" tIns="18288" bIns="18288" anchor="t">
            <a:spAutoFit/>
          </a:bodyPr>
          <a:lstStyle/>
          <a:p>
            <a:pPr algn="l"/>
            <a:r>
              <a:rPr sz="1000" b="0" i="1">
                <a:solidFill>
                  <a:srgbClr val="0B2A4A"/>
                </a:solidFill>
                <a:latin typeface="Calibri"/>
              </a:rPr>
              <a:t>Front appends/pops</a:t>
            </a:r>
          </a:p>
        </p:txBody>
      </p:sp>
      <p:cxnSp>
        <p:nvCxnSpPr>
          <p:cNvPr id="27" name="Connector 26"/>
          <p:cNvCxnSpPr/>
          <p:nvPr/>
        </p:nvCxnSpPr>
        <p:spPr>
          <a:xfrm flipH="1">
            <a:off x="11064240" y="3383280"/>
            <a:ext cx="548640" cy="0"/>
          </a:xfrm>
          <a:prstGeom prst="line">
            <a:avLst/>
          </a:prstGeom>
          <a:ln w="28575">
            <a:solidFill>
              <a:srgbClr val="127A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1064240" y="3931920"/>
            <a:ext cx="548640" cy="0"/>
          </a:xfrm>
          <a:prstGeom prst="line">
            <a:avLst/>
          </a:prstGeom>
          <a:ln w="28575">
            <a:solidFill>
              <a:srgbClr val="E0A8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15600" y="4206240"/>
            <a:ext cx="1280160" cy="320040"/>
          </a:xfrm>
          <a:prstGeom prst="rect">
            <a:avLst/>
          </a:prstGeom>
          <a:noFill/>
        </p:spPr>
        <p:txBody>
          <a:bodyPr wrap="square" lIns="45720" rIns="45720" tIns="18288" bIns="18288" anchor="t">
            <a:spAutoFit/>
          </a:bodyPr>
          <a:lstStyle/>
          <a:p>
            <a:pPr algn="l"/>
            <a:r>
              <a:rPr sz="1000" b="0" i="1">
                <a:solidFill>
                  <a:srgbClr val="0B2A4A"/>
                </a:solidFill>
                <a:latin typeface="Calibri"/>
              </a:rPr>
              <a:t>Rear appends/pops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7.  Real-World Applications</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How Stacks and Queues power critical computer systems</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14 / 18</a:t>
            </a:r>
          </a:p>
        </p:txBody>
      </p:sp>
      <p:sp>
        <p:nvSpPr>
          <p:cNvPr id="9" name="Rectangle 8"/>
          <p:cNvSpPr/>
          <p:nvPr/>
        </p:nvSpPr>
        <p:spPr>
          <a:xfrm>
            <a:off x="548640" y="1417320"/>
            <a:ext cx="3657600" cy="50292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17320"/>
            <a:ext cx="3657600" cy="502920"/>
          </a:xfrm>
          <a:prstGeom prst="rect">
            <a:avLst/>
          </a:prstGeom>
          <a:noFill/>
        </p:spPr>
        <p:txBody>
          <a:bodyPr wrap="square" lIns="45720" rIns="45720" tIns="18288" bIns="18288" anchor="ctr">
            <a:spAutoFit/>
          </a:bodyPr>
          <a:lstStyle/>
          <a:p>
            <a:pPr algn="ctr"/>
            <a:r>
              <a:rPr sz="1500" b="1" i="0">
                <a:solidFill>
                  <a:srgbClr val="FFFFFF"/>
                </a:solidFill>
                <a:latin typeface="Calibri"/>
              </a:rPr>
              <a:t>The Program Call Stack</a:t>
            </a:r>
          </a:p>
        </p:txBody>
      </p:sp>
      <p:sp>
        <p:nvSpPr>
          <p:cNvPr id="11" name="Rectangle 10"/>
          <p:cNvSpPr/>
          <p:nvPr/>
        </p:nvSpPr>
        <p:spPr>
          <a:xfrm>
            <a:off x="548640" y="192024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075688"/>
            <a:ext cx="3337560" cy="1463040"/>
          </a:xfrm>
          <a:prstGeom prst="rect">
            <a:avLst/>
          </a:prstGeom>
          <a:noFill/>
        </p:spPr>
        <p:txBody>
          <a:bodyPr wrap="square" lIns="45720" rIns="45720" tIns="18288" bIns="18288" anchor="t">
            <a:spAutoFit/>
          </a:bodyPr>
          <a:lstStyle/>
          <a:p>
            <a:pPr algn="l"/>
            <a:r>
              <a:rPr sz="1200" b="0" i="0">
                <a:solidFill>
                  <a:srgbClr val="333D4A"/>
                </a:solidFill>
                <a:latin typeface="Calibri"/>
              </a:rPr>
              <a:t>Manages function execution frames, recursion stack space (costing O(N) auxiliary space), and local variables in runtime environments.</a:t>
            </a:r>
          </a:p>
        </p:txBody>
      </p:sp>
      <p:sp>
        <p:nvSpPr>
          <p:cNvPr id="13" name="Rectangle 12"/>
          <p:cNvSpPr/>
          <p:nvPr/>
        </p:nvSpPr>
        <p:spPr>
          <a:xfrm>
            <a:off x="4434840" y="1417320"/>
            <a:ext cx="3657600" cy="502920"/>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417320"/>
            <a:ext cx="3657600" cy="502920"/>
          </a:xfrm>
          <a:prstGeom prst="rect">
            <a:avLst/>
          </a:prstGeom>
          <a:noFill/>
        </p:spPr>
        <p:txBody>
          <a:bodyPr wrap="square" lIns="45720" rIns="45720" tIns="18288" bIns="18288" anchor="ctr">
            <a:spAutoFit/>
          </a:bodyPr>
          <a:lstStyle/>
          <a:p>
            <a:pPr algn="ctr"/>
            <a:r>
              <a:rPr sz="1500" b="1" i="0">
                <a:solidFill>
                  <a:srgbClr val="FFFFFF"/>
                </a:solidFill>
                <a:latin typeface="Calibri"/>
              </a:rPr>
              <a:t>Undo/Redo History</a:t>
            </a:r>
          </a:p>
        </p:txBody>
      </p:sp>
      <p:sp>
        <p:nvSpPr>
          <p:cNvPr id="15" name="Rectangle 14"/>
          <p:cNvSpPr/>
          <p:nvPr/>
        </p:nvSpPr>
        <p:spPr>
          <a:xfrm>
            <a:off x="4434840" y="192024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9432" y="2075688"/>
            <a:ext cx="3337560" cy="1463040"/>
          </a:xfrm>
          <a:prstGeom prst="rect">
            <a:avLst/>
          </a:prstGeom>
          <a:noFill/>
        </p:spPr>
        <p:txBody>
          <a:bodyPr wrap="square" lIns="45720" rIns="45720" tIns="18288" bIns="18288" anchor="t">
            <a:spAutoFit/>
          </a:bodyPr>
          <a:lstStyle/>
          <a:p>
            <a:pPr algn="l"/>
            <a:r>
              <a:rPr sz="1200" b="0" i="0">
                <a:solidFill>
                  <a:srgbClr val="333D4A"/>
                </a:solidFill>
                <a:latin typeface="Calibri"/>
              </a:rPr>
              <a:t>Text editors use two stacks (Undo stack and Redo stack) to track document modifications in reverse order.</a:t>
            </a:r>
          </a:p>
        </p:txBody>
      </p:sp>
      <p:sp>
        <p:nvSpPr>
          <p:cNvPr id="17" name="Rectangle 16"/>
          <p:cNvSpPr/>
          <p:nvPr/>
        </p:nvSpPr>
        <p:spPr>
          <a:xfrm>
            <a:off x="8321040" y="1417320"/>
            <a:ext cx="3657600" cy="502920"/>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417320"/>
            <a:ext cx="3657600" cy="502920"/>
          </a:xfrm>
          <a:prstGeom prst="rect">
            <a:avLst/>
          </a:prstGeom>
          <a:noFill/>
        </p:spPr>
        <p:txBody>
          <a:bodyPr wrap="square" lIns="45720" rIns="45720" tIns="18288" bIns="18288" anchor="ctr">
            <a:spAutoFit/>
          </a:bodyPr>
          <a:lstStyle/>
          <a:p>
            <a:pPr algn="ctr"/>
            <a:r>
              <a:rPr sz="1500" b="1" i="0">
                <a:solidFill>
                  <a:srgbClr val="FFFFFF"/>
                </a:solidFill>
                <a:latin typeface="Calibri"/>
              </a:rPr>
              <a:t>Breadth-First Search (BFS)</a:t>
            </a:r>
          </a:p>
        </p:txBody>
      </p:sp>
      <p:sp>
        <p:nvSpPr>
          <p:cNvPr id="19" name="Rectangle 18"/>
          <p:cNvSpPr/>
          <p:nvPr/>
        </p:nvSpPr>
        <p:spPr>
          <a:xfrm>
            <a:off x="8321040" y="192024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85632" y="2075688"/>
            <a:ext cx="3337560" cy="1463040"/>
          </a:xfrm>
          <a:prstGeom prst="rect">
            <a:avLst/>
          </a:prstGeom>
          <a:noFill/>
        </p:spPr>
        <p:txBody>
          <a:bodyPr wrap="square" lIns="45720" rIns="45720" tIns="18288" bIns="18288" anchor="t">
            <a:spAutoFit/>
          </a:bodyPr>
          <a:lstStyle/>
          <a:p>
            <a:pPr algn="l"/>
            <a:r>
              <a:rPr sz="1200" b="0" i="0">
                <a:solidFill>
                  <a:srgbClr val="333D4A"/>
                </a:solidFill>
                <a:latin typeface="Calibri"/>
              </a:rPr>
              <a:t>Graph traversals use a queue to track visited nodes in a level-order fashion (shortest path, web crawlers).</a:t>
            </a:r>
          </a:p>
        </p:txBody>
      </p:sp>
      <p:sp>
        <p:nvSpPr>
          <p:cNvPr id="21" name="Rectangle 20"/>
          <p:cNvSpPr/>
          <p:nvPr/>
        </p:nvSpPr>
        <p:spPr>
          <a:xfrm>
            <a:off x="548640" y="3794760"/>
            <a:ext cx="3657600"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794760"/>
            <a:ext cx="3657600" cy="502920"/>
          </a:xfrm>
          <a:prstGeom prst="rect">
            <a:avLst/>
          </a:prstGeom>
          <a:noFill/>
        </p:spPr>
        <p:txBody>
          <a:bodyPr wrap="square" lIns="45720" rIns="45720" tIns="18288" bIns="18288" anchor="ctr">
            <a:spAutoFit/>
          </a:bodyPr>
          <a:lstStyle/>
          <a:p>
            <a:pPr algn="ctr"/>
            <a:r>
              <a:rPr sz="1500" b="1" i="0">
                <a:solidFill>
                  <a:srgbClr val="FFFFFF"/>
                </a:solidFill>
                <a:latin typeface="Calibri"/>
              </a:rPr>
              <a:t>Asynchronous Buffers</a:t>
            </a:r>
          </a:p>
        </p:txBody>
      </p:sp>
      <p:sp>
        <p:nvSpPr>
          <p:cNvPr id="23" name="Rectangle 22"/>
          <p:cNvSpPr/>
          <p:nvPr/>
        </p:nvSpPr>
        <p:spPr>
          <a:xfrm>
            <a:off x="548640" y="429768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453128"/>
            <a:ext cx="3337560" cy="1463040"/>
          </a:xfrm>
          <a:prstGeom prst="rect">
            <a:avLst/>
          </a:prstGeom>
          <a:noFill/>
        </p:spPr>
        <p:txBody>
          <a:bodyPr wrap="square" lIns="45720" rIns="45720" tIns="18288" bIns="18288" anchor="t">
            <a:spAutoFit/>
          </a:bodyPr>
          <a:lstStyle/>
          <a:p>
            <a:pPr algn="l"/>
            <a:r>
              <a:rPr sz="1200" b="0" i="0">
                <a:solidFill>
                  <a:srgbClr val="333D4A"/>
                </a:solidFill>
                <a:latin typeface="Calibri"/>
              </a:rPr>
              <a:t>Data sent between asymmetric processes (network socket packets, printer spoolers, keyboard event loops).</a:t>
            </a:r>
          </a:p>
        </p:txBody>
      </p:sp>
      <p:sp>
        <p:nvSpPr>
          <p:cNvPr id="25" name="Rectangle 24"/>
          <p:cNvSpPr/>
          <p:nvPr/>
        </p:nvSpPr>
        <p:spPr>
          <a:xfrm>
            <a:off x="4434840" y="3794760"/>
            <a:ext cx="3657600"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4840" y="3794760"/>
            <a:ext cx="3657600" cy="502920"/>
          </a:xfrm>
          <a:prstGeom prst="rect">
            <a:avLst/>
          </a:prstGeom>
          <a:noFill/>
        </p:spPr>
        <p:txBody>
          <a:bodyPr wrap="square" lIns="45720" rIns="45720" tIns="18288" bIns="18288" anchor="ctr">
            <a:spAutoFit/>
          </a:bodyPr>
          <a:lstStyle/>
          <a:p>
            <a:pPr algn="ctr"/>
            <a:r>
              <a:rPr sz="1500" b="1" i="0">
                <a:solidFill>
                  <a:srgbClr val="FFFFFF"/>
                </a:solidFill>
                <a:latin typeface="Calibri"/>
              </a:rPr>
              <a:t>Round-Robin Scheduling</a:t>
            </a:r>
          </a:p>
        </p:txBody>
      </p:sp>
      <p:sp>
        <p:nvSpPr>
          <p:cNvPr id="27" name="Rectangle 26"/>
          <p:cNvSpPr/>
          <p:nvPr/>
        </p:nvSpPr>
        <p:spPr>
          <a:xfrm>
            <a:off x="4434840" y="429768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9432" y="4453128"/>
            <a:ext cx="3337560" cy="1463040"/>
          </a:xfrm>
          <a:prstGeom prst="rect">
            <a:avLst/>
          </a:prstGeom>
          <a:noFill/>
        </p:spPr>
        <p:txBody>
          <a:bodyPr wrap="square" lIns="45720" rIns="45720" tIns="18288" bIns="18288" anchor="t">
            <a:spAutoFit/>
          </a:bodyPr>
          <a:lstStyle/>
          <a:p>
            <a:pPr algn="l"/>
            <a:r>
              <a:rPr sz="1200" b="0" i="0">
                <a:solidFill>
                  <a:srgbClr val="333D4A"/>
                </a:solidFill>
                <a:latin typeface="Calibri"/>
              </a:rPr>
              <a:t>OS CPU schedulers cycle executing processes by rotating a circular queue of threads.</a:t>
            </a:r>
          </a:p>
        </p:txBody>
      </p:sp>
      <p:sp>
        <p:nvSpPr>
          <p:cNvPr id="29" name="Rectangle 28"/>
          <p:cNvSpPr/>
          <p:nvPr/>
        </p:nvSpPr>
        <p:spPr>
          <a:xfrm>
            <a:off x="8321040" y="3794760"/>
            <a:ext cx="3657600" cy="502920"/>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3794760"/>
            <a:ext cx="3657600" cy="502920"/>
          </a:xfrm>
          <a:prstGeom prst="rect">
            <a:avLst/>
          </a:prstGeom>
          <a:noFill/>
        </p:spPr>
        <p:txBody>
          <a:bodyPr wrap="square" lIns="45720" rIns="45720" tIns="18288" bIns="18288" anchor="ctr">
            <a:spAutoFit/>
          </a:bodyPr>
          <a:lstStyle/>
          <a:p>
            <a:pPr algn="ctr"/>
            <a:r>
              <a:rPr sz="1500" b="1" i="0">
                <a:solidFill>
                  <a:srgbClr val="FFFFFF"/>
                </a:solidFill>
                <a:latin typeface="Calibri"/>
              </a:rPr>
              <a:t>Backtracking (DFS)</a:t>
            </a:r>
          </a:p>
        </p:txBody>
      </p:sp>
      <p:sp>
        <p:nvSpPr>
          <p:cNvPr id="31" name="Rectangle 30"/>
          <p:cNvSpPr/>
          <p:nvPr/>
        </p:nvSpPr>
        <p:spPr>
          <a:xfrm>
            <a:off x="8321040" y="4297680"/>
            <a:ext cx="3657600" cy="169164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85632" y="4453128"/>
            <a:ext cx="3337560" cy="1463040"/>
          </a:xfrm>
          <a:prstGeom prst="rect">
            <a:avLst/>
          </a:prstGeom>
          <a:noFill/>
        </p:spPr>
        <p:txBody>
          <a:bodyPr wrap="square" lIns="45720" rIns="45720" tIns="18288" bIns="18288" anchor="t">
            <a:spAutoFit/>
          </a:bodyPr>
          <a:lstStyle/>
          <a:p>
            <a:pPr algn="l"/>
            <a:r>
              <a:rPr sz="1200" b="0" i="0">
                <a:solidFill>
                  <a:srgbClr val="333D4A"/>
                </a:solidFill>
                <a:latin typeface="Calibri"/>
              </a:rPr>
              <a:t>DFS uses a stack (explicit or recursion call stack) to backtrack. Dijkstra's Shunting-yard uses an operator stack for math parsing.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8.  Practice Problems</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Crucial algorithmic challenges to build your mastery</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15 / 18</a:t>
            </a:r>
          </a:p>
        </p:txBody>
      </p:sp>
      <p:sp>
        <p:nvSpPr>
          <p:cNvPr id="9" name="Rectangle 8"/>
          <p:cNvSpPr/>
          <p:nvPr/>
        </p:nvSpPr>
        <p:spPr>
          <a:xfrm>
            <a:off x="548640" y="1417320"/>
            <a:ext cx="3657600" cy="475488"/>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17320"/>
            <a:ext cx="3657600" cy="475488"/>
          </a:xfrm>
          <a:prstGeom prst="rect">
            <a:avLst/>
          </a:prstGeom>
          <a:noFill/>
        </p:spPr>
        <p:txBody>
          <a:bodyPr wrap="square" lIns="45720" rIns="45720" tIns="18288" bIns="18288" anchor="ctr">
            <a:spAutoFit/>
          </a:bodyPr>
          <a:lstStyle/>
          <a:p>
            <a:pPr algn="ctr"/>
            <a:r>
              <a:rPr sz="1400" b="1" i="0">
                <a:solidFill>
                  <a:srgbClr val="FFFFFF"/>
                </a:solidFill>
                <a:latin typeface="Calibri"/>
              </a:rPr>
              <a:t>Valid Parentheses</a:t>
            </a:r>
          </a:p>
        </p:txBody>
      </p:sp>
      <p:sp>
        <p:nvSpPr>
          <p:cNvPr id="11" name="Rectangle 10"/>
          <p:cNvSpPr/>
          <p:nvPr/>
        </p:nvSpPr>
        <p:spPr>
          <a:xfrm>
            <a:off x="548640" y="1892808"/>
            <a:ext cx="3657600" cy="167335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039112"/>
            <a:ext cx="3337560" cy="1463040"/>
          </a:xfrm>
          <a:prstGeom prst="rect">
            <a:avLst/>
          </a:prstGeom>
          <a:noFill/>
        </p:spPr>
        <p:txBody>
          <a:bodyPr wrap="square" lIns="45720" rIns="45720" tIns="18288" bIns="18288" anchor="t">
            <a:spAutoFit/>
          </a:bodyPr>
          <a:lstStyle/>
          <a:p>
            <a:pPr algn="l"/>
            <a:r>
              <a:rPr sz="1200" b="0" i="0">
                <a:solidFill>
                  <a:srgbClr val="333D4A"/>
                </a:solidFill>
                <a:latin typeface="Calibri"/>
              </a:rPr>
              <a:t>LeetCode 20 (Easy)
Given a string of brackets '{}()[]', check if closed in correct order.
Use a Stack to match open-to-close brackets.</a:t>
            </a:r>
          </a:p>
        </p:txBody>
      </p:sp>
      <p:sp>
        <p:nvSpPr>
          <p:cNvPr id="13" name="Rectangle 12"/>
          <p:cNvSpPr/>
          <p:nvPr/>
        </p:nvSpPr>
        <p:spPr>
          <a:xfrm>
            <a:off x="4434840" y="1417320"/>
            <a:ext cx="3657600" cy="475488"/>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417320"/>
            <a:ext cx="3657600" cy="475488"/>
          </a:xfrm>
          <a:prstGeom prst="rect">
            <a:avLst/>
          </a:prstGeom>
          <a:noFill/>
        </p:spPr>
        <p:txBody>
          <a:bodyPr wrap="square" lIns="45720" rIns="45720" tIns="18288" bIns="18288" anchor="ctr">
            <a:spAutoFit/>
          </a:bodyPr>
          <a:lstStyle/>
          <a:p>
            <a:pPr algn="ctr"/>
            <a:r>
              <a:rPr sz="1400" b="1" i="0">
                <a:solidFill>
                  <a:srgbClr val="FFFFFF"/>
                </a:solidFill>
                <a:latin typeface="Calibri"/>
              </a:rPr>
              <a:t>Implement Queue using Stacks</a:t>
            </a:r>
          </a:p>
        </p:txBody>
      </p:sp>
      <p:sp>
        <p:nvSpPr>
          <p:cNvPr id="15" name="Rectangle 14"/>
          <p:cNvSpPr/>
          <p:nvPr/>
        </p:nvSpPr>
        <p:spPr>
          <a:xfrm>
            <a:off x="4434840" y="1892808"/>
            <a:ext cx="3657600" cy="167335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9432" y="2039112"/>
            <a:ext cx="3337560" cy="1463040"/>
          </a:xfrm>
          <a:prstGeom prst="rect">
            <a:avLst/>
          </a:prstGeom>
          <a:noFill/>
        </p:spPr>
        <p:txBody>
          <a:bodyPr wrap="square" lIns="45720" rIns="45720" tIns="18288" bIns="18288" anchor="t">
            <a:spAutoFit/>
          </a:bodyPr>
          <a:lstStyle/>
          <a:p>
            <a:pPr algn="l"/>
            <a:r>
              <a:rPr sz="1200" b="0" i="0">
                <a:solidFill>
                  <a:srgbClr val="333D4A"/>
                </a:solidFill>
                <a:latin typeface="Calibri"/>
              </a:rPr>
              <a:t>LeetCode 232 (Medium)
FIFO queue using Stack1 (enqueue) and Stack2 (dequeue). Transfer elements if empty.
Amortized O(1) dequeue: elements are pushed/popped a constant number of times.</a:t>
            </a:r>
          </a:p>
        </p:txBody>
      </p:sp>
      <p:sp>
        <p:nvSpPr>
          <p:cNvPr id="17" name="Rectangle 16"/>
          <p:cNvSpPr/>
          <p:nvPr/>
        </p:nvSpPr>
        <p:spPr>
          <a:xfrm>
            <a:off x="8321040" y="1417320"/>
            <a:ext cx="3657600" cy="475488"/>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417320"/>
            <a:ext cx="3657600" cy="475488"/>
          </a:xfrm>
          <a:prstGeom prst="rect">
            <a:avLst/>
          </a:prstGeom>
          <a:noFill/>
        </p:spPr>
        <p:txBody>
          <a:bodyPr wrap="square" lIns="45720" rIns="45720" tIns="18288" bIns="18288" anchor="ctr">
            <a:spAutoFit/>
          </a:bodyPr>
          <a:lstStyle/>
          <a:p>
            <a:pPr algn="ctr"/>
            <a:r>
              <a:rPr sz="1400" b="1" i="0">
                <a:solidFill>
                  <a:srgbClr val="FFFFFF"/>
                </a:solidFill>
                <a:latin typeface="Calibri"/>
              </a:rPr>
              <a:t>Implement Stack using Queues</a:t>
            </a:r>
          </a:p>
        </p:txBody>
      </p:sp>
      <p:sp>
        <p:nvSpPr>
          <p:cNvPr id="19" name="Rectangle 18"/>
          <p:cNvSpPr/>
          <p:nvPr/>
        </p:nvSpPr>
        <p:spPr>
          <a:xfrm>
            <a:off x="8321040" y="1892808"/>
            <a:ext cx="3657600" cy="167335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85632" y="2039112"/>
            <a:ext cx="3337560" cy="1463040"/>
          </a:xfrm>
          <a:prstGeom prst="rect">
            <a:avLst/>
          </a:prstGeom>
          <a:noFill/>
        </p:spPr>
        <p:txBody>
          <a:bodyPr wrap="square" lIns="45720" rIns="45720" tIns="18288" bIns="18288" anchor="t">
            <a:spAutoFit/>
          </a:bodyPr>
          <a:lstStyle/>
          <a:p>
            <a:pPr algn="l"/>
            <a:r>
              <a:rPr sz="1200" b="0" i="0">
                <a:solidFill>
                  <a:srgbClr val="333D4A"/>
                </a:solidFill>
                <a:latin typeface="Calibri"/>
              </a:rPr>
              <a:t>LeetCode 225 (Easy)
Build a LIFO stack API using only FIFO queues.
Rotate elements within a single queue on push/pop.</a:t>
            </a:r>
          </a:p>
        </p:txBody>
      </p:sp>
      <p:sp>
        <p:nvSpPr>
          <p:cNvPr id="21" name="Rectangle 20"/>
          <p:cNvSpPr/>
          <p:nvPr/>
        </p:nvSpPr>
        <p:spPr>
          <a:xfrm>
            <a:off x="548640" y="3749040"/>
            <a:ext cx="3657600" cy="47548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749040"/>
            <a:ext cx="3657600" cy="475488"/>
          </a:xfrm>
          <a:prstGeom prst="rect">
            <a:avLst/>
          </a:prstGeom>
          <a:noFill/>
        </p:spPr>
        <p:txBody>
          <a:bodyPr wrap="square" lIns="45720" rIns="45720" tIns="18288" bIns="18288" anchor="ctr">
            <a:spAutoFit/>
          </a:bodyPr>
          <a:lstStyle/>
          <a:p>
            <a:pPr algn="ctr"/>
            <a:r>
              <a:rPr sz="1400" b="1" i="0">
                <a:solidFill>
                  <a:srgbClr val="FFFFFF"/>
                </a:solidFill>
                <a:latin typeface="Calibri"/>
              </a:rPr>
              <a:t>Min Stack</a:t>
            </a:r>
          </a:p>
        </p:txBody>
      </p:sp>
      <p:sp>
        <p:nvSpPr>
          <p:cNvPr id="23" name="Rectangle 22"/>
          <p:cNvSpPr/>
          <p:nvPr/>
        </p:nvSpPr>
        <p:spPr>
          <a:xfrm>
            <a:off x="548640" y="4224528"/>
            <a:ext cx="3657600" cy="167335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4370832"/>
            <a:ext cx="3337560" cy="1463040"/>
          </a:xfrm>
          <a:prstGeom prst="rect">
            <a:avLst/>
          </a:prstGeom>
          <a:noFill/>
        </p:spPr>
        <p:txBody>
          <a:bodyPr wrap="square" lIns="45720" rIns="45720" tIns="18288" bIns="18288" anchor="t">
            <a:spAutoFit/>
          </a:bodyPr>
          <a:lstStyle/>
          <a:p>
            <a:pPr algn="l"/>
            <a:r>
              <a:rPr sz="1200" b="0" i="0">
                <a:solidFill>
                  <a:srgbClr val="333D4A"/>
                </a:solidFill>
                <a:latin typeface="Calibri"/>
              </a:rPr>
              <a:t>LeetCode 155 (Medium)
Design a stack that supports get_min() in O(1) time.
Uses a parallel auxiliary stack to track the minimum values.</a:t>
            </a:r>
          </a:p>
        </p:txBody>
      </p:sp>
      <p:sp>
        <p:nvSpPr>
          <p:cNvPr id="25" name="Rectangle 24"/>
          <p:cNvSpPr/>
          <p:nvPr/>
        </p:nvSpPr>
        <p:spPr>
          <a:xfrm>
            <a:off x="4434840" y="3749040"/>
            <a:ext cx="3657600" cy="475488"/>
          </a:xfrm>
          <a:prstGeom prst="rect">
            <a:avLst/>
          </a:prstGeom>
          <a:solidFill>
            <a:srgbClr val="6A1B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4840" y="3749040"/>
            <a:ext cx="3657600" cy="475488"/>
          </a:xfrm>
          <a:prstGeom prst="rect">
            <a:avLst/>
          </a:prstGeom>
          <a:noFill/>
        </p:spPr>
        <p:txBody>
          <a:bodyPr wrap="square" lIns="45720" rIns="45720" tIns="18288" bIns="18288" anchor="ctr">
            <a:spAutoFit/>
          </a:bodyPr>
          <a:lstStyle/>
          <a:p>
            <a:pPr algn="ctr"/>
            <a:r>
              <a:rPr sz="1400" b="1" i="0">
                <a:solidFill>
                  <a:srgbClr val="FFFFFF"/>
                </a:solidFill>
                <a:latin typeface="Calibri"/>
              </a:rPr>
              <a:t>Evaluate Reverse Polish Notation</a:t>
            </a:r>
          </a:p>
        </p:txBody>
      </p:sp>
      <p:sp>
        <p:nvSpPr>
          <p:cNvPr id="27" name="Rectangle 26"/>
          <p:cNvSpPr/>
          <p:nvPr/>
        </p:nvSpPr>
        <p:spPr>
          <a:xfrm>
            <a:off x="4434840" y="4224528"/>
            <a:ext cx="3657600" cy="167335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9432" y="4370832"/>
            <a:ext cx="3337560" cy="1463040"/>
          </a:xfrm>
          <a:prstGeom prst="rect">
            <a:avLst/>
          </a:prstGeom>
          <a:noFill/>
        </p:spPr>
        <p:txBody>
          <a:bodyPr wrap="square" lIns="45720" rIns="45720" tIns="18288" bIns="18288" anchor="t">
            <a:spAutoFit/>
          </a:bodyPr>
          <a:lstStyle/>
          <a:p>
            <a:pPr algn="l"/>
            <a:r>
              <a:rPr sz="1200" b="0" i="0">
                <a:solidFill>
                  <a:srgbClr val="333D4A"/>
                </a:solidFill>
                <a:latin typeface="Calibri"/>
              </a:rPr>
              <a:t>LeetCode 150 (Medium)
Evaluate math strings like ['2', '1', '+', '3', '*'] -&gt; 9.
Push operands; pop for operations. (Related: Dijkstra's Shunting-yard).</a:t>
            </a:r>
          </a:p>
        </p:txBody>
      </p:sp>
      <p:sp>
        <p:nvSpPr>
          <p:cNvPr id="29" name="Rectangle 28"/>
          <p:cNvSpPr/>
          <p:nvPr/>
        </p:nvSpPr>
        <p:spPr>
          <a:xfrm>
            <a:off x="8321040" y="3749040"/>
            <a:ext cx="3657600" cy="47548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3749040"/>
            <a:ext cx="3657600" cy="475488"/>
          </a:xfrm>
          <a:prstGeom prst="rect">
            <a:avLst/>
          </a:prstGeom>
          <a:noFill/>
        </p:spPr>
        <p:txBody>
          <a:bodyPr wrap="square" lIns="45720" rIns="45720" tIns="18288" bIns="18288" anchor="ctr">
            <a:spAutoFit/>
          </a:bodyPr>
          <a:lstStyle/>
          <a:p>
            <a:pPr algn="ctr"/>
            <a:r>
              <a:rPr sz="1400" b="1" i="0">
                <a:solidFill>
                  <a:srgbClr val="FFFFFF"/>
                </a:solidFill>
                <a:latin typeface="Calibri"/>
              </a:rPr>
              <a:t>Next Greater Element</a:t>
            </a:r>
          </a:p>
        </p:txBody>
      </p:sp>
      <p:sp>
        <p:nvSpPr>
          <p:cNvPr id="31" name="Rectangle 30"/>
          <p:cNvSpPr/>
          <p:nvPr/>
        </p:nvSpPr>
        <p:spPr>
          <a:xfrm>
            <a:off x="8321040" y="4224528"/>
            <a:ext cx="3657600" cy="1673352"/>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85632" y="4370832"/>
            <a:ext cx="3337560" cy="1463040"/>
          </a:xfrm>
          <a:prstGeom prst="rect">
            <a:avLst/>
          </a:prstGeom>
          <a:noFill/>
        </p:spPr>
        <p:txBody>
          <a:bodyPr wrap="square" lIns="45720" rIns="45720" tIns="18288" bIns="18288" anchor="t">
            <a:spAutoFit/>
          </a:bodyPr>
          <a:lstStyle/>
          <a:p>
            <a:pPr algn="l"/>
            <a:r>
              <a:rPr sz="1200" b="0" i="0">
                <a:solidFill>
                  <a:srgbClr val="333D4A"/>
                </a:solidFill>
                <a:latin typeface="Calibri"/>
              </a:rPr>
              <a:t>LeetCode 496 / 739 (Medium)
Find the next larger element for each array index in O(N) time.
Solved using a Monotonic Stack to store elements in decreasing order.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Summary — Core ADT Concepts</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Key takeaways to review before leaving</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16 / 18</a:t>
            </a:r>
          </a:p>
        </p:txBody>
      </p:sp>
      <p:sp>
        <p:nvSpPr>
          <p:cNvPr id="9" name="TextBox 8"/>
          <p:cNvSpPr txBox="1"/>
          <p:nvPr/>
        </p:nvSpPr>
        <p:spPr>
          <a:xfrm>
            <a:off x="822960" y="1417320"/>
            <a:ext cx="11064240" cy="5074920"/>
          </a:xfrm>
          <a:prstGeom prst="rect">
            <a:avLst/>
          </a:prstGeom>
          <a:noFill/>
        </p:spPr>
        <p:txBody>
          <a:bodyPr wrap="square" lIns="45720" rIns="45720">
            <a:spAutoFit/>
          </a:bodyPr>
          <a:lstStyle/>
          <a:p>
            <a:pPr algn="l">
              <a:lnSpc>
                <a:spcPct val="145000"/>
              </a:lnSpc>
              <a:spcAft>
                <a:spcPts val="400"/>
              </a:spcAft>
            </a:pPr>
            <a:r>
              <a:rPr sz="1800" b="1">
                <a:solidFill>
                  <a:srgbClr val="E0A81F"/>
                </a:solidFill>
                <a:latin typeface="Calibri"/>
              </a:rPr>
              <a:t>▸  </a:t>
            </a:r>
            <a:r>
              <a:rPr sz="1800">
                <a:solidFill>
                  <a:srgbClr val="333D4A"/>
                </a:solidFill>
                <a:latin typeface="Calibri"/>
              </a:rPr>
              <a:t>Abstract Data Types define the behaviors (API) and operations, decoupling from physical memory representations.</a:t>
            </a:r>
          </a:p>
          <a:p>
            <a:pPr algn="l">
              <a:lnSpc>
                <a:spcPct val="145000"/>
              </a:lnSpc>
              <a:spcAft>
                <a:spcPts val="400"/>
              </a:spcAft>
            </a:pPr>
            <a:r>
              <a:rPr sz="1800" b="1">
                <a:solidFill>
                  <a:srgbClr val="E0A81F"/>
                </a:solidFill>
                <a:latin typeface="Calibri"/>
              </a:rPr>
              <a:t>▸  </a:t>
            </a:r>
            <a:r>
              <a:rPr sz="1800">
                <a:solidFill>
                  <a:srgbClr val="333D4A"/>
                </a:solidFill>
                <a:latin typeface="Calibri"/>
              </a:rPr>
              <a:t>A Stack is LIFO (Last-In-First-Out). Operations push, pop, and peek occur at the top of the stack.</a:t>
            </a:r>
          </a:p>
          <a:p>
            <a:pPr algn="l">
              <a:lnSpc>
                <a:spcPct val="145000"/>
              </a:lnSpc>
              <a:spcAft>
                <a:spcPts val="400"/>
              </a:spcAft>
            </a:pPr>
            <a:r>
              <a:rPr sz="1800" b="1">
                <a:solidFill>
                  <a:srgbClr val="E0A81F"/>
                </a:solidFill>
                <a:latin typeface="Calibri"/>
              </a:rPr>
              <a:t>▸  </a:t>
            </a:r>
            <a:r>
              <a:rPr sz="1800">
                <a:solidFill>
                  <a:srgbClr val="333D4A"/>
                </a:solidFill>
                <a:latin typeface="Calibri"/>
              </a:rPr>
              <a:t>A Queue is FIFO (First-In-First-Out). Elements are added at the rear and removed from the front.</a:t>
            </a:r>
          </a:p>
          <a:p>
            <a:pPr algn="l">
              <a:lnSpc>
                <a:spcPct val="145000"/>
              </a:lnSpc>
              <a:spcAft>
                <a:spcPts val="400"/>
              </a:spcAft>
            </a:pPr>
            <a:r>
              <a:rPr sz="1800" b="1">
                <a:solidFill>
                  <a:srgbClr val="E0A81F"/>
                </a:solidFill>
                <a:latin typeface="Calibri"/>
              </a:rPr>
              <a:t>▸  </a:t>
            </a:r>
            <a:r>
              <a:rPr sz="1800">
                <a:solidFill>
                  <a:srgbClr val="333D4A"/>
                </a:solidFill>
                <a:latin typeface="Calibri"/>
              </a:rPr>
              <a:t>Stack implements O(1) easily using a Singly Linked List (at head) or dynamic array (at end).</a:t>
            </a:r>
          </a:p>
          <a:p>
            <a:pPr algn="l">
              <a:lnSpc>
                <a:spcPct val="145000"/>
              </a:lnSpc>
              <a:spcAft>
                <a:spcPts val="400"/>
              </a:spcAft>
            </a:pPr>
            <a:r>
              <a:rPr sz="1800" b="1">
                <a:solidFill>
                  <a:srgbClr val="E0A81F"/>
                </a:solidFill>
                <a:latin typeface="Calibri"/>
              </a:rPr>
              <a:t>▸  </a:t>
            </a:r>
            <a:r>
              <a:rPr sz="1800">
                <a:solidFill>
                  <a:srgbClr val="333D4A"/>
                </a:solidFill>
                <a:latin typeface="Calibri"/>
              </a:rPr>
              <a:t>Queue requires dual pointers (front and rear) in a Linked List for O(1) performance.</a:t>
            </a:r>
          </a:p>
          <a:p>
            <a:pPr algn="l">
              <a:lnSpc>
                <a:spcPct val="145000"/>
              </a:lnSpc>
              <a:spcAft>
                <a:spcPts val="400"/>
              </a:spcAft>
            </a:pPr>
            <a:r>
              <a:rPr sz="1800" b="1">
                <a:solidFill>
                  <a:srgbClr val="E0A81F"/>
                </a:solidFill>
                <a:latin typeface="Calibri"/>
              </a:rPr>
              <a:t>▸  </a:t>
            </a:r>
            <a:r>
              <a:rPr sz="1800">
                <a:solidFill>
                  <a:srgbClr val="333D4A"/>
                </a:solidFill>
                <a:latin typeface="Calibri"/>
              </a:rPr>
              <a:t>Queue in arrays is implemented as a Circular Buffer to avoid O(N) element shifting.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0"/>
            <a:ext cx="11871655" cy="73152"/>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515600" cy="640080"/>
          </a:xfrm>
          <a:prstGeom prst="rect">
            <a:avLst/>
          </a:prstGeom>
          <a:noFill/>
        </p:spPr>
        <p:txBody>
          <a:bodyPr wrap="square" lIns="45720" rIns="45720" tIns="18288" bIns="18288" anchor="t">
            <a:spAutoFit/>
          </a:bodyPr>
          <a:lstStyle/>
          <a:p>
            <a:pPr algn="l"/>
            <a:r>
              <a:rPr sz="3000" b="1" i="0">
                <a:solidFill>
                  <a:srgbClr val="0B2A4A"/>
                </a:solidFill>
                <a:latin typeface="Calibri"/>
              </a:rPr>
              <a:t>References &amp; Further Reading</a:t>
            </a:r>
          </a:p>
        </p:txBody>
      </p:sp>
      <p:sp>
        <p:nvSpPr>
          <p:cNvPr id="5" name="TextBox 4"/>
          <p:cNvSpPr txBox="1"/>
          <p:nvPr/>
        </p:nvSpPr>
        <p:spPr>
          <a:xfrm>
            <a:off x="548640" y="713232"/>
            <a:ext cx="10515600" cy="411480"/>
          </a:xfrm>
          <a:prstGeom prst="rect">
            <a:avLst/>
          </a:prstGeom>
          <a:noFill/>
        </p:spPr>
        <p:txBody>
          <a:bodyPr wrap="square" lIns="45720" rIns="45720" tIns="18288" bIns="18288" anchor="t">
            <a:spAutoFit/>
          </a:bodyPr>
          <a:lstStyle/>
          <a:p>
            <a:pPr algn="l"/>
            <a:r>
              <a:rPr sz="1500" b="0" i="1">
                <a:solidFill>
                  <a:srgbClr val="127A8A"/>
                </a:solidFill>
                <a:latin typeface="Calibri"/>
              </a:rPr>
              <a:t>Resources for deeper study</a:t>
            </a:r>
          </a:p>
        </p:txBody>
      </p:sp>
      <p:sp>
        <p:nvSpPr>
          <p:cNvPr id="6" name="Rectangle 5"/>
          <p:cNvSpPr/>
          <p:nvPr/>
        </p:nvSpPr>
        <p:spPr>
          <a:xfrm>
            <a:off x="548640" y="1115568"/>
            <a:ext cx="1828800" cy="3657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7315200" cy="274320"/>
          </a:xfrm>
          <a:prstGeom prst="rect">
            <a:avLst/>
          </a:prstGeom>
          <a:noFill/>
        </p:spPr>
        <p:txBody>
          <a:bodyPr wrap="square" lIns="45720" rIns="45720" tIns="18288" bIns="18288" anchor="t">
            <a:spAutoFit/>
          </a:bodyPr>
          <a:lstStyle/>
          <a:p>
            <a:pPr algn="l"/>
            <a:r>
              <a:rPr sz="1000" b="0" i="1">
                <a:solidFill>
                  <a:srgbClr val="333D4A"/>
                </a:solidFill>
                <a:latin typeface="Calibri"/>
              </a:rPr>
              <a:t>Data Structures &amp; Algorithms · Week 03 Supplement · Stacks &amp; Queues</a:t>
            </a:r>
          </a:p>
        </p:txBody>
      </p:sp>
      <p:sp>
        <p:nvSpPr>
          <p:cNvPr id="8" name="TextBox 7"/>
          <p:cNvSpPr txBox="1"/>
          <p:nvPr/>
        </p:nvSpPr>
        <p:spPr>
          <a:xfrm>
            <a:off x="10728655" y="6446520"/>
            <a:ext cx="1097280" cy="274320"/>
          </a:xfrm>
          <a:prstGeom prst="rect">
            <a:avLst/>
          </a:prstGeom>
          <a:noFill/>
        </p:spPr>
        <p:txBody>
          <a:bodyPr wrap="square" lIns="45720" rIns="45720" tIns="18288" bIns="18288" anchor="t">
            <a:spAutoFit/>
          </a:bodyPr>
          <a:lstStyle/>
          <a:p>
            <a:pPr algn="r"/>
            <a:r>
              <a:rPr sz="1000" b="0" i="0">
                <a:solidFill>
                  <a:srgbClr val="333D4A"/>
                </a:solidFill>
                <a:latin typeface="Calibri"/>
              </a:rPr>
              <a:t>Slide 17 / 18</a:t>
            </a:r>
          </a:p>
        </p:txBody>
      </p:sp>
      <p:sp>
        <p:nvSpPr>
          <p:cNvPr id="9" name="TextBox 8"/>
          <p:cNvSpPr txBox="1"/>
          <p:nvPr/>
        </p:nvSpPr>
        <p:spPr>
          <a:xfrm>
            <a:off x="822960" y="1417320"/>
            <a:ext cx="11064240" cy="5120640"/>
          </a:xfrm>
          <a:prstGeom prst="rect">
            <a:avLst/>
          </a:prstGeom>
          <a:noFill/>
        </p:spPr>
        <p:txBody>
          <a:bodyPr wrap="square" lIns="45720" rIns="45720">
            <a:spAutoFit/>
          </a:bodyPr>
          <a:lstStyle/>
          <a:p>
            <a:pPr algn="l">
              <a:lnSpc>
                <a:spcPct val="140000"/>
              </a:lnSpc>
              <a:spcAft>
                <a:spcPts val="400"/>
              </a:spcAft>
            </a:pPr>
            <a:r>
              <a:rPr sz="1600" b="1">
                <a:solidFill>
                  <a:srgbClr val="127A8A"/>
                </a:solidFill>
                <a:latin typeface="Calibri"/>
              </a:rPr>
              <a:t>▸  </a:t>
            </a:r>
            <a:r>
              <a:rPr sz="1600" b="1">
                <a:solidFill>
                  <a:srgbClr val="0B2A4A"/>
                </a:solidFill>
                <a:latin typeface="Calibri"/>
              </a:rPr>
              <a:t>Knuth, D. E.  </a:t>
            </a:r>
            <a:r>
              <a:rPr sz="1600">
                <a:solidFill>
                  <a:srgbClr val="333D4A"/>
                </a:solidFill>
                <a:latin typeface="Calibri"/>
              </a:rPr>
              <a:t>The Art of Computer Programming, Vol. 1. Fundamental Algorithms, Section 2.2. Linear Lists (Stacks and Queues).</a:t>
            </a:r>
          </a:p>
          <a:p>
            <a:pPr algn="l">
              <a:lnSpc>
                <a:spcPct val="140000"/>
              </a:lnSpc>
              <a:spcAft>
                <a:spcPts val="400"/>
              </a:spcAft>
            </a:pPr>
            <a:r>
              <a:rPr sz="1600" b="1">
                <a:solidFill>
                  <a:srgbClr val="127A8A"/>
                </a:solidFill>
                <a:latin typeface="Calibri"/>
              </a:rPr>
              <a:t>▸  </a:t>
            </a:r>
            <a:r>
              <a:rPr sz="1600" b="1">
                <a:solidFill>
                  <a:srgbClr val="0B2A4A"/>
                </a:solidFill>
                <a:latin typeface="Calibri"/>
              </a:rPr>
              <a:t>CLRS 4th Ed.  </a:t>
            </a:r>
            <a:r>
              <a:rPr sz="1600">
                <a:solidFill>
                  <a:srgbClr val="333D4A"/>
                </a:solidFill>
                <a:latin typeface="Calibri"/>
              </a:rPr>
              <a:t>Cormen et al. Introduction to Algorithms. Chapter 10: Elementary Data Structures (Stacks and Queues).</a:t>
            </a:r>
          </a:p>
          <a:p>
            <a:pPr algn="l">
              <a:lnSpc>
                <a:spcPct val="140000"/>
              </a:lnSpc>
              <a:spcAft>
                <a:spcPts val="400"/>
              </a:spcAft>
            </a:pPr>
            <a:r>
              <a:rPr sz="1600" b="1">
                <a:solidFill>
                  <a:srgbClr val="127A8A"/>
                </a:solidFill>
                <a:latin typeface="Calibri"/>
              </a:rPr>
              <a:t>▸  </a:t>
            </a:r>
            <a:r>
              <a:rPr sz="1600" b="1">
                <a:solidFill>
                  <a:srgbClr val="0B2A4A"/>
                </a:solidFill>
                <a:latin typeface="Calibri"/>
              </a:rPr>
              <a:t>Python Collections Documentation.  </a:t>
            </a:r>
            <a:r>
              <a:rPr sz="1600">
                <a:solidFill>
                  <a:srgbClr val="333D4A"/>
                </a:solidFill>
                <a:latin typeface="Calibri"/>
              </a:rPr>
              <a:t>Official reference for collections.deque, dynamic lists, and optimization mechanics.</a:t>
            </a:r>
          </a:p>
          <a:p>
            <a:pPr algn="l">
              <a:lnSpc>
                <a:spcPct val="140000"/>
              </a:lnSpc>
              <a:spcAft>
                <a:spcPts val="400"/>
              </a:spcAft>
            </a:pPr>
            <a:r>
              <a:rPr sz="1600" b="1">
                <a:solidFill>
                  <a:srgbClr val="127A8A"/>
                </a:solidFill>
                <a:latin typeface="Calibri"/>
              </a:rPr>
              <a:t>▸  </a:t>
            </a:r>
            <a:r>
              <a:rPr sz="1600" b="1">
                <a:solidFill>
                  <a:srgbClr val="0B2A4A"/>
                </a:solidFill>
                <a:latin typeface="Calibri"/>
              </a:rPr>
              <a:t>LeetCode Challenges.  </a:t>
            </a:r>
            <a:r>
              <a:rPr sz="1600">
                <a:solidFill>
                  <a:srgbClr val="333D4A"/>
                </a:solidFill>
                <a:latin typeface="Calibri"/>
              </a:rPr>
              <a:t>Problems: 20 (Parentheses), 155 (Min Stack), 225 &amp; 232 (Cross Implementations), 239 (Monotonic Deque).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20640"/>
            <a:ext cx="12191695" cy="128016"/>
          </a:xfrm>
          <a:prstGeom prst="rect">
            <a:avLst/>
          </a:prstGeom>
          <a:solidFill>
            <a:srgbClr val="E0A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03520"/>
            <a:ext cx="12191695" cy="45720"/>
          </a:xfrm>
          <a:prstGeom prst="rect">
            <a:avLst/>
          </a:prstGeom>
          <a:solidFill>
            <a:srgbClr val="127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63040"/>
            <a:ext cx="10515600" cy="1371600"/>
          </a:xfrm>
          <a:prstGeom prst="rect">
            <a:avLst/>
          </a:prstGeom>
          <a:noFill/>
        </p:spPr>
        <p:txBody>
          <a:bodyPr wrap="square" lIns="45720" rIns="45720" tIns="18288" bIns="18288" anchor="t">
            <a:spAutoFit/>
          </a:bodyPr>
          <a:lstStyle/>
          <a:p>
            <a:pPr algn="l"/>
            <a:r>
              <a:rPr sz="8000" b="1" i="0">
                <a:solidFill>
                  <a:srgbClr val="FFFFFF"/>
                </a:solidFill>
                <a:latin typeface="Calibri"/>
              </a:rPr>
              <a:t>Questions?</a:t>
            </a:r>
          </a:p>
        </p:txBody>
      </p:sp>
      <p:sp>
        <p:nvSpPr>
          <p:cNvPr id="6" name="TextBox 5"/>
          <p:cNvSpPr txBox="1"/>
          <p:nvPr/>
        </p:nvSpPr>
        <p:spPr>
          <a:xfrm>
            <a:off x="822960" y="2926080"/>
            <a:ext cx="10515600" cy="640080"/>
          </a:xfrm>
          <a:prstGeom prst="rect">
            <a:avLst/>
          </a:prstGeom>
          <a:noFill/>
        </p:spPr>
        <p:txBody>
          <a:bodyPr wrap="square" lIns="45720" rIns="45720" tIns="18288" bIns="18288" anchor="t">
            <a:spAutoFit/>
          </a:bodyPr>
          <a:lstStyle/>
          <a:p>
            <a:pPr algn="l"/>
            <a:r>
              <a:rPr sz="2200" b="0" i="1">
                <a:solidFill>
                  <a:srgbClr val="E0A81F"/>
                </a:solidFill>
                <a:latin typeface="Calibri"/>
              </a:rPr>
              <a:t>Bring your traces, your arrays, and your pointer puzzles.</a:t>
            </a:r>
          </a:p>
        </p:txBody>
      </p:sp>
      <p:sp>
        <p:nvSpPr>
          <p:cNvPr id="7" name="TextBox 6"/>
          <p:cNvSpPr txBox="1"/>
          <p:nvPr/>
        </p:nvSpPr>
        <p:spPr>
          <a:xfrm>
            <a:off x="822960" y="3840480"/>
            <a:ext cx="10515600" cy="457200"/>
          </a:xfrm>
          <a:prstGeom prst="rect">
            <a:avLst/>
          </a:prstGeom>
          <a:noFill/>
        </p:spPr>
        <p:txBody>
          <a:bodyPr wrap="square" lIns="45720" rIns="45720" tIns="18288" bIns="18288" anchor="t">
            <a:spAutoFit/>
          </a:bodyPr>
          <a:lstStyle/>
          <a:p>
            <a:pPr algn="l"/>
            <a:r>
              <a:rPr sz="1600" b="0" i="0">
                <a:solidFill>
                  <a:srgbClr val="F2F4F7"/>
                </a:solidFill>
                <a:latin typeface="Calibri"/>
              </a:rPr>
              <a:t>Remember:  🥞  stacks push/pop at the top; 🚶 queues enter rear, leave front.</a:t>
            </a:r>
          </a:p>
        </p:txBody>
      </p:sp>
      <p:sp>
        <p:nvSpPr>
          <p:cNvPr id="8" name="TextBox 7"/>
          <p:cNvSpPr txBox="1"/>
          <p:nvPr/>
        </p:nvSpPr>
        <p:spPr>
          <a:xfrm>
            <a:off x="822960" y="5577840"/>
            <a:ext cx="10515600" cy="365760"/>
          </a:xfrm>
          <a:prstGeom prst="rect">
            <a:avLst/>
          </a:prstGeom>
          <a:noFill/>
        </p:spPr>
        <p:txBody>
          <a:bodyPr wrap="square" lIns="45720" rIns="45720" tIns="18288" bIns="18288" anchor="t">
            <a:spAutoFit/>
          </a:bodyPr>
          <a:lstStyle/>
          <a:p>
            <a:pPr algn="l"/>
            <a:r>
              <a:rPr sz="1500" b="0" i="0">
                <a:solidFill>
                  <a:srgbClr val="FFFFFF"/>
                </a:solidFill>
                <a:latin typeface="Calibri"/>
              </a:rPr>
              <a:t>Next topic  ·  Trees and Graphs — hierarchical and networked relations.</a:t>
            </a:r>
          </a:p>
        </p:txBody>
      </p:sp>
      <p:sp>
        <p:nvSpPr>
          <p:cNvPr id="9" name="TextBox 8"/>
          <p:cNvSpPr txBox="1"/>
          <p:nvPr/>
        </p:nvSpPr>
        <p:spPr>
          <a:xfrm>
            <a:off x="822960" y="5989320"/>
            <a:ext cx="10515600" cy="365760"/>
          </a:xfrm>
          <a:prstGeom prst="rect">
            <a:avLst/>
          </a:prstGeom>
          <a:noFill/>
        </p:spPr>
        <p:txBody>
          <a:bodyPr wrap="square" lIns="45720" rIns="45720" tIns="18288" bIns="18288" anchor="t">
            <a:spAutoFit/>
          </a:bodyPr>
          <a:lstStyle/>
          <a:p>
            <a:pPr algn="l"/>
            <a:r>
              <a:rPr sz="1100" b="0" i="1">
                <a:solidFill>
                  <a:srgbClr val="F2F4F7"/>
                </a:solidFill>
                <a:latin typeface="Calibri"/>
              </a:rPr>
              <a:t>Data Structures &amp; Algorithms  ·  Week 03 Supplement  ·  Stacks &amp; Queues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