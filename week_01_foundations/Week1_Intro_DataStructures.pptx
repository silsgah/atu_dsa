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4572000" cy="4572000"/>
          </a:xfrm>
          <a:prstGeom prst="ellipse">
            <a:avLst/>
          </a:prstGeom>
          <a:solidFill>
            <a:srgbClr val="3776AB">
              <a:alpha val="12000"/>
            </a:srgbClr>
          </a:solidFill>
          <a:ln w="12700">
            <a:solidFill>
              <a:srgbClr val="3776A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WEEK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DE3EA"/>
                </a:solidFill>
              </a:rPr>
              <a:t>Concepts · Classification · Python Foundations · Memory Representation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20040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154680"/>
            <a:ext cx="320040" cy="73152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0175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3EA"/>
                </a:solidFill>
              </a:rPr>
              <a:t>Implementation Language:  Python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2606040" cy="384048"/>
          </a:xfrm>
          <a:prstGeom prst="rect">
            <a:avLst/>
          </a:prstGeom>
          <a:solidFill>
            <a:srgbClr val="0F7173">
              <a:alpha val="25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11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What is a DS?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3611880"/>
            <a:ext cx="2606040" cy="384048"/>
          </a:xfrm>
          <a:prstGeom prst="rect">
            <a:avLst/>
          </a:prstGeom>
          <a:solidFill>
            <a:srgbClr val="0F7173">
              <a:alpha val="25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611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Why DS?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611880"/>
            <a:ext cx="2606040" cy="384048"/>
          </a:xfrm>
          <a:prstGeom prst="rect">
            <a:avLst/>
          </a:prstGeom>
          <a:solidFill>
            <a:srgbClr val="0F7173">
              <a:alpha val="25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611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Types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2606040" cy="384048"/>
          </a:xfrm>
          <a:prstGeom prst="rect">
            <a:avLst/>
          </a:prstGeom>
          <a:solidFill>
            <a:srgbClr val="0F7173">
              <a:alpha val="25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Memory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4114800"/>
            <a:ext cx="2606040" cy="384048"/>
          </a:xfrm>
          <a:prstGeom prst="rect">
            <a:avLst/>
          </a:prstGeom>
          <a:solidFill>
            <a:srgbClr val="0F7173">
              <a:alpha val="25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Python Built-ins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4114800"/>
            <a:ext cx="2606040" cy="384048"/>
          </a:xfrm>
          <a:prstGeom prst="rect">
            <a:avLst/>
          </a:prstGeom>
          <a:solidFill>
            <a:srgbClr val="0F7173">
              <a:alpha val="25000"/>
            </a:srgbClr>
          </a:solidFill>
          <a:ln w="12700">
            <a:solidFill>
              <a:srgbClr val="14A097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Complexity Intro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7173">
              <a:alpha val="70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17720"/>
            <a:ext cx="86868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BCP 201: Data Structures &amp; Algorithms  |  Week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Structure?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D5F2F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173"/>
                </a:solidFill>
              </a:rPr>
              <a:t>Definition: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A data structure is a way of 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organizing, storing, and managing data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in a computer so that it can be accessed and modified efficiently.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7627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76272"/>
            <a:ext cx="4206240" cy="40233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7627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Organization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Defines how data elements are arranged and related to each other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17627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176272"/>
            <a:ext cx="4206240" cy="40233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17627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633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Determines how data is stored in memory (contiguous vs. linked)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74720"/>
            <a:ext cx="4206240" cy="4023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747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931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Specifies what can be done: insert, delete, search, traverse, update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74720"/>
            <a:ext cx="4206240" cy="402336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4747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Efficiency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931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Enables writing fast programs by choosing the right structure for the task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D"/>
                </a:solidFill>
              </a:rPr>
              <a:t>A data structure = Data + Relationships + Operations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Data Structures?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029200" cy="43891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Motivations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1188720" cy="420624"/>
          </a:xfrm>
          <a:prstGeom prst="rect">
            <a:avLst/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Performance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91640" y="166420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The right structure can reduce an operation from O(n²) to O(log n)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322576"/>
            <a:ext cx="1188720" cy="420624"/>
          </a:xfrm>
          <a:prstGeom prst="rect">
            <a:avLst/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225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Scalability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91640" y="232257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Programs must work efficiently on large datasets, not just small ones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980944"/>
            <a:ext cx="1188720" cy="420624"/>
          </a:xfrm>
          <a:prstGeom prst="rect">
            <a:avLst/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809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Foundation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1640" y="298094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Algorithms depend on data structures — you can't learn one without the other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639312"/>
            <a:ext cx="1188720" cy="420624"/>
          </a:xfrm>
          <a:prstGeom prst="rect">
            <a:avLst/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393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Real-World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91640" y="363931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Databases, OS, compilers, games, AI — all built on well-chosen structures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4297680"/>
            <a:ext cx="1188720" cy="420624"/>
          </a:xfrm>
          <a:prstGeom prst="rect">
            <a:avLst/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976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Problem Solving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91640" y="429768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Recognizing the right structure is the first step to solving any hard problem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577840" y="1097280"/>
            <a:ext cx="3291840" cy="38404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10972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</a:rPr>
              <a:t>Analogy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15000" y="1664208"/>
            <a:ext cx="30175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data structure like a
</a:t>
            </a:r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cabinet</a:t>
            </a:r>
            <a:pPr indent="0" marL="0">
              <a:buNone/>
            </a:pPr>
            <a:r>
              <a:rPr lang="en-US" sz="1200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organized cabinet means searching through every drawer for a single document.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well-organized one lets you go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to the right drawer, right folder, right file.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is your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Data Structures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14800" cy="45720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Primitive Data Structures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D"/>
                </a:solidFill>
              </a:rPr>
              <a:t>Basic types provided directly by the language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48256"/>
            <a:ext cx="777240" cy="36576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482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048256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Integer numbers: 42, -7, 1000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578608"/>
            <a:ext cx="777240" cy="36576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7860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578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Decimal numbers: 3.14, -0.5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777240" cy="36576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08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108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True or False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639312"/>
            <a:ext cx="777240" cy="36576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393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6393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Text: 'hello', 'data'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169664"/>
            <a:ext cx="777240" cy="36576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696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416966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Absence of a 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1078992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78992"/>
            <a:ext cx="411480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78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Non-Primitive Data Structures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1627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D"/>
                </a:solidFill>
              </a:rPr>
              <a:t>Derived from primitive types. Two main families: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92040" y="2048256"/>
            <a:ext cx="3840480" cy="123444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0482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173"/>
                </a:solidFill>
              </a:rPr>
              <a:t>Linear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2377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Elements in a sequence, each connected to the next.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Array · Linked List · Stack · Queue · Deque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383280"/>
            <a:ext cx="3840480" cy="123444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Non-Linear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71246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Elements connected in a hierarchical or network structure.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Tree · Graph · Heap · Trie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50292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Python built-ins: list, tuple, dict, set — all non-primitive structures!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 Data Structures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1480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Static Structures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746504"/>
            <a:ext cx="256032" cy="256032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733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Fixed size determined at creation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256032" cy="256032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585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Memory allocated at compile/definition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16936"/>
            <a:ext cx="256032" cy="256032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4378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Faster access — elements in contiguous 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502152"/>
            <a:ext cx="256032" cy="256032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290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Cannot grow or shrink after creation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087368"/>
            <a:ext cx="256032" cy="256032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1421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Example: Python tuple (immutable fixed sequence)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776472"/>
            <a:ext cx="4023360" cy="886968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76472"/>
            <a:ext cx="777240" cy="25603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776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Tuple — static (immutable)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 = (10, 20, 30)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coords[0] = 5  # TypeError!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print(coords[1])  # 20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078992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78992"/>
            <a:ext cx="411480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78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Dynamic Structures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746504"/>
            <a:ext cx="256032" cy="25603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6733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Size changes at runtime as needed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2331720"/>
            <a:ext cx="256032" cy="25603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2585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Memory allocated and freed dynamically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2916936"/>
            <a:ext cx="256032" cy="25603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84378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Slightly more overhead — memory is non-contiguous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3502152"/>
            <a:ext cx="256032" cy="25603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4290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Flexible: can grow and shrink during execution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4087368"/>
            <a:ext cx="256032" cy="25603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01421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Example: Python list (dynamic resizable array)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3776472"/>
            <a:ext cx="4023360" cy="886968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776472"/>
            <a:ext cx="777240" cy="25603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776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37760" y="40690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— dynamic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nums.append(4)   # grows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nums.pop()       # shrinks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    # [1, 2, 3]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Representation of Data Structures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solidFill>
            <a:srgbClr val="0F7173">
              <a:alpha val="85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Contiguous Allocation — Array / 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234440" cy="502920"/>
          </a:xfrm>
          <a:prstGeom prst="rect">
            <a:avLst/>
          </a:prstGeom>
          <a:solidFill>
            <a:srgbClr val="3776AB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1234440" cy="27432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1600200"/>
            <a:ext cx="1234440" cy="502920"/>
          </a:xfrm>
          <a:prstGeom prst="rect">
            <a:avLst/>
          </a:prstGeom>
          <a:solidFill>
            <a:srgbClr val="3776AB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83080" y="2103120"/>
            <a:ext cx="1234440" cy="27432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600200"/>
            <a:ext cx="1234440" cy="502920"/>
          </a:xfrm>
          <a:prstGeom prst="rect">
            <a:avLst/>
          </a:prstGeom>
          <a:solidFill>
            <a:srgbClr val="3776AB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54680" y="2103120"/>
            <a:ext cx="1234440" cy="27432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1600200"/>
            <a:ext cx="1234440" cy="502920"/>
          </a:xfrm>
          <a:prstGeom prst="rect">
            <a:avLst/>
          </a:prstGeom>
          <a:solidFill>
            <a:srgbClr val="3776AB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26280" y="2103120"/>
            <a:ext cx="1234440" cy="27432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97880" y="1600200"/>
            <a:ext cx="1234440" cy="502920"/>
          </a:xfrm>
          <a:prstGeom prst="rect">
            <a:avLst/>
          </a:prstGeom>
          <a:solidFill>
            <a:srgbClr val="3776AB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97880" y="2103120"/>
            <a:ext cx="1234440" cy="27432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69480" y="1600200"/>
            <a:ext cx="1234440" cy="502920"/>
          </a:xfrm>
          <a:prstGeom prst="rect">
            <a:avLst/>
          </a:prstGeom>
          <a:solidFill>
            <a:srgbClr val="3776AB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56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69480" y="2103120"/>
            <a:ext cx="1234440" cy="27432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</a:rPr>
              <a:t>← index  0       1       2       3       4       5  →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7173"/>
                </a:solidFill>
              </a:rPr>
              <a:t>Each element is in adjacent memory — index-based access is O(1)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999232"/>
            <a:ext cx="8595360" cy="384048"/>
          </a:xfrm>
          <a:prstGeom prst="rect">
            <a:avLst/>
          </a:prstGeom>
          <a:solidFill>
            <a:srgbClr val="0D1B40">
              <a:alpha val="90000"/>
            </a:srgbClr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9992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Non-Contiguous Allocation — Linked List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3520440"/>
            <a:ext cx="685800" cy="594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520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143000" y="3520440"/>
            <a:ext cx="868680" cy="59436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3520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2400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29968" y="3749040"/>
            <a:ext cx="54864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0" y="3520440"/>
            <a:ext cx="685800" cy="594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3520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45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246120" y="3520440"/>
            <a:ext cx="868680" cy="59436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3520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5010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33088" y="3749040"/>
            <a:ext cx="54864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520440"/>
            <a:ext cx="685800" cy="594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520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349240" y="3520440"/>
            <a:ext cx="868680" cy="59436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9240" y="3520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1220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36208" y="3749040"/>
            <a:ext cx="54864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3520440"/>
            <a:ext cx="685800" cy="594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3520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88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452360" y="3520440"/>
            <a:ext cx="868680" cy="59436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52360" y="3520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null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1148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40"/>
                </a:solidFill>
              </a:rPr>
              <a:t>Nodes scattered in memory — traversal is O(n), but dynamic sizing is O(1) insertion at head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4572000"/>
            <a:ext cx="859536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74320" y="4572000"/>
            <a:ext cx="777240" cy="25603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572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11480" y="486460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list (contiguous under the hood)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[12, 45, 7, 88, 23, 56]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print(arr[2])   # O(1) — direct access: 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Built-in Data Structures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42062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17320" y="118872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Mutable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Ordered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727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</a:rPr>
              <a:t>Dynamic array. Most versatile structure. Allows duplicates.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1965960"/>
            <a:ext cx="3977640" cy="914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1168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nums.append(4)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print(nums[0])  #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97280"/>
            <a:ext cx="4206240" cy="42062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9728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52160" y="118872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Immutable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118872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Ordered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8888" y="15727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</a:rPr>
              <a:t>Fixed-size sequence. Faster than list for read-only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18888" y="1965960"/>
            <a:ext cx="3977640" cy="914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01168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= (3, 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  #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2724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27248"/>
            <a:ext cx="4206240" cy="42062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2724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417320" y="321868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3218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Mutable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321868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3218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Ordered*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" y="360273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</a:rPr>
              <a:t>Key-value hash map. O(1) average lookup. *Ordered since Py 3.7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4048" y="3995928"/>
            <a:ext cx="3977640" cy="914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041648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 = {'Ali':20, 'Ben':22}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ages['Cara'] = 21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print(ages['Ali'])  # 20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12724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127248"/>
            <a:ext cx="4206240" cy="4206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12724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852160" y="321868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218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Mutable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49440" y="321868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3218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Unordered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18888" y="360273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</a:rPr>
              <a:t>Unordered collection of unique elements. O(1) membership test.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18888" y="3995928"/>
            <a:ext cx="3977640" cy="914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0328" y="4041648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{1, 2, 3, 2, 1}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print(s)  # {1, 2, 3}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s.add(4)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 on Data Structures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Every data structure supports a set of fundamental operations. Understanding their cost is essential.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618488"/>
            <a:ext cx="566928" cy="566928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600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</a:rPr>
              <a:t>Traversal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8928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Visit every element exactly once. Needed for printing, summing, searching all items.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618488"/>
            <a:ext cx="1051560" cy="859536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55064"/>
            <a:ext cx="960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my_list: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1618488"/>
            <a:ext cx="566928" cy="566928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13832" y="1600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76AB"/>
                </a:solidFill>
              </a:rPr>
              <a:t>Insertion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13832" y="18928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Add a new element at a specific position. Cost depends on structure.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0" y="1618488"/>
            <a:ext cx="1051560" cy="859536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1655064"/>
            <a:ext cx="960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my_list.append(99)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my_list.insert(2, 50)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50876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161848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1600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Deletion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18928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Remove an element by value or position. May require shifting.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1618488"/>
            <a:ext cx="1051560" cy="859536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1655064"/>
            <a:ext cx="960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my_list.remove(50)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my_list.pop(0)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26974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18888" y="2807208"/>
            <a:ext cx="566928" cy="566928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13832" y="27889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Search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13832" y="308152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Find whether an element exists and locate it.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0" y="2807208"/>
            <a:ext cx="1051560" cy="859536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2843784"/>
            <a:ext cx="960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99 in my_list: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print('found')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6974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2807208"/>
            <a:ext cx="566928" cy="5669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↕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8992" y="27889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Sorting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78992" y="308152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Rearrange elements into a defined order (ascending/descending).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37560" y="2807208"/>
            <a:ext cx="1051560" cy="859536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843784"/>
            <a:ext cx="960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my_list.sort()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sorted(my_list)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26974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18888" y="2807208"/>
            <a:ext cx="566928" cy="566928"/>
          </a:xfrm>
          <a:prstGeom prst="ellipse">
            <a:avLst/>
          </a:prstGeom>
          <a:solidFill>
            <a:srgbClr val="14A097"/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⊕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513832" y="27889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097"/>
                </a:solidFill>
              </a:rPr>
              <a:t>Merging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13832" y="308152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Combine two structures into one while preserving properties.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772400" y="2807208"/>
            <a:ext cx="1051560" cy="859536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18120" y="2843784"/>
            <a:ext cx="960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list_a + list_b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Algorithm Complexity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658368"/>
          </a:xfrm>
          <a:prstGeom prst="rect">
            <a:avLst/>
          </a:prstGeom>
          <a:solidFill>
            <a:srgbClr val="D5F2F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</a:rPr>
              <a:t>Big-O Notation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describes how an algorithm's time or space requirements grow as input size </a:t>
            </a:r>
            <a:pPr indent="0" marL="0">
              <a:buNone/>
            </a:pPr>
            <a:r>
              <a:rPr lang="en-US" sz="1300" b="1" i="1" dirty="0">
                <a:solidFill>
                  <a:srgbClr val="0F7173"/>
                </a:solidFill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 increases. It gives us the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worst-case upper bound.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3840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3840480" cy="42062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Complexity Classes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100584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91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3591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Constant
</a:t>
            </a:r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10,000 ops at n=10 or n=1M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71216"/>
            <a:ext cx="1005840" cy="347472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28712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Logarithmic
</a:t>
            </a:r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~14 ops for n=10,000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383280"/>
            <a:ext cx="100584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3383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Linear
</a:t>
            </a:r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1M ops for n=1M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895344"/>
            <a:ext cx="1005840" cy="347472"/>
          </a:xfrm>
          <a:prstGeom prst="rect">
            <a:avLst/>
          </a:prstGeom>
          <a:solidFill>
            <a:srgbClr val="E07B3F"/>
          </a:solidFill>
          <a:ln w="12700">
            <a:solidFill>
              <a:srgbClr val="E07B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953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38953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Linearithmic
</a:t>
            </a:r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~14M ops for n=1M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407408"/>
            <a:ext cx="10058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074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44074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Quadratic
</a:t>
            </a:r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1 trillion ops for n=1M!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1828800"/>
            <a:ext cx="44805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1828800"/>
            <a:ext cx="4480560" cy="42062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18288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Examples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34840" y="2304288"/>
            <a:ext cx="4389120" cy="2633472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34840" y="2304288"/>
            <a:ext cx="777240" cy="25603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23042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0" y="2596896"/>
            <a:ext cx="4114800" cy="222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O(1) — constant time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get_first(lst):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lst[0]   # direct index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O(n) — linear time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find_max(lst):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max_val = lst[0]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lst:       # visits every item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x &gt; max_val: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max_val = x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max_val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O(n^2) — quadratic time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bubble_sort(lst):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len(lst)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range(n - i - 1):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lst[j] &gt; lst[j + 1]: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lst[j], lst[j+1] = lst[j+1], lst[j]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Python List as an Array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457200"/>
          </a:xfrm>
          <a:prstGeom prst="rect">
            <a:avLst/>
          </a:prstGeom>
          <a:solidFill>
            <a:srgbClr val="3776AB">
              <a:alpha val="85000"/>
            </a:srgbClr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Python's list is a dynamic array — it automatically resizes, but provides array-like O(1) index access.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64208"/>
            <a:ext cx="3840480" cy="42062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642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 Operation Complexities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3749040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list[i]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2231136"/>
            <a:ext cx="685800" cy="228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23113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O(1)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21945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</a:rPr>
              <a:t>Index access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532888"/>
            <a:ext cx="3749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328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list.append()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65960" y="2569464"/>
            <a:ext cx="685800" cy="228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5694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O(1)*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5328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</a:rPr>
              <a:t>Add to end (amortized)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71216"/>
            <a:ext cx="3749040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7121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list.pop()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65960" y="2907792"/>
            <a:ext cx="685800" cy="228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29077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O(1)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28712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</a:rPr>
              <a:t>Remove last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209544"/>
            <a:ext cx="3749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list.insert(i)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65960" y="3246120"/>
            <a:ext cx="685800" cy="228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32461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O(n)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0" y="320954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</a:rPr>
              <a:t>Insert at index — shifts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547872"/>
            <a:ext cx="3749040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4787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list.remove(x)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65960" y="3584448"/>
            <a:ext cx="685800" cy="228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35844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O(n)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354787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</a:rPr>
              <a:t>Search then remove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886200"/>
            <a:ext cx="3749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88620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in list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65960" y="3922776"/>
            <a:ext cx="685800" cy="228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392277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O(n)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0" y="38862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</a:rPr>
              <a:t>Linear membership test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224528"/>
            <a:ext cx="3749040" cy="310896"/>
          </a:xfrm>
          <a:prstGeom prst="rect">
            <a:avLst/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2245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len(list)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65960" y="4261104"/>
            <a:ext cx="685800" cy="228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5960" y="42611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O(1)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0" y="422452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</a:rPr>
              <a:t>Stored as attribute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562856"/>
            <a:ext cx="3749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6285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list.sort()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65960" y="4599432"/>
            <a:ext cx="685800" cy="228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65960" y="45994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O(n log n)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0" y="456285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</a:rPr>
              <a:t>Timsort algorithm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389120" y="1664208"/>
            <a:ext cx="4480560" cy="3291840"/>
          </a:xfrm>
          <a:prstGeom prst="rect">
            <a:avLst/>
          </a:prstGeom>
          <a:solidFill>
            <a:srgbClr val="1E2A3A"/>
          </a:solidFill>
          <a:ln w="12700">
            <a:solidFill>
              <a:srgbClr val="2D3F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389120" y="1664208"/>
            <a:ext cx="777240" cy="25603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0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26280" y="1956816"/>
            <a:ext cx="42062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Creating lists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 = [10, 20, 30, 40, 50]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= [1, "hello", 3.14, True]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Indexing &amp; Slicing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print(nums[0])      # 10  — O(1)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print(nums[-1])     # 50  — last item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print(nums[1:4])    # [20,30,40]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Modifying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nums.append(60)     # [10,20,30,40,50,60]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nums.insert(0, 5)   # [5,10,20,30,40,50,60]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nums.pop()          # removes 60 — O(1)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nums.remove(30)     # removes value 30 — O(n)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sum(nums)   # built-in O(n)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 = [x*2 for x in nums]  # list comp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Data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The choice of data structure directly impacts correctness, performance, and code clarity.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81328"/>
            <a:ext cx="109728" cy="51206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961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IF:  You need fast random access by index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74920" y="149961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A8D"/>
                </a:solidFill>
              </a:rPr>
              <a:t>USE: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77840" y="149961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/ tuple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O(1) index access — contiguous memory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7568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75688"/>
            <a:ext cx="109728" cy="51206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9397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IF:  You need O(1) lookup by a unique key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4920" y="209397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A8D"/>
                </a:solidFill>
              </a:rPr>
              <a:t>USE: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77840" y="209397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23500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Hash map gives O(1) avg. lookup, insert, delete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7004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70048"/>
            <a:ext cx="109728" cy="5120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8833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IF:  You need to store unique items only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74920" y="268833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A8D"/>
                </a:solidFill>
              </a:rPr>
              <a:t>USE: 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268833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29443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Eliminates duplicates automatically, O(1) 'in'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26440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264408"/>
            <a:ext cx="109728" cy="51206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8269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IF:  You need LIFO (last-in-first-out) access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74920" y="328269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A8D"/>
                </a:solidFill>
              </a:rPr>
              <a:t>USE: 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77840" y="328269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as stack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353872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append() / pop() both O(1) — no shifting needed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5876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858768"/>
            <a:ext cx="109728" cy="512064"/>
          </a:xfrm>
          <a:prstGeom prst="rect">
            <a:avLst/>
          </a:prstGeom>
          <a:solidFill>
            <a:srgbClr val="14A097"/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7705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IF:  You need FIFO (first-in-first-out) access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74920" y="38770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A8D"/>
                </a:solidFill>
              </a:rPr>
              <a:t>USE: 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387705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A0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collections.deque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41330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O(1) appendleft() and popleft() unlike list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45312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453128"/>
            <a:ext cx="109728" cy="5120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7141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IF:  You need a sorted sequence with fast search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74920" y="447141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A8D"/>
                </a:solidFill>
              </a:rPr>
              <a:t>USE: 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77840" y="447141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bisect + list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47274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</a:rPr>
              <a:t>Binary search O(log n) on sorted list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5074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F7173"/>
                </a:solidFill>
              </a:rPr>
              <a:t>Rule of thumb: understand your access pattern before choosing a 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743200"/>
            <a:ext cx="4572000" cy="4572000"/>
          </a:xfrm>
          <a:prstGeom prst="ellipse">
            <a:avLst/>
          </a:prstGeom>
          <a:solidFill>
            <a:srgbClr val="0F7173">
              <a:alpha val="12000"/>
            </a:srgbClr>
          </a:solidFill>
          <a:ln w="12700">
            <a:solidFill>
              <a:srgbClr val="0F717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3776AB">
              <a:alpha val="12000"/>
            </a:srgbClr>
          </a:solidFill>
          <a:ln w="12700">
            <a:solidFill>
              <a:srgbClr val="3776AB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Week 1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9304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9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234440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34440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 data structure organizes data for efficient storage, access, and modification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1901952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901952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Structures are classified as Primitive/Non-Primitive and Static/Dynamic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624328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2569464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569464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Python provides built-in structures: list, tuple, dict, set — each with trade-offs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291840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3236976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236976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Every operation has a complexity cost — Big-O measures worst-case growth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959352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" y="3904488"/>
            <a:ext cx="7818120" cy="512064"/>
          </a:xfrm>
          <a:prstGeom prst="rect">
            <a:avLst/>
          </a:prstGeom>
          <a:solidFill>
            <a:srgbClr val="0F7173">
              <a:alpha val="18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904488"/>
            <a:ext cx="7635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Choosing the right structure is the first and most important design decision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0F7173">
              <a:alpha val="80000"/>
            </a:srgbClr>
          </a:solidFill>
          <a:ln w="12700">
            <a:solidFill>
              <a:srgbClr val="0F717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 Week: Abstract Data Types (ADTs) — formalizing structure behaviour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60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Practice Exercises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Complete the following before Week 2. Implement in Python 3.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502920" cy="8046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6112" y="155448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544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173"/>
                </a:solidFill>
              </a:rPr>
              <a:t>Basic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1810512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List Operations Practice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2039112"/>
            <a:ext cx="7818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Create a Python list of 10 integers. Write functions to: (a) find the max without using max(), (b) reverse the list without using reverse(), (c) count occurrences of a given value.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59152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59152"/>
            <a:ext cx="502920" cy="8046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591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6112" y="2450592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F7173">
              <a:alpha val="8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450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173"/>
                </a:solidFill>
              </a:rPr>
              <a:t>Basic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" y="270662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Dictionary &amp; Set Exploration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" y="2935224"/>
            <a:ext cx="7818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Given a sentence, use a dictionary to count how many times each word appears. Then use a set to find all unique words. Compare the access time of 'in' on a list vs. a set.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55264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55264"/>
            <a:ext cx="502920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5526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96112" y="3346704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8A838">
              <a:alpha val="8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3467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38"/>
                </a:solidFill>
              </a:rPr>
              <a:t>Intermediate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6112" y="3602736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Complexity Analysis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6112" y="3831336"/>
            <a:ext cx="7818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For each of the following operations, state the Big-O complexity and explain why: (a) list[i], (b) x in list, (c) x in set, (d) dict[key], (e) list.insert(0, val).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151376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151376"/>
            <a:ext cx="502920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5137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96112" y="4242816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8A838">
              <a:alpha val="8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2428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38"/>
                </a:solidFill>
              </a:rPr>
              <a:t>Intermediate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6112" y="449884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Choosing Structures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96112" y="4727448"/>
            <a:ext cx="7818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Given these requirements, pick the best Python built-in and justify: (a) storing student IDs with their grades; (b) maintaining a playlist that preserves order; (c) tracking which usernames are taken.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BCP 201 – Week 1: Introduction to Data Structures</dc:title>
  <dc:subject>PptxGenJS Presentation</dc:subject>
  <dc:creator>PptxGenJS</dc:creator>
  <cp:lastModifiedBy>PptxGenJS</cp:lastModifiedBy>
  <cp:revision>1</cp:revision>
  <dcterms:created xsi:type="dcterms:W3CDTF">2026-04-18T19:48:13Z</dcterms:created>
  <dcterms:modified xsi:type="dcterms:W3CDTF">2026-04-18T19:48:13Z</dcterms:modified>
</cp:coreProperties>
</file>