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8" r:id="rId29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60"/>
                </a:solidFill>
                <a:latin typeface="Calibri"/>
              </a:defRPr>
            </a:pPr>
            <a:r>
              <a:t>BCP201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Week 1: Foundations</a:t>
            </a:r>
            <a:br/>
            <a:r>
              <a:t>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Why DSA Matters  ·  Asymptotic Notation  ·  Complexity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Data Structures &amp; Algorithms  |  First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Lecture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What are Data Structures &amp; Algorithms?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Why should every programmer study DSA?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The cost of inefficiency — real-world motivation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Asymptotic Notation — Big-O, Big-Ω, Big-Θ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Rules for analyzing complexity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Common complexity classes — from O(1) to O(N!)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Space complexity &amp; the memory 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Why Data Structures</a:t>
            </a:r>
            <a:br/>
            <a:r>
              <a:t>&amp; Algorithms?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The foundation every engineer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a Data Structure?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 data structure is a way of organizing, storing, and managing data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Think of it as a container with specific rules for access and modification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Different structures optimize for different operations: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Arrays — fast random access by index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Hash Tables — fast lookup by key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Trees — fast sorted operations &amp; hierarchical data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Graphs — modeling relationships and networks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Choosing the RIGHT structure is often more impactful than clever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an Algorithm?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 step-by-step procedure to solve a specific problem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Like a recipe: inputs → processing → output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Key properties of a good algorithm: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Correctness — produces the right answer for all valid inputs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Efficiency — uses minimal time and space resources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Finiteness — terminates in a finite number of steps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Data structures + algorithms = the core of all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Study DSA? — The Practical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Performance at Scale — code that works for 100 users may collapse at 1M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Google processes 8.5 billion searches/day — every microsecond matters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Technical Interviews — DSA is the universal language of hiring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FAANG, startups, and top companies all test DSA proficiency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Problem-Solving Mindset — DSA trains you to think systematically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System Design — real systems are built on these primitives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Databases use B-Trees, networks use graph algorithms, ML uses matrices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Cost of Inefficiency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Scenario: search for a name in a phone book of 1,000,000 entries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Brute-force (linear scan): up to 1,000,000 comparisons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Binary search (sorted): only ~20 comparisons!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That's a 50,000× speedup from choosing the right 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572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Linear search — O(N)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linear_search(arr, target):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i in range(len(arr)):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if arr[i] == target: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return i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-1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Binary search — O(log N)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binary_search(arr, target):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lo, hi = 0, len(arr) - 1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while lo &lt;= hi: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mid = (lo + hi) // 2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if arr[mid] == target: return mid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elif arr[mid] &lt; target: lo = mid + 1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else: hi = mid - 1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Asymptotic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How we measure algorithmic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Core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How do we describe algorithm speed without tying it to specific hardware?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 loop taking 1ns per element on Machine A takes 10ns on Machine B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But both scale linearly with N — that's the invariant we care about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Asymptotic analysis describes how runtime grows as input size N → ∞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We ignore constants and focus on the dominant term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This gives us a hardware-independent measure of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Big Three Notations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474720" cy="47548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474720" cy="64008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CB5C"/>
                </a:solidFill>
                <a:latin typeface="Calibri"/>
              </a:defRPr>
            </a:pPr>
            <a:r>
              <a:t>Big-O  (Upper Bound)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Worst-case scenario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"At most this slow"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1">
                <a:solidFill>
                  <a:srgbClr val="FFFFFF"/>
                </a:solidFill>
                <a:latin typeface="Calibri"/>
              </a:rPr>
              <a:t>Most used in industry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E84D60"/>
                </a:solidFill>
                <a:latin typeface="Calibri"/>
              </a:rPr>
              <a:t>○  </a:t>
            </a:r>
            <a:r>
              <a:rPr sz="1700" b="0">
                <a:solidFill>
                  <a:srgbClr val="FFFFFF"/>
                </a:solidFill>
                <a:latin typeface="Calibri"/>
              </a:rPr>
              <a:t>f(N) ≤ c·g(N) for large 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47548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474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Big-Ω  (Lower Bound)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Best-case scenario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"At least this fast"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Less commonly used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E84D60"/>
                </a:solidFill>
                <a:latin typeface="Calibri"/>
              </a:rPr>
              <a:t>○  </a:t>
            </a:r>
            <a:r>
              <a:rPr sz="1700" b="0">
                <a:solidFill>
                  <a:srgbClr val="FFFFFF"/>
                </a:solidFill>
                <a:latin typeface="Calibri"/>
              </a:rPr>
              <a:t>f(N) ≥ c·g(N) for large 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47548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47472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D6A0"/>
                </a:solidFill>
                <a:latin typeface="Calibri"/>
              </a:defRPr>
            </a:pPr>
            <a:r>
              <a:t>Big-Θ  (Tight Bound)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Exact growth rate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Both upper &amp; lower match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5CB5C"/>
                </a:solidFill>
                <a:latin typeface="Calibri"/>
              </a:rPr>
              <a:t>●  </a:t>
            </a:r>
            <a:r>
              <a:rPr sz="1700" b="0">
                <a:solidFill>
                  <a:srgbClr val="FFFFFF"/>
                </a:solidFill>
                <a:latin typeface="Calibri"/>
              </a:rPr>
              <a:t>Most precise notation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E84D60"/>
                </a:solidFill>
                <a:latin typeface="Calibri"/>
              </a:rPr>
              <a:t>○  </a:t>
            </a:r>
            <a:r>
              <a:rPr sz="1700" b="0">
                <a:solidFill>
                  <a:srgbClr val="FFFFFF"/>
                </a:solidFill>
                <a:latin typeface="Calibri"/>
              </a:rPr>
              <a:t>c₁·g(N) ≤ f(N) ≤ c₂·g(N)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Golden Rules of</a:t>
            </a:r>
            <a:br/>
            <a:r>
              <a:t>Big-O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Simplifying complexity expressions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Rule 1: Drop the Constants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O(2N) simplifies to O(N)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O(500) simplifies to O(1)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Constants don't change the fundamental growth trajectory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Whether the loop body takes 1ns or 100ns, doubling N doubles the total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1148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Both are O(N) — constants don't matter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version_a(arr):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total = 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x in arr:        # N iterations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total += x       # 1 operation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total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version_b(arr):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total = 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x in arr:        # N iterations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total += x       # still O(N)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total += x * 2   # even with more work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total += x * 3   # per iteration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Rule 2: Drop Non-Dominant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O(N² + N) simplifies to O(N²)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O(N³ + N² + N) → O(N³)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As N → ∞, the highest-order term dominates all others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N = 1,000:  N² = 1,000,000  but  N = 1,000  — negligible!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O(N + log N) → O(N)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36576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example(arr):       # arr has N elements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# Phase 1: O(N²)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i in arr: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for j in arr: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print(i, j)  # N × N = N²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# Phase 2: O(N)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x in arr: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print(x)         # N operations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Total: O(N² + N) → O(N²)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The N² phase dominates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Rule 3: Different Inputs = Different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If you process two separate inputs, use separate variables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Loop A then loop B = O(A + B), not O(N)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Nested loop A inside B = O(A × B), not O(N²)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Common mistake: calling everything "N"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1148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process(arr_a, arr_b):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# Sequential — O(A + B)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x in arr_a:    # A iterations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print(x)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y in arr_b:    # B iterations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print(y)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match(arr_a, arr_b):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# Nested — O(A × B)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x in arr_a:        # A iterations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for y in arr_b:    # B iterations each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if x == y: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    print("match!")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Complexity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From constant to factorial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Complexity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N=1000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1124712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CB5C"/>
                </a:solidFill>
                <a:latin typeface="Calibri"/>
              </a:defRPr>
            </a:pPr>
            <a:r>
              <a:t>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9202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Constant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202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Array index, dict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4D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96311"/>
            <a:ext cx="11247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4203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CB5C"/>
                </a:solidFill>
                <a:latin typeface="Calibri"/>
              </a:defRPr>
            </a:pPr>
            <a:r>
              <a:t>O(log 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54203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Logarithmic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4203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Binary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4203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4D60"/>
                </a:solidFill>
                <a:latin typeface="Calibri"/>
              </a:defRPr>
            </a:pPr>
            <a:r>
              <a:t>~10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18103"/>
            <a:ext cx="1124712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6382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CB5C"/>
                </a:solidFill>
                <a:latin typeface="Calibri"/>
              </a:defRPr>
            </a:pPr>
            <a:r>
              <a:t>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16382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16382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Single loop, linear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6382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4D60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39895"/>
            <a:ext cx="11247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856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CB5C"/>
                </a:solidFill>
                <a:latin typeface="Calibri"/>
              </a:defRPr>
            </a:pPr>
            <a:r>
              <a:t>O(N log 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7856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Linearithmic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7856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Merge sort, quick 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7856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4D60"/>
                </a:solidFill>
                <a:latin typeface="Calibri"/>
              </a:defRPr>
            </a:pPr>
            <a:r>
              <a:t>~10,000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61687"/>
            <a:ext cx="1124712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0740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CB5C"/>
                </a:solidFill>
                <a:latin typeface="Calibri"/>
              </a:defRPr>
            </a:pPr>
            <a:r>
              <a:t>O(N²)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40740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Quadratic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40740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Nested loops, bubble sort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407407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4D60"/>
                </a:solidFill>
                <a:latin typeface="Calibri"/>
              </a:defRPr>
            </a:pPr>
            <a:r>
              <a:t>1,000,000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83479"/>
            <a:ext cx="11247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0291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CB5C"/>
                </a:solidFill>
                <a:latin typeface="Calibri"/>
              </a:defRPr>
            </a:pPr>
            <a:r>
              <a:t>O(2ᴺ)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0291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Exponential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0291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Naive Fibonacci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0291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4D60"/>
                </a:solidFill>
                <a:latin typeface="Calibri"/>
              </a:defRPr>
            </a:pPr>
            <a:r>
              <a:t>10³⁰⁰ !!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605271"/>
            <a:ext cx="1124712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65099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CB5C"/>
                </a:solidFill>
                <a:latin typeface="Calibri"/>
              </a:defRPr>
            </a:pPr>
            <a:r>
              <a:t>O(N!)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65099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4D8"/>
                </a:solidFill>
                <a:latin typeface="Calibri"/>
              </a:defRPr>
            </a:pPr>
            <a:r>
              <a:t>Factorial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565099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All permutations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65099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4D60"/>
                </a:solidFill>
                <a:latin typeface="Calibri"/>
              </a:defRPr>
            </a:pPr>
            <a:r>
              <a:t>∞ (heat death)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Visualizing Growth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The gap between complexity classes is DRAMATIC at scale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O(log N) barely grows: 10→3, 1000→10, 1,000,000→20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O(N²) explodes: 10→100, 1000→1M, 10000→100M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O(2ᴺ) is astronomically worse than O(N²)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1148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At N = 20: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O(N)     =         20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O(N²)    =        400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O(2^N)   =  1,048,576  ← 5,000× worse!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At N = 40: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O(N)     =            40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O(N²)    =         1,600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O(2^N)   = 1,099,511,627,776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           ^^^ over 1 TRILLION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This is why algorithm choice matters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more than hardware upgrades!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Space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Time is only half the battle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Space Complexity — The Memory Dimension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How much extra memory does your algorithm require?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Primitive variables (int, float): O(1) space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Array of N elements: O(N) space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2D matrix N×M: O(N·M) space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Recursive call stack: O(D) where D = recursion depth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Each function call adds a frame to the stack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In-place algorithms use O(1) extra space — very desirable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572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O(N) space — new array created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double_all(arr):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result = [x * 2 for x in arr]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result    # N extra elements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O(1) space — in-place modification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double_inplace(arr):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i in range(len(arr)):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arr[i] *= 2  # no extra array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O(D) stack space — recursion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factorial(n):        # depth = 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if n &lt;= 1: return 1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n * factorial(n - 1)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Time vs. Space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Often you can trade space for time (or vice versa)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Example: memoization — cache results to avoid recomputation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Fibonacci: O(2ᴺ) time → O(N) time with O(N) extra space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Hash tables: use O(N) space to get O(1) lookups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The best solution depends on your constraints: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Memory-constrained embedded system? Minimize space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Latency-critical web server? Minimize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572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Fibonacci: exponential → linear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O(2^N) time, O(N) stack space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fib_naive(n):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if n &lt;= 1: return 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fib_naive(n-1) + fib_naive(n-2)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O(N) time, O(N) space (memo table)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fib_memo(n, memo={}):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if n in memo: return memo[n]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if n &lt;= 1: return 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memo[n] = fib_memo(n-1) + fib_memo(n-2)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memo[n]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fib_naive(40) → ~1 minute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fib_memo(40)  → instant!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DSA is the foundation of all efficient software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The right algorithm can be 50,000× faster than brute force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Big-O (upper bound) is the industry standard for analysis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Three rules: drop constants, drop non-dominant terms, separate inputs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Know your complexity classes — O(1) through O(N!)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Space complexity matters too — watch recursion depth &amp; auxiliary storage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Always ask: can I trade space for time (or vice versa)?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"Programs must be written for people to read,</a:t>
            </a:r>
            <a:br/>
            <a:r>
              <a:t>and only incidentally for machines to execute."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— Harold Abelson, SICP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Next:  Python Built-in Data Structures  (Part A &amp;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CB5C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Stack vs. Heap Memory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5CB5C"/>
                </a:solidFill>
                <a:latin typeface="Calibri"/>
              </a:rPr>
              <a:t>●   </a:t>
            </a:r>
            <a:r>
              <a:rPr sz="1800" b="1">
                <a:solidFill>
                  <a:srgbClr val="FFFFFF"/>
                </a:solidFill>
                <a:latin typeface="Calibri"/>
              </a:rPr>
              <a:t>Stack Memory (LIFO)</a:t>
            </a:r>
          </a:p>
          <a:p>
            <a:r>
              <a:rPr sz="1600">
                <a:solidFill>
                  <a:srgbClr val="E84D60"/>
                </a:solidFill>
                <a:latin typeface="Calibri"/>
              </a:rPr>
              <a:t>    ○   </a:t>
            </a:r>
            <a:r>
              <a:rPr sz="1600" b="0">
                <a:solidFill>
                  <a:srgbClr val="FFFFFF"/>
                </a:solidFill>
                <a:latin typeface="Calibri"/>
              </a:rPr>
              <a:t>Stores function frames, local variables, and arguments</a:t>
            </a:r>
          </a:p>
          <a:p>
            <a:r>
              <a:rPr sz="1600">
                <a:solidFill>
                  <a:srgbClr val="E84D60"/>
                </a:solidFill>
                <a:latin typeface="Calibri"/>
              </a:rPr>
              <a:t>    ○   </a:t>
            </a:r>
            <a:r>
              <a:rPr sz="1600" b="0">
                <a:solidFill>
                  <a:srgbClr val="FFFFFF"/>
                </a:solidFill>
                <a:latin typeface="Calibri"/>
              </a:rPr>
              <a:t>Extremely fast allocation (stack pointer offset)</a:t>
            </a:r>
          </a:p>
          <a:p>
            <a:r>
              <a:rPr sz="1600">
                <a:solidFill>
                  <a:srgbClr val="E84D60"/>
                </a:solidFill>
                <a:latin typeface="Calibri"/>
              </a:rPr>
              <a:t>    ○   </a:t>
            </a:r>
            <a:r>
              <a:rPr sz="1600" b="0">
                <a:solidFill>
                  <a:srgbClr val="FFFFFF"/>
                </a:solidFill>
                <a:latin typeface="Calibri"/>
              </a:rPr>
              <a:t>Managed automatically; finite, small capacity limit</a:t>
            </a:r>
          </a:p>
          <a:p>
            <a:pPr>
              <a:defRPr sz="800"/>
            </a:pPr>
            <a:r>
              <a:t> </a:t>
            </a:r>
          </a:p>
          <a:p>
            <a:r>
              <a:rPr sz="1800">
                <a:solidFill>
                  <a:srgbClr val="F5CB5C"/>
                </a:solidFill>
                <a:latin typeface="Calibri"/>
              </a:rPr>
              <a:t>●   </a:t>
            </a:r>
            <a:r>
              <a:rPr sz="1800" b="1">
                <a:solidFill>
                  <a:srgbClr val="FFFFFF"/>
                </a:solidFill>
                <a:latin typeface="Calibri"/>
              </a:rPr>
              <a:t>Heap Memory (Dynamic)</a:t>
            </a:r>
          </a:p>
          <a:p>
            <a:r>
              <a:rPr sz="1600">
                <a:solidFill>
                  <a:srgbClr val="E84D60"/>
                </a:solidFill>
                <a:latin typeface="Calibri"/>
              </a:rPr>
              <a:t>    ○   </a:t>
            </a:r>
            <a:r>
              <a:rPr sz="1600" b="0">
                <a:solidFill>
                  <a:srgbClr val="FFFFFF"/>
                </a:solidFill>
                <a:latin typeface="Calibri"/>
              </a:rPr>
              <a:t>Stores dynamically allocated objects and structures</a:t>
            </a:r>
          </a:p>
          <a:p>
            <a:r>
              <a:rPr sz="1600">
                <a:solidFill>
                  <a:srgbClr val="E84D60"/>
                </a:solidFill>
                <a:latin typeface="Calibri"/>
              </a:rPr>
              <a:t>    ○   </a:t>
            </a:r>
            <a:r>
              <a:rPr sz="1600" b="0">
                <a:solidFill>
                  <a:srgbClr val="FFFFFF"/>
                </a:solidFill>
                <a:latin typeface="Calibri"/>
              </a:rPr>
              <a:t>Slower allocation (searches for free memory blocks)</a:t>
            </a:r>
          </a:p>
          <a:p>
            <a:r>
              <a:rPr sz="1600">
                <a:solidFill>
                  <a:srgbClr val="E84D60"/>
                </a:solidFill>
                <a:latin typeface="Calibri"/>
              </a:rPr>
              <a:t>    ○   </a:t>
            </a:r>
            <a:r>
              <a:rPr sz="1600" b="0">
                <a:solidFill>
                  <a:srgbClr val="FFFFFF"/>
                </a:solidFill>
                <a:latin typeface="Calibri"/>
              </a:rPr>
              <a:t>Explicitly managed (programmer or garbage collector)</a:t>
            </a:r>
          </a:p>
          <a:p>
            <a:r>
              <a:rPr sz="1600">
                <a:solidFill>
                  <a:srgbClr val="E84D60"/>
                </a:solidFill>
                <a:latin typeface="Calibri"/>
              </a:rPr>
              <a:t>    ○   </a:t>
            </a:r>
            <a:r>
              <a:rPr sz="1600" b="0">
                <a:solidFill>
                  <a:srgbClr val="FFFFFF"/>
                </a:solidFill>
                <a:latin typeface="Calibri"/>
              </a:rPr>
              <a:t>Large capacity, limited only by system 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572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572000"/>
          </a:xfrm>
          <a:prstGeom prst="rect">
            <a:avLst/>
          </a:prstGeom>
          <a:solidFill>
            <a:srgbClr val="E84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C++ Memory Layout Example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void</a:t>
            </a:r>
            <a:r>
              <a:rPr sz="1300">
                <a:solidFill>
                  <a:srgbClr val="DCDCDC"/>
                </a:solidFill>
                <a:latin typeface="Consolas"/>
              </a:rPr>
              <a:t> example()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    // Allocated on STACK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CDCDC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int</a:t>
            </a:r>
            <a:r>
              <a:rPr sz="1300">
                <a:solidFill>
                  <a:srgbClr val="DCDCDC"/>
                </a:solidFill>
                <a:latin typeface="Consolas"/>
              </a:rPr>
              <a:t> x = </a:t>
            </a:r>
            <a:r>
              <a:rPr sz="1300">
                <a:solidFill>
                  <a:srgbClr val="B5CEA8"/>
                </a:solidFill>
                <a:latin typeface="Consolas"/>
              </a:rPr>
              <a:t>42</a:t>
            </a:r>
            <a:r>
              <a:rPr sz="13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    // ptr (stack) points to heap memory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CDCDC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int</a:t>
            </a:r>
            <a:r>
              <a:rPr sz="1300">
                <a:solidFill>
                  <a:srgbClr val="DCDCDC"/>
                </a:solidFill>
                <a:latin typeface="Consolas"/>
              </a:rPr>
              <a:t>* ptr = </a:t>
            </a:r>
            <a:r>
              <a:rPr sz="1300">
                <a:solidFill>
                  <a:srgbClr val="569CD6"/>
                </a:solidFill>
                <a:latin typeface="Consolas"/>
              </a:rPr>
              <a:t>new</a:t>
            </a:r>
            <a:r>
              <a:rPr sz="1300">
                <a:solidFill>
                  <a:srgbClr val="DCDCDC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int</a:t>
            </a:r>
            <a:r>
              <a:rPr sz="1300">
                <a:solidFill>
                  <a:srgbClr val="DCDCDC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10</a:t>
            </a:r>
            <a:r>
              <a:rPr sz="1300">
                <a:solidFill>
                  <a:srgbClr val="DCDCDC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    // Heap memory must be freed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CDCDC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delete</a:t>
            </a:r>
            <a:r>
              <a:rPr sz="1300">
                <a:solidFill>
                  <a:srgbClr val="DCDCDC"/>
                </a:solidFill>
                <a:latin typeface="Consolas"/>
              </a:rPr>
              <a:t> ptr;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