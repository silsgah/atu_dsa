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73152" cy="4114800"/>
          </a:xfrm>
          <a:prstGeom prst="rect">
            <a:avLst/>
          </a:prstGeom>
          <a:solidFill>
            <a:srgbClr val="F5C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4D60"/>
                </a:solidFill>
                <a:latin typeface="Calibri"/>
              </a:defRPr>
            </a:pPr>
            <a:r>
              <a:t>BCP201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Lecture 1 — Part B</a:t>
            </a:r>
            <a:br/>
            <a:r>
              <a:t>Operations, Types &amp; 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BBBCC"/>
                </a:solidFill>
                <a:latin typeface="Calibri"/>
              </a:defRPr>
            </a:pPr>
            <a:r>
              <a:t>Loops  ·  2D Arrays  ·  Type Checking  ·  Asymptotic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Calibri"/>
              </a:defRPr>
            </a:pPr>
            <a:r>
              <a:t>Data Structures &amp; Algorithms  |  Week 1 Foundations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Calibri"/>
              </a:defRPr>
            </a:pPr>
            <a:r>
              <a:t>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8686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Today's Agenda — Part B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BCP201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Looping through iterables — for, enumerate, zip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E84D60"/>
                </a:solidFill>
                <a:latin typeface="Calibri"/>
              </a:rPr>
              <a:t>○  </a:t>
            </a:r>
            <a:r>
              <a:rPr sz="2000" b="0">
                <a:solidFill>
                  <a:srgbClr val="FFFFFF"/>
                </a:solidFill>
                <a:latin typeface="Calibri"/>
              </a:rPr>
              <a:t>Dictionary iteration — items(), keys(), values()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2D Arrays (Matrices) — creation, access, traversal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Types &amp; Comparisons — is, type(), isinstance, assert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Algorithmic Complexity — intro to Big-O analysis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E84D60"/>
                </a:solidFill>
                <a:latin typeface="Calibri"/>
              </a:rPr>
              <a:t>○  </a:t>
            </a:r>
            <a:r>
              <a:rPr sz="2000" b="0">
                <a:solidFill>
                  <a:srgbClr val="FFFFFF"/>
                </a:solidFill>
                <a:latin typeface="Calibri"/>
              </a:rPr>
              <a:t>Profiling in Python — timeit and runtime experiments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64008" cy="3200400"/>
          </a:xfrm>
          <a:prstGeom prst="rect">
            <a:avLst/>
          </a:prstGeom>
          <a:solidFill>
            <a:srgbClr val="F5C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800" b="1">
                <a:solidFill>
                  <a:srgbClr val="E84D6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Looping Through Iterables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BBBBCC"/>
                </a:solidFill>
                <a:latin typeface="Calibri"/>
              </a:defRPr>
            </a:pPr>
            <a:r>
              <a:t>for loops, enumerate, zip, and dictionary traversal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8686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for Loop &amp; enumerate()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BCP201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for item in iterable:  — iterates over elements directly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enumerate(iterable) — yields (index, value) pairs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Much more Pythonic than  for i in range(len(...))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474720"/>
            <a:ext cx="5029200" cy="2926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474720"/>
            <a:ext cx="45720" cy="292608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84448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fruits = ["apple", "banana", "cherry"]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Direct iteration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for fruit in fruits: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print(fruit)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With index using enumerate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for i, fruit in enumerate(fruits):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print(f"{i}: {fruit}")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0: apple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1: banana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2: cherry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474720"/>
            <a:ext cx="5303520" cy="2926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3474720"/>
            <a:ext cx="45720" cy="292608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584448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zip — iterate multiple sequences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names  = ["Alice", "Bob"]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scores = [95, 87]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for name, score in zip(names, scores):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print(f"{name}: {score}")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Alice: 95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Bob: 87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zip stops at the shortest iterable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for a, b in zip([1,2,3], [10,20]):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print(a, b)   # only 2 iterations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8686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Dictionary Iteration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BCP201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.items() — yields (key, value) pairs  — most common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.keys() — yields only keys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.values() — yields only values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5029200" cy="3474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017520"/>
            <a:ext cx="45720" cy="347472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student = {"name": "Alice", "grade": "A", "gpa": 3.9}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items() — key-value pairs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for key, value in student.items():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print(f"{key}: {value}")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keys() — just keys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for key in student.keys():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print(key)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values() — just values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total = sum(v for v in scores_dict.values())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017520"/>
            <a:ext cx="5303520" cy="3474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3017520"/>
            <a:ext cx="45720" cy="347472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127248"/>
            <a:ext cx="5029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Dict comprehension with filter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import string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alphabet = {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k: v for k, v in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zip(string.ascii_letters, range(26))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if v &lt; 12 and v % 2 == 0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for key, value in alphabet.items():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print(f"Letter {key} → "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      f"position {value + 1}")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a → 1, c → 3, e → 5, 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64008" cy="3200400"/>
          </a:xfrm>
          <a:prstGeom prst="rect">
            <a:avLst/>
          </a:prstGeom>
          <a:solidFill>
            <a:srgbClr val="F5C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800" b="1">
                <a:solidFill>
                  <a:srgbClr val="E84D60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2D Arrays (Matrices)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BBBBCC"/>
                </a:solidFill>
                <a:latin typeface="Calibri"/>
              </a:defRPr>
            </a:pPr>
            <a:r>
              <a:t>Nested lists for tabular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8686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Creating &amp; Accessing 2D Arrays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BCP201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A matrix is simply a list of lists (nested list)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Access:  matrix[row][col]  — row-major order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Can build with nested list comprehension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5029200" cy="3474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017520"/>
            <a:ext cx="45720" cy="347472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matrix = [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[1, 2, 3],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[4, 5, 6],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[7, 8, 9]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]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matrix[0][1]   # 2  (row 0, col 1)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matrix[1][0]   # 4  (row 1, col 0)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Comprehension-built 3x3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m = [[j + i*3 for j in range(3)]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 for i in range(3)]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[[0,1,2], [3,4,5], [6,7,8]]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017520"/>
            <a:ext cx="5303520" cy="3474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3017520"/>
            <a:ext cx="45720" cy="347472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127248"/>
            <a:ext cx="5029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Looping through a matrix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for row in matrix: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for value in row: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    print(value, end=" ")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print()  # newline after each row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With indices (enumerate)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for r, row in enumerate(matrix):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for c, val in enumerate(row):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    print(f"[{r}][{c}] = {val}")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Modify in-place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for r, row in enumerate(matrix):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for c, val in enumerate(row):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    matrix[r][c] = val **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64008" cy="3200400"/>
          </a:xfrm>
          <a:prstGeom prst="rect">
            <a:avLst/>
          </a:prstGeom>
          <a:solidFill>
            <a:srgbClr val="F5C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800" b="1">
                <a:solidFill>
                  <a:srgbClr val="E84D60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Types &amp; Comparisons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BBBBCC"/>
                </a:solidFill>
                <a:latin typeface="Calibri"/>
              </a:defRPr>
            </a:pPr>
            <a:r>
              <a:t>Identity, type checking, and defensive programming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8686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Identity — the 'is' Operator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BCP201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is checks object identity (same memory location), NOT value equality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== checks value equality — almost always what you want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a = b creates an alias (same object), .copy() creates a new object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5029200" cy="3200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45720" cy="320040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18688"/>
            <a:ext cx="4754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a = [1, 2, 3]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b = [1, 2, 3]    # same values, different object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c = a            # alias — same object!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d = a.copy()     # new object, same values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a is b   # False — different objects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a is c   # True  — same object!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a is d   # False — copy is a new object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a == b   # True  — same values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108960"/>
            <a:ext cx="5303520" cy="3200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3108960"/>
            <a:ext cx="45720" cy="320040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218688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⚠ Gotcha with literals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1 is 1.0         # False (int ≠ float)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Python may cache small integers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a = 256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b = 256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a is b           # True  (cached!)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a = 257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b = 257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a is b           # False (not cached)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Rule: use == for values, is for None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if result is None: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handle_error()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8686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type(), isinstance() &amp; issubclass()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BCP201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type(obj) — returns the class of an object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isinstance(obj, type) — checks if obj is an instance (preferred for checks)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issubclass(cls, parent) — checks class hierarchy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5029200" cy="3200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45720" cy="320040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18688"/>
            <a:ext cx="4754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type() — inspect types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type(1)            # &lt;class 'int'&gt;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type(1.0)          # &lt;class 'float'&gt;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type([1, 2])       # &lt;class 'list'&gt;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isinstance() — check types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isinstance([1,2], list)     # True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isinstance([1,2], tuple)    # False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isinstance(1, (int, float)) # True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108960"/>
            <a:ext cx="5303520" cy="3200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3108960"/>
            <a:ext cx="45720" cy="320040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218688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Defensive programming with assert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def multiply(a, b):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assert isinstance(a, (int, float))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assert isinstance(b, (int, float))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return a * b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multiply(3, 2)     # 6 ✓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multiply("3", 2)   # AssertionError!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⚠ assert is for debugging only!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Production code should use: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  try/except + raise TypeError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8686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Production-Grade Error Handling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BCP201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assert is fine for testing — but production code should NEVER halt!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Use try/except with TypeError, ValueError for graceful handling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Type hints (PEP 484) document expected types without runtime cost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10515600" cy="3474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45720" cy="347472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18688"/>
            <a:ext cx="10241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from typing import Union, Optional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def safe_multiply(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a: Union[int, float],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b: Union[int, float],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raise_error: bool = True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) -&gt; Optional[Union[int, float]]: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if not isinstance(a, (int, float)):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    if raise_error: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        raise TypeError(f"'a' must be a number, got {type(a)}")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    return None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if not isinstance(b, (int, float)):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    if raise_error: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        raise TypeError(f"'b' must be a number, got {type(b)}")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    return None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return a * 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64008" cy="3200400"/>
          </a:xfrm>
          <a:prstGeom prst="rect">
            <a:avLst/>
          </a:prstGeom>
          <a:solidFill>
            <a:srgbClr val="F5C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800" b="1">
                <a:solidFill>
                  <a:srgbClr val="E84D60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Algorithmic 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BBBBCC"/>
                </a:solidFill>
                <a:latin typeface="Calibri"/>
              </a:defRPr>
            </a:pPr>
            <a:r>
              <a:t>Why efficiency matters — introduction to Big-O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8686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Asymptotic Complexity — Core Idea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BCP201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Runtime depends on input size N — we care about how it scales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Loop through N items: N × (cost per item) — scales linearly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E84D60"/>
                </a:solidFill>
                <a:latin typeface="Calibri"/>
              </a:rPr>
              <a:t>○  </a:t>
            </a:r>
            <a:r>
              <a:rPr sz="2000" b="0">
                <a:solidFill>
                  <a:srgbClr val="FFFFFF"/>
                </a:solidFill>
                <a:latin typeface="Calibri"/>
              </a:rPr>
              <a:t>On a faster machine the constant changes, but scaling stays the same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Searching a list: best = O(1), worst = O(N), average = O(N/2) ≈ O(N)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We focus on worst-case and ignore constants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Asymptotic complexity lets us compare algorithms independent of hardware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8686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Common Complexity Classes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BCP201 · Week 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325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325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920240"/>
            <a:ext cx="10515600" cy="54864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65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CB5C"/>
                </a:solidFill>
                <a:latin typeface="Calibri"/>
              </a:defRPr>
            </a:pPr>
            <a:r>
              <a:t>O(1)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1965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B4D8"/>
                </a:solidFill>
                <a:latin typeface="Calibri"/>
              </a:defRPr>
            </a:pPr>
            <a:r>
              <a:t>Constant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965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Array index access, dict lookup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514600"/>
            <a:ext cx="1051560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CB5C"/>
                </a:solidFill>
                <a:latin typeface="Calibri"/>
              </a:defRPr>
            </a:pPr>
            <a:r>
              <a:t>O(log 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B4D8"/>
                </a:solidFill>
                <a:latin typeface="Calibri"/>
              </a:defRPr>
            </a:pPr>
            <a:r>
              <a:t>Logarithmic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Binary search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108960"/>
            <a:ext cx="10515600" cy="54864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154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CB5C"/>
                </a:solidFill>
                <a:latin typeface="Calibri"/>
              </a:defRPr>
            </a:pPr>
            <a:r>
              <a:t>O(N)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154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B4D8"/>
                </a:solidFill>
                <a:latin typeface="Calibri"/>
              </a:defRPr>
            </a:pPr>
            <a:r>
              <a:t>Linear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154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Single loop, linear search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703320"/>
            <a:ext cx="1051560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749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CB5C"/>
                </a:solidFill>
                <a:latin typeface="Calibri"/>
              </a:defRPr>
            </a:pPr>
            <a:r>
              <a:t>O(N log 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3749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B4D8"/>
                </a:solidFill>
                <a:latin typeface="Calibri"/>
              </a:defRPr>
            </a:pPr>
            <a:r>
              <a:t>Linearithmic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749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Merge sort, quick sort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297680"/>
            <a:ext cx="10515600" cy="54864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343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CB5C"/>
                </a:solidFill>
                <a:latin typeface="Calibri"/>
              </a:defRPr>
            </a:pPr>
            <a:r>
              <a:t>O(N²)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4343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B4D8"/>
                </a:solidFill>
                <a:latin typeface="Calibri"/>
              </a:defRPr>
            </a:pPr>
            <a:r>
              <a:t>Quadratic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4343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Nested loops, bubble sort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892040"/>
            <a:ext cx="1051560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937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CB5C"/>
                </a:solidFill>
                <a:latin typeface="Calibri"/>
              </a:defRPr>
            </a:pPr>
            <a:r>
              <a:t>O(2ᴺ)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4937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B4D8"/>
                </a:solidFill>
                <a:latin typeface="Calibri"/>
              </a:defRPr>
            </a:pPr>
            <a:r>
              <a:t>Exponential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4937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Naive recursive Fibonacci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486400"/>
            <a:ext cx="10515600" cy="54864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532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CB5C"/>
                </a:solidFill>
                <a:latin typeface="Calibri"/>
              </a:defRPr>
            </a:pPr>
            <a:r>
              <a:t>O(N!)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7520" y="5532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B4D8"/>
                </a:solidFill>
                <a:latin typeface="Calibri"/>
              </a:defRPr>
            </a:pPr>
            <a:r>
              <a:t>Factorial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5532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Generating all permutations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8686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Profiling in Python — timeit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BCP201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timeit module — measure execution time precisely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In Jupyter/IPython:  %timeit function_call()  magic command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More advanced: cProfile for function-level profiling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303520" cy="4114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45720" cy="411480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98448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import timeit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def my_function():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s = 0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for i in range(10000):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    s += i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return s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iterations = 10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timer = timeit.Timer(stmt=my_function)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avg = timer.timeit(number=iterations)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avg /= iterations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print(f"Average: {avg:.6f}s")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Jupyter magic: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%timeit my_function()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8686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Choosing the Right Data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BCP201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List lookup (by value):  O(N)  — must scan elements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Dict lookup (by key):   O(1)  — hash-based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Set membership check:   O(1)  — hash-based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0">
                <a:solidFill>
                  <a:srgbClr val="FFFFFF"/>
                </a:solidFill>
                <a:latin typeface="Calibri"/>
              </a:rPr>
              <a:t>Sometimes converting list → set/dict pays off for repeated lookups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303520" cy="3657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45720" cy="365760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98448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Performance comparison (N=100)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Lookup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list.index(val)    # ~1.41 μs  O(N)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dict.get(val)      # ~0.05 μs  O(1)  ⚡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Membership check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val in my_list     # ~0.89 μs  O(N)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val in my_dict     # ~0.04 μs  O(1)  ⚡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val in my_set      # ~0.04 μs  O(1)  ⚡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Pre-allocation vs append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Both ~O(N), but pre-alloc avoids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# memory reallocation overhead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86868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Part B — 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BCP201 ·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Use enumerate() and zip() — avoid manual index tracking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E84D60"/>
                </a:solidFill>
                <a:latin typeface="Calibri"/>
              </a:rPr>
              <a:t>○  </a:t>
            </a:r>
            <a:r>
              <a:rPr sz="2000" b="0">
                <a:solidFill>
                  <a:srgbClr val="FFFFFF"/>
                </a:solidFill>
                <a:latin typeface="Calibri"/>
              </a:rPr>
              <a:t>dict.items() is your friend for key-value iteration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2D arrays = nested lists, access with matrix[row][col]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Use isinstance() for type checking, not type() ==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E84D60"/>
                </a:solidFill>
                <a:latin typeface="Calibri"/>
              </a:rPr>
              <a:t>○  </a:t>
            </a:r>
            <a:r>
              <a:rPr sz="2000" b="0">
                <a:solidFill>
                  <a:srgbClr val="FFFFFF"/>
                </a:solidFill>
                <a:latin typeface="Calibri"/>
              </a:rPr>
              <a:t>assert for debugging, try/except for production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Algorithmic complexity describes scalability, not absolute speed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5CB5C"/>
                </a:solidFill>
                <a:latin typeface="Calibri"/>
              </a:rPr>
              <a:t>●  </a:t>
            </a:r>
            <a:r>
              <a:rPr sz="2000" b="1">
                <a:solidFill>
                  <a:srgbClr val="FFFFFF"/>
                </a:solidFill>
                <a:latin typeface="Calibri"/>
              </a:rPr>
              <a:t>Choose the right data structure: dicts/sets give O(1) lookups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E84D60"/>
                </a:solidFill>
                <a:latin typeface="Calibri"/>
              </a:rPr>
              <a:t>○  </a:t>
            </a:r>
            <a:r>
              <a:rPr sz="2000" b="0">
                <a:solidFill>
                  <a:srgbClr val="FFFFFF"/>
                </a:solidFill>
                <a:latin typeface="Calibri"/>
              </a:rPr>
              <a:t>Profile before optimizing — measure, don't guess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73152" cy="4114800"/>
          </a:xfrm>
          <a:prstGeom prst="rect">
            <a:avLst/>
          </a:prstGeom>
          <a:solidFill>
            <a:srgbClr val="F5C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Next Up: Week 2</a:t>
            </a:r>
            <a:br/>
            <a:r>
              <a:t>Abstract Data Types &amp; Arrays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BBCC"/>
                </a:solidFill>
                <a:latin typeface="Calibri"/>
              </a:defRPr>
            </a:pPr>
            <a:r>
              <a:t>Practice:  practice.py  — analyze and optimize functions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CB5C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