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F7173">
              <a:alpha val="20000"/>
            </a:srgbClr>
          </a:solidFill>
          <a:ln w="12700">
            <a:solidFill>
              <a:srgbClr val="0F717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14A097">
              <a:alpha val="15000"/>
            </a:srgbClr>
          </a:solidFill>
          <a:ln w="12700">
            <a:solidFill>
              <a:srgbClr val="14A097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4864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BCP 201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A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Algorithms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Data Abstraction · Algorithm Design · Complexity Analysis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7173">
              <a:alpha val="70000"/>
            </a:srgbClr>
          </a:solidFill>
          <a:ln w="12700">
            <a:solidFill>
              <a:srgbClr val="0F7173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617720"/>
            <a:ext cx="86868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Department of Computer Science  |  Undergraduate Program  |  Academic Year 2024–2025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Course Description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84124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1732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201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expands students' programming skills and provides a deep understanding of: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79552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data abstraction and the design of Abstract Data Types (ADTs)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design techniques: greedy, divide-and-conquer, dynamic programming, randomized, and backtracking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algorithms — runtime complexity and memory usage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generic collection types using high-level programming languages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7033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3703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Abstraction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37033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3703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Algorithms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37033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3703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Programming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43891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Prerequisite: Introduction to Programming  |  Credits: 3 Units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Course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</a:rPr>
              <a:t>At the end of this course, students will be able to: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82496"/>
            <a:ext cx="420624" cy="420624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82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664208"/>
            <a:ext cx="7955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66420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Understand concepts of data structures and abstract data types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322576"/>
            <a:ext cx="420624" cy="420624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2304288"/>
            <a:ext cx="7955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230428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Apply algorithm analysis to determine runtime and memory usage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962656"/>
            <a:ext cx="420624" cy="420624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2944368"/>
            <a:ext cx="7955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294436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Use algorithm design techniques: greedy, divide-and-conquer, dynamic programming, randomized, and backtracking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602736"/>
            <a:ext cx="420624" cy="420624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3584448"/>
            <a:ext cx="7955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358444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Implement generic collections: linked lists, stacks, and queues in a high-level language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4242816"/>
            <a:ext cx="420624" cy="420624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" y="4224528"/>
            <a:ext cx="7955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0120" y="422452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</a:rPr>
              <a:t>Write and reason about recursive methods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Course Content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743200" cy="1051560"/>
          </a:xfrm>
          <a:prstGeom prst="rect">
            <a:avLst/>
          </a:prstGeom>
          <a:solidFill>
            <a:srgbClr val="0F7173">
              <a:alpha val="15000"/>
            </a:srgbClr>
          </a:solidFill>
          <a:ln w="12700">
            <a:solidFill>
              <a:srgbClr val="0F7173">
                <a:alpha val="7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57200" cy="10515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Structures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743200" cy="1051560"/>
          </a:xfrm>
          <a:prstGeom prst="rect">
            <a:avLst/>
          </a:prstGeom>
          <a:solidFill>
            <a:srgbClr val="0F7173">
              <a:alpha val="15000"/>
            </a:srgbClr>
          </a:solidFill>
          <a:ln w="12700">
            <a:solidFill>
              <a:srgbClr val="0F7173">
                <a:alpha val="7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97280"/>
            <a:ext cx="457200" cy="10515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9728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86200" y="10972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Data Types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743200" cy="1051560"/>
          </a:xfrm>
          <a:prstGeom prst="rect">
            <a:avLst/>
          </a:prstGeom>
          <a:solidFill>
            <a:srgbClr val="0F7173">
              <a:alpha val="15000"/>
            </a:srgbClr>
          </a:solidFill>
          <a:ln w="12700">
            <a:solidFill>
              <a:srgbClr val="0F7173">
                <a:alpha val="7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097280"/>
            <a:ext cx="457200" cy="10515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9728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10972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Complexity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2743200" cy="1051560"/>
          </a:xfrm>
          <a:prstGeom prst="rect">
            <a:avLst/>
          </a:prstGeom>
          <a:solidFill>
            <a:srgbClr val="0F7173">
              <a:alpha val="15000"/>
            </a:srgbClr>
          </a:solidFill>
          <a:ln w="12700">
            <a:solidFill>
              <a:srgbClr val="0F7173">
                <a:alpha val="7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331720"/>
            <a:ext cx="457200" cy="10515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317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33172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2331720"/>
            <a:ext cx="2743200" cy="1051560"/>
          </a:xfrm>
          <a:prstGeom prst="rect">
            <a:avLst/>
          </a:prstGeom>
          <a:solidFill>
            <a:srgbClr val="0F7173">
              <a:alpha val="15000"/>
            </a:srgbClr>
          </a:solidFill>
          <a:ln w="12700">
            <a:solidFill>
              <a:srgbClr val="0F7173">
                <a:alpha val="7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2331720"/>
            <a:ext cx="457200" cy="10515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3317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86200" y="233172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&amp; Queues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2331720"/>
            <a:ext cx="2743200" cy="1051560"/>
          </a:xfrm>
          <a:prstGeom prst="rect">
            <a:avLst/>
          </a:prstGeom>
          <a:solidFill>
            <a:srgbClr val="0F7173">
              <a:alpha val="15000"/>
            </a:srgbClr>
          </a:solidFill>
          <a:ln w="12700">
            <a:solidFill>
              <a:srgbClr val="0F7173">
                <a:alpha val="7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2331720"/>
            <a:ext cx="457200" cy="10515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3317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233172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566160"/>
            <a:ext cx="2743200" cy="1051560"/>
          </a:xfrm>
          <a:prstGeom prst="rect">
            <a:avLst/>
          </a:prstGeom>
          <a:solidFill>
            <a:srgbClr val="0F7173">
              <a:alpha val="15000"/>
            </a:srgbClr>
          </a:solidFill>
          <a:ln w="12700">
            <a:solidFill>
              <a:srgbClr val="0F7173">
                <a:alpha val="7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566160"/>
            <a:ext cx="457200" cy="10515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6616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356616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&amp; Hashing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37560" y="3566160"/>
            <a:ext cx="2743200" cy="1051560"/>
          </a:xfrm>
          <a:prstGeom prst="rect">
            <a:avLst/>
          </a:prstGeom>
          <a:solidFill>
            <a:srgbClr val="0F7173">
              <a:alpha val="15000"/>
            </a:srgbClr>
          </a:solidFill>
          <a:ln w="12700">
            <a:solidFill>
              <a:srgbClr val="0F7173">
                <a:alpha val="7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37560" y="3566160"/>
            <a:ext cx="457200" cy="10515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356616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08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886200" y="356616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3566160"/>
            <a:ext cx="2743200" cy="1051560"/>
          </a:xfrm>
          <a:prstGeom prst="rect">
            <a:avLst/>
          </a:prstGeom>
          <a:solidFill>
            <a:srgbClr val="0F7173">
              <a:alpha val="15000"/>
            </a:srgbClr>
          </a:solidFill>
          <a:ln w="12700">
            <a:solidFill>
              <a:srgbClr val="0F7173">
                <a:alpha val="70000"/>
              </a:srgbClr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09360" y="3566160"/>
            <a:ext cx="457200" cy="10515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356616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09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58000" y="356616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Unit 1: Introduction to Data Structures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06908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is a Data Structure?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</a:rPr>
              <a:t>A way of organizing and storing data in a computer so it can be accessed and modified efficiently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</a:rPr>
              <a:t>Determines the relationship between data elements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</a:rPr>
              <a:t>Supports operations: insert, delete, search, traverse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</a:rPr>
              <a:t>Foundation of efficient software development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43000"/>
            <a:ext cx="4069080" cy="4572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430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Classification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1783080"/>
            <a:ext cx="1097280" cy="34747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783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Linear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Arrays, Linked Lists, Stacks, Queues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37760" y="2441448"/>
            <a:ext cx="1097280" cy="34747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4414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Non-Linear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4414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Trees, Graphs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37760" y="3099816"/>
            <a:ext cx="1097280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0998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30998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Fixed size (e.g., Array)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37760" y="3758184"/>
            <a:ext cx="1097280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75818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Dynamic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375818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Flexible size (e.g., Linked List)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Unit 2: Abstract Data Types (ADTs)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777240"/>
          </a:xfrm>
          <a:prstGeom prst="rect">
            <a:avLst/>
          </a:prstGeom>
          <a:solidFill>
            <a:srgbClr val="D5F2F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173"/>
                </a:solidFill>
              </a:rPr>
              <a:t>Definition: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An ADT is a mathematical model that defines a data type purely by its behavior (operations) without specifying implementation details.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03120"/>
            <a:ext cx="2743200" cy="43891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1031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Interface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633472"/>
            <a:ext cx="24688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Public-facing operations visible to the user. What can be done with the 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210312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103120"/>
            <a:ext cx="2743200" cy="43891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1031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Implementation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633472"/>
            <a:ext cx="24688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Internal representation hidden from the user. How operations are realized.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103120"/>
            <a:ext cx="274320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1031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Abstraction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2633472"/>
            <a:ext cx="24688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Separation of concerns — use without knowing internals. Promotes modularity.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D"/>
                </a:solidFill>
              </a:rPr>
              <a:t>Common ADTs: List · Stack · Queue · Map · Set · Tree · Graph · Priority Queue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Unit 3: Algorithms &amp; Complexity Analysis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06908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Big-O Complexity Classes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1234440" cy="34747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916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O(1)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16916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Constant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167128"/>
            <a:ext cx="1234440" cy="347472"/>
          </a:xfrm>
          <a:prstGeom prst="rect">
            <a:avLst/>
          </a:prstGeom>
          <a:solidFill>
            <a:srgbClr val="1E7F5C"/>
          </a:solidFill>
          <a:ln w="12700">
            <a:solidFill>
              <a:srgbClr val="1E7F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671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O(log 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21671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Logarithmic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642616"/>
            <a:ext cx="1234440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4261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O(n)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264261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Linear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118104"/>
            <a:ext cx="1234440" cy="347472"/>
          </a:xfrm>
          <a:prstGeom prst="rect">
            <a:avLst/>
          </a:prstGeom>
          <a:solidFill>
            <a:srgbClr val="E07B3F"/>
          </a:solidFill>
          <a:ln w="12700">
            <a:solidFill>
              <a:srgbClr val="E07B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11810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O(n log 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37360" y="31181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Linearithmic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593592"/>
            <a:ext cx="12344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935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O(n²)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37360" y="35935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Quadratic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4069080"/>
            <a:ext cx="1234440" cy="347472"/>
          </a:xfrm>
          <a:prstGeom prst="rect">
            <a:avLst/>
          </a:prstGeom>
          <a:solidFill>
            <a:srgbClr val="8E1A1A"/>
          </a:solidFill>
          <a:ln w="12700">
            <a:solidFill>
              <a:srgbClr val="8E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0690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O(2ⁿ)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37360" y="4069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Exponential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1097280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1097280"/>
            <a:ext cx="4069080" cy="4572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0972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Algorithm Design Techniques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169164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</a:rPr>
              <a:t>Greedy: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Make locally optimal choices at each step (e.g., Dijkstra's)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37760" y="228600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</a:rPr>
              <a:t>Divide &amp; Conquer: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Split into subproblems, solve recursively (e.g., Merge Sort)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37760" y="288036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</a:rPr>
              <a:t>Dynamic Prog.: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Memoize overlapping subproblems (e.g., Fibonacci)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37760" y="347472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</a:rPr>
              <a:t>Randomized: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Use randomness to improve average performance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37760" y="406908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</a:rPr>
              <a:t>Backtracking: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Explore all possibilities, prune dead ends (e.g., N-Queens)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Unit 4: Lists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Array List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Fixed-size contiguous memory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O(1) random access by index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O(n) insertion/deletion in middle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Cache-friendly iteration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Best when size is known upfront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43000"/>
            <a:ext cx="2743200" cy="4572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Singly Linked List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Dynamic size — nodes allocated as needed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O(1) insert/delete at head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O(n) access by index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Each node holds data + pointer to next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No wasted memory allocation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143000"/>
            <a:ext cx="2743200" cy="4572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Doubly Linked List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5080" y="16916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Each node has next and previous pointers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O(1) insert/delete at both ends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Easier reverse traversal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More memory overhead per node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Used in browser history, undo/redo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Unit 5: Stacks &amp; Queues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06908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Stack (LIFO)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7173"/>
                </a:solidFill>
              </a:rPr>
              <a:t>Last In, First Out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84832"/>
            <a:ext cx="1280160" cy="329184"/>
          </a:xfrm>
          <a:prstGeom prst="rect">
            <a:avLst/>
          </a:prstGeom>
          <a:solidFill>
            <a:srgbClr val="0F7173">
              <a:alpha val="90000"/>
            </a:srgbClr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848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push(e)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08483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Add element to top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560320"/>
            <a:ext cx="1280160" cy="329184"/>
          </a:xfrm>
          <a:prstGeom prst="rect">
            <a:avLst/>
          </a:prstGeom>
          <a:solidFill>
            <a:srgbClr val="0F7173">
              <a:alpha val="90000"/>
            </a:srgbClr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603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pop()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25603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Remove from top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035808"/>
            <a:ext cx="1280160" cy="329184"/>
          </a:xfrm>
          <a:prstGeom prst="rect">
            <a:avLst/>
          </a:prstGeom>
          <a:solidFill>
            <a:srgbClr val="0F7173">
              <a:alpha val="90000"/>
            </a:srgbClr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358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peek()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303580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View top element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3511296"/>
            <a:ext cx="1280160" cy="329184"/>
          </a:xfrm>
          <a:prstGeom prst="rect">
            <a:avLst/>
          </a:prstGeom>
          <a:solidFill>
            <a:srgbClr val="0F7173">
              <a:alpha val="90000"/>
            </a:srgbClr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5112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isEmpty()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351129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Check if empty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4023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Applications: Function call stack, expression evaluation, undo/redo, parenthesis matching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1143000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1143000"/>
            <a:ext cx="4069080" cy="4572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1430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Queue (FIFO)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171907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40"/>
                </a:solidFill>
              </a:rPr>
              <a:t>First In, First Out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2084832"/>
            <a:ext cx="1417320" cy="329184"/>
          </a:xfrm>
          <a:prstGeom prst="rect">
            <a:avLst/>
          </a:prstGeom>
          <a:solidFill>
            <a:srgbClr val="0D1B40">
              <a:alpha val="90000"/>
            </a:srgbClr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0848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enqueue(e)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20848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Add to rear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37760" y="2560320"/>
            <a:ext cx="1417320" cy="329184"/>
          </a:xfrm>
          <a:prstGeom prst="rect">
            <a:avLst/>
          </a:prstGeom>
          <a:solidFill>
            <a:srgbClr val="0D1B40">
              <a:alpha val="90000"/>
            </a:srgbClr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5603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dequeue()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256032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Remove from front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937760" y="3035808"/>
            <a:ext cx="1417320" cy="329184"/>
          </a:xfrm>
          <a:prstGeom prst="rect">
            <a:avLst/>
          </a:prstGeom>
          <a:solidFill>
            <a:srgbClr val="0D1B40">
              <a:alpha val="90000"/>
            </a:srgbClr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0358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front()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46520" y="30358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View front element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937760" y="3511296"/>
            <a:ext cx="1417320" cy="329184"/>
          </a:xfrm>
          <a:prstGeom prst="rect">
            <a:avLst/>
          </a:prstGeom>
          <a:solidFill>
            <a:srgbClr val="0D1B40">
              <a:alpha val="90000"/>
            </a:srgbClr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51129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isEmpty()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351129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Check if empty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937760" y="40233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Applications: Process scheduling, BFS traversal, printer queue, customer service systems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Unit 6: Recursion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640080"/>
          </a:xfrm>
          <a:prstGeom prst="rect">
            <a:avLst/>
          </a:prstGeom>
          <a:solidFill>
            <a:srgbClr val="D5F2F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Recursion is a technique where a method calls itself to solve smaller instances of the same problem until reaching a base case.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4251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65960"/>
            <a:ext cx="4251960" cy="4389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6596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Base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49631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terminating condition that stops the recursion. Every recursive function MUST have one to prevent infinite loops.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977640"/>
            <a:ext cx="3977640" cy="5486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97764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A0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(n == 0) return 1;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965960"/>
            <a:ext cx="4251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965960"/>
            <a:ext cx="4251960" cy="43891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96596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Recursive Case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496312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part where the function calls itself with a simpler/smaller input, reducing the problem toward the base case.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3977640"/>
            <a:ext cx="3977640" cy="5486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97764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A0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 * factorial(n - 1);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Examples: Factorial · Fibonacci · Tower of Hanoi · Binary Search · Tree Traversal · Merge Sort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Unit 7: Searching &amp; Hashing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06908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Searching Algorithms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3794760" cy="822960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379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</a:rPr>
              <a:t>Linear Search</a:t>
            </a:r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</a:rPr>
              <a:t>  O(n)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</a:rPr>
              <a:t>Scan each element. Works on unsorted data.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743200"/>
            <a:ext cx="3794760" cy="822960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980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</a:rPr>
              <a:t>Binary Search</a:t>
            </a:r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</a:rPr>
              <a:t>  O(log 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</a:rPr>
              <a:t>Divide sorted array in half repeatedly.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703320"/>
            <a:ext cx="3794760" cy="822960"/>
          </a:xfrm>
          <a:prstGeom prst="rect">
            <a:avLst/>
          </a:prstGeom>
          <a:solidFill>
            <a:srgbClr val="F4F8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581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173"/>
                </a:solidFill>
              </a:rPr>
              <a:t>Interpolation Search</a:t>
            </a:r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</a:rPr>
              <a:t>  O(log log 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069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</a:rPr>
              <a:t>Estimates position using value distribution.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143000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143000"/>
            <a:ext cx="4069080" cy="4572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1430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Hashing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1737360"/>
            <a:ext cx="379476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Maps keys to positions in a hash table using a hash function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Average O(1) lookup, insert, and delete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Collision resolution: Chaining (linked lists) or Open Addressing (linear probing)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Load factor: ratio of entries to table size — affects performance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</a:rPr>
              <a:t>Applications: Dictionaries, caches, databases, symbol tables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Unit 8: Trees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502920"/>
          </a:xfrm>
          <a:prstGeom prst="rect">
            <a:avLst/>
          </a:prstGeom>
          <a:solidFill>
            <a:srgbClr val="D5F2F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Key Terms:  Root  ·  Parent  ·  Child  ·  Leaf  ·  Height  ·  Depth  ·  Subtree  ·  Degree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74520"/>
            <a:ext cx="274320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Binary Tree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At most 2 children per node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Used in expression trees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Traversals: inorder, preorder, postorder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87452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874520"/>
            <a:ext cx="2743200" cy="4572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Binary Search Tree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83280" y="242316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Left child &lt; parent &lt; right child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O(h) search where h = height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Balanced BST: O(log n) operations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874520"/>
            <a:ext cx="2743200" cy="4572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AVL / Balanced Trees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55080" y="242316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Self-balancing BST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Maintains O(log n) height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</a:rPr>
              <a:t>Rotations used to rebalance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Other Trees: Heap · Trie · B-Tree · Red-Black Tree · Segment Tree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Unit 9: Graphs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06908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Graph Concepts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</a:rPr>
              <a:t>Vertices (V):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Nodes in the graph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</a:rPr>
              <a:t>Edges (E):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Connections between nodes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</a:rPr>
              <a:t>Directed Graph: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Edges have direction (digraph)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31089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</a:rPr>
              <a:t>Undirected Graph: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Edges go both ways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35661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</a:rPr>
              <a:t>Weighted Graph: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Edges have associated costs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40233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</a:rPr>
              <a:t>Adjacency Matrix: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V×V matrix representation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44805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173"/>
                </a:solidFill>
              </a:rPr>
              <a:t>Adjacency List: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List of neighbors per node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1143000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143000"/>
            <a:ext cx="4069080" cy="4572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1430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Graph Algorithms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1737360"/>
            <a:ext cx="73152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BFS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1737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Breadth-First Search: level-by-level traversal using a queue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2377440"/>
            <a:ext cx="731520" cy="4572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377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DFS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2377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Depth-First Search: go as deep as possible, then backtrack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3017520"/>
            <a:ext cx="731520" cy="4572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017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Dijkstra's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60720" y="3017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Shortest path in weighted graph — greedy approach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657600"/>
            <a:ext cx="731520" cy="45720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657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Topological Sort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36576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Linear ordering of vertices for DAGs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4297680"/>
            <a:ext cx="731520" cy="4572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4297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MST (Kruskal/Prim)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60720" y="4297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Minimum Spanning Tree — connects all nodes at min cost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Mode of Delivery &amp; Assessment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594360" cy="107899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30759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173"/>
                </a:solidFill>
              </a:rPr>
              <a:t>Classroom Lectures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67335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</a:rPr>
              <a:t>Classical lecture style with PowerPoint slides. Emphasis on concept clarity, worked examples, and Q&amp;A. Attendance and participation expected.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496312"/>
            <a:ext cx="8595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496312"/>
            <a:ext cx="594360" cy="107899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96312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56946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0"/>
                </a:solidFill>
              </a:rPr>
              <a:t>Take-Home Assignments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935224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</a:rPr>
              <a:t>Homework assigned using take-home procedure. Designed to strengthen algorithmic thinking and data structure implementation skills.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758184"/>
            <a:ext cx="8595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58184"/>
            <a:ext cx="594360" cy="107899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758184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83133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</a:rPr>
              <a:t>Practical Implementation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197096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</a:rPr>
              <a:t>Algorithms and ADTs will be implemented in a high-level programming language. Hands-on coding reinforces theoretical concepts.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Recommended Reading Materials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457200" cy="65836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22529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Malik, D.S. (2018) — </a:t>
            </a:r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</a:rPr>
              <a:t>C++ Programming: Program Design Including Data Structures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53619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</a:rPr>
              <a:t>Cengage Learning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20240"/>
            <a:ext cx="4572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202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197510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Bae, S. (2019) — </a:t>
            </a:r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</a:rPr>
              <a:t>JavaScript Data Structures and Algorithms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28600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</a:rPr>
              <a:t>Apress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67004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670048"/>
            <a:ext cx="457200" cy="6583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7004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27249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Canning, Broder &amp; Lafore (2022) — </a:t>
            </a:r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</a:rPr>
              <a:t>Data Structures and Algorithms in Python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03580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</a:rPr>
              <a:t>Addison-Wesley Professional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419856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419856"/>
            <a:ext cx="457200" cy="65836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41985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Mail, T. (2021) — </a:t>
            </a:r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</a:rPr>
              <a:t>Introduction to Computational Thinking: Problem Solving, Algorithms, Data Structures &amp; More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78561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</a:rPr>
              <a:t>Apress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169664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169664"/>
            <a:ext cx="4572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16966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42245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Mehlhorn, K. (2013) — </a:t>
            </a:r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</a:rPr>
              <a:t>Data Structures and Algorithms 1: Sorting and Searching (Vol. 1)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535424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</a:rPr>
              <a:t>Springer Science &amp; Business Media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5486400" cy="5486400"/>
          </a:xfrm>
          <a:prstGeom prst="ellipse">
            <a:avLst/>
          </a:prstGeom>
          <a:solidFill>
            <a:srgbClr val="0F7173">
              <a:alpha val="15000"/>
            </a:srgbClr>
          </a:solidFill>
          <a:ln w="12700">
            <a:solidFill>
              <a:srgbClr val="0F7173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E8A838">
              <a:alpha val="10000"/>
            </a:srgbClr>
          </a:solidFill>
          <a:ln w="12700">
            <a:solidFill>
              <a:srgbClr val="E8A83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Ready to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A097"/>
                </a:solidFill>
              </a:rPr>
              <a:t>Build Efficient Code?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743200" y="2423160"/>
            <a:ext cx="365760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51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DE3EA"/>
                </a:solidFill>
              </a:rPr>
              <a:t>BCP 201: Data Structures &amp; Algorithms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4592" y="338328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F7173">
              <a:alpha val="40000"/>
            </a:srgbClr>
          </a:solidFill>
          <a:ln w="12700">
            <a:solidFill>
              <a:srgbClr val="14A0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Arrays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152144" y="338328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F7173">
              <a:alpha val="40000"/>
            </a:srgbClr>
          </a:solidFill>
          <a:ln w="12700">
            <a:solidFill>
              <a:srgbClr val="14A0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Linked Lists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39696" y="338328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F7173">
              <a:alpha val="40000"/>
            </a:srgbClr>
          </a:solidFill>
          <a:ln w="12700">
            <a:solidFill>
              <a:srgbClr val="14A0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9696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Stacks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27248" y="338328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F7173">
              <a:alpha val="40000"/>
            </a:srgbClr>
          </a:solidFill>
          <a:ln w="12700">
            <a:solidFill>
              <a:srgbClr val="14A0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Queues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0" y="338328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F7173">
              <a:alpha val="40000"/>
            </a:srgbClr>
          </a:solidFill>
          <a:ln w="12700">
            <a:solidFill>
              <a:srgbClr val="14A0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Trees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02352" y="338328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F7173">
              <a:alpha val="40000"/>
            </a:srgbClr>
          </a:solidFill>
          <a:ln w="12700">
            <a:solidFill>
              <a:srgbClr val="14A0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Graphs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9904" y="338328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F7173">
              <a:alpha val="40000"/>
            </a:srgbClr>
          </a:solidFill>
          <a:ln w="12700">
            <a:solidFill>
              <a:srgbClr val="14A0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9904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Hashing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77456" y="338328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F7173">
              <a:alpha val="40000"/>
            </a:srgbClr>
          </a:solidFill>
          <a:ln w="12700">
            <a:solidFill>
              <a:srgbClr val="14A0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77456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Recursion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65008" y="338328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F7173">
              <a:alpha val="40000"/>
            </a:srgbClr>
          </a:solidFill>
          <a:ln w="12700">
            <a:solidFill>
              <a:srgbClr val="14A0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65008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Big-O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DE3EA"/>
                </a:solidFill>
              </a:rPr>
              <a:t>Let's write algorithms that make a difference.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7173">
              <a:alpha val="70000"/>
            </a:srgbClr>
          </a:solidFill>
          <a:ln w="12700">
            <a:solidFill>
              <a:srgbClr val="0F7173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617720"/>
            <a:ext cx="86868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BCP 201  |  Department of Computer Science  |  Undergraduate Program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BCP 201: Data Structures and Algorithms</dc:title>
  <dc:subject>PptxGenJS Presentation</dc:subject>
  <dc:creator>PptxGenJS</dc:creator>
  <cp:lastModifiedBy>PptxGenJS</cp:lastModifiedBy>
  <cp:revision>1</cp:revision>
  <dcterms:created xsi:type="dcterms:W3CDTF">2026-04-18T19:39:20Z</dcterms:created>
  <dcterms:modified xsi:type="dcterms:W3CDTF">2026-04-18T19:39:20Z</dcterms:modified>
</cp:coreProperties>
</file>