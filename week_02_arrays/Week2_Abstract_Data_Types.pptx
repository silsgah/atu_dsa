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5943600" cy="5943600"/>
          </a:xfrm>
          <a:prstGeom prst="ellipse">
            <a:avLst/>
          </a:prstGeom>
          <a:solidFill>
            <a:srgbClr val="0F7173">
              <a:alpha val="16000"/>
            </a:srgbClr>
          </a:solidFill>
          <a:ln w="12700">
            <a:solidFill>
              <a:srgbClr val="0F717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743200"/>
            <a:ext cx="5029200" cy="5029200"/>
          </a:xfrm>
          <a:prstGeom prst="ellipse">
            <a:avLst/>
          </a:prstGeom>
          <a:solidFill>
            <a:srgbClr val="6D2E8E">
              <a:alpha val="10000"/>
            </a:srgbClr>
          </a:solidFill>
          <a:ln w="12700">
            <a:solidFill>
              <a:srgbClr val="6D2E8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WEEK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DE3EA"/>
                </a:solidFill>
              </a:rPr>
              <a:t>Formalising Structure Behaviour · Interface vs. Implementation · ADT Design in Python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292608" cy="7315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3044952"/>
            <a:ext cx="292608" cy="73152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3EA"/>
                </a:solidFill>
              </a:rPr>
              <a:t>Implementation Language:  Python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1920240" cy="384048"/>
          </a:xfrm>
          <a:prstGeom prst="rect">
            <a:avLst/>
          </a:prstGeom>
          <a:solidFill>
            <a:srgbClr val="0F7173">
              <a:alpha val="24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93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ADT Concept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0" y="3493008"/>
            <a:ext cx="1920240" cy="384048"/>
          </a:xfrm>
          <a:prstGeom prst="rect">
            <a:avLst/>
          </a:prstGeom>
          <a:solidFill>
            <a:srgbClr val="0F7173">
              <a:alpha val="24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493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Interface vs Impl.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3493008"/>
            <a:ext cx="1920240" cy="384048"/>
          </a:xfrm>
          <a:prstGeom prst="rect">
            <a:avLst/>
          </a:prstGeom>
          <a:solidFill>
            <a:srgbClr val="0F7173">
              <a:alpha val="24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493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List ADT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0" y="3493008"/>
            <a:ext cx="1920240" cy="384048"/>
          </a:xfrm>
          <a:prstGeom prst="rect">
            <a:avLst/>
          </a:prstGeom>
          <a:solidFill>
            <a:srgbClr val="0F7173">
              <a:alpha val="24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493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Stack ADT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95928"/>
            <a:ext cx="1920240" cy="384048"/>
          </a:xfrm>
          <a:prstGeom prst="rect">
            <a:avLst/>
          </a:prstGeom>
          <a:solidFill>
            <a:srgbClr val="0F7173">
              <a:alpha val="24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Queue ADT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0" y="3995928"/>
            <a:ext cx="1920240" cy="384048"/>
          </a:xfrm>
          <a:prstGeom prst="rect">
            <a:avLst/>
          </a:prstGeom>
          <a:solidFill>
            <a:srgbClr val="0F7173">
              <a:alpha val="24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Map / Set ADT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995928"/>
            <a:ext cx="1920240" cy="384048"/>
          </a:xfrm>
          <a:prstGeom prst="rect">
            <a:avLst/>
          </a:prstGeom>
          <a:solidFill>
            <a:srgbClr val="0F7173">
              <a:alpha val="24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Python Classes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3995928"/>
            <a:ext cx="1920240" cy="384048"/>
          </a:xfrm>
          <a:prstGeom prst="rect">
            <a:avLst/>
          </a:prstGeom>
          <a:solidFill>
            <a:srgbClr val="0F7173">
              <a:alpha val="24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OOP &amp; ADTs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7173">
              <a:alpha val="70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617720"/>
            <a:ext cx="86868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BCP 201: Data Structures &amp; Algorithms  |  Week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Recap — What We Know So Far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</a:rPr>
              <a:t>Before diving into ADTs, let's confirm our Week 1 foundations: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3560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35608"/>
            <a:ext cx="502920" cy="5943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356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4721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173"/>
                </a:solidFill>
              </a:rPr>
              <a:t>Data Structure: 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1746504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A way of organising and storing data so it can be accessed and modified efficiently. Example: Python list.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2140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21408"/>
            <a:ext cx="502920" cy="5943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214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21579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0"/>
                </a:solidFill>
              </a:rPr>
              <a:t>Classification: 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" y="2432304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Primitive vs. Non-Primitive. Static (fixed-size, e.g. tuple) vs. Dynamic (resizable, e.g. list).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0720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07208"/>
            <a:ext cx="502920" cy="5943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072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28437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838"/>
                </a:solidFill>
              </a:rPr>
              <a:t>Memory: 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6112" y="3118104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Contiguous (arrays) = O(1) index access. Non-contiguous (linked) = flexible sizing, O(n) traversal.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9300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93008"/>
            <a:ext cx="502920" cy="59436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930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3529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76AB"/>
                </a:solidFill>
              </a:rPr>
              <a:t>Python Built-ins: 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96112" y="3803904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list, tuple, dict, set — each with unique properties, operations, and complexity trade-offs.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17880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178808"/>
            <a:ext cx="502920" cy="594360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788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6112" y="42153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F5C"/>
                </a:solidFill>
              </a:rPr>
              <a:t>Big-O Notation: 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96112" y="4489704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Measures worst-case growth. O(1) constant → O(log n) → O(n) → O(n log n) → O(n²) quadratic.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solidFill>
            <a:srgbClr val="D5F2F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Today: we formalise the behaviour of data structures using Abstract Data Types (ADTs)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Abstract Data Type (ADT)?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804672"/>
          </a:xfrm>
          <a:prstGeom prst="rect">
            <a:avLst/>
          </a:prstGeom>
          <a:solidFill>
            <a:srgbClr val="D5F2F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173"/>
                </a:solidFill>
              </a:rPr>
              <a:t>Definition: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An ADT is a 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mathematical model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of a data type defined by its </a:t>
            </a:r>
            <a:pPr indent="0" marL="0">
              <a:buNone/>
            </a:pPr>
            <a:r>
              <a:rPr lang="en-US" sz="1400" b="1" dirty="0">
                <a:solidFill>
                  <a:srgbClr val="0F7173"/>
                </a:solidFill>
              </a:rPr>
              <a:t>possible values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and </a:t>
            </a:r>
            <a:pPr indent="0" marL="0">
              <a:buNone/>
            </a:pPr>
            <a:r>
              <a:rPr lang="en-US" sz="1400" b="1" dirty="0">
                <a:solidFill>
                  <a:srgbClr val="0F7173"/>
                </a:solidFill>
              </a:rPr>
              <a:t>operations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 on those values — </a:t>
            </a:r>
            <a:pPr indent="0" marL="0">
              <a:buNone/>
            </a:pPr>
            <a:r>
              <a:rPr lang="en-US" sz="1400" b="1" i="1" dirty="0">
                <a:solidFill>
                  <a:srgbClr val="0D1B40"/>
                </a:solidFill>
              </a:rPr>
              <a:t>without specifying implementation details.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29968"/>
            <a:ext cx="274320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29968"/>
            <a:ext cx="2743200" cy="42062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29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an ADT 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523744"/>
            <a:ext cx="25237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A contract / specification of behaviour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Defines WHAT operations are supported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Describes the logical properties of data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Language and implementation independent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Exists at the design/conceptual level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2029968"/>
            <a:ext cx="274320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029968"/>
            <a:ext cx="274320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029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an ADT is NOT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2523744"/>
            <a:ext cx="25237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Not a specific implementation in code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Does NOT say HOW operations are done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Not tied to any programming language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Not concerned with memory layout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Not a class definition (though related)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029968"/>
            <a:ext cx="274320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029968"/>
            <a:ext cx="2743200" cy="420624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029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Real-World Analogy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2523744"/>
            <a:ext cx="25237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A vending machine: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2E"/>
                </a:solidFill>
              </a:rPr>
              <a:t>• You know: insert coin, select item, get item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2E"/>
                </a:solidFill>
              </a:rPr>
              <a:t>• You don't know: internal motor, coin sorter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D1B40"/>
                </a:solidFill>
              </a:rPr>
              <a:t>→ Interface = ADT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D1B40"/>
                </a:solidFill>
              </a:rPr>
              <a:t>→ Machine internals = implementation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" y="50292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Key insight: ADT = Interface (what) + Axioms (rules). Implementation = how it works underneath.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vs. Implementation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56616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17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356616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INTERFACE  (ADT)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5910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7173"/>
                </a:solidFill>
              </a:rPr>
              <a:t>Visible to the 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Operation names &amp; signatures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Input parameters &amp; return types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Pre-conditions &amp; post-conditions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Invariants (rules that always hold)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Expected behaviour &amp; complexity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2852928"/>
            <a:ext cx="118872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999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A838"/>
                </a:solidFill>
              </a:rPr>
              <a:t>implements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2743200"/>
            <a:ext cx="73152" cy="2926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2999232"/>
            <a:ext cx="73152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078992"/>
            <a:ext cx="356616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1078992"/>
            <a:ext cx="3566160" cy="457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0789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IMPLEMENTATION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15910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1B40"/>
                </a:solidFill>
              </a:rPr>
              <a:t>Hidden from the user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19202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Actual data storage (array, node…)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Code for each operation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Memory allocation strategy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Performance optimisations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Language-specific constructs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5047488"/>
            <a:ext cx="8595360" cy="237744"/>
          </a:xfrm>
          <a:prstGeom prst="rect">
            <a:avLst/>
          </a:prstGeom>
          <a:solidFill>
            <a:srgbClr val="0D1B40">
              <a:alpha val="85000"/>
            </a:srgbClr>
          </a:solidFill>
          <a:ln w="12700">
            <a:solidFill>
              <a:srgbClr val="0D1B40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5047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Example: Stack ADT (interface) can be implemented using a Python list OR a linked list — the ADT stays the same.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an ADT Specification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</a:rPr>
              <a:t>A complete ADT specification includes four components: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35608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35608"/>
            <a:ext cx="438912" cy="16916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35608"/>
            <a:ext cx="4389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173"/>
                </a:solidFill>
              </a:rPr>
              <a:t>Data / Domain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81965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The set of possible values the ADT can hold.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1226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List ADT domain: an ordered sequence of zero or more elements of some type 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3547872" cy="512064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551176"/>
            <a:ext cx="3328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 type can be stored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items: List[T]  # T is generic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435608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435608"/>
            <a:ext cx="438912" cy="16916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435608"/>
            <a:ext cx="4389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57800" y="1508760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Operations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181965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The set of operations that can be performed on the ADT.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211226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Stack ADT: push(item), pop() → item, peek() → item, is_empty() → bool, size() → int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2514600"/>
            <a:ext cx="3547872" cy="512064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67528" y="2551176"/>
            <a:ext cx="3328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push(self, item: T) -&gt; None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pop(self) -&gt; 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46120"/>
            <a:ext cx="438912" cy="16916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246120"/>
            <a:ext cx="4389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3319272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Pre/Post-conditions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63016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Rules that must hold before and after each operation.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92277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pop() pre-condition: stack is not empty. Post-condition: item removed, size decreases by 1.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4325112"/>
            <a:ext cx="3547872" cy="512064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4361688"/>
            <a:ext cx="3328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Pre: not self.is_empty()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Post: returns top item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246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246120"/>
            <a:ext cx="438912" cy="169164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246120"/>
            <a:ext cx="4389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57800" y="3319272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76AB"/>
                </a:solidFill>
              </a:rPr>
              <a:t>Axioms / Invariants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363016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Mathematical properties that always hold regardless of implementation.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392277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Queue axiom: if you enqueue then dequeue, you get the same item (FIFO property always holds).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57800" y="4325112"/>
            <a:ext cx="3547872" cy="512064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67528" y="4361688"/>
            <a:ext cx="3328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Invariant: front inserted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 rear in any state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ADT: The List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14800" cy="420624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List ADT Specification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72768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Domain: An ordered sequence of elements of type T. Duplicates allowed.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984248"/>
            <a:ext cx="3968496" cy="329184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842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insert(i, 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9424" y="198424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Insert element e at position 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350008"/>
            <a:ext cx="396849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500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remove(i)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49424" y="235000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Remove and return element at 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715768"/>
            <a:ext cx="3968496" cy="329184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7157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get(i)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49424" y="271576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Return element at index 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3081528"/>
            <a:ext cx="396849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815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set(i, 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49424" y="308152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Replace element at i with 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447288"/>
            <a:ext cx="3968496" cy="329184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4472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49424" y="344728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Return number of elements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813048"/>
            <a:ext cx="396849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8130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is_empty()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49424" y="381304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Return True if no elements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178808"/>
            <a:ext cx="3968496" cy="329184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178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index_of(e)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49424" y="417880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Return first index of element 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4544568"/>
            <a:ext cx="396849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5445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contains(e)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249424" y="454456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Return True if e is in the list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1078992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078992"/>
            <a:ext cx="4114800" cy="42062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07899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Implementation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00600" y="1554480"/>
            <a:ext cx="4023360" cy="3337560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1554480"/>
            <a:ext cx="777240" cy="23774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5544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10328" y="1828800"/>
            <a:ext cx="3803904" cy="2990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ListADT: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self._data = []   # internal list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insert(self, i, 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self._data.insert(i, 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remove(self, i):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self._data.pop(i)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get(self, i):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self._data[i]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set(self, i, 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self._data[i] = 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size(self):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len(self._data)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len(self._data) ==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contains(self, 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 in self._data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ADT: The Stack (LIFO)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5029200" cy="40233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Specification &amp; Behaviour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</a:rPr>
              <a:t>LIFO: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Last element added is the first removed.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965960"/>
            <a:ext cx="2286000" cy="40233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659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 C (last in)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423160"/>
            <a:ext cx="2286000" cy="402336"/>
          </a:xfrm>
          <a:prstGeom prst="rect">
            <a:avLst/>
          </a:prstGeom>
          <a:solidFill>
            <a:srgbClr val="14A097"/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23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880360"/>
            <a:ext cx="2286000" cy="40233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803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(first in, bottom)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788920"/>
            <a:ext cx="2286000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1993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push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2286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pop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474720"/>
            <a:ext cx="4809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0"/>
                </a:solidFill>
              </a:rPr>
              <a:t>Operations: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" y="3785616"/>
            <a:ext cx="4882896" cy="201168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785616"/>
            <a:ext cx="4809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push(e)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Add to top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  O(1)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4005072"/>
            <a:ext cx="488289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005072"/>
            <a:ext cx="4809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Remove &amp; return top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  O(1)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224528"/>
            <a:ext cx="4882896" cy="201168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224528"/>
            <a:ext cx="4809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peek()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View top, no remove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  O(1)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4443984"/>
            <a:ext cx="488289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443984"/>
            <a:ext cx="4809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is_empty()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True if empty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  O(1)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4663440"/>
            <a:ext cx="4882896" cy="201168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663440"/>
            <a:ext cx="4809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size()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Number of items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  O(1)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1078992"/>
            <a:ext cx="3383280" cy="3886200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1078992"/>
            <a:ext cx="777240" cy="23774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0789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96128" y="1353312"/>
            <a:ext cx="3163824" cy="3538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 = []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item):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self._items.append(item)  # O(1)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IndexError("empty")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self._items.pop()  # O(1)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peek(self):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IndexError("empty")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self._items[-1]    # O(1)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len(self._items) == 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size(self):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len(self._items)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Usage ----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Stack()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s.push(10); s.push(20); s.push(30)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print(s.pop())    # 30  &lt;- LIFO!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print(s.peek())   # 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print(s.size())   #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ADT: The Queue (FIFO)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937760" cy="3895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937760" cy="40233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FIFO: First In, First 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361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Elements enter at the </a:t>
            </a:r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</a:rPr>
              <a:t>rear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 and leave from the </a:t>
            </a:r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</a:rPr>
              <a:t>front.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901952"/>
            <a:ext cx="1078992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0195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 (front)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54480" y="1901952"/>
            <a:ext cx="1078992" cy="5029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90195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24912" y="1901952"/>
            <a:ext cx="1078992" cy="502920"/>
          </a:xfrm>
          <a:prstGeom prst="rect">
            <a:avLst/>
          </a:prstGeom>
          <a:solidFill>
            <a:srgbClr val="14A097"/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190195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95344" y="1901952"/>
            <a:ext cx="1078992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5344" y="190195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 (rear)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4688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dequeue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60520" y="2468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enqueue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27980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0"/>
                </a:solidFill>
              </a:rPr>
              <a:t>Operations: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" y="3090672"/>
            <a:ext cx="4791456" cy="246888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090672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enqueue(e)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Add to rear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  O(1)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364992"/>
            <a:ext cx="479145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64992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dequeue()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Remove from front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  O(1)*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639312"/>
            <a:ext cx="4791456" cy="246888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639312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front()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Peek front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  O(1)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913632"/>
            <a:ext cx="479145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913632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is_empty()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True if empty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  O(1)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4187952"/>
            <a:ext cx="4791456" cy="246888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187952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size()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Element count</a:t>
            </a:r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  O(1)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" y="457200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D"/>
                </a:solidFill>
              </a:rPr>
              <a:t>* O(n) with list.pop(0) — use collections.deque for O(1)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94960" y="1078992"/>
            <a:ext cx="3474720" cy="3895344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94960" y="1078992"/>
            <a:ext cx="777240" cy="23774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10789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04688" y="1353312"/>
            <a:ext cx="3255264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Queue: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 = deque()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enqueue(self, item):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self._items.append(item) # O(1)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dequeue(self):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IndexError("empty")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self._items.popleft() # O(1)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front(self):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self._items[0]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len(self._items) == 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size(self):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len(self._items)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Usage ----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Queue()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q.enqueue("A")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q.enqueue("B")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q.enqueue("C")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print(q.dequeue())  # A &lt;- FIFO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print(q.front())    # B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vs. Queue — Side-by-Side Comparison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</a:rPr>
              <a:t>Both are linear ADTs restricting how elements are accessed — they differ only in ordering policy.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26464"/>
            <a:ext cx="8595360" cy="384048"/>
          </a:xfrm>
          <a:prstGeom prst="rect">
            <a:avLst/>
          </a:prstGeom>
          <a:solidFill>
            <a:srgbClr val="0D1B40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264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838"/>
                </a:solidFill>
              </a:rPr>
              <a:t>Property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68880" y="14264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14264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37944"/>
            <a:ext cx="8595360" cy="384048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379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</a:rPr>
              <a:t>Order Policy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68880" y="18379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LIFO — Last In, First Out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83794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FIFO — First In, First 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187452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187452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24942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94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</a:rPr>
              <a:t>Insert at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68880" y="22494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Top 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22494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Rear (back)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228600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228600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60904"/>
            <a:ext cx="8595360" cy="384048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6609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</a:rPr>
              <a:t>Remove from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468880" y="26609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Top only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6609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Front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23160" y="269748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269748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07238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723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</a:rPr>
              <a:t>Peek operation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468880" y="30723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peek() — view top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30723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front() — view front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23160" y="310896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32120" y="310896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483864"/>
            <a:ext cx="8595360" cy="384048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4838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</a:rPr>
              <a:t>Python impl.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468880" y="34838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list (append/pop)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34838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collections.deque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23160" y="352044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32120" y="352044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89534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8953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</a:rPr>
              <a:t>Insert complexity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468880" y="38953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O(1) — append to end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389534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O(1) — append to deque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23160" y="393192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32120" y="393192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4306824"/>
            <a:ext cx="8595360" cy="384048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306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</a:rPr>
              <a:t>Remove complexity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2468880" y="43068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O(1) — pop from end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577840" y="43068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O(1) — popleft()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23160" y="434340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32120" y="434340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471830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7183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</a:rPr>
              <a:t>Use case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2468880" y="47183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Undo, call stack, parsing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577840" y="47183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BFS, scheduling, buffers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423160" y="475488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32120" y="4754880"/>
            <a:ext cx="36576" cy="3108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ADT: Map and 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14800" cy="42062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Map ADT  (Dictionary)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A collection of key-value pairs where each key is unique.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920240"/>
            <a:ext cx="3968496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2024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put(k, v)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01952" y="19202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Insert/update key k with value 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267712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677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get(k)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01952" y="22677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Return value for key 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615184"/>
            <a:ext cx="3968496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151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remove(k)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01952" y="261518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Delete entry with key 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2962656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626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contains(k)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01952" y="296265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True if key k exists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310128"/>
            <a:ext cx="3968496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3101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01952" y="331012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Return all keys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657600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6576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01952" y="36576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Return all values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005072"/>
            <a:ext cx="3968496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00507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size()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01952" y="400507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Number of key-value pairs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4352544"/>
            <a:ext cx="3968496" cy="566928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4352544"/>
            <a:ext cx="777240" cy="23774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35254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62686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 ADT → Python dict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{}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scores["Alice"] = 95      # 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scores["Bob"]   = 87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print(scores["Alice"])    # get → 95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scores["Bob"]         # remove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print("Alice" in scores)  # contains → True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1078992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078992"/>
            <a:ext cx="4114800" cy="42062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07899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Set ADT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64608" y="155448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An unordered collection of unique elements. No duplicates.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28032" y="1920240"/>
            <a:ext cx="3968496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192024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add(e)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82512" y="19202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Add element e — ignored if duplicate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28032" y="2267712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22677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remove(e)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82512" y="22677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Remove element 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28032" y="2615184"/>
            <a:ext cx="3968496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6151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contains(e)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82512" y="261518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True if e exists — O(1)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28032" y="2962656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29626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union(other)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82512" y="296265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Return A ∪ B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828032" y="3310128"/>
            <a:ext cx="3968496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33101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intersection()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82512" y="331012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Return A ∩ B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828032" y="3657600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36576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difference()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82512" y="36576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Return A − B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28032" y="4005072"/>
            <a:ext cx="3968496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400507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size()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82512" y="400507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Number of elements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828032" y="4352544"/>
            <a:ext cx="3968496" cy="566928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828032" y="4352544"/>
            <a:ext cx="777240" cy="23774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435254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462686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ADT → Python set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 = set()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visited.add("home")        # add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visited.add("school")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visited.add("home")        # ignored!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print(visited)             # {'home','school'}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print("school" in visited) # True — O(1)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{1,2,3}; b = {2,3,4}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| b)  # union → {1,2,3,4}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ADTs with Python Classes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926080" cy="475488"/>
          </a:xfrm>
          <a:prstGeom prst="rect">
            <a:avLst/>
          </a:prstGeom>
          <a:solidFill>
            <a:srgbClr val="D5F2F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Python classes map naturally to ADTs: class = ADT, methods = operations, attributes = internal data.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2926080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27632"/>
            <a:ext cx="2926080" cy="40233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916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OOP Principles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" y="2176272"/>
            <a:ext cx="2779776" cy="603504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1284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Encapsulation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</a:rPr>
              <a:t>Hide internal data using _ prefix. Only expose public methods.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871216"/>
            <a:ext cx="2779776" cy="603504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0"/>
                </a:solidFill>
              </a:rPr>
              <a:t>Abstraction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31455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</a:rPr>
              <a:t>User only sees the interface — not how list or deque work.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566160"/>
            <a:ext cx="2779776" cy="603504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027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838"/>
                </a:solidFill>
              </a:rPr>
              <a:t>Inheritance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</a:rPr>
              <a:t>A Stack can extend a base Container class.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4261104"/>
            <a:ext cx="2779776" cy="603504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9768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76AB"/>
                </a:solidFill>
              </a:rPr>
              <a:t>Polymorphism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45354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</a:rPr>
              <a:t>Different ADTs can share method names (e.g. size(), is_empty()).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1261872"/>
            <a:ext cx="5449824" cy="3657600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1261872"/>
            <a:ext cx="777240" cy="23774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2618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93008" y="1536192"/>
            <a:ext cx="5230368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"""Stack ADT — LIFO using Python list."""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self._data = []        # PRIVATE — hidden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Public Interface (ADT operations) 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item):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"""Add item to top of stack."""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self._data.append(item)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"""Remove and return top item."""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IndexError("pop from empty stack")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self._data.pop()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peek(self):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"""Return top item without removing."""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IndexError("peek at empty stack")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self._data[-1]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len(self._data) == 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size(self):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len(self._data)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f"Stack({self._data})"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Usage (only interface visible) 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Stack()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s.push(5); s.push(10); s.push(15)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print(s)          # Stack([5, 10, 15])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print(s.pop())    # 15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print(s.peek())   # 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Design an ADT — Step-by-Step Process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</a:rPr>
              <a:t>Use this systematic process whenever you need to define a new data structure: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26464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517904"/>
            <a:ext cx="457200" cy="457200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173"/>
                </a:solidFill>
              </a:rPr>
              <a:t>Identify the Domain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7099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What kind of data will this ADT hold? Is it ordered? Can it have duplicates? What types?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1709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→ Example: A Bag ADT holds items of any type, allows duplicates, no ordering required.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" y="2240280"/>
            <a:ext cx="457200" cy="45720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185416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Define the Operations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4323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What should users be able to DO with the data? List all operations with their signatures.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→ add(item), remove(item), count(item) → int, size() → int, is_empty() → bool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71216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" y="2962656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907792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Specify Pre/Post-conditions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For each operation, specify what must be true before and after it runs.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→ remove(item) — pre: item is in the bag. post: one occurrence of item is removed.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93592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" y="3685032"/>
            <a:ext cx="457200" cy="45720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630168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76AB"/>
                </a:solidFill>
              </a:rPr>
              <a:t>Write Axioms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38770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Write mathematical rules that capture the essential behaviour regardless of implementation.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4920" y="3877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→ add then count: count(add(item), item) = count(bag, item) + 1 always holds.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" y="4407408"/>
            <a:ext cx="457200" cy="457200"/>
          </a:xfrm>
          <a:prstGeom prst="ellipse">
            <a:avLst/>
          </a:prstGeom>
          <a:solidFill>
            <a:srgbClr val="1E7F5C"/>
          </a:solidFill>
          <a:ln w="12700">
            <a:solidFill>
              <a:srgbClr val="1E7F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435254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5C"/>
                </a:solidFill>
              </a:rPr>
              <a:t>Choose an Implementation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599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Only now think about HOW to implement it. Pick array, linked list, hash table, etc.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74920" y="4599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→ Bag can be implemented as a Python list — meets all pre/post-conditions above.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vs. Data Structure vs. Python Class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</a:rPr>
              <a:t>Three related but distinct concepts — understanding the difference is fundamental: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35608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35608"/>
            <a:ext cx="274320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35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Abstract Data Type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1947672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F7173">
              <a:alpha val="75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47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Conceptual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286000"/>
            <a:ext cx="2523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Mathematical / logical concept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Describes WHAT, not HOW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Language-independent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Defines interface + axioms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No code — just specification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4343400"/>
            <a:ext cx="2523744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891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push, pop, peek, is_empty — LIFO rule always holds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435608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35608"/>
            <a:ext cx="2743200" cy="457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435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Structure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40480" y="1947672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1B40">
              <a:alpha val="75000"/>
            </a:srgbClr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947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55848" y="2286000"/>
            <a:ext cx="2523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A concrete way to store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Describes HOW data is arranged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Memory-level concept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Array, linked list, tree, hash…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Has real performance characteristics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4343400"/>
            <a:ext cx="2523744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43891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 list of nodes: each node has value + pointer to next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1435608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435608"/>
            <a:ext cx="2743200" cy="45720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435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Python Class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12280" y="1947672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3776AB">
              <a:alpha val="75000"/>
            </a:srgbClr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947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7648" y="2286000"/>
            <a:ext cx="2523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Language-level construct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Implements an ADT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Uses a data structure internally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class Stack uses self._data = []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Methods implement ADT operations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27648" y="4343400"/>
            <a:ext cx="2523744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3891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 with def push(), def pop() using Python list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50932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173"/>
                </a:solidFill>
              </a:rPr>
              <a:t>ADT  →  specifies  →  Data Structure  →  realised as  →  Python Class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Priority Queue ADT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457200"/>
          </a:xfrm>
          <a:prstGeom prst="rect">
            <a:avLst/>
          </a:prstGeom>
          <a:solidFill>
            <a:srgbClr val="D5F2F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Walk-through of designing a new ADT from scratch using the 5-step process from Slide 12.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41148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64208"/>
            <a:ext cx="4114800" cy="40233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6420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ADT Specification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13969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Domain: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340864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An ordered collection of (item, priority) pairs. Smallest priority number = highest priority.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70662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Operations: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2907792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insert(item, priority), remove_min() → item, peek_min() → item, is_empty() → bool, size() → 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32735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Pre-condition: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" y="34747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remove_min() and peek_min() require is_empty() == False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38404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Post-condition: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048" y="4041648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After insert, item is retrievable. After remove_min, minimum-priority item is returned and removed.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4407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Invariant: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4048" y="4608576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The item with lowest priority number is always at the front, regardless of insertion order.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1664208"/>
            <a:ext cx="4297680" cy="3310128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664208"/>
            <a:ext cx="777240" cy="23774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6642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81728" y="1938528"/>
            <a:ext cx="4078224" cy="2962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PriorityQueue: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"""Priority Queue ADT.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Lower number = higher priority."""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 = []   # list of (priority, item)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insert(self, item, priority):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self._items.append((priority, item))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self._items.sort()   # sort by priority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remove_min(self):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IndexError("Queue is empty")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self._items.pop(0)[1]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peek_min(self):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IndexError("Queue is empty")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self._items[0][1]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len(self._items) == 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size(self):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len(self._items)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Usage 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 = PriorityQueue()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pq.insert("Low task",    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pq.insert("Urgent task", 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pq.insert("Normal task",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print(pq.remove_min())  # Urgent task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print(pq.peek_min())    # Normal task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56032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6D2E8E">
              <a:alpha val="10000"/>
            </a:srgbClr>
          </a:solidFill>
          <a:ln w="12700">
            <a:solidFill>
              <a:srgbClr val="6D2E8E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4747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Week 2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969264"/>
            <a:ext cx="27432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25296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25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170432"/>
            <a:ext cx="7818120" cy="512064"/>
          </a:xfrm>
          <a:prstGeom prst="rect">
            <a:avLst/>
          </a:prstGeom>
          <a:solidFill>
            <a:srgbClr val="0F7173">
              <a:alpha val="18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170432"/>
            <a:ext cx="7635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An ADT specifies WHAT a data structure does, not HOW it works internally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47088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1792224"/>
            <a:ext cx="7818120" cy="512064"/>
          </a:xfrm>
          <a:prstGeom prst="rect">
            <a:avLst/>
          </a:prstGeom>
          <a:solidFill>
            <a:srgbClr val="0F7173">
              <a:alpha val="18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792224"/>
            <a:ext cx="7635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Every ADT has: domain, operations, pre/post-conditions, and axioms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2414016"/>
            <a:ext cx="7818120" cy="512064"/>
          </a:xfrm>
          <a:prstGeom prst="rect">
            <a:avLst/>
          </a:prstGeom>
          <a:solidFill>
            <a:srgbClr val="0F7173">
              <a:alpha val="18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414016"/>
            <a:ext cx="7635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Interface (ADT) and implementation are separated — key to good software design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090672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3035808"/>
            <a:ext cx="7818120" cy="512064"/>
          </a:xfrm>
          <a:prstGeom prst="rect">
            <a:avLst/>
          </a:prstGeom>
          <a:solidFill>
            <a:srgbClr val="0F7173">
              <a:alpha val="18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035808"/>
            <a:ext cx="7635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Stack (LIFO) and Queue (FIFO) are foundational ADTs with O(1) core operations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712464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" y="3657600"/>
            <a:ext cx="7818120" cy="512064"/>
          </a:xfrm>
          <a:prstGeom prst="rect">
            <a:avLst/>
          </a:prstGeom>
          <a:solidFill>
            <a:srgbClr val="0F7173">
              <a:alpha val="18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657600"/>
            <a:ext cx="7635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Map and Set ADTs provide key-value and unique-element collections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4334256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06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5840" y="4279392"/>
            <a:ext cx="7818120" cy="512064"/>
          </a:xfrm>
          <a:prstGeom prst="rect">
            <a:avLst/>
          </a:prstGeom>
          <a:solidFill>
            <a:srgbClr val="0F7173">
              <a:alpha val="18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279392"/>
            <a:ext cx="7635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Python classes implement ADTs: encapsulation hides the internal data structure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7173">
              <a:alpha val="80000"/>
            </a:srgbClr>
          </a:solidFill>
          <a:ln w="12700">
            <a:solidFill>
              <a:srgbClr val="0F7173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Next Week: Lists — Singly &amp; Doubly Linked Lists, implementation from scratch in Python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Practice Exercises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</a:rPr>
              <a:t>Complete before Week 3. All implementations in Python 3.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35608"/>
            <a:ext cx="8595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35608"/>
            <a:ext cx="502920" cy="78638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35608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6112" y="1527048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F7173">
              <a:alpha val="8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27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173"/>
                </a:solidFill>
              </a:rPr>
              <a:t>Basic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1783080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Implement a Queue from Scratch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2002536"/>
            <a:ext cx="7818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Without using collections.deque, implement the Queue ADT using a Python list. Write all 5 operations. Then analyse the time complexity of each operation — which one is O(n) and why?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13432"/>
            <a:ext cx="8595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13432"/>
            <a:ext cx="502920" cy="78638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13432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6112" y="2404872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F7173">
              <a:alpha val="8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4048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173"/>
                </a:solidFill>
              </a:rPr>
              <a:t>Basic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" y="2660904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Stack Application — Bracket Checker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" y="2880360"/>
            <a:ext cx="7818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Write a function is_balanced(expr) using your Stack ADT that returns True if all brackets (, [, { are correctly closed in the right order. Test with '({[]})' → True, '([)]' → False.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91256"/>
            <a:ext cx="8595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91256"/>
            <a:ext cx="502920" cy="78638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191256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96112" y="3282696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8A838">
              <a:alpha val="8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2826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838"/>
                </a:solidFill>
              </a:rPr>
              <a:t>Intermediate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6112" y="3538728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Design a Bag ADT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96112" y="3758184"/>
            <a:ext cx="7818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Specify and implement a Bag ADT (allows duplicates, unordered). Operations: add(item), remove(item), count(item)→int, size()→int, is_empty()→bool. Include pre/post-conditions for each operation.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069080"/>
            <a:ext cx="8595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069080"/>
            <a:ext cx="502920" cy="786384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6908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96112" y="4160520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D1B40">
              <a:alpha val="80000"/>
            </a:srgbClr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4160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Advanced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96112" y="4416552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Stack-based Reverse &amp; Conversion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96112" y="4636008"/>
            <a:ext cx="7818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(a) Use a Stack to reverse a string without using slicing or reversed(). (b) Convert a decimal number to binary using a Stack — repeatedly divide by 2, push remainders, pop for result.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BCP 201 – Week 2: Abstract Data Types</dc:title>
  <dc:subject>PptxGenJS Presentation</dc:subject>
  <dc:creator>PptxGenJS</dc:creator>
  <cp:lastModifiedBy>PptxGenJS</cp:lastModifiedBy>
  <cp:revision>1</cp:revision>
  <dcterms:created xsi:type="dcterms:W3CDTF">2026-04-19T14:49:01Z</dcterms:created>
  <dcterms:modified xsi:type="dcterms:W3CDTF">2026-04-19T14:49:01Z</dcterms:modified>
</cp:coreProperties>
</file>