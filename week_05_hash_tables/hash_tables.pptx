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09728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12191695" cy="36576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2194560" cy="502920"/>
          </a:xfrm>
          <a:prstGeom prst="round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14400"/>
            <a:ext cx="2194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WEEK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Hash Tables &amp; Dictionaries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E0A81F"/>
                </a:solidFill>
                <a:latin typeface="Calibri"/>
              </a:rPr>
              <a:t>Achieving O(1) Lookups through Mathematical Hashing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F2F4F7"/>
                </a:solidFill>
                <a:latin typeface="Calibri"/>
              </a:rPr>
              <a:t>A University-Grade Lecture in Data Structures &amp;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Course   ·   CSC: Data Structures &amp;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Module   ·   Week 05 of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Format   ·   Lecture · Demonstration · Practical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Lecture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magic behind O(1) 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1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9728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1. The Need for Speed.  </a:t>
            </a:r>
            <a:r>
              <a:rPr sz="1800">
                <a:solidFill>
                  <a:srgbClr val="333D4A"/>
                </a:solidFill>
                <a:latin typeface="Calibri"/>
              </a:rPr>
              <a:t>Why arrays and linked lists are not enough for fast lookups.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2. Direct Address Tables.  </a:t>
            </a:r>
            <a:r>
              <a:rPr sz="1800">
                <a:solidFill>
                  <a:srgbClr val="333D4A"/>
                </a:solidFill>
                <a:latin typeface="Calibri"/>
              </a:rPr>
              <a:t>The intuition of using keys as array indices.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3. Hash Functions.  </a:t>
            </a:r>
            <a:r>
              <a:rPr sz="1800">
                <a:solidFill>
                  <a:srgbClr val="333D4A"/>
                </a:solidFill>
                <a:latin typeface="Calibri"/>
              </a:rPr>
              <a:t>Mapping arbitrary data (strings, objects) to integer indices.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4. The Collision Problem.  </a:t>
            </a:r>
            <a:r>
              <a:rPr sz="1800">
                <a:solidFill>
                  <a:srgbClr val="333D4A"/>
                </a:solidFill>
                <a:latin typeface="Calibri"/>
              </a:rPr>
              <a:t>What happens when two keys hash to the same bucket?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5. Collision Resolution: Chaining.  </a:t>
            </a:r>
            <a:r>
              <a:rPr sz="1800">
                <a:solidFill>
                  <a:srgbClr val="333D4A"/>
                </a:solidFill>
                <a:latin typeface="Calibri"/>
              </a:rPr>
              <a:t>Linked lists inside arrays.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6. Collision Resolution: Open Addressing.  </a:t>
            </a:r>
            <a:r>
              <a:rPr sz="1800">
                <a:solidFill>
                  <a:srgbClr val="333D4A"/>
                </a:solidFill>
                <a:latin typeface="Calibri"/>
              </a:rPr>
              <a:t>Linear probing, quadratic probing, and double hashing.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7. The Load Factor.  </a:t>
            </a:r>
            <a:r>
              <a:rPr sz="1800">
                <a:solidFill>
                  <a:srgbClr val="333D4A"/>
                </a:solidFill>
                <a:latin typeface="Calibri"/>
              </a:rPr>
              <a:t>When and why to resize your hash table.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800" b="1">
                <a:solidFill>
                  <a:srgbClr val="127A8A"/>
                </a:solidFill>
                <a:latin typeface="Calibri"/>
              </a:rPr>
              <a:t>▸  </a:t>
            </a:r>
            <a:r>
              <a:rPr sz="1800" b="1">
                <a:solidFill>
                  <a:srgbClr val="0B2A4A"/>
                </a:solidFill>
                <a:latin typeface="Calibri"/>
              </a:rPr>
              <a:t>8. Hash Tables in Practice.  </a:t>
            </a:r>
            <a:r>
              <a:rPr sz="1800">
                <a:solidFill>
                  <a:srgbClr val="333D4A"/>
                </a:solidFill>
                <a:latin typeface="Calibri"/>
              </a:rPr>
              <a:t>Python dicts, Java HashMaps, and real-world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1. The Need for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limitations of sequential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2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Calibri"/>
              </a:rPr>
              <a:t>Searching for a value in traditional linear data structures takes O(N)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0292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Array:
Finding an element by value requires checking every element until you find it (Linear Search).
Linked List:
Requires traversing pointers from the head until the node is found.
If we have 1 billion records, O(N) is too slow for real-time systems (e.g., Database Lookups, Caching, DNS Resolution).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Calibri"/>
              </a:rPr>
              <a:t>The Goal: O(1)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663440" cy="274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We want to instantly know exactly where our data is stored in memory, without scanning.
To do this, we need a mathematical function that takes our 'Key' and directly computes its 'Index' in an array.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2. The Hash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Translating Keys into Array Indices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3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A Hash Function takes an arbitrary input (like a string) and outputs a fixed-size integer. We then use the modulo operator (%) to constrain this integer to the size of our array.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solidFill>
            <a:srgbClr val="12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Index = HashFunction(Key) % ArraySize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65760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Properties of a Good Hash Function: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105156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Deterministic: Same input always yields the same output.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Fast to Compute: Shouldn't take O(N) time itself.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1">
                <a:solidFill>
                  <a:srgbClr val="127A8A"/>
                </a:solidFill>
                <a:latin typeface="Calibri"/>
              </a:rPr>
              <a:t>▸  </a:t>
            </a:r>
            <a:r>
              <a:rPr sz="1600">
                <a:solidFill>
                  <a:srgbClr val="333D4A"/>
                </a:solidFill>
                <a:latin typeface="Calibri"/>
              </a:rPr>
              <a:t>Uniform Distribution: Should spread keys evenly across the array to avoid clusters.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3. The Collision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What happens when two keys share an index?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4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4864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Because the number of possible keys (e.g., all possible strings) is infinite, but our array size is finite, collisions are mathematically inevitable (Pigeonhole Principle).
A collision occurs when:
Hash(Key1) == Hash(Key2)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C0392B"/>
                </a:solidFill>
                <a:latin typeface="Calibri"/>
              </a:rPr>
              <a:t>Collision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860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"Alice"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200400"/>
            <a:ext cx="1828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"Bob"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560320"/>
            <a:ext cx="1371600" cy="73152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2560320"/>
            <a:ext cx="13716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333D4A"/>
                </a:solidFill>
                <a:latin typeface="Calibri"/>
              </a:rPr>
              <a:t>Index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-----&gt;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--/--&gt;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We must have a strategy to resolve these collisions.
Two primary strategies exist: Chaining and Open Addressing.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4. Resolution: Separate Chaining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Linked lists inside arrays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5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5029200" cy="4114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333D4A"/>
                </a:solidFill>
                <a:latin typeface="Calibri"/>
              </a:rPr>
              <a:t>Instead of storing the value directly in the array bucket, we store a pointer to a Linked List.
Insertion:
Hash the key, go to the index, and append the key-value pair to the linked list. O(1).
Lookup:
Hash the key, go to the index, and traverse the linked list to find the key. O(L) where L is the list length.
Pros: Simple, handles infinite collisions easily.
Cons: Memory overhead for pointers, poor cache locality.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0B2A4A"/>
                </a:solidFill>
                <a:latin typeface="Calibri"/>
              </a:rPr>
              <a:t>Chaining Visualization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011680"/>
            <a:ext cx="731520" cy="54864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731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333D4A"/>
                </a:solidFill>
                <a:latin typeface="Calibri"/>
              </a:rPr>
              <a:t>[0]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2743200"/>
            <a:ext cx="731520" cy="54864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2743200"/>
            <a:ext cx="731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333D4A"/>
                </a:solidFill>
                <a:latin typeface="Calibri"/>
              </a:rPr>
              <a:t>[1]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474720"/>
            <a:ext cx="731520" cy="54864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474720"/>
            <a:ext cx="731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333D4A"/>
                </a:solidFill>
                <a:latin typeface="Calibri"/>
              </a:rPr>
              <a:t>[2]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4206240"/>
            <a:ext cx="731520" cy="54864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4206240"/>
            <a:ext cx="7315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333D4A"/>
                </a:solidFill>
                <a:latin typeface="Calibri"/>
              </a:rPr>
              <a:t>[3]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333D4A"/>
                </a:solidFill>
                <a:latin typeface="Calibri"/>
              </a:rPr>
              <a:t>"Alice"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4747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4747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333D4A"/>
                </a:solidFill>
                <a:latin typeface="Calibri"/>
              </a:rPr>
              <a:t>"Bob"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347472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D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347472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0" i="0">
                <a:solidFill>
                  <a:srgbClr val="333D4A"/>
                </a:solidFill>
                <a:latin typeface="Calibri"/>
              </a:rPr>
              <a:t>"Charlie"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5. Resolution: Open Addressing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Finding the next available slot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6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2A4A"/>
                </a:solidFill>
                <a:latin typeface="Calibri"/>
              </a:rPr>
              <a:t>In Open Addressing, all elements are stored directly in the array. No linked lists. If a collision occurs, we probe (search) for the next empty bucket.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27A8A"/>
                </a:solidFill>
                <a:latin typeface="Calibri"/>
              </a:rPr>
              <a:t>Probing Strategies: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105156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Linear Probing: </a:t>
            </a:r>
            <a:r>
              <a:rPr sz="1500">
                <a:solidFill>
                  <a:srgbClr val="333D4A"/>
                </a:solidFill>
                <a:latin typeface="Calibri"/>
              </a:rPr>
              <a:t>Check index + 1, index + 2, index + 3... (Causes 'Primary Clustering').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Quadratic Probing: </a:t>
            </a:r>
            <a:r>
              <a:rPr sz="1500">
                <a:solidFill>
                  <a:srgbClr val="333D4A"/>
                </a:solidFill>
                <a:latin typeface="Calibri"/>
              </a:rPr>
              <a:t>Check index + 1^2, index + 2^2, index + 3^2... (Avoids primary clustering).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 b="1">
                <a:solidFill>
                  <a:srgbClr val="0B2A4A"/>
                </a:solidFill>
                <a:latin typeface="Calibri"/>
              </a:rPr>
              <a:t>Double Hashing: </a:t>
            </a:r>
            <a:r>
              <a:rPr sz="1500">
                <a:solidFill>
                  <a:srgbClr val="333D4A"/>
                </a:solidFill>
                <a:latin typeface="Calibri"/>
              </a:rPr>
              <a:t>Use a second hash function to determine the step size. (Best distribution).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846320"/>
            <a:ext cx="10058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333D4A"/>
                </a:solidFill>
                <a:latin typeface="Calibri"/>
              </a:rPr>
              <a:t>Important: When deleting a key in Open Addressing, you cannot just set the bucket to Null. This would break the probing chain for other elements! Instead, we place a special 'Tombstone' marker.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6. Load Factor &amp; Resizing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Keeping the hash table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7 /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C0392B"/>
                </a:solidFill>
                <a:latin typeface="Calibri"/>
              </a:rPr>
              <a:t>Load Factor (α) = Number of Entries / Array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333D4A"/>
                </a:solidFill>
                <a:latin typeface="Calibri"/>
              </a:rPr>
              <a:t>As the table fills up, collisions become more frequent, and O(1) operations degrade to O(N).
To maintain O(1) performance, we must Resize (Rehash) the table when the Load Factor crosses a threshold (usually 0.7 or 70%).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74720"/>
            <a:ext cx="10515600" cy="2286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E0A81F"/>
                </a:solidFill>
                <a:latin typeface="Calibri"/>
              </a:rPr>
              <a:t>Rehashing Process: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11480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Create a new array double the size of the old array.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Iterate through the old array.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8463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Re-calculate the hash (because ArraySize changed!) and insert into new array.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21208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• Takes O(N) time, but occurs infrequently (Amortized O(1)).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7. Simple Implementation (Chaining)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Building a Hash Map from scratch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8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1371600"/>
            <a:ext cx="73152" cy="4572000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10287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class HashTable: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def __init__(self, size=10):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self.size = size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self.table = [ [] for _ in range(self.size) ] # Array of lists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def _hash(self, key):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return hash(key) % self.size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def insert(self, key, value):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idx = self._hash(key)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for kvp in self.table[idx]: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if kvp[0] == key: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kvp[1] = value # Update existing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    return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self.table[idx].append([key, value]) # Append to chain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def get(self, key):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idx = self._hash(key)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for kvp in self.table[idx]: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    if kvp[0] == key: return kvp[1]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       return None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71655" cy="73152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Summary &amp; Time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127A8A"/>
                </a:solidFill>
                <a:latin typeface="Calibri"/>
              </a:rPr>
              <a:t>The ultimate trade-off: Memory for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15568"/>
            <a:ext cx="1828800" cy="36576"/>
          </a:xfrm>
          <a:prstGeom prst="rect">
            <a:avLst/>
          </a:prstGeom>
          <a:solidFill>
            <a:srgbClr val="E0A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333D4A"/>
                </a:solidFill>
                <a:latin typeface="Calibri"/>
              </a:rPr>
              <a:t>Data Structures &amp; Algorithms · Week 05 · Hash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333D4A"/>
                </a:solidFill>
                <a:latin typeface="Calibri"/>
              </a:rPr>
              <a:t>Slide 9 / 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7160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37160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Average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37160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Worst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92024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B2A4A"/>
                </a:solidFill>
                <a:latin typeface="Calibri"/>
              </a:rPr>
              <a:t>Search /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 i="0">
                <a:solidFill>
                  <a:srgbClr val="2E7D32"/>
                </a:solidFill>
                <a:latin typeface="Calibri"/>
              </a:rPr>
              <a:t>O(1)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2024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 i="0">
                <a:solidFill>
                  <a:srgbClr val="C0392B"/>
                </a:solidFill>
                <a:latin typeface="Calibri"/>
              </a:rPr>
              <a:t>O(N) (If all hash to same bucket)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46888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B2A4A"/>
                </a:solidFill>
                <a:latin typeface="Calibri"/>
              </a:rPr>
              <a:t>Insert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4688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 i="0">
                <a:solidFill>
                  <a:srgbClr val="2E7D32"/>
                </a:solidFill>
                <a:latin typeface="Calibri"/>
              </a:rPr>
              <a:t>O(1)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4688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 i="0">
                <a:solidFill>
                  <a:srgbClr val="C0392B"/>
                </a:solidFill>
                <a:latin typeface="Calibri"/>
              </a:rPr>
              <a:t>O(N)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17520"/>
            <a:ext cx="27432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B2A4A"/>
                </a:solidFill>
                <a:latin typeface="Calibri"/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017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 i="0">
                <a:solidFill>
                  <a:srgbClr val="2E7D32"/>
                </a:solidFill>
                <a:latin typeface="Calibri"/>
              </a:rPr>
              <a:t>O(1)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1752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0" i="0">
                <a:solidFill>
                  <a:srgbClr val="C0392B"/>
                </a:solidFill>
                <a:latin typeface="Calibri"/>
              </a:rPr>
              <a:t>O(N)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Key Takeaways: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105156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Hash Tables sacrifice memory (Array size must be &gt; Number of Items) to gain O(1) Speed.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Data is Unordered. If you need sorted keys, use a Binary Search Tree (O(log N)).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127A8A"/>
                </a:solidFill>
                <a:latin typeface="Calibri"/>
              </a:rPr>
              <a:t>▸  </a:t>
            </a:r>
            <a:r>
              <a:rPr sz="1500">
                <a:solidFill>
                  <a:srgbClr val="333D4A"/>
                </a:solidFill>
                <a:latin typeface="Calibri"/>
              </a:rPr>
              <a:t>Python dicts, Sets, and Caches use Hash Tables under the hood.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